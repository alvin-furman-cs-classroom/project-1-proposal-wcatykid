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4"/>
  </p:sldMasterIdLst>
  <p:notesMasterIdLst>
    <p:notesMasterId r:id="rId47"/>
  </p:notesMasterIdLst>
  <p:handoutMasterIdLst>
    <p:handoutMasterId r:id="rId48"/>
  </p:handoutMasterIdLst>
  <p:sldIdLst>
    <p:sldId id="265" r:id="rId5"/>
    <p:sldId id="491" r:id="rId6"/>
    <p:sldId id="492" r:id="rId7"/>
    <p:sldId id="452" r:id="rId8"/>
    <p:sldId id="496" r:id="rId9"/>
    <p:sldId id="493" r:id="rId10"/>
    <p:sldId id="494" r:id="rId11"/>
    <p:sldId id="495" r:id="rId12"/>
    <p:sldId id="479" r:id="rId13"/>
    <p:sldId id="480" r:id="rId14"/>
    <p:sldId id="498" r:id="rId15"/>
    <p:sldId id="497" r:id="rId16"/>
    <p:sldId id="499" r:id="rId17"/>
    <p:sldId id="501" r:id="rId18"/>
    <p:sldId id="502" r:id="rId19"/>
    <p:sldId id="503" r:id="rId20"/>
    <p:sldId id="504" r:id="rId21"/>
    <p:sldId id="505" r:id="rId22"/>
    <p:sldId id="482" r:id="rId23"/>
    <p:sldId id="500" r:id="rId24"/>
    <p:sldId id="506" r:id="rId25"/>
    <p:sldId id="507" r:id="rId26"/>
    <p:sldId id="486" r:id="rId27"/>
    <p:sldId id="510" r:id="rId28"/>
    <p:sldId id="508" r:id="rId29"/>
    <p:sldId id="487" r:id="rId30"/>
    <p:sldId id="511" r:id="rId31"/>
    <p:sldId id="512" r:id="rId32"/>
    <p:sldId id="509" r:id="rId33"/>
    <p:sldId id="269" r:id="rId34"/>
    <p:sldId id="270" r:id="rId35"/>
    <p:sldId id="514" r:id="rId36"/>
    <p:sldId id="271" r:id="rId37"/>
    <p:sldId id="516" r:id="rId38"/>
    <p:sldId id="515" r:id="rId39"/>
    <p:sldId id="272" r:id="rId40"/>
    <p:sldId id="488" r:id="rId41"/>
    <p:sldId id="513" r:id="rId42"/>
    <p:sldId id="489" r:id="rId43"/>
    <p:sldId id="275" r:id="rId44"/>
    <p:sldId id="490" r:id="rId45"/>
    <p:sldId id="281"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06BA"/>
    <a:srgbClr val="FF00FF"/>
    <a:srgbClr val="D15FC1"/>
    <a:srgbClr val="008000"/>
    <a:srgbClr val="65BACB"/>
    <a:srgbClr val="FF99FF"/>
    <a:srgbClr val="EBA9E6"/>
    <a:srgbClr val="5ACA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33" autoAdjust="0"/>
    <p:restoredTop sz="97215" autoAdjust="0"/>
  </p:normalViewPr>
  <p:slideViewPr>
    <p:cSldViewPr snapToGrid="0" showGuides="1">
      <p:cViewPr varScale="1">
        <p:scale>
          <a:sx n="86" d="100"/>
          <a:sy n="86" d="100"/>
        </p:scale>
        <p:origin x="163" y="288"/>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76" d="100"/>
          <a:sy n="76" d="100"/>
        </p:scale>
        <p:origin x="2412"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 Alvin" userId="1477fe7d-12c1-4dcd-b708-f1331679ff1c" providerId="ADAL" clId="{977EEFC1-1CBA-418C-B7A6-63C2CC8884F1}"/>
    <pc:docChg chg="delSld">
      <pc:chgData name="Chris Alvin" userId="1477fe7d-12c1-4dcd-b708-f1331679ff1c" providerId="ADAL" clId="{977EEFC1-1CBA-418C-B7A6-63C2CC8884F1}" dt="2025-12-21T15:09:08.662" v="5" actId="47"/>
      <pc:docMkLst>
        <pc:docMk/>
      </pc:docMkLst>
      <pc:sldChg chg="del">
        <pc:chgData name="Chris Alvin" userId="1477fe7d-12c1-4dcd-b708-f1331679ff1c" providerId="ADAL" clId="{977EEFC1-1CBA-418C-B7A6-63C2CC8884F1}" dt="2025-12-21T15:08:51.862" v="0" actId="47"/>
        <pc:sldMkLst>
          <pc:docMk/>
          <pc:sldMk cId="0" sldId="277"/>
        </pc:sldMkLst>
      </pc:sldChg>
      <pc:sldChg chg="del">
        <pc:chgData name="Chris Alvin" userId="1477fe7d-12c1-4dcd-b708-f1331679ff1c" providerId="ADAL" clId="{977EEFC1-1CBA-418C-B7A6-63C2CC8884F1}" dt="2025-12-21T15:08:53.090" v="1" actId="47"/>
        <pc:sldMkLst>
          <pc:docMk/>
          <pc:sldMk cId="0" sldId="278"/>
        </pc:sldMkLst>
      </pc:sldChg>
      <pc:sldChg chg="del">
        <pc:chgData name="Chris Alvin" userId="1477fe7d-12c1-4dcd-b708-f1331679ff1c" providerId="ADAL" clId="{977EEFC1-1CBA-418C-B7A6-63C2CC8884F1}" dt="2025-12-21T15:08:55.734" v="2" actId="47"/>
        <pc:sldMkLst>
          <pc:docMk/>
          <pc:sldMk cId="0" sldId="279"/>
        </pc:sldMkLst>
      </pc:sldChg>
      <pc:sldChg chg="del">
        <pc:chgData name="Chris Alvin" userId="1477fe7d-12c1-4dcd-b708-f1331679ff1c" providerId="ADAL" clId="{977EEFC1-1CBA-418C-B7A6-63C2CC8884F1}" dt="2025-12-21T15:08:57.456" v="3" actId="47"/>
        <pc:sldMkLst>
          <pc:docMk/>
          <pc:sldMk cId="0" sldId="280"/>
        </pc:sldMkLst>
      </pc:sldChg>
      <pc:sldChg chg="del">
        <pc:chgData name="Chris Alvin" userId="1477fe7d-12c1-4dcd-b708-f1331679ff1c" providerId="ADAL" clId="{977EEFC1-1CBA-418C-B7A6-63C2CC8884F1}" dt="2025-12-21T15:09:08.662" v="5" actId="47"/>
        <pc:sldMkLst>
          <pc:docMk/>
          <pc:sldMk cId="0" sldId="282"/>
        </pc:sldMkLst>
      </pc:sldChg>
      <pc:sldChg chg="del">
        <pc:chgData name="Chris Alvin" userId="1477fe7d-12c1-4dcd-b708-f1331679ff1c" providerId="ADAL" clId="{977EEFC1-1CBA-418C-B7A6-63C2CC8884F1}" dt="2025-12-21T15:09:06.101" v="4" actId="47"/>
        <pc:sldMkLst>
          <pc:docMk/>
          <pc:sldMk cId="1269146278" sldId="47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1658A34-83F4-4B2E-BC5A-DE51EE8822F9}" type="datetimeFigureOut">
              <a:rPr lang="en-US" smtClean="0"/>
              <a:t>12/21/2025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78FE58C-C1A6-4C4C-90C2-B7F5B0504B2D}" type="slidenum">
              <a:rPr lang="en-US" smtClean="0"/>
              <a:t>‹#›</a:t>
            </a:fld>
            <a:endParaRPr lang="en-US"/>
          </a:p>
        </p:txBody>
      </p:sp>
    </p:spTree>
    <p:extLst>
      <p:ext uri="{BB962C8B-B14F-4D97-AF65-F5344CB8AC3E}">
        <p14:creationId xmlns:p14="http://schemas.microsoft.com/office/powerpoint/2010/main" val="40346050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2E1917-0BAF-4687-978A-82FFF05559C3}" type="datetimeFigureOut">
              <a:rPr lang="en-US" smtClean="0"/>
              <a:t>12/21/2025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0E1E9A-E921-4174-A0FC-51868D7AC568}" type="slidenum">
              <a:rPr lang="en-US" smtClean="0"/>
              <a:t>‹#›</a:t>
            </a:fld>
            <a:endParaRPr lang="en-US"/>
          </a:p>
        </p:txBody>
      </p:sp>
    </p:spTree>
    <p:extLst>
      <p:ext uri="{BB962C8B-B14F-4D97-AF65-F5344CB8AC3E}">
        <p14:creationId xmlns:p14="http://schemas.microsoft.com/office/powerpoint/2010/main" val="373786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When learning to cook, you experiment with ingredients and techniques, tasting as you go and adjusting based on results.</a:t>
            </a:r>
          </a:p>
        </p:txBody>
      </p:sp>
      <p:sp>
        <p:nvSpPr>
          <p:cNvPr id="4" name="Slide Number Placeholder 3"/>
          <p:cNvSpPr>
            <a:spLocks noGrp="1"/>
          </p:cNvSpPr>
          <p:nvPr>
            <p:ph type="sldNum" sz="quarter" idx="5"/>
          </p:nvPr>
        </p:nvSpPr>
        <p:spPr/>
        <p:txBody>
          <a:bodyPr/>
          <a:lstStyle/>
          <a:p>
            <a:fld id="{810E1E9A-E921-4174-A0FC-51868D7AC568}" type="slidenum">
              <a:rPr lang="en-US" smtClean="0"/>
              <a:t>6</a:t>
            </a:fld>
            <a:endParaRPr lang="en-US"/>
          </a:p>
        </p:txBody>
      </p:sp>
    </p:spTree>
    <p:extLst>
      <p:ext uri="{BB962C8B-B14F-4D97-AF65-F5344CB8AC3E}">
        <p14:creationId xmlns:p14="http://schemas.microsoft.com/office/powerpoint/2010/main" val="3573528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sz="1200" b="1" dirty="0"/>
              <a:t>Real-World Examples</a:t>
            </a:r>
          </a:p>
          <a:p>
            <a:pPr>
              <a:buFont typeface="Arial" panose="020B0604020202020204" pitchFamily="34" charset="0"/>
              <a:buChar char="•"/>
            </a:pPr>
            <a:r>
              <a:rPr lang="en-US" sz="1200" dirty="0"/>
              <a:t>Restaurant choice: Try new place or return to favorite?</a:t>
            </a:r>
          </a:p>
          <a:p>
            <a:pPr>
              <a:buFont typeface="Arial" panose="020B0604020202020204" pitchFamily="34" charset="0"/>
              <a:buChar char="•"/>
            </a:pPr>
            <a:r>
              <a:rPr lang="en-US" sz="1200" dirty="0"/>
              <a:t>Investment strategy: Test new markets or stick with proven returns?</a:t>
            </a:r>
          </a:p>
          <a:p>
            <a:pPr>
              <a:buFont typeface="Arial" panose="020B0604020202020204" pitchFamily="34" charset="0"/>
              <a:buChar char="•"/>
            </a:pPr>
            <a:r>
              <a:rPr lang="en-US" sz="1200" dirty="0"/>
              <a:t>A/B testing: Experiment with new designs or optimize what works?</a:t>
            </a:r>
          </a:p>
          <a:p>
            <a:endParaRPr lang="en-US" sz="1200" dirty="0"/>
          </a:p>
        </p:txBody>
      </p:sp>
      <p:sp>
        <p:nvSpPr>
          <p:cNvPr id="4" name="Slide Number Placeholder 3"/>
          <p:cNvSpPr>
            <a:spLocks noGrp="1"/>
          </p:cNvSpPr>
          <p:nvPr>
            <p:ph type="sldNum" sz="quarter" idx="5"/>
          </p:nvPr>
        </p:nvSpPr>
        <p:spPr/>
        <p:txBody>
          <a:bodyPr/>
          <a:lstStyle/>
          <a:p>
            <a:fld id="{810E1E9A-E921-4174-A0FC-51868D7AC568}" type="slidenum">
              <a:rPr lang="en-US" smtClean="0"/>
              <a:t>8</a:t>
            </a:fld>
            <a:endParaRPr lang="en-US"/>
          </a:p>
        </p:txBody>
      </p:sp>
    </p:spTree>
    <p:extLst>
      <p:ext uri="{BB962C8B-B14F-4D97-AF65-F5344CB8AC3E}">
        <p14:creationId xmlns:p14="http://schemas.microsoft.com/office/powerpoint/2010/main" val="22066900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041400"/>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solidFill>
                  <a:schemeClr val="accent3">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EAB7D7-3608-4730-B2E2-670834DF882C}" type="datetimeFigureOut">
              <a:rPr lang="en-US" smtClean="0"/>
              <a:t>12/21/2025</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646705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EAB7D7-3608-4730-B2E2-670834DF882C}" type="datetimeFigureOut">
              <a:rPr lang="en-US" smtClean="0"/>
              <a:t>12/21/2025</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2198793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1658" y="1709738"/>
            <a:ext cx="10105791" cy="2862262"/>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1241658" y="4589463"/>
            <a:ext cx="10105791"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Date Placeholder 3"/>
          <p:cNvSpPr>
            <a:spLocks noGrp="1"/>
          </p:cNvSpPr>
          <p:nvPr>
            <p:ph type="dt" sz="half" idx="10"/>
          </p:nvPr>
        </p:nvSpPr>
        <p:spPr/>
        <p:txBody>
          <a:bodyPr/>
          <a:lstStyle/>
          <a:p>
            <a:fld id="{84EAB7D7-3608-4730-B2E2-670834DF882C}" type="datetimeFigureOut">
              <a:rPr lang="en-US" smtClean="0"/>
              <a:t>12/21/2025</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4067686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69700" y="1825625"/>
            <a:ext cx="475488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5325" y="1825625"/>
            <a:ext cx="475488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EAB7D7-3608-4730-B2E2-670834DF882C}" type="datetimeFigureOut">
              <a:rPr lang="en-US" smtClean="0"/>
              <a:t>12/21/2025</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10636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324100" y="274638"/>
            <a:ext cx="9023350" cy="1143000"/>
          </a:xfrm>
        </p:spPr>
        <p:txBody>
          <a:bodyPr/>
          <a:lstStyle/>
          <a:p>
            <a:r>
              <a:rPr lang="en-US"/>
              <a:t>Click to edit Master title style</a:t>
            </a:r>
          </a:p>
        </p:txBody>
      </p:sp>
      <p:sp>
        <p:nvSpPr>
          <p:cNvPr id="3" name="Text Placeholder 2"/>
          <p:cNvSpPr>
            <a:spLocks noGrp="1"/>
          </p:cNvSpPr>
          <p:nvPr>
            <p:ph type="body" idx="1"/>
          </p:nvPr>
        </p:nvSpPr>
        <p:spPr>
          <a:xfrm>
            <a:off x="1562100" y="1489075"/>
            <a:ext cx="4754880" cy="641350"/>
          </a:xfrm>
          <a:noFill/>
          <a:ln>
            <a:noFill/>
          </a:ln>
        </p:spPr>
        <p:txBody>
          <a:bodyPr anchor="b"/>
          <a:lstStyle>
            <a:lvl1pPr marL="0" indent="0">
              <a:buNone/>
              <a:defRPr sz="2400" b="0">
                <a:solidFill>
                  <a:schemeClr val="accent3">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562100" y="2193925"/>
            <a:ext cx="4754880" cy="3978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98920" y="1489075"/>
            <a:ext cx="4754880" cy="641350"/>
          </a:xfrm>
          <a:noFill/>
          <a:ln>
            <a:noFill/>
          </a:ln>
        </p:spPr>
        <p:txBody>
          <a:bodyPr anchor="b"/>
          <a:lstStyle>
            <a:lvl1pPr marL="0" indent="0">
              <a:buNone/>
              <a:defRPr sz="2400" b="0">
                <a:solidFill>
                  <a:schemeClr val="accent3">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598920" y="2193925"/>
            <a:ext cx="4754880" cy="3978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EAB7D7-3608-4730-B2E2-670834DF882C}" type="datetimeFigureOut">
              <a:rPr lang="en-US" smtClean="0"/>
              <a:t>12/21/2025</a:t>
            </a:fld>
            <a:endParaRPr lang="en-US"/>
          </a:p>
        </p:txBody>
      </p:sp>
      <p:sp>
        <p:nvSpPr>
          <p:cNvPr id="8" name="Footer Placeholder 7"/>
          <p:cNvSpPr>
            <a:spLocks noGrp="1"/>
          </p:cNvSpPr>
          <p:nvPr>
            <p:ph type="ftr" sz="quarter" idx="11"/>
          </p:nvPr>
        </p:nvSpPr>
        <p:spPr/>
        <p:txBody>
          <a:bodyPr/>
          <a:lstStyle/>
          <a:p>
            <a:r>
              <a:rPr lang="en-US" dirty="0"/>
              <a:t>Add a footer</a:t>
            </a:r>
          </a:p>
        </p:txBody>
      </p:sp>
      <p:sp>
        <p:nvSpPr>
          <p:cNvPr id="9" name="Slide Number Placeholder 8"/>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3231661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EAB7D7-3608-4730-B2E2-670834DF882C}" type="datetimeFigureOut">
              <a:rPr lang="en-US" smtClean="0"/>
              <a:t>12/21/2025</a:t>
            </a:fld>
            <a:endParaRPr lang="en-US"/>
          </a:p>
        </p:txBody>
      </p:sp>
      <p:sp>
        <p:nvSpPr>
          <p:cNvPr id="4" name="Footer Placeholder 3"/>
          <p:cNvSpPr>
            <a:spLocks noGrp="1"/>
          </p:cNvSpPr>
          <p:nvPr>
            <p:ph type="ftr" sz="quarter" idx="11"/>
          </p:nvPr>
        </p:nvSpPr>
        <p:spPr/>
        <p:txBody>
          <a:bodyPr/>
          <a:lstStyle/>
          <a:p>
            <a:r>
              <a:rPr lang="en-US" dirty="0"/>
              <a:t>Add a footer</a:t>
            </a:r>
          </a:p>
        </p:txBody>
      </p:sp>
      <p:sp>
        <p:nvSpPr>
          <p:cNvPr id="5" name="Slide Number Placeholder 4"/>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510586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EAB7D7-3608-4730-B2E2-670834DF882C}" type="datetimeFigureOut">
              <a:rPr lang="en-US" smtClean="0"/>
              <a:t>12/21/2025</a:t>
            </a:fld>
            <a:endParaRPr lang="en-US"/>
          </a:p>
        </p:txBody>
      </p:sp>
      <p:sp>
        <p:nvSpPr>
          <p:cNvPr id="3" name="Footer Placeholder 2"/>
          <p:cNvSpPr>
            <a:spLocks noGrp="1"/>
          </p:cNvSpPr>
          <p:nvPr>
            <p:ph type="ftr" sz="quarter" idx="11"/>
          </p:nvPr>
        </p:nvSpPr>
        <p:spPr/>
        <p:txBody>
          <a:bodyPr/>
          <a:lstStyle/>
          <a:p>
            <a:r>
              <a:rPr lang="en-US" dirty="0"/>
              <a:t>Add a footer</a:t>
            </a:r>
          </a:p>
        </p:txBody>
      </p:sp>
      <p:sp>
        <p:nvSpPr>
          <p:cNvPr id="4" name="Slide Number Placeholder 3"/>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321514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62100"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678905" y="987425"/>
            <a:ext cx="567648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562100" y="2101850"/>
            <a:ext cx="3932237" cy="3759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4EAB7D7-3608-4730-B2E2-670834DF882C}" type="datetimeFigureOut">
              <a:rPr lang="en-US" smtClean="0"/>
              <a:t>12/21/2025</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2198712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9" name="Title 1"/>
          <p:cNvSpPr>
            <a:spLocks noGrp="1"/>
          </p:cNvSpPr>
          <p:nvPr>
            <p:ph type="title"/>
          </p:nvPr>
        </p:nvSpPr>
        <p:spPr>
          <a:xfrm>
            <a:off x="1562100" y="457200"/>
            <a:ext cx="3932237" cy="1600200"/>
          </a:xfrm>
        </p:spPr>
        <p:txBody>
          <a:bodyPr anchor="b"/>
          <a:lstStyle>
            <a:lvl1pPr>
              <a:defRPr sz="3200"/>
            </a:lvl1pPr>
          </a:lstStyle>
          <a:p>
            <a:r>
              <a:rPr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5678904" y="987425"/>
            <a:ext cx="5678424"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8" name="Text Placeholder 3"/>
          <p:cNvSpPr>
            <a:spLocks noGrp="1"/>
          </p:cNvSpPr>
          <p:nvPr>
            <p:ph type="body" sz="half" idx="2"/>
          </p:nvPr>
        </p:nvSpPr>
        <p:spPr>
          <a:xfrm>
            <a:off x="1562100" y="2101850"/>
            <a:ext cx="3932237" cy="3759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4EAB7D7-3608-4730-B2E2-670834DF882C}" type="datetimeFigureOut">
              <a:rPr lang="en-US" smtClean="0"/>
              <a:t>12/21/2025</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1619359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1562100" y="1825625"/>
            <a:ext cx="9791700" cy="43513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EAB7D7-3608-4730-B2E2-670834DF882C}" type="datetimeFigureOut">
              <a:rPr lang="en-US" smtClean="0"/>
              <a:t>12/21/2025</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2821885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62100" y="365125"/>
            <a:ext cx="70104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EAB7D7-3608-4730-B2E2-670834DF882C}" type="datetimeFigureOut">
              <a:rPr lang="en-US" smtClean="0"/>
              <a:t>12/21/2025</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3388830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9" name="Title 1"/>
          <p:cNvSpPr>
            <a:spLocks noGrp="1"/>
          </p:cNvSpPr>
          <p:nvPr>
            <p:ph type="title"/>
          </p:nvPr>
        </p:nvSpPr>
        <p:spPr>
          <a:xfrm>
            <a:off x="1562100" y="457200"/>
            <a:ext cx="3932237" cy="1600200"/>
          </a:xfrm>
        </p:spPr>
        <p:txBody>
          <a:bodyPr anchor="b"/>
          <a:lstStyle>
            <a:lvl1pPr>
              <a:defRPr sz="3200"/>
            </a:lvl1pPr>
          </a:lstStyle>
          <a:p>
            <a:r>
              <a:rPr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5678904" y="987425"/>
            <a:ext cx="5678424"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8" name="Text Placeholder 3"/>
          <p:cNvSpPr>
            <a:spLocks noGrp="1"/>
          </p:cNvSpPr>
          <p:nvPr>
            <p:ph type="body" sz="half" idx="2"/>
          </p:nvPr>
        </p:nvSpPr>
        <p:spPr>
          <a:xfrm>
            <a:off x="1562100" y="2101850"/>
            <a:ext cx="3932237" cy="3759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4EAB7D7-3608-4730-B2E2-670834DF882C}" type="datetimeFigureOut">
              <a:rPr lang="en-US" smtClean="0"/>
              <a:t>12/21/2025</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3413888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324100" y="365125"/>
            <a:ext cx="9029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562100" y="1825625"/>
            <a:ext cx="9791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562100" y="6356350"/>
            <a:ext cx="2552700" cy="365125"/>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84EAB7D7-3608-4730-B2E2-670834DF882C}" type="datetimeFigureOut">
              <a:rPr lang="en-US" smtClean="0"/>
              <a:pPr/>
              <a:t>12/21/2025</a:t>
            </a:fld>
            <a:endParaRPr lang="en-US"/>
          </a:p>
        </p:txBody>
      </p:sp>
      <p:sp>
        <p:nvSpPr>
          <p:cNvPr id="5" name="Footer Placeholder 4"/>
          <p:cNvSpPr>
            <a:spLocks noGrp="1"/>
          </p:cNvSpPr>
          <p:nvPr>
            <p:ph type="ftr" sz="quarter" idx="3"/>
          </p:nvPr>
        </p:nvSpPr>
        <p:spPr>
          <a:xfrm>
            <a:off x="4648200" y="6356350"/>
            <a:ext cx="2895600" cy="365125"/>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r>
              <a:rPr lang="en-US"/>
              <a:t>Add a footer</a:t>
            </a:r>
            <a:endParaRPr lang="en-US" dirty="0"/>
          </a:p>
        </p:txBody>
      </p:sp>
      <p:sp>
        <p:nvSpPr>
          <p:cNvPr id="6" name="Slide Number Placeholder 5"/>
          <p:cNvSpPr>
            <a:spLocks noGrp="1"/>
          </p:cNvSpPr>
          <p:nvPr>
            <p:ph type="sldNum" sz="quarter" idx="4"/>
          </p:nvPr>
        </p:nvSpPr>
        <p:spPr>
          <a:xfrm>
            <a:off x="8077200" y="6356350"/>
            <a:ext cx="3276600" cy="365125"/>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B7BAC7-FE87-40F6-AA24-4F4685D1B022}" type="slidenum">
              <a:rPr lang="en-US" smtClean="0"/>
              <a:pPr/>
              <a:t>‹#›</a:t>
            </a:fld>
            <a:endParaRPr lang="en-US"/>
          </a:p>
        </p:txBody>
      </p:sp>
    </p:spTree>
    <p:extLst>
      <p:ext uri="{BB962C8B-B14F-4D97-AF65-F5344CB8AC3E}">
        <p14:creationId xmlns:p14="http://schemas.microsoft.com/office/powerpoint/2010/main" val="321936725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81"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p:titleStyle>
    <p:body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2160" userDrawn="1">
          <p15:clr>
            <a:srgbClr val="F26B43"/>
          </p15:clr>
        </p15:guide>
        <p15:guide id="1" pos="3840" userDrawn="1">
          <p15:clr>
            <a:srgbClr val="F26B43"/>
          </p15:clr>
        </p15:guide>
        <p15:guide id="2" pos="1464" userDrawn="1">
          <p15:clr>
            <a:srgbClr val="F26B43"/>
          </p15:clr>
        </p15:guide>
        <p15:guide id="3" pos="7152" userDrawn="1">
          <p15:clr>
            <a:srgbClr val="F26B43"/>
          </p15:clr>
        </p15:guide>
        <p15:guide id="4" pos="984" userDrawn="1">
          <p15:clr>
            <a:srgbClr val="F26B43"/>
          </p15:clr>
        </p15:guide>
        <p15:guide id="5" orient="horz" pos="388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hyperlink" Target="https://www.youtube.com/watch?v=ldXxDNjS5jw"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hyperlink" Target="https://deepai.org/machine-learning-model/text2img" TargetMode="External"/><Relationship Id="rId5" Type="http://schemas.openxmlformats.org/officeDocument/2006/relationships/image" Target="../media/image5.jpe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12.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sv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svg"/></Relationships>
</file>

<file path=ppt/slides/_rels/slide14.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svg"/></Relationships>
</file>

<file path=ppt/slides/_rels/slide15.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4.png"/><Relationship Id="rId7" Type="http://schemas.openxmlformats.org/officeDocument/2006/relationships/image" Target="../media/image40.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svg"/><Relationship Id="rId5" Type="http://schemas.openxmlformats.org/officeDocument/2006/relationships/image" Target="../media/image36.png"/><Relationship Id="rId10" Type="http://schemas.openxmlformats.org/officeDocument/2006/relationships/image" Target="../media/image43.png"/><Relationship Id="rId4" Type="http://schemas.openxmlformats.org/officeDocument/2006/relationships/image" Target="../media/image35.svg"/><Relationship Id="rId9" Type="http://schemas.openxmlformats.org/officeDocument/2006/relationships/image" Target="../media/image42.png"/></Relationships>
</file>

<file path=ppt/slides/_rels/slide16.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34.png"/><Relationship Id="rId7" Type="http://schemas.openxmlformats.org/officeDocument/2006/relationships/image" Target="../media/image44.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svg"/><Relationship Id="rId5" Type="http://schemas.openxmlformats.org/officeDocument/2006/relationships/image" Target="../media/image36.png"/><Relationship Id="rId10" Type="http://schemas.openxmlformats.org/officeDocument/2006/relationships/image" Target="../media/image47.png"/><Relationship Id="rId4" Type="http://schemas.openxmlformats.org/officeDocument/2006/relationships/image" Target="../media/image35.svg"/><Relationship Id="rId9" Type="http://schemas.openxmlformats.org/officeDocument/2006/relationships/image" Target="../media/image46.png"/></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50.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35.svg"/><Relationship Id="rId9" Type="http://schemas.openxmlformats.org/officeDocument/2006/relationships/image" Target="../media/image52.png"/></Relationships>
</file>

<file path=ppt/slides/_rels/slide1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4.png"/><Relationship Id="rId3" Type="http://schemas.openxmlformats.org/officeDocument/2006/relationships/image" Target="../media/image55.png"/><Relationship Id="rId7" Type="http://schemas.openxmlformats.org/officeDocument/2006/relationships/image" Target="../media/image59.png"/><Relationship Id="rId12" Type="http://schemas.openxmlformats.org/officeDocument/2006/relationships/image" Target="../media/image63.png"/><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58.png"/><Relationship Id="rId11" Type="http://schemas.openxmlformats.org/officeDocument/2006/relationships/image" Target="../media/image62.png"/><Relationship Id="rId5" Type="http://schemas.openxmlformats.org/officeDocument/2006/relationships/image" Target="../media/image57.png"/><Relationship Id="rId15" Type="http://schemas.openxmlformats.org/officeDocument/2006/relationships/image" Target="../media/image66.png"/><Relationship Id="rId10" Type="http://schemas.openxmlformats.org/officeDocument/2006/relationships/image" Target="../media/image61.png"/><Relationship Id="rId4" Type="http://schemas.openxmlformats.org/officeDocument/2006/relationships/image" Target="../media/image53.png"/><Relationship Id="rId9" Type="http://schemas.openxmlformats.org/officeDocument/2006/relationships/image" Target="../media/image56.png"/><Relationship Id="rId14" Type="http://schemas.openxmlformats.org/officeDocument/2006/relationships/image" Target="../media/image65.png"/></Relationships>
</file>

<file path=ppt/slides/_rels/slide2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75.png"/><Relationship Id="rId13" Type="http://schemas.openxmlformats.org/officeDocument/2006/relationships/image" Target="../media/image80.png"/><Relationship Id="rId18" Type="http://schemas.openxmlformats.org/officeDocument/2006/relationships/image" Target="../media/image85.png"/><Relationship Id="rId3" Type="http://schemas.openxmlformats.org/officeDocument/2006/relationships/image" Target="../media/image70.png"/><Relationship Id="rId21" Type="http://schemas.openxmlformats.org/officeDocument/2006/relationships/image" Target="../media/image88.png"/><Relationship Id="rId7" Type="http://schemas.openxmlformats.org/officeDocument/2006/relationships/image" Target="../media/image74.png"/><Relationship Id="rId12" Type="http://schemas.openxmlformats.org/officeDocument/2006/relationships/image" Target="../media/image79.png"/><Relationship Id="rId17" Type="http://schemas.openxmlformats.org/officeDocument/2006/relationships/image" Target="../media/image84.png"/><Relationship Id="rId2" Type="http://schemas.openxmlformats.org/officeDocument/2006/relationships/image" Target="../media/image69.png"/><Relationship Id="rId16" Type="http://schemas.openxmlformats.org/officeDocument/2006/relationships/image" Target="../media/image83.png"/><Relationship Id="rId20" Type="http://schemas.openxmlformats.org/officeDocument/2006/relationships/image" Target="../media/image87.png"/><Relationship Id="rId1" Type="http://schemas.openxmlformats.org/officeDocument/2006/relationships/slideLayout" Target="../slideLayouts/slideLayout2.xml"/><Relationship Id="rId6" Type="http://schemas.openxmlformats.org/officeDocument/2006/relationships/image" Target="../media/image73.png"/><Relationship Id="rId11" Type="http://schemas.openxmlformats.org/officeDocument/2006/relationships/image" Target="../media/image78.png"/><Relationship Id="rId24" Type="http://schemas.openxmlformats.org/officeDocument/2006/relationships/image" Target="../media/image91.png"/><Relationship Id="rId5" Type="http://schemas.openxmlformats.org/officeDocument/2006/relationships/image" Target="../media/image72.png"/><Relationship Id="rId15" Type="http://schemas.openxmlformats.org/officeDocument/2006/relationships/image" Target="../media/image82.png"/><Relationship Id="rId23" Type="http://schemas.openxmlformats.org/officeDocument/2006/relationships/image" Target="../media/image90.png"/><Relationship Id="rId10" Type="http://schemas.openxmlformats.org/officeDocument/2006/relationships/image" Target="../media/image77.png"/><Relationship Id="rId19" Type="http://schemas.openxmlformats.org/officeDocument/2006/relationships/image" Target="../media/image86.png"/><Relationship Id="rId4" Type="http://schemas.openxmlformats.org/officeDocument/2006/relationships/image" Target="../media/image71.png"/><Relationship Id="rId9" Type="http://schemas.openxmlformats.org/officeDocument/2006/relationships/image" Target="../media/image76.png"/><Relationship Id="rId14" Type="http://schemas.openxmlformats.org/officeDocument/2006/relationships/image" Target="../media/image81.png"/><Relationship Id="rId22" Type="http://schemas.openxmlformats.org/officeDocument/2006/relationships/image" Target="../media/image8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99.png"/><Relationship Id="rId3" Type="http://schemas.openxmlformats.org/officeDocument/2006/relationships/image" Target="../media/image94.png"/><Relationship Id="rId7" Type="http://schemas.openxmlformats.org/officeDocument/2006/relationships/image" Target="../media/image98.png"/><Relationship Id="rId2" Type="http://schemas.openxmlformats.org/officeDocument/2006/relationships/image" Target="../media/image93.png"/><Relationship Id="rId1" Type="http://schemas.openxmlformats.org/officeDocument/2006/relationships/slideLayout" Target="../slideLayouts/slideLayout2.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95.png"/><Relationship Id="rId9" Type="http://schemas.openxmlformats.org/officeDocument/2006/relationships/image" Target="../media/image100.png"/></Relationships>
</file>

<file path=ppt/slides/_rels/slide26.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2.xml"/><Relationship Id="rId4" Type="http://schemas.openxmlformats.org/officeDocument/2006/relationships/image" Target="../media/image103.png"/></Relationships>
</file>

<file path=ppt/slides/_rels/slide27.xml.rels><?xml version="1.0" encoding="UTF-8" standalone="yes"?>
<Relationships xmlns="http://schemas.openxmlformats.org/package/2006/relationships"><Relationship Id="rId8" Type="http://schemas.openxmlformats.org/officeDocument/2006/relationships/image" Target="../media/image108.png"/><Relationship Id="rId3" Type="http://schemas.openxmlformats.org/officeDocument/2006/relationships/image" Target="../media/image105.png"/><Relationship Id="rId7" Type="http://schemas.openxmlformats.org/officeDocument/2006/relationships/image" Target="../media/image100.png"/><Relationship Id="rId2" Type="http://schemas.openxmlformats.org/officeDocument/2006/relationships/image" Target="../media/image104.png"/><Relationship Id="rId1" Type="http://schemas.openxmlformats.org/officeDocument/2006/relationships/slideLayout" Target="../slideLayouts/slideLayout2.xml"/><Relationship Id="rId6" Type="http://schemas.openxmlformats.org/officeDocument/2006/relationships/image" Target="../media/image107.png"/><Relationship Id="rId5" Type="http://schemas.openxmlformats.org/officeDocument/2006/relationships/image" Target="../media/image96.png"/><Relationship Id="rId4" Type="http://schemas.openxmlformats.org/officeDocument/2006/relationships/image" Target="../media/image106.png"/></Relationships>
</file>

<file path=ppt/slides/_rels/slide28.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2.xml"/><Relationship Id="rId5" Type="http://schemas.openxmlformats.org/officeDocument/2006/relationships/image" Target="../media/image112.png"/><Relationship Id="rId4" Type="http://schemas.openxmlformats.org/officeDocument/2006/relationships/image" Target="../media/image111.png"/></Relationships>
</file>

<file path=ppt/slides/_rels/slide29.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92.png"/><Relationship Id="rId1" Type="http://schemas.openxmlformats.org/officeDocument/2006/relationships/slideLayout" Target="../slideLayouts/slideLayout2.xml"/><Relationship Id="rId5" Type="http://schemas.openxmlformats.org/officeDocument/2006/relationships/image" Target="../media/image115.png"/><Relationship Id="rId4" Type="http://schemas.openxmlformats.org/officeDocument/2006/relationships/image" Target="../media/image114.png"/></Relationships>
</file>

<file path=ppt/slides/_rels/slide32.xml.rels><?xml version="1.0" encoding="UTF-8" standalone="yes"?>
<Relationships xmlns="http://schemas.openxmlformats.org/package/2006/relationships"><Relationship Id="rId3" Type="http://schemas.openxmlformats.org/officeDocument/2006/relationships/image" Target="../media/image1140.png"/><Relationship Id="rId2" Type="http://schemas.openxmlformats.org/officeDocument/2006/relationships/image" Target="../media/image116.png"/><Relationship Id="rId1" Type="http://schemas.openxmlformats.org/officeDocument/2006/relationships/slideLayout" Target="../slideLayouts/slideLayout2.xml"/><Relationship Id="rId6" Type="http://schemas.openxmlformats.org/officeDocument/2006/relationships/image" Target="../media/image118.png"/><Relationship Id="rId5" Type="http://schemas.openxmlformats.org/officeDocument/2006/relationships/image" Target="../media/image117.png"/><Relationship Id="rId4" Type="http://schemas.openxmlformats.org/officeDocument/2006/relationships/image" Target="../media/image1150.png"/></Relationships>
</file>

<file path=ppt/slides/_rels/slide33.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127.png"/><Relationship Id="rId3" Type="http://schemas.openxmlformats.org/officeDocument/2006/relationships/image" Target="../media/image122.png"/><Relationship Id="rId7" Type="http://schemas.openxmlformats.org/officeDocument/2006/relationships/image" Target="../media/image126.png"/><Relationship Id="rId2" Type="http://schemas.openxmlformats.org/officeDocument/2006/relationships/image" Target="../media/image121.png"/><Relationship Id="rId1" Type="http://schemas.openxmlformats.org/officeDocument/2006/relationships/slideLayout" Target="../slideLayouts/slideLayout2.xml"/><Relationship Id="rId6" Type="http://schemas.openxmlformats.org/officeDocument/2006/relationships/image" Target="../media/image125.png"/><Relationship Id="rId5" Type="http://schemas.openxmlformats.org/officeDocument/2006/relationships/image" Target="../media/image124.png"/><Relationship Id="rId10" Type="http://schemas.openxmlformats.org/officeDocument/2006/relationships/image" Target="../media/image129.png"/><Relationship Id="rId4" Type="http://schemas.openxmlformats.org/officeDocument/2006/relationships/image" Target="../media/image123.png"/><Relationship Id="rId9" Type="http://schemas.openxmlformats.org/officeDocument/2006/relationships/image" Target="../media/image128.png"/></Relationships>
</file>

<file path=ppt/slides/_rels/slide35.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slideLayout" Target="../slideLayouts/slideLayout2.xml"/><Relationship Id="rId6" Type="http://schemas.openxmlformats.org/officeDocument/2006/relationships/image" Target="../media/image138.png"/><Relationship Id="rId5" Type="http://schemas.openxmlformats.org/officeDocument/2006/relationships/image" Target="../media/image137.png"/><Relationship Id="rId4" Type="http://schemas.openxmlformats.org/officeDocument/2006/relationships/image" Target="../media/image13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428299"/>
            <a:ext cx="9144000" cy="1307736"/>
          </a:xfrm>
        </p:spPr>
        <p:txBody>
          <a:bodyPr>
            <a:normAutofit/>
          </a:bodyPr>
          <a:lstStyle/>
          <a:p>
            <a:r>
              <a:rPr lang="en-US" dirty="0"/>
              <a:t>Reinforcement Learning</a:t>
            </a:r>
          </a:p>
        </p:txBody>
      </p:sp>
    </p:spTree>
    <p:extLst>
      <p:ext uri="{BB962C8B-B14F-4D97-AF65-F5344CB8AC3E}">
        <p14:creationId xmlns:p14="http://schemas.microsoft.com/office/powerpoint/2010/main" val="923078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CFDAA-4C36-7A90-AE6B-67BC6B75966B}"/>
            </a:ext>
          </a:extLst>
        </p:cNvPr>
        <p:cNvGrpSpPr/>
        <p:nvPr/>
      </p:nvGrpSpPr>
      <p:grpSpPr>
        <a:xfrm>
          <a:off x="0" y="0"/>
          <a:ext cx="0" cy="0"/>
          <a:chOff x="0" y="0"/>
          <a:chExt cx="0" cy="0"/>
        </a:xfrm>
      </p:grpSpPr>
      <p:sp>
        <p:nvSpPr>
          <p:cNvPr id="4" name="Title 12">
            <a:extLst>
              <a:ext uri="{FF2B5EF4-FFF2-40B4-BE49-F238E27FC236}">
                <a16:creationId xmlns:a16="http://schemas.microsoft.com/office/drawing/2014/main" id="{65F96B6D-7E24-D9DB-595F-C2B5CF65373A}"/>
              </a:ext>
            </a:extLst>
          </p:cNvPr>
          <p:cNvSpPr txBox="1">
            <a:spLocks/>
          </p:cNvSpPr>
          <p:nvPr/>
        </p:nvSpPr>
        <p:spPr>
          <a:xfrm>
            <a:off x="471489" y="3146164"/>
            <a:ext cx="11153622" cy="565671"/>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a:lstStyle>
          <a:p>
            <a:pPr algn="ctr"/>
            <a:r>
              <a:rPr lang="en-US" sz="3600" b="0" i="0" dirty="0">
                <a:latin typeface="+mj-lt"/>
              </a:rPr>
              <a:t>Activity: Hot or Cold</a:t>
            </a:r>
            <a:endParaRPr lang="en-US" sz="3600" dirty="0"/>
          </a:p>
        </p:txBody>
      </p:sp>
      <p:sp>
        <p:nvSpPr>
          <p:cNvPr id="14" name="Rectangle 3">
            <a:extLst>
              <a:ext uri="{FF2B5EF4-FFF2-40B4-BE49-F238E27FC236}">
                <a16:creationId xmlns:a16="http://schemas.microsoft.com/office/drawing/2014/main" id="{8B30A319-7B8F-2669-16F5-4043EA2451CD}"/>
              </a:ext>
            </a:extLst>
          </p:cNvPr>
          <p:cNvSpPr txBox="1">
            <a:spLocks noChangeArrowheads="1"/>
          </p:cNvSpPr>
          <p:nvPr/>
        </p:nvSpPr>
        <p:spPr>
          <a:xfrm>
            <a:off x="596788" y="849730"/>
            <a:ext cx="11206698" cy="86522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ts val="2400"/>
              </a:spcBef>
              <a:buNone/>
            </a:pPr>
            <a:endParaRPr lang="en-US" altLang="en-US" sz="2800" dirty="0"/>
          </a:p>
        </p:txBody>
      </p:sp>
    </p:spTree>
    <p:extLst>
      <p:ext uri="{BB962C8B-B14F-4D97-AF65-F5344CB8AC3E}">
        <p14:creationId xmlns:p14="http://schemas.microsoft.com/office/powerpoint/2010/main" val="1182307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36819-F708-9ADE-917A-EF7B1B85FECD}"/>
            </a:ext>
          </a:extLst>
        </p:cNvPr>
        <p:cNvGrpSpPr/>
        <p:nvPr/>
      </p:nvGrpSpPr>
      <p:grpSpPr>
        <a:xfrm>
          <a:off x="0" y="0"/>
          <a:ext cx="0" cy="0"/>
          <a:chOff x="0" y="0"/>
          <a:chExt cx="0" cy="0"/>
        </a:xfrm>
      </p:grpSpPr>
      <p:sp>
        <p:nvSpPr>
          <p:cNvPr id="4" name="Title 12">
            <a:extLst>
              <a:ext uri="{FF2B5EF4-FFF2-40B4-BE49-F238E27FC236}">
                <a16:creationId xmlns:a16="http://schemas.microsoft.com/office/drawing/2014/main" id="{DB512657-D6E9-5F79-C5CF-9BB51BF4267A}"/>
              </a:ext>
            </a:extLst>
          </p:cNvPr>
          <p:cNvSpPr txBox="1">
            <a:spLocks/>
          </p:cNvSpPr>
          <p:nvPr/>
        </p:nvSpPr>
        <p:spPr>
          <a:xfrm>
            <a:off x="471489" y="124290"/>
            <a:ext cx="11153622" cy="565671"/>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a:lstStyle>
          <a:p>
            <a:pPr algn="ctr"/>
            <a:r>
              <a:rPr lang="en-US" sz="3600" b="0" i="0" dirty="0">
                <a:latin typeface="+mj-lt"/>
              </a:rPr>
              <a:t>Super Mario Brothers</a:t>
            </a:r>
            <a:endParaRPr lang="en-US" sz="3600" dirty="0"/>
          </a:p>
        </p:txBody>
      </p:sp>
      <p:sp>
        <p:nvSpPr>
          <p:cNvPr id="14" name="Rectangle 3">
            <a:extLst>
              <a:ext uri="{FF2B5EF4-FFF2-40B4-BE49-F238E27FC236}">
                <a16:creationId xmlns:a16="http://schemas.microsoft.com/office/drawing/2014/main" id="{96CE0BCA-FEA8-DA30-88FD-E3AED3797F39}"/>
              </a:ext>
            </a:extLst>
          </p:cNvPr>
          <p:cNvSpPr txBox="1">
            <a:spLocks noChangeArrowheads="1"/>
          </p:cNvSpPr>
          <p:nvPr/>
        </p:nvSpPr>
        <p:spPr>
          <a:xfrm>
            <a:off x="596788" y="849730"/>
            <a:ext cx="11206698" cy="86522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ts val="2400"/>
              </a:spcBef>
              <a:buNone/>
            </a:pPr>
            <a:endParaRPr lang="en-US" altLang="en-US" sz="2800" dirty="0"/>
          </a:p>
        </p:txBody>
      </p:sp>
      <p:sp>
        <p:nvSpPr>
          <p:cNvPr id="3" name="TextBox 2">
            <a:extLst>
              <a:ext uri="{FF2B5EF4-FFF2-40B4-BE49-F238E27FC236}">
                <a16:creationId xmlns:a16="http://schemas.microsoft.com/office/drawing/2014/main" id="{E23AEF05-2FDE-BC7C-C9A1-6C9AE2970BC1}"/>
              </a:ext>
            </a:extLst>
          </p:cNvPr>
          <p:cNvSpPr txBox="1"/>
          <p:nvPr/>
        </p:nvSpPr>
        <p:spPr>
          <a:xfrm>
            <a:off x="7252063" y="6229196"/>
            <a:ext cx="4809309" cy="369332"/>
          </a:xfrm>
          <a:prstGeom prst="rect">
            <a:avLst/>
          </a:prstGeom>
          <a:noFill/>
          <a:ln>
            <a:noFill/>
          </a:ln>
        </p:spPr>
        <p:txBody>
          <a:bodyPr wrap="square">
            <a:spAutoFit/>
          </a:bodyPr>
          <a:lstStyle/>
          <a:p>
            <a:r>
              <a:rPr lang="en-US" dirty="0">
                <a:hlinkClick r:id="rId2"/>
              </a:rPr>
              <a:t>https://www.youtube.com/watch?v=ldXxDNjS5jw</a:t>
            </a:r>
            <a:endParaRPr lang="en-US" dirty="0"/>
          </a:p>
        </p:txBody>
      </p:sp>
      <p:sp>
        <p:nvSpPr>
          <p:cNvPr id="5" name="Title 12">
            <a:extLst>
              <a:ext uri="{FF2B5EF4-FFF2-40B4-BE49-F238E27FC236}">
                <a16:creationId xmlns:a16="http://schemas.microsoft.com/office/drawing/2014/main" id="{F367A269-A71E-338D-56A0-C656E3FCF45A}"/>
              </a:ext>
            </a:extLst>
          </p:cNvPr>
          <p:cNvSpPr txBox="1">
            <a:spLocks/>
          </p:cNvSpPr>
          <p:nvPr/>
        </p:nvSpPr>
        <p:spPr>
          <a:xfrm>
            <a:off x="471489" y="3146164"/>
            <a:ext cx="11153622" cy="565671"/>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a:lstStyle>
          <a:p>
            <a:pPr algn="ctr"/>
            <a:r>
              <a:rPr lang="en-US" sz="3600" b="0" i="0" dirty="0">
                <a:latin typeface="+mj-lt"/>
              </a:rPr>
              <a:t>Activity: A Volunteer to Play Super Mario Brothers</a:t>
            </a:r>
            <a:endParaRPr lang="en-US" sz="3600" dirty="0"/>
          </a:p>
        </p:txBody>
      </p:sp>
    </p:spTree>
    <p:extLst>
      <p:ext uri="{BB962C8B-B14F-4D97-AF65-F5344CB8AC3E}">
        <p14:creationId xmlns:p14="http://schemas.microsoft.com/office/powerpoint/2010/main" val="1117827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2"/>
          <p:cNvSpPr txBox="1">
            <a:spLocks/>
          </p:cNvSpPr>
          <p:nvPr/>
        </p:nvSpPr>
        <p:spPr>
          <a:xfrm>
            <a:off x="471489" y="69597"/>
            <a:ext cx="11153622" cy="565671"/>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a:lstStyle>
          <a:p>
            <a:pPr algn="ctr"/>
            <a:r>
              <a:rPr lang="en-US" sz="3600" b="0" i="0" dirty="0">
                <a:latin typeface="+mj-lt"/>
              </a:rPr>
              <a:t>What is Reinforcement Learning? I</a:t>
            </a:r>
            <a:endParaRPr lang="en-US" sz="3600" dirty="0"/>
          </a:p>
        </p:txBody>
      </p:sp>
      <p:sp>
        <p:nvSpPr>
          <p:cNvPr id="14" name="Rectangle 3">
            <a:extLst>
              <a:ext uri="{FF2B5EF4-FFF2-40B4-BE49-F238E27FC236}">
                <a16:creationId xmlns:a16="http://schemas.microsoft.com/office/drawing/2014/main" id="{F0511DB0-E4E5-4083-87B7-9737C0E5856C}"/>
              </a:ext>
            </a:extLst>
          </p:cNvPr>
          <p:cNvSpPr txBox="1">
            <a:spLocks noChangeArrowheads="1"/>
          </p:cNvSpPr>
          <p:nvPr/>
        </p:nvSpPr>
        <p:spPr>
          <a:xfrm>
            <a:off x="596788" y="849730"/>
            <a:ext cx="11206698" cy="86522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ts val="2400"/>
              </a:spcBef>
              <a:buNone/>
            </a:pPr>
            <a:endParaRPr lang="en-US" altLang="en-US" sz="2800" dirty="0"/>
          </a:p>
        </p:txBody>
      </p:sp>
      <p:sp>
        <p:nvSpPr>
          <p:cNvPr id="3" name="TextBox 2">
            <a:extLst>
              <a:ext uri="{FF2B5EF4-FFF2-40B4-BE49-F238E27FC236}">
                <a16:creationId xmlns:a16="http://schemas.microsoft.com/office/drawing/2014/main" id="{B3CA6BED-736C-4C97-CFC1-6F8EF1B91583}"/>
              </a:ext>
            </a:extLst>
          </p:cNvPr>
          <p:cNvSpPr txBox="1"/>
          <p:nvPr/>
        </p:nvSpPr>
        <p:spPr>
          <a:xfrm>
            <a:off x="596788" y="1027229"/>
            <a:ext cx="10909412" cy="1200329"/>
          </a:xfrm>
          <a:prstGeom prst="rect">
            <a:avLst/>
          </a:prstGeom>
          <a:noFill/>
          <a:ln>
            <a:noFill/>
          </a:ln>
        </p:spPr>
        <p:txBody>
          <a:bodyPr wrap="square">
            <a:spAutoFit/>
          </a:bodyPr>
          <a:lstStyle/>
          <a:p>
            <a:pPr>
              <a:buNone/>
            </a:pPr>
            <a:r>
              <a:rPr lang="en-US" sz="2400" dirty="0"/>
              <a:t>As we saw in the Super Mario Bros video, reinforcement learning enables AI to master tasks through trial and error—starting with random actions and gradually improving through experience.</a:t>
            </a:r>
          </a:p>
        </p:txBody>
      </p:sp>
      <p:sp>
        <p:nvSpPr>
          <p:cNvPr id="5" name="TextBox 4">
            <a:extLst>
              <a:ext uri="{FF2B5EF4-FFF2-40B4-BE49-F238E27FC236}">
                <a16:creationId xmlns:a16="http://schemas.microsoft.com/office/drawing/2014/main" id="{5BF32C46-E77C-AB6A-A940-7F31D7E0A299}"/>
              </a:ext>
            </a:extLst>
          </p:cNvPr>
          <p:cNvSpPr txBox="1"/>
          <p:nvPr/>
        </p:nvSpPr>
        <p:spPr>
          <a:xfrm>
            <a:off x="2276138" y="2644170"/>
            <a:ext cx="8266993" cy="1938992"/>
          </a:xfrm>
          <a:prstGeom prst="rect">
            <a:avLst/>
          </a:prstGeom>
          <a:noFill/>
          <a:ln>
            <a:noFill/>
          </a:ln>
        </p:spPr>
        <p:txBody>
          <a:bodyPr wrap="square">
            <a:spAutoFit/>
          </a:bodyPr>
          <a:lstStyle/>
          <a:p>
            <a:r>
              <a:rPr lang="en-US" sz="2400" dirty="0"/>
              <a:t>How a human player may approach the game:</a:t>
            </a:r>
          </a:p>
          <a:p>
            <a:pPr marL="800100" lvl="1" indent="-342900">
              <a:buFont typeface="Arial" panose="020B0604020202020204" pitchFamily="34" charset="0"/>
              <a:buChar char="•"/>
            </a:pPr>
            <a:r>
              <a:rPr lang="en-US" sz="2400" dirty="0"/>
              <a:t>Try things out and see what works.</a:t>
            </a:r>
          </a:p>
          <a:p>
            <a:pPr marL="800100" lvl="1" indent="-342900">
              <a:buFont typeface="Arial" panose="020B0604020202020204" pitchFamily="34" charset="0"/>
              <a:buChar char="•"/>
            </a:pPr>
            <a:r>
              <a:rPr lang="en-US" sz="2400" dirty="0"/>
              <a:t>Press a button, see what happens.</a:t>
            </a:r>
          </a:p>
          <a:p>
            <a:pPr marL="800100" lvl="1" indent="-342900">
              <a:buFont typeface="Arial" panose="020B0604020202020204" pitchFamily="34" charset="0"/>
              <a:buChar char="•"/>
            </a:pPr>
            <a:r>
              <a:rPr lang="en-US" sz="2400" dirty="0"/>
              <a:t>If you score points, great! You'll probably try that again.</a:t>
            </a:r>
          </a:p>
          <a:p>
            <a:pPr marL="800100" lvl="1" indent="-342900">
              <a:buFont typeface="Arial" panose="020B0604020202020204" pitchFamily="34" charset="0"/>
              <a:buChar char="•"/>
            </a:pPr>
            <a:r>
              <a:rPr lang="en-US" sz="2400" dirty="0"/>
              <a:t>If you lose a life, you'll avoid that action next time.</a:t>
            </a:r>
          </a:p>
        </p:txBody>
      </p:sp>
      <p:sp>
        <p:nvSpPr>
          <p:cNvPr id="6" name="TextBox 5">
            <a:extLst>
              <a:ext uri="{FF2B5EF4-FFF2-40B4-BE49-F238E27FC236}">
                <a16:creationId xmlns:a16="http://schemas.microsoft.com/office/drawing/2014/main" id="{8D84262E-4BF9-79B1-EF4C-7A9B4EC66731}"/>
              </a:ext>
            </a:extLst>
          </p:cNvPr>
          <p:cNvSpPr txBox="1"/>
          <p:nvPr/>
        </p:nvSpPr>
        <p:spPr>
          <a:xfrm>
            <a:off x="596788" y="5127334"/>
            <a:ext cx="5745018" cy="461665"/>
          </a:xfrm>
          <a:prstGeom prst="rect">
            <a:avLst/>
          </a:prstGeom>
          <a:noFill/>
          <a:ln>
            <a:noFill/>
          </a:ln>
        </p:spPr>
        <p:txBody>
          <a:bodyPr wrap="square">
            <a:spAutoFit/>
          </a:bodyPr>
          <a:lstStyle/>
          <a:p>
            <a:r>
              <a:rPr lang="en-US" sz="2400" dirty="0"/>
              <a:t>That is reinforcement learning in a nutshell:</a:t>
            </a:r>
          </a:p>
        </p:txBody>
      </p:sp>
      <p:sp>
        <p:nvSpPr>
          <p:cNvPr id="7" name="TextBox 6">
            <a:extLst>
              <a:ext uri="{FF2B5EF4-FFF2-40B4-BE49-F238E27FC236}">
                <a16:creationId xmlns:a16="http://schemas.microsoft.com/office/drawing/2014/main" id="{9777C89C-6516-FB1A-551F-EA2BBD973483}"/>
              </a:ext>
            </a:extLst>
          </p:cNvPr>
          <p:cNvSpPr txBox="1"/>
          <p:nvPr/>
        </p:nvSpPr>
        <p:spPr>
          <a:xfrm>
            <a:off x="1553468" y="5750457"/>
            <a:ext cx="8989664" cy="461665"/>
          </a:xfrm>
          <a:prstGeom prst="rect">
            <a:avLst/>
          </a:prstGeom>
          <a:noFill/>
          <a:ln>
            <a:noFill/>
          </a:ln>
        </p:spPr>
        <p:txBody>
          <a:bodyPr wrap="square">
            <a:spAutoFit/>
          </a:bodyPr>
          <a:lstStyle/>
          <a:p>
            <a:pPr algn="ctr"/>
            <a:r>
              <a:rPr lang="en-US" sz="2400" b="1" i="1" dirty="0"/>
              <a:t>learning by interacting with the world and figuring out what works.</a:t>
            </a:r>
          </a:p>
        </p:txBody>
      </p:sp>
    </p:spTree>
    <p:extLst>
      <p:ext uri="{BB962C8B-B14F-4D97-AF65-F5344CB8AC3E}">
        <p14:creationId xmlns:p14="http://schemas.microsoft.com/office/powerpoint/2010/main" val="340332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6E34C-A31A-FA0C-FD01-1E4E1ABEAF20}"/>
            </a:ext>
          </a:extLst>
        </p:cNvPr>
        <p:cNvGrpSpPr/>
        <p:nvPr/>
      </p:nvGrpSpPr>
      <p:grpSpPr>
        <a:xfrm>
          <a:off x="0" y="0"/>
          <a:ext cx="0" cy="0"/>
          <a:chOff x="0" y="0"/>
          <a:chExt cx="0" cy="0"/>
        </a:xfrm>
      </p:grpSpPr>
      <p:sp>
        <p:nvSpPr>
          <p:cNvPr id="4" name="Title 12">
            <a:extLst>
              <a:ext uri="{FF2B5EF4-FFF2-40B4-BE49-F238E27FC236}">
                <a16:creationId xmlns:a16="http://schemas.microsoft.com/office/drawing/2014/main" id="{8927E5F4-84C1-B9D3-63DF-A5459DB25AE4}"/>
              </a:ext>
            </a:extLst>
          </p:cNvPr>
          <p:cNvSpPr txBox="1">
            <a:spLocks/>
          </p:cNvSpPr>
          <p:nvPr/>
        </p:nvSpPr>
        <p:spPr>
          <a:xfrm>
            <a:off x="471489" y="69597"/>
            <a:ext cx="11153622" cy="565671"/>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a:lstStyle>
          <a:p>
            <a:pPr algn="ctr"/>
            <a:r>
              <a:rPr lang="en-US" sz="3600" b="0" i="0" dirty="0">
                <a:latin typeface="+mj-lt"/>
              </a:rPr>
              <a:t>Why Does It Matter?</a:t>
            </a:r>
            <a:endParaRPr lang="en-US" sz="3600" dirty="0"/>
          </a:p>
        </p:txBody>
      </p:sp>
      <p:sp>
        <p:nvSpPr>
          <p:cNvPr id="14" name="Rectangle 3">
            <a:extLst>
              <a:ext uri="{FF2B5EF4-FFF2-40B4-BE49-F238E27FC236}">
                <a16:creationId xmlns:a16="http://schemas.microsoft.com/office/drawing/2014/main" id="{A4574B8C-862B-DC83-E450-6224A640C649}"/>
              </a:ext>
            </a:extLst>
          </p:cNvPr>
          <p:cNvSpPr txBox="1">
            <a:spLocks noChangeArrowheads="1"/>
          </p:cNvSpPr>
          <p:nvPr/>
        </p:nvSpPr>
        <p:spPr>
          <a:xfrm>
            <a:off x="596788" y="849730"/>
            <a:ext cx="11206698" cy="86522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ts val="2400"/>
              </a:spcBef>
              <a:buNone/>
            </a:pPr>
            <a:endParaRPr lang="en-US" altLang="en-US" sz="2800" dirty="0"/>
          </a:p>
        </p:txBody>
      </p:sp>
      <p:sp>
        <p:nvSpPr>
          <p:cNvPr id="3" name="TextBox 2">
            <a:extLst>
              <a:ext uri="{FF2B5EF4-FFF2-40B4-BE49-F238E27FC236}">
                <a16:creationId xmlns:a16="http://schemas.microsoft.com/office/drawing/2014/main" id="{449E3968-F66B-83A6-A7A0-FD4656A6C68D}"/>
              </a:ext>
            </a:extLst>
          </p:cNvPr>
          <p:cNvSpPr txBox="1"/>
          <p:nvPr/>
        </p:nvSpPr>
        <p:spPr>
          <a:xfrm>
            <a:off x="695752" y="1214239"/>
            <a:ext cx="7907474" cy="1938992"/>
          </a:xfrm>
          <a:prstGeom prst="rect">
            <a:avLst/>
          </a:prstGeom>
          <a:noFill/>
          <a:ln>
            <a:noFill/>
          </a:ln>
        </p:spPr>
        <p:txBody>
          <a:bodyPr wrap="square">
            <a:spAutoFit/>
          </a:bodyPr>
          <a:lstStyle/>
          <a:p>
            <a:pPr>
              <a:buNone/>
            </a:pPr>
            <a:r>
              <a:rPr lang="en-US" sz="2400" dirty="0"/>
              <a:t>Reinforcement learning powers many exciting technologies:</a:t>
            </a:r>
          </a:p>
          <a:p>
            <a:pPr marL="742950" lvl="1" indent="-285750">
              <a:buFont typeface="Arial" panose="020B0604020202020204" pitchFamily="34" charset="0"/>
              <a:buChar char="•"/>
            </a:pPr>
            <a:r>
              <a:rPr lang="en-US" sz="2400" dirty="0"/>
              <a:t>Self-driving cars learning to navigate roads</a:t>
            </a:r>
          </a:p>
          <a:p>
            <a:pPr marL="742950" lvl="1" indent="-285750">
              <a:buFont typeface="Arial" panose="020B0604020202020204" pitchFamily="34" charset="0"/>
              <a:buChar char="•"/>
            </a:pPr>
            <a:r>
              <a:rPr lang="en-US" sz="2400" dirty="0"/>
              <a:t>Game-playing AI that beats human champions</a:t>
            </a:r>
          </a:p>
          <a:p>
            <a:pPr marL="742950" lvl="1" indent="-285750">
              <a:buFont typeface="Arial" panose="020B0604020202020204" pitchFamily="34" charset="0"/>
              <a:buChar char="•"/>
            </a:pPr>
            <a:r>
              <a:rPr lang="en-US" sz="2400" dirty="0"/>
              <a:t>Robots learning to perform complex tasks</a:t>
            </a:r>
          </a:p>
          <a:p>
            <a:pPr marL="742950" lvl="1" indent="-285750">
              <a:buFont typeface="Arial" panose="020B0604020202020204" pitchFamily="34" charset="0"/>
              <a:buChar char="•"/>
            </a:pPr>
            <a:r>
              <a:rPr lang="en-US" sz="2400" dirty="0"/>
              <a:t>Personalized recommendation systems</a:t>
            </a:r>
          </a:p>
        </p:txBody>
      </p:sp>
      <p:pic>
        <p:nvPicPr>
          <p:cNvPr id="2050" name="Picture 2">
            <a:extLst>
              <a:ext uri="{FF2B5EF4-FFF2-40B4-BE49-F238E27FC236}">
                <a16:creationId xmlns:a16="http://schemas.microsoft.com/office/drawing/2014/main" id="{DEA1E402-A726-A55F-7120-261E36E357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818" y="5143049"/>
            <a:ext cx="1627902" cy="162790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F314D445-6B27-A08D-F9C5-095D60ED3CAB}"/>
              </a:ext>
            </a:extLst>
          </p:cNvPr>
          <p:cNvPicPr>
            <a:picLocks noChangeAspect="1"/>
          </p:cNvPicPr>
          <p:nvPr/>
        </p:nvPicPr>
        <p:blipFill>
          <a:blip r:embed="rId3"/>
          <a:srcRect l="40577" t="45673" r="5192" b="33442"/>
          <a:stretch/>
        </p:blipFill>
        <p:spPr>
          <a:xfrm>
            <a:off x="8785274" y="69597"/>
            <a:ext cx="3305908" cy="1273127"/>
          </a:xfrm>
          <a:prstGeom prst="rect">
            <a:avLst/>
          </a:prstGeom>
        </p:spPr>
      </p:pic>
      <p:pic>
        <p:nvPicPr>
          <p:cNvPr id="5" name="Picture 4">
            <a:extLst>
              <a:ext uri="{FF2B5EF4-FFF2-40B4-BE49-F238E27FC236}">
                <a16:creationId xmlns:a16="http://schemas.microsoft.com/office/drawing/2014/main" id="{C2AAF7EF-AED0-C841-E634-03EBFFE15EAB}"/>
              </a:ext>
            </a:extLst>
          </p:cNvPr>
          <p:cNvPicPr>
            <a:picLocks noChangeAspect="1"/>
          </p:cNvPicPr>
          <p:nvPr/>
        </p:nvPicPr>
        <p:blipFill>
          <a:blip r:embed="rId4"/>
          <a:stretch>
            <a:fillRect/>
          </a:stretch>
        </p:blipFill>
        <p:spPr>
          <a:xfrm>
            <a:off x="9441766" y="1386566"/>
            <a:ext cx="2649415" cy="2649415"/>
          </a:xfrm>
          <a:prstGeom prst="rect">
            <a:avLst/>
          </a:prstGeom>
        </p:spPr>
      </p:pic>
      <p:pic>
        <p:nvPicPr>
          <p:cNvPr id="2056" name="Picture 8">
            <a:extLst>
              <a:ext uri="{FF2B5EF4-FFF2-40B4-BE49-F238E27FC236}">
                <a16:creationId xmlns:a16="http://schemas.microsoft.com/office/drawing/2014/main" id="{59217C04-7888-7740-B7EC-D006B477AB0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41767" y="4079824"/>
            <a:ext cx="2649415" cy="264941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2D0012B-FD2F-013B-F89D-F70DF82C9C93}"/>
              </a:ext>
            </a:extLst>
          </p:cNvPr>
          <p:cNvSpPr txBox="1"/>
          <p:nvPr/>
        </p:nvSpPr>
        <p:spPr>
          <a:xfrm>
            <a:off x="1782495" y="6247731"/>
            <a:ext cx="932570" cy="523220"/>
          </a:xfrm>
          <a:prstGeom prst="rect">
            <a:avLst/>
          </a:prstGeom>
          <a:noFill/>
          <a:ln>
            <a:solidFill>
              <a:schemeClr val="bg2"/>
            </a:solidFill>
          </a:ln>
        </p:spPr>
        <p:txBody>
          <a:bodyPr wrap="square">
            <a:spAutoFit/>
          </a:bodyPr>
          <a:lstStyle/>
          <a:p>
            <a:r>
              <a:rPr lang="en-US" sz="1400" dirty="0">
                <a:hlinkClick r:id="rId6"/>
              </a:rPr>
              <a:t>image generator</a:t>
            </a:r>
            <a:endParaRPr lang="en-US" sz="1400" dirty="0"/>
          </a:p>
        </p:txBody>
      </p:sp>
      <p:sp>
        <p:nvSpPr>
          <p:cNvPr id="9" name="TextBox 8">
            <a:extLst>
              <a:ext uri="{FF2B5EF4-FFF2-40B4-BE49-F238E27FC236}">
                <a16:creationId xmlns:a16="http://schemas.microsoft.com/office/drawing/2014/main" id="{370A660D-9F4A-0121-AB24-F23301306E56}"/>
              </a:ext>
            </a:extLst>
          </p:cNvPr>
          <p:cNvSpPr txBox="1"/>
          <p:nvPr/>
        </p:nvSpPr>
        <p:spPr>
          <a:xfrm>
            <a:off x="695752" y="3429000"/>
            <a:ext cx="8089522" cy="1200329"/>
          </a:xfrm>
          <a:prstGeom prst="rect">
            <a:avLst/>
          </a:prstGeom>
          <a:noFill/>
          <a:ln>
            <a:noFill/>
          </a:ln>
        </p:spPr>
        <p:txBody>
          <a:bodyPr wrap="square">
            <a:spAutoFit/>
          </a:bodyPr>
          <a:lstStyle/>
          <a:p>
            <a:r>
              <a:rPr lang="en-US" sz="2400" dirty="0"/>
              <a:t>Most importantly, it mirrors how humans and animals naturally learn many skills—not by being explicitly taught, but by interacting with the world and learning from experience.</a:t>
            </a:r>
          </a:p>
        </p:txBody>
      </p:sp>
    </p:spTree>
    <p:extLst>
      <p:ext uri="{BB962C8B-B14F-4D97-AF65-F5344CB8AC3E}">
        <p14:creationId xmlns:p14="http://schemas.microsoft.com/office/powerpoint/2010/main" val="1001468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4429B-93F6-B2E5-F5AC-288F37DF1C50}"/>
            </a:ext>
          </a:extLst>
        </p:cNvPr>
        <p:cNvGrpSpPr/>
        <p:nvPr/>
      </p:nvGrpSpPr>
      <p:grpSpPr>
        <a:xfrm>
          <a:off x="0" y="0"/>
          <a:ext cx="0" cy="0"/>
          <a:chOff x="0" y="0"/>
          <a:chExt cx="0" cy="0"/>
        </a:xfrm>
      </p:grpSpPr>
      <p:sp>
        <p:nvSpPr>
          <p:cNvPr id="4" name="Title 12">
            <a:extLst>
              <a:ext uri="{FF2B5EF4-FFF2-40B4-BE49-F238E27FC236}">
                <a16:creationId xmlns:a16="http://schemas.microsoft.com/office/drawing/2014/main" id="{0039FC0E-B8DD-7102-B2E6-5CF217849FAA}"/>
              </a:ext>
            </a:extLst>
          </p:cNvPr>
          <p:cNvSpPr txBox="1">
            <a:spLocks/>
          </p:cNvSpPr>
          <p:nvPr/>
        </p:nvSpPr>
        <p:spPr>
          <a:xfrm>
            <a:off x="471489" y="69597"/>
            <a:ext cx="11153622" cy="565671"/>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a:lstStyle>
          <a:p>
            <a:pPr algn="ctr"/>
            <a:r>
              <a:rPr lang="en-US" sz="3600" b="0" i="0" dirty="0">
                <a:latin typeface="+mj-lt"/>
              </a:rPr>
              <a:t>What is Reinforcement Learning? II</a:t>
            </a:r>
            <a:endParaRPr lang="en-US" sz="3600" dirty="0"/>
          </a:p>
        </p:txBody>
      </p:sp>
      <p:sp>
        <p:nvSpPr>
          <p:cNvPr id="8" name="TextBox 7">
            <a:extLst>
              <a:ext uri="{FF2B5EF4-FFF2-40B4-BE49-F238E27FC236}">
                <a16:creationId xmlns:a16="http://schemas.microsoft.com/office/drawing/2014/main" id="{1CBE9C42-EB2C-055B-6351-8024959C46E1}"/>
              </a:ext>
            </a:extLst>
          </p:cNvPr>
          <p:cNvSpPr txBox="1"/>
          <p:nvPr/>
        </p:nvSpPr>
        <p:spPr>
          <a:xfrm>
            <a:off x="4413141" y="1684381"/>
            <a:ext cx="3365716" cy="400110"/>
          </a:xfrm>
          <a:prstGeom prst="rect">
            <a:avLst/>
          </a:prstGeom>
          <a:noFill/>
          <a:ln>
            <a:noFill/>
          </a:ln>
        </p:spPr>
        <p:txBody>
          <a:bodyPr wrap="square">
            <a:spAutoFit/>
          </a:bodyPr>
          <a:lstStyle/>
          <a:p>
            <a:pPr algn="ctr"/>
            <a:r>
              <a:rPr lang="en-US" sz="2000" b="1" dirty="0">
                <a:solidFill>
                  <a:srgbClr val="1306BA"/>
                </a:solidFill>
              </a:rPr>
              <a:t>How do babies learn to walk?</a:t>
            </a:r>
          </a:p>
        </p:txBody>
      </p:sp>
      <p:pic>
        <p:nvPicPr>
          <p:cNvPr id="3" name="Picture 2">
            <a:extLst>
              <a:ext uri="{FF2B5EF4-FFF2-40B4-BE49-F238E27FC236}">
                <a16:creationId xmlns:a16="http://schemas.microsoft.com/office/drawing/2014/main" id="{ACFBBBC9-B7F8-AE3F-396D-AC7D8CBB84AF}"/>
              </a:ext>
            </a:extLst>
          </p:cNvPr>
          <p:cNvPicPr>
            <a:picLocks noChangeAspect="1"/>
          </p:cNvPicPr>
          <p:nvPr/>
        </p:nvPicPr>
        <p:blipFill>
          <a:blip r:embed="rId3"/>
          <a:srcRect l="18802" t="7517" r="16960" b="10910"/>
          <a:stretch/>
        </p:blipFill>
        <p:spPr>
          <a:xfrm>
            <a:off x="10764129" y="146340"/>
            <a:ext cx="1308296" cy="1661353"/>
          </a:xfrm>
          <a:prstGeom prst="rect">
            <a:avLst/>
          </a:prstGeom>
        </p:spPr>
      </p:pic>
      <p:sp>
        <p:nvSpPr>
          <p:cNvPr id="5" name="TextBox 4">
            <a:extLst>
              <a:ext uri="{FF2B5EF4-FFF2-40B4-BE49-F238E27FC236}">
                <a16:creationId xmlns:a16="http://schemas.microsoft.com/office/drawing/2014/main" id="{7C73ECD4-9661-63E5-7626-E0C8217D019D}"/>
              </a:ext>
            </a:extLst>
          </p:cNvPr>
          <p:cNvSpPr txBox="1"/>
          <p:nvPr/>
        </p:nvSpPr>
        <p:spPr>
          <a:xfrm>
            <a:off x="1362568" y="2317292"/>
            <a:ext cx="2228076" cy="3477875"/>
          </a:xfrm>
          <a:prstGeom prst="rect">
            <a:avLst/>
          </a:prstGeom>
          <a:noFill/>
          <a:ln>
            <a:noFill/>
          </a:ln>
        </p:spPr>
        <p:txBody>
          <a:bodyPr wrap="square">
            <a:spAutoFit/>
          </a:bodyPr>
          <a:lstStyle/>
          <a:p>
            <a:r>
              <a:rPr lang="en-US" sz="2000" b="1" dirty="0"/>
              <a:t>The agent:</a:t>
            </a:r>
          </a:p>
          <a:p>
            <a:endParaRPr lang="en-US" sz="2000" b="1" dirty="0"/>
          </a:p>
          <a:p>
            <a:r>
              <a:rPr lang="en-US" sz="2000" b="1" dirty="0"/>
              <a:t>Environment:</a:t>
            </a:r>
          </a:p>
          <a:p>
            <a:endParaRPr lang="en-US" sz="2000" b="1" dirty="0"/>
          </a:p>
          <a:p>
            <a:r>
              <a:rPr lang="en-US" sz="2000" b="1" dirty="0"/>
              <a:t>Actions:</a:t>
            </a:r>
          </a:p>
          <a:p>
            <a:endParaRPr lang="en-US" sz="2000" b="1" dirty="0"/>
          </a:p>
          <a:p>
            <a:r>
              <a:rPr lang="en-US" sz="2000" b="1" dirty="0"/>
              <a:t>Rewards:</a:t>
            </a:r>
          </a:p>
          <a:p>
            <a:r>
              <a:rPr lang="en-US" sz="2000" b="1" dirty="0"/>
              <a:t>	</a:t>
            </a:r>
            <a:r>
              <a:rPr lang="en-US" sz="2000" dirty="0"/>
              <a:t>Negative:</a:t>
            </a:r>
          </a:p>
          <a:p>
            <a:r>
              <a:rPr lang="en-US" sz="2000" dirty="0"/>
              <a:t>	Positive:</a:t>
            </a:r>
          </a:p>
          <a:p>
            <a:endParaRPr lang="en-US" sz="2000" dirty="0"/>
          </a:p>
          <a:p>
            <a:r>
              <a:rPr lang="en-US" sz="2000" b="1" dirty="0"/>
              <a:t>Goal</a:t>
            </a:r>
            <a:r>
              <a:rPr lang="en-US" sz="2000" dirty="0"/>
              <a:t>:</a:t>
            </a:r>
          </a:p>
        </p:txBody>
      </p:sp>
      <p:sp>
        <p:nvSpPr>
          <p:cNvPr id="7" name="TextBox 6">
            <a:extLst>
              <a:ext uri="{FF2B5EF4-FFF2-40B4-BE49-F238E27FC236}">
                <a16:creationId xmlns:a16="http://schemas.microsoft.com/office/drawing/2014/main" id="{41AB9E5E-0DFC-61F5-D5C5-5E8D599B3459}"/>
              </a:ext>
            </a:extLst>
          </p:cNvPr>
          <p:cNvSpPr txBox="1"/>
          <p:nvPr/>
        </p:nvSpPr>
        <p:spPr>
          <a:xfrm>
            <a:off x="3859582" y="2298719"/>
            <a:ext cx="867163" cy="400110"/>
          </a:xfrm>
          <a:prstGeom prst="rect">
            <a:avLst/>
          </a:prstGeom>
          <a:noFill/>
          <a:ln>
            <a:noFill/>
          </a:ln>
        </p:spPr>
        <p:txBody>
          <a:bodyPr wrap="square">
            <a:spAutoFit/>
          </a:bodyPr>
          <a:lstStyle/>
          <a:p>
            <a:r>
              <a:rPr lang="en-US" sz="2000" dirty="0"/>
              <a:t>Baby</a:t>
            </a:r>
          </a:p>
        </p:txBody>
      </p:sp>
      <p:sp>
        <p:nvSpPr>
          <p:cNvPr id="10" name="TextBox 9">
            <a:extLst>
              <a:ext uri="{FF2B5EF4-FFF2-40B4-BE49-F238E27FC236}">
                <a16:creationId xmlns:a16="http://schemas.microsoft.com/office/drawing/2014/main" id="{7DCF6BDE-352D-D6AB-7D69-C9D5D5AF169A}"/>
              </a:ext>
            </a:extLst>
          </p:cNvPr>
          <p:cNvSpPr txBox="1"/>
          <p:nvPr/>
        </p:nvSpPr>
        <p:spPr>
          <a:xfrm>
            <a:off x="3859582" y="2894785"/>
            <a:ext cx="7617654" cy="400110"/>
          </a:xfrm>
          <a:prstGeom prst="rect">
            <a:avLst/>
          </a:prstGeom>
          <a:noFill/>
          <a:ln>
            <a:noFill/>
          </a:ln>
        </p:spPr>
        <p:txBody>
          <a:bodyPr wrap="square">
            <a:spAutoFit/>
          </a:bodyPr>
          <a:lstStyle/>
          <a:p>
            <a:r>
              <a:rPr lang="en-US" sz="2000" dirty="0"/>
              <a:t>The physical world (floor furniture, gravity)</a:t>
            </a:r>
          </a:p>
        </p:txBody>
      </p:sp>
      <p:sp>
        <p:nvSpPr>
          <p:cNvPr id="15" name="TextBox 14">
            <a:extLst>
              <a:ext uri="{FF2B5EF4-FFF2-40B4-BE49-F238E27FC236}">
                <a16:creationId xmlns:a16="http://schemas.microsoft.com/office/drawing/2014/main" id="{2F9FE106-D049-88E1-54D4-3658D73C84B1}"/>
              </a:ext>
            </a:extLst>
          </p:cNvPr>
          <p:cNvSpPr txBox="1"/>
          <p:nvPr/>
        </p:nvSpPr>
        <p:spPr>
          <a:xfrm>
            <a:off x="3859582" y="3538130"/>
            <a:ext cx="7617654" cy="400110"/>
          </a:xfrm>
          <a:prstGeom prst="rect">
            <a:avLst/>
          </a:prstGeom>
          <a:noFill/>
          <a:ln>
            <a:noFill/>
          </a:ln>
        </p:spPr>
        <p:txBody>
          <a:bodyPr wrap="square">
            <a:spAutoFit/>
          </a:bodyPr>
          <a:lstStyle/>
          <a:p>
            <a:r>
              <a:rPr lang="en-US" sz="2000" dirty="0"/>
              <a:t>Different muscle movements, shifts in weight, stepping motions</a:t>
            </a:r>
          </a:p>
        </p:txBody>
      </p:sp>
      <p:sp>
        <p:nvSpPr>
          <p:cNvPr id="17" name="TextBox 16">
            <a:extLst>
              <a:ext uri="{FF2B5EF4-FFF2-40B4-BE49-F238E27FC236}">
                <a16:creationId xmlns:a16="http://schemas.microsoft.com/office/drawing/2014/main" id="{E30B97CC-3756-CAED-FA1B-34D567532CFC}"/>
              </a:ext>
            </a:extLst>
          </p:cNvPr>
          <p:cNvSpPr txBox="1"/>
          <p:nvPr/>
        </p:nvSpPr>
        <p:spPr>
          <a:xfrm>
            <a:off x="3859582" y="4408060"/>
            <a:ext cx="7617654" cy="400110"/>
          </a:xfrm>
          <a:prstGeom prst="rect">
            <a:avLst/>
          </a:prstGeom>
          <a:noFill/>
          <a:ln>
            <a:noFill/>
          </a:ln>
        </p:spPr>
        <p:txBody>
          <a:bodyPr wrap="square">
            <a:spAutoFit/>
          </a:bodyPr>
          <a:lstStyle/>
          <a:p>
            <a:r>
              <a:rPr lang="en-US" sz="2000" dirty="0"/>
              <a:t>Falling down, losing balance (pain/discomfort)</a:t>
            </a:r>
          </a:p>
        </p:txBody>
      </p:sp>
      <p:sp>
        <p:nvSpPr>
          <p:cNvPr id="19" name="TextBox 18">
            <a:extLst>
              <a:ext uri="{FF2B5EF4-FFF2-40B4-BE49-F238E27FC236}">
                <a16:creationId xmlns:a16="http://schemas.microsoft.com/office/drawing/2014/main" id="{53592F74-C135-0FF1-5E0B-FB8AB32F080E}"/>
              </a:ext>
            </a:extLst>
          </p:cNvPr>
          <p:cNvSpPr txBox="1"/>
          <p:nvPr/>
        </p:nvSpPr>
        <p:spPr>
          <a:xfrm>
            <a:off x="3859582" y="4773653"/>
            <a:ext cx="7617654" cy="400110"/>
          </a:xfrm>
          <a:prstGeom prst="rect">
            <a:avLst/>
          </a:prstGeom>
          <a:noFill/>
          <a:ln>
            <a:noFill/>
          </a:ln>
        </p:spPr>
        <p:txBody>
          <a:bodyPr wrap="square">
            <a:spAutoFit/>
          </a:bodyPr>
          <a:lstStyle/>
          <a:p>
            <a:r>
              <a:rPr lang="en-US" sz="2000" dirty="0"/>
              <a:t>Successful steps, maintaining balance, reaching </a:t>
            </a:r>
          </a:p>
        </p:txBody>
      </p:sp>
      <p:sp>
        <p:nvSpPr>
          <p:cNvPr id="21" name="TextBox 20">
            <a:extLst>
              <a:ext uri="{FF2B5EF4-FFF2-40B4-BE49-F238E27FC236}">
                <a16:creationId xmlns:a16="http://schemas.microsoft.com/office/drawing/2014/main" id="{FCC29BAD-8C42-3912-3302-68CDFB99BBDA}"/>
              </a:ext>
            </a:extLst>
          </p:cNvPr>
          <p:cNvSpPr txBox="1"/>
          <p:nvPr/>
        </p:nvSpPr>
        <p:spPr>
          <a:xfrm>
            <a:off x="3859582" y="5378855"/>
            <a:ext cx="7617654" cy="400110"/>
          </a:xfrm>
          <a:prstGeom prst="rect">
            <a:avLst/>
          </a:prstGeom>
          <a:noFill/>
          <a:ln>
            <a:noFill/>
          </a:ln>
        </p:spPr>
        <p:txBody>
          <a:bodyPr wrap="square">
            <a:spAutoFit/>
          </a:bodyPr>
          <a:lstStyle/>
          <a:p>
            <a:r>
              <a:rPr lang="en-US" sz="2000" dirty="0"/>
              <a:t>Maximize successful walking (minimize falls, maximize mobility)</a:t>
            </a:r>
          </a:p>
        </p:txBody>
      </p:sp>
      <p:pic>
        <p:nvPicPr>
          <p:cNvPr id="1027" name="Picture 3">
            <a:extLst>
              <a:ext uri="{FF2B5EF4-FFF2-40B4-BE49-F238E27FC236}">
                <a16:creationId xmlns:a16="http://schemas.microsoft.com/office/drawing/2014/main" id="{13795F50-942E-9F65-AA15-A0803A30B47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4535" t="20220" r="11681" b="19873"/>
          <a:stretch/>
        </p:blipFill>
        <p:spPr bwMode="auto">
          <a:xfrm>
            <a:off x="10660965" y="2116702"/>
            <a:ext cx="1411460" cy="11459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6423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5" grpId="0"/>
      <p:bldP spid="17" grpId="0"/>
      <p:bldP spid="19" grpId="0"/>
      <p:bldP spid="2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9F345-3BCE-9537-884B-17689375214C}"/>
            </a:ext>
          </a:extLst>
        </p:cNvPr>
        <p:cNvGrpSpPr/>
        <p:nvPr/>
      </p:nvGrpSpPr>
      <p:grpSpPr>
        <a:xfrm>
          <a:off x="0" y="0"/>
          <a:ext cx="0" cy="0"/>
          <a:chOff x="0" y="0"/>
          <a:chExt cx="0" cy="0"/>
        </a:xfrm>
      </p:grpSpPr>
      <p:sp>
        <p:nvSpPr>
          <p:cNvPr id="4" name="Title 12">
            <a:extLst>
              <a:ext uri="{FF2B5EF4-FFF2-40B4-BE49-F238E27FC236}">
                <a16:creationId xmlns:a16="http://schemas.microsoft.com/office/drawing/2014/main" id="{E0222B5E-74F1-4381-5829-5F46D9863DF1}"/>
              </a:ext>
            </a:extLst>
          </p:cNvPr>
          <p:cNvSpPr txBox="1">
            <a:spLocks/>
          </p:cNvSpPr>
          <p:nvPr/>
        </p:nvSpPr>
        <p:spPr>
          <a:xfrm>
            <a:off x="471489" y="69597"/>
            <a:ext cx="11153622" cy="565671"/>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a:lstStyle>
          <a:p>
            <a:pPr algn="ctr"/>
            <a:r>
              <a:rPr lang="en-US" sz="3600" b="0" i="0" dirty="0">
                <a:latin typeface="+mj-lt"/>
              </a:rPr>
              <a:t>Key Characteristics of Reinforcement Learning</a:t>
            </a:r>
            <a:endParaRPr lang="en-US" sz="3600" dirty="0"/>
          </a:p>
        </p:txBody>
      </p:sp>
      <p:sp>
        <p:nvSpPr>
          <p:cNvPr id="14" name="Rectangle 3">
            <a:extLst>
              <a:ext uri="{FF2B5EF4-FFF2-40B4-BE49-F238E27FC236}">
                <a16:creationId xmlns:a16="http://schemas.microsoft.com/office/drawing/2014/main" id="{8321B3A2-C7AF-12D9-CFEA-8674E3560C8C}"/>
              </a:ext>
            </a:extLst>
          </p:cNvPr>
          <p:cNvSpPr txBox="1">
            <a:spLocks noChangeArrowheads="1"/>
          </p:cNvSpPr>
          <p:nvPr/>
        </p:nvSpPr>
        <p:spPr>
          <a:xfrm>
            <a:off x="596788" y="849730"/>
            <a:ext cx="11206698" cy="86522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ts val="2400"/>
              </a:spcBef>
              <a:buNone/>
            </a:pPr>
            <a:endParaRPr lang="en-US" altLang="en-US" sz="2800" dirty="0"/>
          </a:p>
        </p:txBody>
      </p:sp>
      <p:sp>
        <p:nvSpPr>
          <p:cNvPr id="16" name="TextBox 15">
            <a:extLst>
              <a:ext uri="{FF2B5EF4-FFF2-40B4-BE49-F238E27FC236}">
                <a16:creationId xmlns:a16="http://schemas.microsoft.com/office/drawing/2014/main" id="{BBA7F823-CE54-D407-68B1-48F32A2F9495}"/>
              </a:ext>
            </a:extLst>
          </p:cNvPr>
          <p:cNvSpPr txBox="1"/>
          <p:nvPr/>
        </p:nvSpPr>
        <p:spPr>
          <a:xfrm>
            <a:off x="1821764" y="3905516"/>
            <a:ext cx="4635306" cy="1384995"/>
          </a:xfrm>
          <a:prstGeom prst="rect">
            <a:avLst/>
          </a:prstGeom>
          <a:noFill/>
          <a:ln>
            <a:noFill/>
          </a:ln>
        </p:spPr>
        <p:txBody>
          <a:bodyPr wrap="square">
            <a:spAutoFit/>
          </a:bodyPr>
          <a:lstStyle/>
          <a:p>
            <a:pPr>
              <a:buNone/>
            </a:pPr>
            <a:r>
              <a:rPr lang="en-US" dirty="0"/>
              <a:t>At a restaurant, do you:</a:t>
            </a:r>
          </a:p>
          <a:p>
            <a:pPr marL="285750" indent="-285750">
              <a:spcBef>
                <a:spcPts val="1200"/>
              </a:spcBef>
              <a:spcAft>
                <a:spcPts val="1200"/>
              </a:spcAft>
              <a:buFont typeface="Arial" panose="020B0604020202020204" pitchFamily="34" charset="0"/>
              <a:buChar char="•"/>
            </a:pPr>
            <a:r>
              <a:rPr lang="en-US" dirty="0"/>
              <a:t>Order your favorite dish or</a:t>
            </a:r>
          </a:p>
          <a:p>
            <a:pPr marL="285750" indent="-285750">
              <a:spcBef>
                <a:spcPts val="1200"/>
              </a:spcBef>
              <a:spcAft>
                <a:spcPts val="1200"/>
              </a:spcAft>
              <a:buFont typeface="Arial" panose="020B0604020202020204" pitchFamily="34" charset="0"/>
              <a:buChar char="•"/>
            </a:pPr>
            <a:r>
              <a:rPr lang="en-US" dirty="0"/>
              <a:t>Order a new dish that might be even better</a:t>
            </a:r>
            <a:endParaRPr lang="en-US" b="1" dirty="0"/>
          </a:p>
        </p:txBody>
      </p:sp>
      <p:sp>
        <p:nvSpPr>
          <p:cNvPr id="13" name="TextBox 12">
            <a:extLst>
              <a:ext uri="{FF2B5EF4-FFF2-40B4-BE49-F238E27FC236}">
                <a16:creationId xmlns:a16="http://schemas.microsoft.com/office/drawing/2014/main" id="{26686667-A817-01FC-FBCD-23598F5CEBDB}"/>
              </a:ext>
            </a:extLst>
          </p:cNvPr>
          <p:cNvSpPr txBox="1"/>
          <p:nvPr/>
        </p:nvSpPr>
        <p:spPr>
          <a:xfrm>
            <a:off x="913626" y="1567489"/>
            <a:ext cx="10364747" cy="1631216"/>
          </a:xfrm>
          <a:prstGeom prst="rect">
            <a:avLst/>
          </a:prstGeom>
          <a:noFill/>
          <a:ln>
            <a:noFill/>
          </a:ln>
        </p:spPr>
        <p:txBody>
          <a:bodyPr wrap="square">
            <a:spAutoFit/>
          </a:bodyPr>
          <a:lstStyle/>
          <a:p>
            <a:pPr marL="236538" indent="-236538">
              <a:spcBef>
                <a:spcPts val="1200"/>
              </a:spcBef>
              <a:spcAft>
                <a:spcPts val="1200"/>
              </a:spcAft>
              <a:buFont typeface="Arial" panose="020B0604020202020204" pitchFamily="34" charset="0"/>
              <a:buChar char="•"/>
            </a:pPr>
            <a:r>
              <a:rPr lang="en-US" sz="2000" dirty="0"/>
              <a:t>Success comes through </a:t>
            </a:r>
            <a:r>
              <a:rPr lang="en-US" sz="2000" b="1" i="1" dirty="0"/>
              <a:t>trial-and-error</a:t>
            </a:r>
            <a:r>
              <a:rPr lang="en-US" sz="2000" dirty="0"/>
              <a:t> learning and experimentation</a:t>
            </a:r>
          </a:p>
          <a:p>
            <a:pPr marL="236538" indent="-236538">
              <a:spcBef>
                <a:spcPts val="1200"/>
              </a:spcBef>
              <a:spcAft>
                <a:spcPts val="1200"/>
              </a:spcAft>
              <a:buFont typeface="Arial" panose="020B0604020202020204" pitchFamily="34" charset="0"/>
              <a:buChar char="•"/>
            </a:pPr>
            <a:r>
              <a:rPr lang="en-US" sz="2000" dirty="0"/>
              <a:t>Sometimes the reward comes long after the action due to </a:t>
            </a:r>
            <a:r>
              <a:rPr lang="en-US" sz="2000" b="1" i="1" dirty="0"/>
              <a:t>delayed consequences</a:t>
            </a:r>
          </a:p>
          <a:p>
            <a:pPr marL="236538" indent="-236538">
              <a:spcBef>
                <a:spcPts val="1200"/>
              </a:spcBef>
              <a:spcAft>
                <a:spcPts val="1200"/>
              </a:spcAft>
              <a:buFont typeface="Arial" panose="020B0604020202020204" pitchFamily="34" charset="0"/>
              <a:buChar char="•"/>
            </a:pPr>
            <a:r>
              <a:rPr lang="en-US" sz="2000" dirty="0"/>
              <a:t>You must figure out which actions lead to good outcomes through </a:t>
            </a:r>
            <a:r>
              <a:rPr lang="en-US" sz="2000" b="1" i="1" dirty="0"/>
              <a:t>discovery-based</a:t>
            </a:r>
            <a:r>
              <a:rPr lang="en-US" sz="2000" dirty="0"/>
              <a:t> approaches</a:t>
            </a:r>
          </a:p>
        </p:txBody>
      </p:sp>
      <p:sp>
        <p:nvSpPr>
          <p:cNvPr id="2" name="TextBox 1">
            <a:extLst>
              <a:ext uri="{FF2B5EF4-FFF2-40B4-BE49-F238E27FC236}">
                <a16:creationId xmlns:a16="http://schemas.microsoft.com/office/drawing/2014/main" id="{67BFA9CB-E35E-2AC0-30A7-2EEF0AB95004}"/>
              </a:ext>
            </a:extLst>
          </p:cNvPr>
          <p:cNvSpPr txBox="1"/>
          <p:nvPr/>
        </p:nvSpPr>
        <p:spPr>
          <a:xfrm>
            <a:off x="7012745" y="3716589"/>
            <a:ext cx="1934308" cy="1554272"/>
          </a:xfrm>
          <a:prstGeom prst="rect">
            <a:avLst/>
          </a:prstGeom>
          <a:noFill/>
          <a:ln>
            <a:noFill/>
          </a:ln>
        </p:spPr>
        <p:txBody>
          <a:bodyPr wrap="square">
            <a:spAutoFit/>
          </a:bodyPr>
          <a:lstStyle/>
          <a:p>
            <a:pPr algn="ctr">
              <a:buNone/>
            </a:pPr>
            <a:r>
              <a:rPr lang="en-US" b="1" dirty="0"/>
              <a:t>The Challenge:</a:t>
            </a:r>
          </a:p>
          <a:p>
            <a:pPr algn="ctr">
              <a:buNone/>
            </a:pPr>
            <a:endParaRPr lang="en-US" b="1" dirty="0"/>
          </a:p>
          <a:p>
            <a:pPr algn="ctr"/>
            <a:r>
              <a:rPr lang="en-US" b="1" dirty="0"/>
              <a:t>Exploitation</a:t>
            </a:r>
            <a:endParaRPr lang="en-US" dirty="0"/>
          </a:p>
          <a:p>
            <a:pPr algn="ctr">
              <a:spcBef>
                <a:spcPts val="300"/>
              </a:spcBef>
              <a:spcAft>
                <a:spcPts val="300"/>
              </a:spcAft>
              <a:buNone/>
            </a:pPr>
            <a:r>
              <a:rPr lang="en-US" b="1" dirty="0"/>
              <a:t>vs. </a:t>
            </a:r>
          </a:p>
          <a:p>
            <a:pPr algn="ctr">
              <a:buNone/>
            </a:pPr>
            <a:r>
              <a:rPr lang="en-US" b="1" dirty="0"/>
              <a:t>Exploration</a:t>
            </a:r>
          </a:p>
        </p:txBody>
      </p:sp>
      <p:pic>
        <p:nvPicPr>
          <p:cNvPr id="3074" name="Picture 2">
            <a:extLst>
              <a:ext uri="{FF2B5EF4-FFF2-40B4-BE49-F238E27FC236}">
                <a16:creationId xmlns:a16="http://schemas.microsoft.com/office/drawing/2014/main" id="{6A5F0AFC-7685-1F42-538D-AC2A38971B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63575" y="3914554"/>
            <a:ext cx="2835167" cy="28351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5663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149E2-9E7A-ADF9-5CE4-616B88B07A43}"/>
            </a:ext>
          </a:extLst>
        </p:cNvPr>
        <p:cNvGrpSpPr/>
        <p:nvPr/>
      </p:nvGrpSpPr>
      <p:grpSpPr>
        <a:xfrm>
          <a:off x="0" y="0"/>
          <a:ext cx="0" cy="0"/>
          <a:chOff x="0" y="0"/>
          <a:chExt cx="0" cy="0"/>
        </a:xfrm>
      </p:grpSpPr>
      <p:sp>
        <p:nvSpPr>
          <p:cNvPr id="4" name="Title 12">
            <a:extLst>
              <a:ext uri="{FF2B5EF4-FFF2-40B4-BE49-F238E27FC236}">
                <a16:creationId xmlns:a16="http://schemas.microsoft.com/office/drawing/2014/main" id="{DCE1E383-6C7D-5C23-4877-084D027AA7B1}"/>
              </a:ext>
            </a:extLst>
          </p:cNvPr>
          <p:cNvSpPr txBox="1">
            <a:spLocks/>
          </p:cNvSpPr>
          <p:nvPr/>
        </p:nvSpPr>
        <p:spPr>
          <a:xfrm>
            <a:off x="471489" y="69597"/>
            <a:ext cx="11153622" cy="565671"/>
          </a:xfrm>
          <a:prstGeom prst="rect">
            <a:avLst/>
          </a:prstGeom>
          <a:ln>
            <a:noFill/>
          </a:ln>
        </p:spPr>
        <p:txBody>
          <a:bodyPr vert="horz" lIns="91440" tIns="45720" rIns="91440" bIns="45720" rtlCol="0" anchor="ctr">
            <a:noAutofit/>
          </a:bodyPr>
          <a:lst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a:lstStyle>
          <a:p>
            <a:pPr algn="ctr"/>
            <a:r>
              <a:rPr lang="en-US" sz="3600" b="0" i="0" dirty="0">
                <a:latin typeface="+mj-lt"/>
              </a:rPr>
              <a:t>The Core Dilemma: Exploration vs. Exploitation</a:t>
            </a:r>
            <a:endParaRPr lang="en-US" sz="3600" dirty="0"/>
          </a:p>
        </p:txBody>
      </p:sp>
      <p:sp>
        <p:nvSpPr>
          <p:cNvPr id="5" name="TextBox 4">
            <a:extLst>
              <a:ext uri="{FF2B5EF4-FFF2-40B4-BE49-F238E27FC236}">
                <a16:creationId xmlns:a16="http://schemas.microsoft.com/office/drawing/2014/main" id="{4BFDC723-8E85-815E-CD6F-B85644C88356}"/>
              </a:ext>
            </a:extLst>
          </p:cNvPr>
          <p:cNvSpPr txBox="1"/>
          <p:nvPr/>
        </p:nvSpPr>
        <p:spPr>
          <a:xfrm>
            <a:off x="596788" y="1041034"/>
            <a:ext cx="4179638" cy="2062103"/>
          </a:xfrm>
          <a:prstGeom prst="rect">
            <a:avLst/>
          </a:prstGeom>
          <a:noFill/>
          <a:ln>
            <a:noFill/>
          </a:ln>
        </p:spPr>
        <p:txBody>
          <a:bodyPr wrap="square">
            <a:spAutoFit/>
          </a:bodyPr>
          <a:lstStyle/>
          <a:p>
            <a:pPr algn="just">
              <a:buNone/>
            </a:pPr>
            <a:r>
              <a:rPr lang="en-US" sz="2800" b="1" dirty="0">
                <a:solidFill>
                  <a:srgbClr val="1306BA"/>
                </a:solidFill>
              </a:rPr>
              <a:t>Exploration</a:t>
            </a:r>
            <a:r>
              <a:rPr lang="en-US" sz="2000" b="1" dirty="0"/>
              <a:t> involves trying new actions to discover better strategies</a:t>
            </a:r>
            <a:r>
              <a:rPr lang="en-US" sz="2000" dirty="0"/>
              <a:t>—gathering information about unknown reward structures and accepting short-term suboptimal performance to build long-term knowledge.</a:t>
            </a:r>
          </a:p>
        </p:txBody>
      </p:sp>
      <p:sp>
        <p:nvSpPr>
          <p:cNvPr id="6" name="TextBox 5">
            <a:extLst>
              <a:ext uri="{FF2B5EF4-FFF2-40B4-BE49-F238E27FC236}">
                <a16:creationId xmlns:a16="http://schemas.microsoft.com/office/drawing/2014/main" id="{78E69133-EC55-08BE-232F-8F3F864C9F06}"/>
              </a:ext>
            </a:extLst>
          </p:cNvPr>
          <p:cNvSpPr txBox="1"/>
          <p:nvPr/>
        </p:nvSpPr>
        <p:spPr>
          <a:xfrm>
            <a:off x="6271708" y="1041034"/>
            <a:ext cx="5220094" cy="2062103"/>
          </a:xfrm>
          <a:prstGeom prst="rect">
            <a:avLst/>
          </a:prstGeom>
          <a:noFill/>
          <a:ln>
            <a:noFill/>
          </a:ln>
        </p:spPr>
        <p:txBody>
          <a:bodyPr wrap="square">
            <a:spAutoFit/>
          </a:bodyPr>
          <a:lstStyle/>
          <a:p>
            <a:pPr algn="just">
              <a:buNone/>
            </a:pPr>
            <a:r>
              <a:rPr lang="en-US" sz="2800" b="1" dirty="0">
                <a:solidFill>
                  <a:srgbClr val="1306BA"/>
                </a:solidFill>
              </a:rPr>
              <a:t>Exploitation</a:t>
            </a:r>
            <a:r>
              <a:rPr lang="en-US" sz="2000" b="1" dirty="0"/>
              <a:t> in reinforcement learning involves sticking with actions you already know work well</a:t>
            </a:r>
            <a:r>
              <a:rPr lang="en-US" sz="2000" dirty="0"/>
              <a:t>—using existing knowledge to maximize rewards by choosing safe actions with predictable outcomes, like an agent following a proven strategy to optimize immediate returns.</a:t>
            </a:r>
          </a:p>
        </p:txBody>
      </p:sp>
      <p:pic>
        <p:nvPicPr>
          <p:cNvPr id="15" name="Graphic 14" descr="Seesaw with solid fill">
            <a:extLst>
              <a:ext uri="{FF2B5EF4-FFF2-40B4-BE49-F238E27FC236}">
                <a16:creationId xmlns:a16="http://schemas.microsoft.com/office/drawing/2014/main" id="{65A21E43-3E61-F457-B414-E25419AD3B6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63439" y="4314860"/>
            <a:ext cx="1212987" cy="1212987"/>
          </a:xfrm>
          <a:prstGeom prst="rect">
            <a:avLst/>
          </a:prstGeom>
        </p:spPr>
      </p:pic>
      <p:sp>
        <p:nvSpPr>
          <p:cNvPr id="18" name="TextBox 17">
            <a:extLst>
              <a:ext uri="{FF2B5EF4-FFF2-40B4-BE49-F238E27FC236}">
                <a16:creationId xmlns:a16="http://schemas.microsoft.com/office/drawing/2014/main" id="{15E78A4E-2C88-EFB0-DB66-B458AFCC11A0}"/>
              </a:ext>
            </a:extLst>
          </p:cNvPr>
          <p:cNvSpPr txBox="1"/>
          <p:nvPr/>
        </p:nvSpPr>
        <p:spPr>
          <a:xfrm>
            <a:off x="4375759" y="3669485"/>
            <a:ext cx="3440481" cy="461665"/>
          </a:xfrm>
          <a:prstGeom prst="rect">
            <a:avLst/>
          </a:prstGeom>
          <a:noFill/>
          <a:ln>
            <a:noFill/>
          </a:ln>
        </p:spPr>
        <p:txBody>
          <a:bodyPr wrap="square">
            <a:spAutoFit/>
          </a:bodyPr>
          <a:lstStyle/>
          <a:p>
            <a:r>
              <a:rPr lang="en-US" sz="2400" b="1" dirty="0"/>
              <a:t>Finding the Right Balance</a:t>
            </a:r>
          </a:p>
        </p:txBody>
      </p:sp>
      <p:sp>
        <p:nvSpPr>
          <p:cNvPr id="20" name="TextBox 19">
            <a:extLst>
              <a:ext uri="{FF2B5EF4-FFF2-40B4-BE49-F238E27FC236}">
                <a16:creationId xmlns:a16="http://schemas.microsoft.com/office/drawing/2014/main" id="{A684784C-5D7B-CFB2-0C91-E160DB15B9A4}"/>
              </a:ext>
            </a:extLst>
          </p:cNvPr>
          <p:cNvSpPr txBox="1"/>
          <p:nvPr/>
        </p:nvSpPr>
        <p:spPr>
          <a:xfrm>
            <a:off x="7874504" y="5362773"/>
            <a:ext cx="4249804" cy="400110"/>
          </a:xfrm>
          <a:prstGeom prst="rect">
            <a:avLst/>
          </a:prstGeom>
          <a:noFill/>
          <a:ln>
            <a:noFill/>
          </a:ln>
        </p:spPr>
        <p:txBody>
          <a:bodyPr wrap="square">
            <a:spAutoFit/>
          </a:bodyPr>
          <a:lstStyle/>
          <a:p>
            <a:r>
              <a:rPr lang="en-US" sz="2000" dirty="0"/>
              <a:t>wasted time on suboptimal actions</a:t>
            </a:r>
          </a:p>
        </p:txBody>
      </p:sp>
      <p:sp>
        <p:nvSpPr>
          <p:cNvPr id="22" name="TextBox 21">
            <a:extLst>
              <a:ext uri="{FF2B5EF4-FFF2-40B4-BE49-F238E27FC236}">
                <a16:creationId xmlns:a16="http://schemas.microsoft.com/office/drawing/2014/main" id="{DB0E9B79-1CF4-5413-25F0-3AC0D1A26716}"/>
              </a:ext>
            </a:extLst>
          </p:cNvPr>
          <p:cNvSpPr txBox="1"/>
          <p:nvPr/>
        </p:nvSpPr>
        <p:spPr>
          <a:xfrm>
            <a:off x="1087300" y="5298387"/>
            <a:ext cx="5184408" cy="400110"/>
          </a:xfrm>
          <a:prstGeom prst="rect">
            <a:avLst/>
          </a:prstGeom>
          <a:noFill/>
          <a:ln>
            <a:noFill/>
          </a:ln>
        </p:spPr>
        <p:txBody>
          <a:bodyPr wrap="square">
            <a:spAutoFit/>
          </a:bodyPr>
          <a:lstStyle/>
          <a:p>
            <a:r>
              <a:rPr lang="en-US" sz="2000" dirty="0"/>
              <a:t>stuck in local maxima, missing better strategies</a:t>
            </a:r>
          </a:p>
        </p:txBody>
      </p:sp>
      <p:pic>
        <p:nvPicPr>
          <p:cNvPr id="2" name="Graphic 1" descr="Seesaw with solid fill">
            <a:extLst>
              <a:ext uri="{FF2B5EF4-FFF2-40B4-BE49-F238E27FC236}">
                <a16:creationId xmlns:a16="http://schemas.microsoft.com/office/drawing/2014/main" id="{076A282C-2842-9EC4-01EE-0D1C7ED7CBA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10120486" y="4334061"/>
            <a:ext cx="1371316" cy="1212987"/>
          </a:xfrm>
          <a:prstGeom prst="rect">
            <a:avLst/>
          </a:prstGeom>
          <a:effectLst/>
          <a:scene3d>
            <a:camera prst="orthographicFront">
              <a:rot lat="0" lon="0" rev="0"/>
            </a:camera>
            <a:lightRig rig="threePt" dir="t"/>
          </a:scene3d>
        </p:spPr>
      </p:pic>
      <p:sp>
        <p:nvSpPr>
          <p:cNvPr id="3" name="TextBox 2">
            <a:extLst>
              <a:ext uri="{FF2B5EF4-FFF2-40B4-BE49-F238E27FC236}">
                <a16:creationId xmlns:a16="http://schemas.microsoft.com/office/drawing/2014/main" id="{38B591E9-009D-043D-201F-30D691B623E7}"/>
              </a:ext>
            </a:extLst>
          </p:cNvPr>
          <p:cNvSpPr txBox="1"/>
          <p:nvPr/>
        </p:nvSpPr>
        <p:spPr>
          <a:xfrm>
            <a:off x="700198" y="4235060"/>
            <a:ext cx="2680157" cy="400110"/>
          </a:xfrm>
          <a:prstGeom prst="rect">
            <a:avLst/>
          </a:prstGeom>
          <a:noFill/>
          <a:ln>
            <a:noFill/>
          </a:ln>
        </p:spPr>
        <p:txBody>
          <a:bodyPr wrap="square">
            <a:spAutoFit/>
          </a:bodyPr>
          <a:lstStyle/>
          <a:p>
            <a:r>
              <a:rPr lang="en-US" sz="2000" dirty="0"/>
              <a:t>Too much exploitation</a:t>
            </a:r>
          </a:p>
        </p:txBody>
      </p:sp>
      <p:sp>
        <p:nvSpPr>
          <p:cNvPr id="7" name="TextBox 6">
            <a:extLst>
              <a:ext uri="{FF2B5EF4-FFF2-40B4-BE49-F238E27FC236}">
                <a16:creationId xmlns:a16="http://schemas.microsoft.com/office/drawing/2014/main" id="{41408988-4308-30D6-2D4D-B60A242342BC}"/>
              </a:ext>
            </a:extLst>
          </p:cNvPr>
          <p:cNvSpPr txBox="1"/>
          <p:nvPr/>
        </p:nvSpPr>
        <p:spPr>
          <a:xfrm>
            <a:off x="7484285" y="4465797"/>
            <a:ext cx="2515121" cy="400110"/>
          </a:xfrm>
          <a:prstGeom prst="rect">
            <a:avLst/>
          </a:prstGeom>
          <a:noFill/>
          <a:ln>
            <a:noFill/>
          </a:ln>
        </p:spPr>
        <p:txBody>
          <a:bodyPr wrap="square">
            <a:spAutoFit/>
          </a:bodyPr>
          <a:lstStyle/>
          <a:p>
            <a:r>
              <a:rPr lang="en-US" sz="2000" dirty="0"/>
              <a:t>Too much exploration</a:t>
            </a:r>
          </a:p>
        </p:txBody>
      </p:sp>
      <p:pic>
        <p:nvPicPr>
          <p:cNvPr id="4098" name="Picture 2">
            <a:extLst>
              <a:ext uri="{FF2B5EF4-FFF2-40B4-BE49-F238E27FC236}">
                <a16:creationId xmlns:a16="http://schemas.microsoft.com/office/drawing/2014/main" id="{8912BC0B-93AC-BE48-C479-A5EBE8A0906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23630" y="3968808"/>
            <a:ext cx="778503" cy="778503"/>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197445CB-AA5E-FC5E-EC7C-974555C9AE1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55259" y="3626236"/>
            <a:ext cx="603616" cy="1121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8278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2">
            <a:extLst>
              <a:ext uri="{FF2B5EF4-FFF2-40B4-BE49-F238E27FC236}">
                <a16:creationId xmlns:a16="http://schemas.microsoft.com/office/drawing/2014/main" id="{A119860B-327D-F8D0-7F3B-13FB1B10FCBC}"/>
              </a:ext>
            </a:extLst>
          </p:cNvPr>
          <p:cNvSpPr txBox="1">
            <a:spLocks/>
          </p:cNvSpPr>
          <p:nvPr/>
        </p:nvSpPr>
        <p:spPr>
          <a:xfrm>
            <a:off x="471489" y="69597"/>
            <a:ext cx="11153622" cy="565671"/>
          </a:xfrm>
          <a:prstGeom prst="rect">
            <a:avLst/>
          </a:prstGeom>
          <a:ln>
            <a:noFill/>
          </a:ln>
        </p:spPr>
        <p:txBody>
          <a:bodyPr vert="horz" lIns="91440" tIns="45720" rIns="91440" bIns="45720" rtlCol="0" anchor="ctr">
            <a:noAutofit/>
          </a:bodyPr>
          <a:lst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a:lstStyle>
          <a:p>
            <a:pPr algn="ctr"/>
            <a:r>
              <a:rPr lang="en-US" sz="3600" b="0" i="0" dirty="0">
                <a:latin typeface="+mj-lt"/>
              </a:rPr>
              <a:t>Optimal Strategy Evolution in RL</a:t>
            </a:r>
            <a:endParaRPr lang="en-US" sz="3600" dirty="0"/>
          </a:p>
        </p:txBody>
      </p:sp>
      <p:sp>
        <p:nvSpPr>
          <p:cNvPr id="3" name="TextBox 2">
            <a:extLst>
              <a:ext uri="{FF2B5EF4-FFF2-40B4-BE49-F238E27FC236}">
                <a16:creationId xmlns:a16="http://schemas.microsoft.com/office/drawing/2014/main" id="{3261CEFB-072B-CFD3-5506-2613B0247FFE}"/>
              </a:ext>
            </a:extLst>
          </p:cNvPr>
          <p:cNvSpPr txBox="1"/>
          <p:nvPr/>
        </p:nvSpPr>
        <p:spPr>
          <a:xfrm>
            <a:off x="2321762" y="5430027"/>
            <a:ext cx="7370283" cy="369332"/>
          </a:xfrm>
          <a:prstGeom prst="rect">
            <a:avLst/>
          </a:prstGeom>
          <a:noFill/>
          <a:ln>
            <a:solidFill>
              <a:schemeClr val="bg2"/>
            </a:solidFill>
          </a:ln>
        </p:spPr>
        <p:txBody>
          <a:bodyPr wrap="square">
            <a:spAutoFit/>
          </a:bodyPr>
          <a:lstStyle/>
          <a:p>
            <a:r>
              <a:rPr lang="en-US" i="1" dirty="0"/>
              <a:t>Learning naturally shifts from exploring possibilities to using what works best</a:t>
            </a:r>
          </a:p>
        </p:txBody>
      </p:sp>
      <p:sp>
        <p:nvSpPr>
          <p:cNvPr id="7" name="Arrow: Right 6">
            <a:extLst>
              <a:ext uri="{FF2B5EF4-FFF2-40B4-BE49-F238E27FC236}">
                <a16:creationId xmlns:a16="http://schemas.microsoft.com/office/drawing/2014/main" id="{DDE7748F-6927-B64B-6C15-5DB120D791AB}"/>
              </a:ext>
            </a:extLst>
          </p:cNvPr>
          <p:cNvSpPr/>
          <p:nvPr/>
        </p:nvSpPr>
        <p:spPr>
          <a:xfrm>
            <a:off x="2377440" y="4236495"/>
            <a:ext cx="7258929" cy="731520"/>
          </a:xfrm>
          <a:prstGeom prst="rightArrow">
            <a:avLst/>
          </a:prstGeom>
          <a:gradFill flip="none" rotWithShape="1">
            <a:gsLst>
              <a:gs pos="40000">
                <a:srgbClr val="00B050"/>
              </a:gs>
              <a:gs pos="88780">
                <a:srgbClr val="FFFF00"/>
              </a:gs>
              <a:gs pos="75000">
                <a:srgbClr val="1306BA"/>
              </a:gs>
              <a:gs pos="60000">
                <a:srgbClr val="FFFF00"/>
              </a:gs>
              <a:gs pos="0">
                <a:srgbClr val="FF0000"/>
              </a:gs>
              <a:gs pos="24000">
                <a:srgbClr val="FFFF00"/>
              </a:gs>
              <a:gs pos="100000">
                <a:schemeClr val="tx1"/>
              </a:gs>
            </a:gsLst>
            <a:lin ang="2700000" scaled="1"/>
            <a:tileRec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8" name="Rectangle: Rounded Corners 7">
            <a:extLst>
              <a:ext uri="{FF2B5EF4-FFF2-40B4-BE49-F238E27FC236}">
                <a16:creationId xmlns:a16="http://schemas.microsoft.com/office/drawing/2014/main" id="{7ADF62AA-FDAD-461C-00FD-B5FD883B3935}"/>
              </a:ext>
            </a:extLst>
          </p:cNvPr>
          <p:cNvSpPr/>
          <p:nvPr/>
        </p:nvSpPr>
        <p:spPr>
          <a:xfrm>
            <a:off x="1099624" y="1688123"/>
            <a:ext cx="2698653" cy="2086360"/>
          </a:xfrm>
          <a:prstGeom prst="roundRect">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r="100000" b="100000"/>
            </a:path>
            <a:tileRect l="-100000" t="-100000"/>
          </a:gra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en-US" sz="2400" b="1" dirty="0">
                <a:solidFill>
                  <a:schemeClr val="tx1"/>
                </a:solidFill>
              </a:rPr>
              <a:t>High Exploration</a:t>
            </a:r>
            <a:endParaRPr lang="en-US" b="1" dirty="0">
              <a:solidFill>
                <a:schemeClr val="tx1"/>
              </a:solidFill>
            </a:endParaRPr>
          </a:p>
          <a:p>
            <a:pPr algn="ctr"/>
            <a:endParaRPr lang="en-US" dirty="0">
              <a:solidFill>
                <a:schemeClr val="tx1"/>
              </a:solidFill>
            </a:endParaRPr>
          </a:p>
          <a:p>
            <a:pPr algn="ctr"/>
            <a:r>
              <a:rPr lang="en-US" dirty="0">
                <a:solidFill>
                  <a:schemeClr val="tx1"/>
                </a:solidFill>
              </a:rPr>
              <a:t>Try many different actions to discover possibilities.</a:t>
            </a:r>
          </a:p>
        </p:txBody>
      </p:sp>
      <p:sp>
        <p:nvSpPr>
          <p:cNvPr id="9" name="Rectangle: Rounded Corners 8">
            <a:extLst>
              <a:ext uri="{FF2B5EF4-FFF2-40B4-BE49-F238E27FC236}">
                <a16:creationId xmlns:a16="http://schemas.microsoft.com/office/drawing/2014/main" id="{05A8B715-F4E3-0D53-680C-DD679E12BF8F}"/>
              </a:ext>
            </a:extLst>
          </p:cNvPr>
          <p:cNvSpPr/>
          <p:nvPr/>
        </p:nvSpPr>
        <p:spPr>
          <a:xfrm>
            <a:off x="4567310" y="1688123"/>
            <a:ext cx="2698653" cy="2086360"/>
          </a:xfrm>
          <a:prstGeom prst="roundRect">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2400" b="1" dirty="0">
                <a:solidFill>
                  <a:schemeClr val="tx1"/>
                </a:solidFill>
              </a:rPr>
              <a:t>Gradual Shift</a:t>
            </a:r>
            <a:endParaRPr lang="en-US" b="1" dirty="0">
              <a:solidFill>
                <a:schemeClr val="tx1"/>
              </a:solidFill>
            </a:endParaRPr>
          </a:p>
          <a:p>
            <a:pPr algn="ctr"/>
            <a:endParaRPr lang="en-US" dirty="0">
              <a:solidFill>
                <a:schemeClr val="tx1"/>
              </a:solidFill>
            </a:endParaRPr>
          </a:p>
          <a:p>
            <a:pPr algn="ctr"/>
            <a:r>
              <a:rPr lang="en-US" dirty="0">
                <a:solidFill>
                  <a:schemeClr val="tx1"/>
                </a:solidFill>
              </a:rPr>
              <a:t>Increase exploitation of successful strategies.</a:t>
            </a:r>
          </a:p>
        </p:txBody>
      </p:sp>
      <p:sp>
        <p:nvSpPr>
          <p:cNvPr id="10" name="Rectangle: Rounded Corners 9">
            <a:extLst>
              <a:ext uri="{FF2B5EF4-FFF2-40B4-BE49-F238E27FC236}">
                <a16:creationId xmlns:a16="http://schemas.microsoft.com/office/drawing/2014/main" id="{14402261-9CEF-397A-8844-AD810F1322DF}"/>
              </a:ext>
            </a:extLst>
          </p:cNvPr>
          <p:cNvSpPr/>
          <p:nvPr/>
        </p:nvSpPr>
        <p:spPr>
          <a:xfrm>
            <a:off x="8161605" y="1688123"/>
            <a:ext cx="2698653" cy="2086360"/>
          </a:xfrm>
          <a:prstGeom prst="roundRect">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2400" b="1" dirty="0">
                <a:solidFill>
                  <a:schemeClr val="tx1"/>
                </a:solidFill>
              </a:rPr>
              <a:t>Mostly Exploitation</a:t>
            </a:r>
          </a:p>
          <a:p>
            <a:pPr algn="ctr"/>
            <a:endParaRPr lang="en-US" b="1" dirty="0">
              <a:solidFill>
                <a:schemeClr val="tx1"/>
              </a:solidFill>
            </a:endParaRPr>
          </a:p>
          <a:p>
            <a:pPr algn="ctr"/>
            <a:r>
              <a:rPr lang="en-US" dirty="0">
                <a:solidFill>
                  <a:schemeClr val="tx1"/>
                </a:solidFill>
              </a:rPr>
              <a:t>Apply learned knowledge consistently.</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p:cNvGraphicFramePr>
          <p:nvPr>
            <p:extLst>
              <p:ext uri="{D42A27DB-BD31-4B8C-83A1-F6EECF244321}">
                <p14:modId xmlns:p14="http://schemas.microsoft.com/office/powerpoint/2010/main" val="2688362500"/>
              </p:ext>
            </p:extLst>
          </p:nvPr>
        </p:nvGraphicFramePr>
        <p:xfrm>
          <a:off x="626012" y="1615440"/>
          <a:ext cx="10999098" cy="3627120"/>
        </p:xfrm>
        <a:graphic>
          <a:graphicData uri="http://schemas.openxmlformats.org/drawingml/2006/table">
            <a:tbl>
              <a:tblPr firstRow="1" bandRow="1">
                <a:tableStyleId>{5A111915-BE36-4E01-A7E5-04B1672EAD32}</a:tableStyleId>
              </a:tblPr>
              <a:tblGrid>
                <a:gridCol w="3666366">
                  <a:extLst>
                    <a:ext uri="{9D8B030D-6E8A-4147-A177-3AD203B41FA5}">
                      <a16:colId xmlns:a16="http://schemas.microsoft.com/office/drawing/2014/main" val="20000"/>
                    </a:ext>
                  </a:extLst>
                </a:gridCol>
                <a:gridCol w="3666366">
                  <a:extLst>
                    <a:ext uri="{9D8B030D-6E8A-4147-A177-3AD203B41FA5}">
                      <a16:colId xmlns:a16="http://schemas.microsoft.com/office/drawing/2014/main" val="20001"/>
                    </a:ext>
                  </a:extLst>
                </a:gridCol>
                <a:gridCol w="3666366">
                  <a:extLst>
                    <a:ext uri="{9D8B030D-6E8A-4147-A177-3AD203B41FA5}">
                      <a16:colId xmlns:a16="http://schemas.microsoft.com/office/drawing/2014/main" val="20002"/>
                    </a:ext>
                  </a:extLst>
                </a:gridCol>
              </a:tblGrid>
              <a:tr h="0">
                <a:tc>
                  <a:txBody>
                    <a:bodyPr/>
                    <a:lstStyle/>
                    <a:p>
                      <a:pPr marL="0" lvl="0" indent="0" algn="ctr">
                        <a:buNone/>
                      </a:pPr>
                      <a:r>
                        <a:rPr sz="2600" b="1" dirty="0"/>
                        <a:t>Supervised Learning</a:t>
                      </a:r>
                    </a:p>
                  </a:txBody>
                  <a:tcPr/>
                </a:tc>
                <a:tc>
                  <a:txBody>
                    <a:bodyPr/>
                    <a:lstStyle/>
                    <a:p>
                      <a:pPr marL="0" lvl="0" indent="0" algn="ctr">
                        <a:buNone/>
                      </a:pPr>
                      <a:r>
                        <a:rPr sz="2600" b="1" dirty="0"/>
                        <a:t>Unsupervised Learning</a:t>
                      </a:r>
                    </a:p>
                  </a:txBody>
                  <a:tcPr/>
                </a:tc>
                <a:tc>
                  <a:txBody>
                    <a:bodyPr/>
                    <a:lstStyle/>
                    <a:p>
                      <a:pPr marL="0" lvl="0" indent="0" algn="ctr">
                        <a:buNone/>
                      </a:pPr>
                      <a:r>
                        <a:rPr sz="2600" b="1" dirty="0"/>
                        <a:t>Reinforcement Learning</a:t>
                      </a:r>
                    </a:p>
                  </a:txBody>
                  <a:tcPr/>
                </a:tc>
                <a:extLst>
                  <a:ext uri="{0D108BD9-81ED-4DB2-BD59-A6C34878D82A}">
                    <a16:rowId xmlns:a16="http://schemas.microsoft.com/office/drawing/2014/main" val="10000"/>
                  </a:ext>
                </a:extLst>
              </a:tr>
              <a:tr h="0">
                <a:tc>
                  <a:txBody>
                    <a:bodyPr/>
                    <a:lstStyle/>
                    <a:p>
                      <a:pPr marL="0" lvl="0" indent="0" algn="ctr">
                        <a:buNone/>
                      </a:pPr>
                      <a:r>
                        <a:rPr sz="2600"/>
                        <a:t>Learn from labeled examples</a:t>
                      </a:r>
                    </a:p>
                  </a:txBody>
                  <a:tcPr/>
                </a:tc>
                <a:tc>
                  <a:txBody>
                    <a:bodyPr/>
                    <a:lstStyle/>
                    <a:p>
                      <a:pPr marL="0" lvl="0" indent="0" algn="ctr">
                        <a:buNone/>
                      </a:pPr>
                      <a:r>
                        <a:rPr sz="2600" dirty="0"/>
                        <a:t>Find patterns in data</a:t>
                      </a:r>
                    </a:p>
                  </a:txBody>
                  <a:tcPr/>
                </a:tc>
                <a:tc>
                  <a:txBody>
                    <a:bodyPr/>
                    <a:lstStyle/>
                    <a:p>
                      <a:pPr marL="0" lvl="0" indent="0" algn="ctr">
                        <a:buNone/>
                      </a:pPr>
                      <a:r>
                        <a:rPr sz="2600" dirty="0"/>
                        <a:t>Learn from rewards</a:t>
                      </a:r>
                    </a:p>
                  </a:txBody>
                  <a:tcPr/>
                </a:tc>
                <a:extLst>
                  <a:ext uri="{0D108BD9-81ED-4DB2-BD59-A6C34878D82A}">
                    <a16:rowId xmlns:a16="http://schemas.microsoft.com/office/drawing/2014/main" val="10001"/>
                  </a:ext>
                </a:extLst>
              </a:tr>
              <a:tr h="0">
                <a:tc>
                  <a:txBody>
                    <a:bodyPr/>
                    <a:lstStyle/>
                    <a:p>
                      <a:pPr marL="0" lvl="0" indent="0" algn="ctr">
                        <a:buNone/>
                      </a:pPr>
                      <a:r>
                        <a:rPr sz="2600" dirty="0"/>
                        <a:t>Teacher provides correct answers</a:t>
                      </a:r>
                    </a:p>
                  </a:txBody>
                  <a:tcPr/>
                </a:tc>
                <a:tc>
                  <a:txBody>
                    <a:bodyPr/>
                    <a:lstStyle/>
                    <a:p>
                      <a:pPr marL="0" lvl="0" indent="0" algn="ctr">
                        <a:buNone/>
                      </a:pPr>
                      <a:r>
                        <a:rPr sz="2600" dirty="0"/>
                        <a:t>No teacher</a:t>
                      </a:r>
                    </a:p>
                  </a:txBody>
                  <a:tcPr/>
                </a:tc>
                <a:tc>
                  <a:txBody>
                    <a:bodyPr/>
                    <a:lstStyle/>
                    <a:p>
                      <a:pPr marL="0" lvl="0" indent="0" algn="ctr">
                        <a:buNone/>
                      </a:pPr>
                      <a:r>
                        <a:rPr sz="2600"/>
                        <a:t>Environment provides feedback</a:t>
                      </a:r>
                    </a:p>
                  </a:txBody>
                  <a:tcPr/>
                </a:tc>
                <a:extLst>
                  <a:ext uri="{0D108BD9-81ED-4DB2-BD59-A6C34878D82A}">
                    <a16:rowId xmlns:a16="http://schemas.microsoft.com/office/drawing/2014/main" val="10002"/>
                  </a:ext>
                </a:extLst>
              </a:tr>
              <a:tr h="0">
                <a:tc>
                  <a:txBody>
                    <a:bodyPr/>
                    <a:lstStyle/>
                    <a:p>
                      <a:pPr marL="0" lvl="0" indent="0" algn="ctr">
                        <a:buNone/>
                      </a:pPr>
                      <a:r>
                        <a:rPr sz="2600" dirty="0"/>
                        <a:t>Training</a:t>
                      </a:r>
                      <a:r>
                        <a:rPr lang="en-US" sz="2600" dirty="0"/>
                        <a:t> </a:t>
                      </a:r>
                      <a:r>
                        <a:rPr sz="2600" dirty="0"/>
                        <a:t>/</a:t>
                      </a:r>
                      <a:r>
                        <a:rPr lang="en-US" sz="2600" dirty="0"/>
                        <a:t> </a:t>
                      </a:r>
                      <a:r>
                        <a:rPr sz="2600" dirty="0"/>
                        <a:t>test phases</a:t>
                      </a:r>
                    </a:p>
                  </a:txBody>
                  <a:tcPr/>
                </a:tc>
                <a:tc>
                  <a:txBody>
                    <a:bodyPr/>
                    <a:lstStyle/>
                    <a:p>
                      <a:pPr marL="0" lvl="0" indent="0" algn="ctr">
                        <a:buNone/>
                      </a:pPr>
                      <a:r>
                        <a:rPr sz="2600"/>
                        <a:t>No labels needed</a:t>
                      </a:r>
                    </a:p>
                  </a:txBody>
                  <a:tcPr/>
                </a:tc>
                <a:tc>
                  <a:txBody>
                    <a:bodyPr/>
                    <a:lstStyle/>
                    <a:p>
                      <a:pPr marL="0" lvl="0" indent="0" algn="ctr">
                        <a:buNone/>
                      </a:pPr>
                      <a:r>
                        <a:rPr sz="2600" dirty="0"/>
                        <a:t>Continuous learning</a:t>
                      </a:r>
                    </a:p>
                  </a:txBody>
                  <a:tcPr/>
                </a:tc>
                <a:extLst>
                  <a:ext uri="{0D108BD9-81ED-4DB2-BD59-A6C34878D82A}">
                    <a16:rowId xmlns:a16="http://schemas.microsoft.com/office/drawing/2014/main" val="10003"/>
                  </a:ext>
                </a:extLst>
              </a:tr>
              <a:tr h="0">
                <a:tc>
                  <a:txBody>
                    <a:bodyPr/>
                    <a:lstStyle/>
                    <a:p>
                      <a:pPr marL="0" lvl="0" indent="0" algn="ctr">
                        <a:buNone/>
                      </a:pPr>
                      <a:r>
                        <a:rPr sz="2600" dirty="0"/>
                        <a:t>Classification</a:t>
                      </a:r>
                      <a:r>
                        <a:rPr lang="en-US" sz="2600" dirty="0"/>
                        <a:t> </a:t>
                      </a:r>
                      <a:r>
                        <a:rPr sz="2600" dirty="0"/>
                        <a:t>/</a:t>
                      </a:r>
                      <a:r>
                        <a:rPr lang="en-US" sz="2600" dirty="0"/>
                        <a:t> </a:t>
                      </a:r>
                      <a:r>
                        <a:rPr sz="2600" dirty="0"/>
                        <a:t>regression</a:t>
                      </a:r>
                    </a:p>
                  </a:txBody>
                  <a:tcPr/>
                </a:tc>
                <a:tc>
                  <a:txBody>
                    <a:bodyPr/>
                    <a:lstStyle/>
                    <a:p>
                      <a:pPr marL="0" lvl="0" indent="0" algn="ctr">
                        <a:buNone/>
                      </a:pPr>
                      <a:r>
                        <a:rPr sz="2600" dirty="0"/>
                        <a:t>Clustering</a:t>
                      </a:r>
                      <a:r>
                        <a:rPr lang="en-US" sz="2600" dirty="0"/>
                        <a:t> </a:t>
                      </a:r>
                      <a:r>
                        <a:rPr sz="2600" dirty="0"/>
                        <a:t>/</a:t>
                      </a:r>
                      <a:r>
                        <a:rPr lang="en-US" sz="2600" dirty="0"/>
                        <a:t> </a:t>
                      </a:r>
                      <a:r>
                        <a:rPr sz="2600" dirty="0"/>
                        <a:t>dimensionality reduction</a:t>
                      </a:r>
                    </a:p>
                  </a:txBody>
                  <a:tcPr/>
                </a:tc>
                <a:tc>
                  <a:txBody>
                    <a:bodyPr/>
                    <a:lstStyle/>
                    <a:p>
                      <a:pPr marL="0" lvl="0" indent="0" algn="ctr">
                        <a:buNone/>
                      </a:pPr>
                      <a:r>
                        <a:rPr sz="2600" dirty="0"/>
                        <a:t>Sequential decision making</a:t>
                      </a:r>
                    </a:p>
                  </a:txBody>
                  <a:tcPr/>
                </a:tc>
                <a:extLst>
                  <a:ext uri="{0D108BD9-81ED-4DB2-BD59-A6C34878D82A}">
                    <a16:rowId xmlns:a16="http://schemas.microsoft.com/office/drawing/2014/main" val="10004"/>
                  </a:ext>
                </a:extLst>
              </a:tr>
            </a:tbl>
          </a:graphicData>
        </a:graphic>
      </p:graphicFrame>
      <p:sp>
        <p:nvSpPr>
          <p:cNvPr id="4" name="Title 12">
            <a:extLst>
              <a:ext uri="{FF2B5EF4-FFF2-40B4-BE49-F238E27FC236}">
                <a16:creationId xmlns:a16="http://schemas.microsoft.com/office/drawing/2014/main" id="{9D930F72-AD97-7C68-A939-AB2AD8224B1F}"/>
              </a:ext>
            </a:extLst>
          </p:cNvPr>
          <p:cNvSpPr txBox="1">
            <a:spLocks/>
          </p:cNvSpPr>
          <p:nvPr/>
        </p:nvSpPr>
        <p:spPr>
          <a:xfrm>
            <a:off x="471489" y="69597"/>
            <a:ext cx="11153622" cy="565671"/>
          </a:xfrm>
          <a:prstGeom prst="rect">
            <a:avLst/>
          </a:prstGeom>
          <a:ln>
            <a:noFill/>
          </a:ln>
        </p:spPr>
        <p:txBody>
          <a:bodyPr vert="horz" lIns="91440" tIns="45720" rIns="91440" bIns="45720" rtlCol="0" anchor="ctr">
            <a:noAutofit/>
          </a:bodyPr>
          <a:lst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a:lstStyle>
          <a:p>
            <a:pPr algn="ctr"/>
            <a:r>
              <a:rPr lang="en-US" sz="3600" b="0" i="0" dirty="0">
                <a:latin typeface="+mj-lt"/>
              </a:rPr>
              <a:t>RL vs. Other Learning Paradigms</a:t>
            </a:r>
            <a:endParaRPr lang="en-US" sz="36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71112-6F0F-FB1E-AB51-B909D18A6F8C}"/>
            </a:ext>
          </a:extLst>
        </p:cNvPr>
        <p:cNvGrpSpPr/>
        <p:nvPr/>
      </p:nvGrpSpPr>
      <p:grpSpPr>
        <a:xfrm>
          <a:off x="0" y="0"/>
          <a:ext cx="0" cy="0"/>
          <a:chOff x="0" y="0"/>
          <a:chExt cx="0" cy="0"/>
        </a:xfrm>
      </p:grpSpPr>
      <p:sp>
        <p:nvSpPr>
          <p:cNvPr id="4" name="Title 12">
            <a:extLst>
              <a:ext uri="{FF2B5EF4-FFF2-40B4-BE49-F238E27FC236}">
                <a16:creationId xmlns:a16="http://schemas.microsoft.com/office/drawing/2014/main" id="{798BF660-79A8-C99E-17D2-6AE72B8CDAFC}"/>
              </a:ext>
            </a:extLst>
          </p:cNvPr>
          <p:cNvSpPr txBox="1">
            <a:spLocks/>
          </p:cNvSpPr>
          <p:nvPr/>
        </p:nvSpPr>
        <p:spPr>
          <a:xfrm>
            <a:off x="471489" y="69597"/>
            <a:ext cx="11153622" cy="565671"/>
          </a:xfrm>
          <a:prstGeom prst="rect">
            <a:avLst/>
          </a:prstGeom>
          <a:ln>
            <a:noFill/>
          </a:ln>
        </p:spPr>
        <p:txBody>
          <a:bodyPr vert="horz" lIns="91440" tIns="45720" rIns="91440" bIns="45720" rtlCol="0" anchor="ctr">
            <a:noAutofit/>
          </a:bodyPr>
          <a:lst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a:lstStyle>
          <a:p>
            <a:pPr algn="ctr"/>
            <a:r>
              <a:rPr lang="en-US" sz="3600" b="0" i="0" dirty="0">
                <a:latin typeface="+mj-lt"/>
              </a:rPr>
              <a:t>The Policy</a:t>
            </a:r>
            <a:endParaRPr lang="en-US" sz="360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D412BA3-3EA7-E0FE-0BDE-507FF80DA00B}"/>
                  </a:ext>
                </a:extLst>
              </p:cNvPr>
              <p:cNvSpPr txBox="1"/>
              <p:nvPr/>
            </p:nvSpPr>
            <p:spPr>
              <a:xfrm>
                <a:off x="585567" y="861183"/>
                <a:ext cx="11039544" cy="707886"/>
              </a:xfrm>
              <a:prstGeom prst="rect">
                <a:avLst/>
              </a:prstGeom>
              <a:noFill/>
              <a:ln>
                <a:noFill/>
              </a:ln>
            </p:spPr>
            <p:txBody>
              <a:bodyPr wrap="square">
                <a:spAutoFit/>
              </a:bodyPr>
              <a:lstStyle/>
              <a:p>
                <a:r>
                  <a:rPr lang="en-US" sz="2000" dirty="0"/>
                  <a:t>A </a:t>
                </a:r>
                <a:r>
                  <a:rPr lang="en-US" sz="2000" b="1" i="1" dirty="0"/>
                  <a:t>policy</a:t>
                </a:r>
                <a:r>
                  <a:rPr lang="en-US" sz="2000" dirty="0"/>
                  <a:t> is an agent's strategy for choosing actions—it decides what to do in any given situation. Formally, a policy </a:t>
                </a:r>
                <a14:m>
                  <m:oMath xmlns:m="http://schemas.openxmlformats.org/officeDocument/2006/math">
                    <m:r>
                      <a:rPr lang="en-US" sz="2000" b="0" i="1" smtClean="0">
                        <a:latin typeface="Cambria Math" panose="02040503050406030204" pitchFamily="18" charset="0"/>
                      </a:rPr>
                      <m:t>𝜋</m:t>
                    </m:r>
                  </m:oMath>
                </a14:m>
                <a:r>
                  <a:rPr lang="en-US" sz="2000" dirty="0"/>
                  <a:t> is a function that maps states to actions (or probability distributions over actions).</a:t>
                </a:r>
              </a:p>
            </p:txBody>
          </p:sp>
        </mc:Choice>
        <mc:Fallback xmlns="">
          <p:sp>
            <p:nvSpPr>
              <p:cNvPr id="3" name="TextBox 2">
                <a:extLst>
                  <a:ext uri="{FF2B5EF4-FFF2-40B4-BE49-F238E27FC236}">
                    <a16:creationId xmlns:a16="http://schemas.microsoft.com/office/drawing/2014/main" id="{DD412BA3-3EA7-E0FE-0BDE-507FF80DA00B}"/>
                  </a:ext>
                </a:extLst>
              </p:cNvPr>
              <p:cNvSpPr txBox="1">
                <a:spLocks noRot="1" noChangeAspect="1" noMove="1" noResize="1" noEditPoints="1" noAdjustHandles="1" noChangeArrowheads="1" noChangeShapeType="1" noTextEdit="1"/>
              </p:cNvSpPr>
              <p:nvPr/>
            </p:nvSpPr>
            <p:spPr>
              <a:xfrm>
                <a:off x="585567" y="861183"/>
                <a:ext cx="11039544" cy="707886"/>
              </a:xfrm>
              <a:prstGeom prst="rect">
                <a:avLst/>
              </a:prstGeom>
              <a:blipFill>
                <a:blip r:embed="rId2"/>
                <a:stretch>
                  <a:fillRect l="-552" t="-4310" r="-1049" b="-14655"/>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7E3D34B-B6AD-B5E1-97F3-73DD8BAD7299}"/>
                  </a:ext>
                </a:extLst>
              </p:cNvPr>
              <p:cNvSpPr txBox="1"/>
              <p:nvPr/>
            </p:nvSpPr>
            <p:spPr>
              <a:xfrm>
                <a:off x="1052661" y="2580362"/>
                <a:ext cx="1236198" cy="400110"/>
              </a:xfrm>
              <a:prstGeom prst="rect">
                <a:avLst/>
              </a:prstGeom>
              <a:noFill/>
              <a:ln>
                <a:noFill/>
              </a:ln>
            </p:spPr>
            <p:txBody>
              <a:bodyPr wrap="square">
                <a:spAutoFit/>
              </a:bodyPr>
              <a:lstStyle/>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𝝅</m:t>
                      </m:r>
                      <m:r>
                        <a:rPr lang="en-US" sz="2000" b="0" i="1" smtClean="0">
                          <a:latin typeface="Cambria Math" panose="02040503050406030204" pitchFamily="18" charset="0"/>
                        </a:rPr>
                        <m:t>:</m:t>
                      </m:r>
                      <m:r>
                        <a:rPr lang="en-US" sz="2000" b="0" i="1" smtClean="0">
                          <a:latin typeface="Cambria Math" panose="02040503050406030204" pitchFamily="18" charset="0"/>
                        </a:rPr>
                        <m:t>𝑆</m:t>
                      </m:r>
                      <m:r>
                        <a:rPr lang="en-US" sz="2000" b="0" i="1" smtClean="0">
                          <a:latin typeface="Cambria Math" panose="02040503050406030204" pitchFamily="18" charset="0"/>
                        </a:rPr>
                        <m:t>→</m:t>
                      </m:r>
                      <m:r>
                        <a:rPr lang="en-US" sz="2000" b="0" i="1" smtClean="0">
                          <a:latin typeface="Cambria Math" panose="02040503050406030204" pitchFamily="18" charset="0"/>
                        </a:rPr>
                        <m:t>𝐴</m:t>
                      </m:r>
                    </m:oMath>
                  </m:oMathPara>
                </a14:m>
                <a:endParaRPr lang="en-US" sz="2000" dirty="0"/>
              </a:p>
            </p:txBody>
          </p:sp>
        </mc:Choice>
        <mc:Fallback xmlns="">
          <p:sp>
            <p:nvSpPr>
              <p:cNvPr id="8" name="TextBox 7">
                <a:extLst>
                  <a:ext uri="{FF2B5EF4-FFF2-40B4-BE49-F238E27FC236}">
                    <a16:creationId xmlns:a16="http://schemas.microsoft.com/office/drawing/2014/main" id="{47E3D34B-B6AD-B5E1-97F3-73DD8BAD7299}"/>
                  </a:ext>
                </a:extLst>
              </p:cNvPr>
              <p:cNvSpPr txBox="1">
                <a:spLocks noRot="1" noChangeAspect="1" noMove="1" noResize="1" noEditPoints="1" noAdjustHandles="1" noChangeArrowheads="1" noChangeShapeType="1" noTextEdit="1"/>
              </p:cNvSpPr>
              <p:nvPr/>
            </p:nvSpPr>
            <p:spPr>
              <a:xfrm>
                <a:off x="1052661" y="2580362"/>
                <a:ext cx="1236198" cy="400110"/>
              </a:xfrm>
              <a:prstGeom prst="rect">
                <a:avLst/>
              </a:prstGeom>
              <a:blipFill>
                <a:blip r:embed="rId3"/>
                <a:stretch>
                  <a:fillRect/>
                </a:stretch>
              </a:blipFill>
              <a:ln>
                <a:no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E6B093C5-D0B9-E7C9-FE5F-D62C0D3BF980}"/>
              </a:ext>
            </a:extLst>
          </p:cNvPr>
          <p:cNvSpPr txBox="1"/>
          <p:nvPr/>
        </p:nvSpPr>
        <p:spPr>
          <a:xfrm>
            <a:off x="2964595" y="2622934"/>
            <a:ext cx="997048" cy="400110"/>
          </a:xfrm>
          <a:prstGeom prst="rect">
            <a:avLst/>
          </a:prstGeom>
          <a:noFill/>
          <a:ln>
            <a:noFill/>
          </a:ln>
        </p:spPr>
        <p:txBody>
          <a:bodyPr wrap="square">
            <a:spAutoFit/>
          </a:bodyPr>
          <a:lstStyle/>
          <a:p>
            <a:r>
              <a:rPr lang="en-US" sz="2000" dirty="0"/>
              <a:t>where: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FE6D142-C19C-335A-8E84-225C2FD51838}"/>
                  </a:ext>
                </a:extLst>
              </p:cNvPr>
              <p:cNvSpPr txBox="1"/>
              <p:nvPr/>
            </p:nvSpPr>
            <p:spPr>
              <a:xfrm>
                <a:off x="4132091" y="2453657"/>
                <a:ext cx="1899137" cy="400110"/>
              </a:xfrm>
              <a:prstGeom prst="rect">
                <a:avLst/>
              </a:prstGeom>
              <a:noFill/>
              <a:ln>
                <a:noFill/>
              </a:ln>
            </p:spPr>
            <p:txBody>
              <a:bodyPr wrap="square">
                <a:spAutoFit/>
              </a:bodyPr>
              <a:lstStyle/>
              <a:p>
                <a14:m>
                  <m:oMath xmlns:m="http://schemas.openxmlformats.org/officeDocument/2006/math">
                    <m:r>
                      <a:rPr lang="en-US" sz="2000" i="1" dirty="0" smtClean="0">
                        <a:latin typeface="Cambria Math" panose="02040503050406030204" pitchFamily="18" charset="0"/>
                      </a:rPr>
                      <m:t>𝑆</m:t>
                    </m:r>
                  </m:oMath>
                </a14:m>
                <a:r>
                  <a:rPr lang="en-US" sz="2000" dirty="0"/>
                  <a:t>: state space</a:t>
                </a:r>
              </a:p>
            </p:txBody>
          </p:sp>
        </mc:Choice>
        <mc:Fallback xmlns="">
          <p:sp>
            <p:nvSpPr>
              <p:cNvPr id="10" name="TextBox 9">
                <a:extLst>
                  <a:ext uri="{FF2B5EF4-FFF2-40B4-BE49-F238E27FC236}">
                    <a16:creationId xmlns:a16="http://schemas.microsoft.com/office/drawing/2014/main" id="{CFE6D142-C19C-335A-8E84-225C2FD51838}"/>
                  </a:ext>
                </a:extLst>
              </p:cNvPr>
              <p:cNvSpPr txBox="1">
                <a:spLocks noRot="1" noChangeAspect="1" noMove="1" noResize="1" noEditPoints="1" noAdjustHandles="1" noChangeArrowheads="1" noChangeShapeType="1" noTextEdit="1"/>
              </p:cNvSpPr>
              <p:nvPr/>
            </p:nvSpPr>
            <p:spPr>
              <a:xfrm>
                <a:off x="4132091" y="2453657"/>
                <a:ext cx="1899137" cy="400110"/>
              </a:xfrm>
              <a:prstGeom prst="rect">
                <a:avLst/>
              </a:prstGeom>
              <a:blipFill>
                <a:blip r:embed="rId4"/>
                <a:stretch>
                  <a:fillRect t="-9231" b="-27692"/>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6BF0215-39E2-5D39-EBBE-C737E978E20A}"/>
                  </a:ext>
                </a:extLst>
              </p:cNvPr>
              <p:cNvSpPr txBox="1"/>
              <p:nvPr/>
            </p:nvSpPr>
            <p:spPr>
              <a:xfrm>
                <a:off x="4132092" y="2822989"/>
                <a:ext cx="2321168" cy="400110"/>
              </a:xfrm>
              <a:prstGeom prst="rect">
                <a:avLst/>
              </a:prstGeom>
              <a:noFill/>
              <a:ln>
                <a:noFill/>
              </a:ln>
            </p:spPr>
            <p:txBody>
              <a:bodyPr wrap="square">
                <a:spAutoFit/>
              </a:bodyPr>
              <a:lstStyle/>
              <a:p>
                <a14:m>
                  <m:oMath xmlns:m="http://schemas.openxmlformats.org/officeDocument/2006/math">
                    <m:r>
                      <a:rPr lang="en-US" sz="2000" b="0" i="1" dirty="0" smtClean="0">
                        <a:latin typeface="Cambria Math" panose="02040503050406030204" pitchFamily="18" charset="0"/>
                      </a:rPr>
                      <m:t>𝐴</m:t>
                    </m:r>
                  </m:oMath>
                </a14:m>
                <a:r>
                  <a:rPr lang="en-US" sz="2000" dirty="0"/>
                  <a:t>: action space</a:t>
                </a:r>
              </a:p>
            </p:txBody>
          </p:sp>
        </mc:Choice>
        <mc:Fallback xmlns="">
          <p:sp>
            <p:nvSpPr>
              <p:cNvPr id="11" name="TextBox 10">
                <a:extLst>
                  <a:ext uri="{FF2B5EF4-FFF2-40B4-BE49-F238E27FC236}">
                    <a16:creationId xmlns:a16="http://schemas.microsoft.com/office/drawing/2014/main" id="{06BF0215-39E2-5D39-EBBE-C737E978E20A}"/>
                  </a:ext>
                </a:extLst>
              </p:cNvPr>
              <p:cNvSpPr txBox="1">
                <a:spLocks noRot="1" noChangeAspect="1" noMove="1" noResize="1" noEditPoints="1" noAdjustHandles="1" noChangeArrowheads="1" noChangeShapeType="1" noTextEdit="1"/>
              </p:cNvSpPr>
              <p:nvPr/>
            </p:nvSpPr>
            <p:spPr>
              <a:xfrm>
                <a:off x="4132092" y="2822989"/>
                <a:ext cx="2321168" cy="400110"/>
              </a:xfrm>
              <a:prstGeom prst="rect">
                <a:avLst/>
              </a:prstGeom>
              <a:blipFill>
                <a:blip r:embed="rId5"/>
                <a:stretch>
                  <a:fillRect t="-7576" b="-25758"/>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1E008529-9723-75FC-2E89-11E08A36B7FD}"/>
                  </a:ext>
                </a:extLst>
              </p:cNvPr>
              <p:cNvSpPr txBox="1"/>
              <p:nvPr/>
            </p:nvSpPr>
            <p:spPr>
              <a:xfrm>
                <a:off x="760536" y="3673109"/>
                <a:ext cx="4978205" cy="400110"/>
              </a:xfrm>
              <a:prstGeom prst="rect">
                <a:avLst/>
              </a:prstGeom>
              <a:noFill/>
              <a:ln>
                <a:noFill/>
              </a:ln>
            </p:spPr>
            <p:txBody>
              <a:bodyPr wrap="square">
                <a:spAutoFit/>
              </a:bodyPr>
              <a:lstStyle/>
              <a:p>
                <a:r>
                  <a:rPr lang="en-US" sz="2000" dirty="0"/>
                  <a:t>Thus, </a:t>
                </a:r>
                <a14:m>
                  <m:oMath xmlns:m="http://schemas.openxmlformats.org/officeDocument/2006/math">
                    <m:r>
                      <a:rPr lang="en-US" sz="2000" b="0" i="1" smtClean="0">
                        <a:latin typeface="Cambria Math" panose="02040503050406030204" pitchFamily="18" charset="0"/>
                      </a:rPr>
                      <m:t>𝜋</m:t>
                    </m:r>
                    <m:d>
                      <m:dPr>
                        <m:ctrlPr>
                          <a:rPr lang="en-US" sz="2000" b="0" i="1" smtClean="0">
                            <a:latin typeface="Cambria Math" panose="02040503050406030204" pitchFamily="18" charset="0"/>
                          </a:rPr>
                        </m:ctrlPr>
                      </m:dPr>
                      <m:e>
                        <m:r>
                          <a:rPr lang="en-US" sz="2000" b="0" i="1" smtClean="0">
                            <a:solidFill>
                              <a:srgbClr val="00B050"/>
                            </a:solidFill>
                            <a:latin typeface="Cambria Math" panose="02040503050406030204" pitchFamily="18" charset="0"/>
                          </a:rPr>
                          <m:t>𝑠</m:t>
                        </m:r>
                      </m:e>
                    </m:d>
                  </m:oMath>
                </a14:m>
                <a:r>
                  <a:rPr lang="en-US" sz="2000" dirty="0"/>
                  <a:t> is the action chosen in state </a:t>
                </a:r>
                <a14:m>
                  <m:oMath xmlns:m="http://schemas.openxmlformats.org/officeDocument/2006/math">
                    <m:r>
                      <a:rPr lang="en-US" sz="2000" b="0" i="1" dirty="0" smtClean="0">
                        <a:solidFill>
                          <a:srgbClr val="00B050"/>
                        </a:solidFill>
                        <a:latin typeface="Cambria Math" panose="02040503050406030204" pitchFamily="18" charset="0"/>
                      </a:rPr>
                      <m:t>𝑠</m:t>
                    </m:r>
                    <m:r>
                      <a:rPr lang="en-US" sz="2000" b="0" i="1" dirty="0" smtClean="0">
                        <a:latin typeface="Cambria Math" panose="02040503050406030204" pitchFamily="18" charset="0"/>
                      </a:rPr>
                      <m:t>∈</m:t>
                    </m:r>
                    <m:r>
                      <a:rPr lang="en-US" sz="2000" b="0" i="1" dirty="0" smtClean="0">
                        <a:latin typeface="Cambria Math" panose="02040503050406030204" pitchFamily="18" charset="0"/>
                      </a:rPr>
                      <m:t>𝑆</m:t>
                    </m:r>
                  </m:oMath>
                </a14:m>
                <a:r>
                  <a:rPr lang="en-US" sz="2000" dirty="0"/>
                  <a:t>.</a:t>
                </a:r>
              </a:p>
            </p:txBody>
          </p:sp>
        </mc:Choice>
        <mc:Fallback xmlns="">
          <p:sp>
            <p:nvSpPr>
              <p:cNvPr id="15" name="TextBox 14">
                <a:extLst>
                  <a:ext uri="{FF2B5EF4-FFF2-40B4-BE49-F238E27FC236}">
                    <a16:creationId xmlns:a16="http://schemas.microsoft.com/office/drawing/2014/main" id="{1E008529-9723-75FC-2E89-11E08A36B7FD}"/>
                  </a:ext>
                </a:extLst>
              </p:cNvPr>
              <p:cNvSpPr txBox="1">
                <a:spLocks noRot="1" noChangeAspect="1" noMove="1" noResize="1" noEditPoints="1" noAdjustHandles="1" noChangeArrowheads="1" noChangeShapeType="1" noTextEdit="1"/>
              </p:cNvSpPr>
              <p:nvPr/>
            </p:nvSpPr>
            <p:spPr>
              <a:xfrm>
                <a:off x="760536" y="3673109"/>
                <a:ext cx="4978205" cy="400110"/>
              </a:xfrm>
              <a:prstGeom prst="rect">
                <a:avLst/>
              </a:prstGeom>
              <a:blipFill>
                <a:blip r:embed="rId6"/>
                <a:stretch>
                  <a:fillRect l="-1348" t="-9231" b="-27692"/>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3CA4289-5917-324E-602E-A656C8A62977}"/>
                  </a:ext>
                </a:extLst>
              </p:cNvPr>
              <p:cNvSpPr txBox="1"/>
              <p:nvPr/>
            </p:nvSpPr>
            <p:spPr>
              <a:xfrm>
                <a:off x="6160773" y="2577895"/>
                <a:ext cx="2117916" cy="400110"/>
              </a:xfrm>
              <a:prstGeom prst="rect">
                <a:avLst/>
              </a:prstGeom>
              <a:noFill/>
              <a:ln>
                <a:noFill/>
              </a:ln>
            </p:spPr>
            <p:txBody>
              <a:bodyPr wrap="square">
                <a:spAutoFit/>
              </a:bodyPr>
              <a:lstStyle/>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𝝅</m:t>
                      </m:r>
                      <m:r>
                        <a:rPr lang="en-US" sz="2000" b="0" i="1" smtClean="0">
                          <a:latin typeface="Cambria Math" panose="02040503050406030204" pitchFamily="18" charset="0"/>
                        </a:rPr>
                        <m:t>:</m:t>
                      </m:r>
                      <m:r>
                        <a:rPr lang="en-US" sz="2000" b="0" i="1" smtClean="0">
                          <a:latin typeface="Cambria Math" panose="02040503050406030204" pitchFamily="18" charset="0"/>
                        </a:rPr>
                        <m:t>𝑆</m:t>
                      </m:r>
                      <m:r>
                        <a:rPr lang="en-US" sz="2000" b="0" i="1" smtClean="0">
                          <a:latin typeface="Cambria Math" panose="02040503050406030204" pitchFamily="18" charset="0"/>
                        </a:rPr>
                        <m:t>×</m:t>
                      </m:r>
                      <m:r>
                        <m:rPr>
                          <m:sty m:val="p"/>
                        </m:rPr>
                        <a:rPr lang="en-US" sz="2000" b="0" i="1" smtClean="0">
                          <a:latin typeface="Cambria Math" panose="02040503050406030204" pitchFamily="18" charset="0"/>
                        </a:rPr>
                        <m:t>A</m:t>
                      </m:r>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0,1</m:t>
                          </m:r>
                        </m:e>
                      </m:d>
                    </m:oMath>
                  </m:oMathPara>
                </a14:m>
                <a:endParaRPr lang="en-US" sz="2000" dirty="0"/>
              </a:p>
            </p:txBody>
          </p:sp>
        </mc:Choice>
        <mc:Fallback xmlns="">
          <p:sp>
            <p:nvSpPr>
              <p:cNvPr id="17" name="TextBox 16">
                <a:extLst>
                  <a:ext uri="{FF2B5EF4-FFF2-40B4-BE49-F238E27FC236}">
                    <a16:creationId xmlns:a16="http://schemas.microsoft.com/office/drawing/2014/main" id="{C3CA4289-5917-324E-602E-A656C8A62977}"/>
                  </a:ext>
                </a:extLst>
              </p:cNvPr>
              <p:cNvSpPr txBox="1">
                <a:spLocks noRot="1" noChangeAspect="1" noMove="1" noResize="1" noEditPoints="1" noAdjustHandles="1" noChangeArrowheads="1" noChangeShapeType="1" noTextEdit="1"/>
              </p:cNvSpPr>
              <p:nvPr/>
            </p:nvSpPr>
            <p:spPr>
              <a:xfrm>
                <a:off x="6160773" y="2577895"/>
                <a:ext cx="2117916" cy="400110"/>
              </a:xfrm>
              <a:prstGeom prst="rect">
                <a:avLst/>
              </a:prstGeom>
              <a:blipFill>
                <a:blip r:embed="rId7"/>
                <a:stretch>
                  <a:fillRect/>
                </a:stretch>
              </a:blipFill>
              <a:ln>
                <a:noFill/>
              </a:ln>
            </p:spPr>
            <p:txBody>
              <a:bodyPr/>
              <a:lstStyle/>
              <a:p>
                <a:r>
                  <a:rPr lang="en-US">
                    <a:noFill/>
                  </a:rPr>
                  <a:t> </a:t>
                </a:r>
              </a:p>
            </p:txBody>
          </p:sp>
        </mc:Fallback>
      </mc:AlternateContent>
      <p:sp>
        <p:nvSpPr>
          <p:cNvPr id="18" name="TextBox 17">
            <a:extLst>
              <a:ext uri="{FF2B5EF4-FFF2-40B4-BE49-F238E27FC236}">
                <a16:creationId xmlns:a16="http://schemas.microsoft.com/office/drawing/2014/main" id="{5960E2F4-98ED-B3AE-F6EA-FDEEE2047E1F}"/>
              </a:ext>
            </a:extLst>
          </p:cNvPr>
          <p:cNvSpPr txBox="1"/>
          <p:nvPr/>
        </p:nvSpPr>
        <p:spPr>
          <a:xfrm>
            <a:off x="7999238" y="1870585"/>
            <a:ext cx="1974753" cy="400110"/>
          </a:xfrm>
          <a:prstGeom prst="rect">
            <a:avLst/>
          </a:prstGeom>
          <a:noFill/>
          <a:ln>
            <a:noFill/>
          </a:ln>
        </p:spPr>
        <p:txBody>
          <a:bodyPr wrap="square">
            <a:spAutoFit/>
          </a:bodyPr>
          <a:lstStyle/>
          <a:p>
            <a:r>
              <a:rPr lang="en-US" sz="2000" dirty="0">
                <a:solidFill>
                  <a:srgbClr val="008000"/>
                </a:solidFill>
              </a:rPr>
              <a:t>Stochastic Policy</a:t>
            </a:r>
          </a:p>
        </p:txBody>
      </p:sp>
      <p:sp>
        <p:nvSpPr>
          <p:cNvPr id="19" name="TextBox 18">
            <a:extLst>
              <a:ext uri="{FF2B5EF4-FFF2-40B4-BE49-F238E27FC236}">
                <a16:creationId xmlns:a16="http://schemas.microsoft.com/office/drawing/2014/main" id="{C223289B-C27D-3E99-35C3-27ACE7D2347F}"/>
              </a:ext>
            </a:extLst>
          </p:cNvPr>
          <p:cNvSpPr txBox="1"/>
          <p:nvPr/>
        </p:nvSpPr>
        <p:spPr>
          <a:xfrm>
            <a:off x="7002190" y="3138751"/>
            <a:ext cx="997048" cy="400110"/>
          </a:xfrm>
          <a:prstGeom prst="rect">
            <a:avLst/>
          </a:prstGeom>
          <a:noFill/>
          <a:ln>
            <a:noFill/>
          </a:ln>
        </p:spPr>
        <p:txBody>
          <a:bodyPr wrap="square">
            <a:spAutoFit/>
          </a:bodyPr>
          <a:lstStyle/>
          <a:p>
            <a:r>
              <a:rPr lang="en-US" sz="2000" dirty="0"/>
              <a:t>where:</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E29B4CE-7603-DEF2-78DE-A8C01E80A7D2}"/>
                  </a:ext>
                </a:extLst>
              </p:cNvPr>
              <p:cNvSpPr txBox="1"/>
              <p:nvPr/>
            </p:nvSpPr>
            <p:spPr>
              <a:xfrm>
                <a:off x="7943557" y="3112165"/>
                <a:ext cx="4076991" cy="707886"/>
              </a:xfrm>
              <a:prstGeom prst="rect">
                <a:avLst/>
              </a:prstGeom>
              <a:noFill/>
              <a:ln>
                <a:noFill/>
              </a:ln>
            </p:spPr>
            <p:txBody>
              <a:bodyPr wrap="square">
                <a:spAutoFit/>
              </a:bodyPr>
              <a:lstStyle/>
              <a:p>
                <a:pPr marL="969963" indent="-969963"/>
                <a14:m>
                  <m:oMath xmlns:m="http://schemas.openxmlformats.org/officeDocument/2006/math">
                    <m:r>
                      <a:rPr lang="en-US" sz="2000" b="1" i="1" dirty="0" smtClean="0">
                        <a:latin typeface="Cambria Math" panose="02040503050406030204" pitchFamily="18" charset="0"/>
                      </a:rPr>
                      <m:t>𝝅</m:t>
                    </m:r>
                    <m:d>
                      <m:dPr>
                        <m:ctrlPr>
                          <a:rPr lang="en-US" sz="2000" b="0" i="1" dirty="0" smtClean="0">
                            <a:latin typeface="Cambria Math" panose="02040503050406030204" pitchFamily="18" charset="0"/>
                          </a:rPr>
                        </m:ctrlPr>
                      </m:dPr>
                      <m:e>
                        <m:r>
                          <a:rPr lang="en-US" sz="2000" b="0" i="1" dirty="0" smtClean="0">
                            <a:solidFill>
                              <a:srgbClr val="7030A0"/>
                            </a:solidFill>
                            <a:latin typeface="Cambria Math" panose="02040503050406030204" pitchFamily="18" charset="0"/>
                          </a:rPr>
                          <m:t>𝑎</m:t>
                        </m:r>
                        <m:r>
                          <a:rPr lang="en-US" sz="2000" b="0" i="1" dirty="0" smtClean="0">
                            <a:latin typeface="Cambria Math" panose="02040503050406030204" pitchFamily="18" charset="0"/>
                          </a:rPr>
                          <m:t>∣</m:t>
                        </m:r>
                        <m:r>
                          <a:rPr lang="en-US" sz="2000" i="1" dirty="0">
                            <a:solidFill>
                              <a:srgbClr val="00B050"/>
                            </a:solidFill>
                            <a:latin typeface="Cambria Math" panose="02040503050406030204" pitchFamily="18" charset="0"/>
                          </a:rPr>
                          <m:t>𝑠</m:t>
                        </m:r>
                      </m:e>
                    </m:d>
                  </m:oMath>
                </a14:m>
                <a:r>
                  <a:rPr lang="en-US" sz="2000" dirty="0"/>
                  <a:t>: probability of taking action </a:t>
                </a:r>
                <a14:m>
                  <m:oMath xmlns:m="http://schemas.openxmlformats.org/officeDocument/2006/math">
                    <m:r>
                      <a:rPr lang="en-US" sz="2000" i="1" dirty="0">
                        <a:solidFill>
                          <a:srgbClr val="7030A0"/>
                        </a:solidFill>
                        <a:latin typeface="Cambria Math" panose="02040503050406030204" pitchFamily="18" charset="0"/>
                      </a:rPr>
                      <m:t>𝑎</m:t>
                    </m:r>
                    <m:r>
                      <a:rPr lang="en-US" sz="2000" b="0" i="1" dirty="0" smtClean="0">
                        <a:solidFill>
                          <a:schemeClr val="tx1"/>
                        </a:solidFill>
                        <a:latin typeface="Cambria Math" panose="02040503050406030204" pitchFamily="18" charset="0"/>
                      </a:rPr>
                      <m:t>∈</m:t>
                    </m:r>
                    <m:r>
                      <a:rPr lang="en-US" sz="2000" b="0" i="1" dirty="0" smtClean="0">
                        <a:solidFill>
                          <a:schemeClr val="tx1"/>
                        </a:solidFill>
                        <a:latin typeface="Cambria Math" panose="02040503050406030204" pitchFamily="18" charset="0"/>
                      </a:rPr>
                      <m:t>𝐴</m:t>
                    </m:r>
                  </m:oMath>
                </a14:m>
                <a:r>
                  <a:rPr lang="en-US" sz="2000" dirty="0"/>
                  <a:t> given state </a:t>
                </a:r>
                <a14:m>
                  <m:oMath xmlns:m="http://schemas.openxmlformats.org/officeDocument/2006/math">
                    <m:r>
                      <a:rPr lang="en-US" sz="2000" i="1" dirty="0" smtClean="0">
                        <a:solidFill>
                          <a:srgbClr val="00B050"/>
                        </a:solidFill>
                        <a:latin typeface="Cambria Math" panose="02040503050406030204" pitchFamily="18" charset="0"/>
                      </a:rPr>
                      <m:t>𝑠</m:t>
                    </m:r>
                    <m:r>
                      <a:rPr lang="en-US" sz="2000" b="0" i="1" dirty="0" smtClean="0">
                        <a:solidFill>
                          <a:schemeClr val="tx1"/>
                        </a:solidFill>
                        <a:latin typeface="Cambria Math" panose="02040503050406030204" pitchFamily="18" charset="0"/>
                      </a:rPr>
                      <m:t>∈</m:t>
                    </m:r>
                    <m:r>
                      <a:rPr lang="en-US" sz="2000" b="0" i="1" dirty="0" smtClean="0">
                        <a:solidFill>
                          <a:schemeClr val="tx1"/>
                        </a:solidFill>
                        <a:latin typeface="Cambria Math" panose="02040503050406030204" pitchFamily="18" charset="0"/>
                      </a:rPr>
                      <m:t>𝑆</m:t>
                    </m:r>
                  </m:oMath>
                </a14:m>
                <a:r>
                  <a:rPr lang="en-US" sz="2000" dirty="0"/>
                  <a:t>.</a:t>
                </a:r>
              </a:p>
            </p:txBody>
          </p:sp>
        </mc:Choice>
        <mc:Fallback xmlns="">
          <p:sp>
            <p:nvSpPr>
              <p:cNvPr id="20" name="TextBox 19">
                <a:extLst>
                  <a:ext uri="{FF2B5EF4-FFF2-40B4-BE49-F238E27FC236}">
                    <a16:creationId xmlns:a16="http://schemas.microsoft.com/office/drawing/2014/main" id="{0E29B4CE-7603-DEF2-78DE-A8C01E80A7D2}"/>
                  </a:ext>
                </a:extLst>
              </p:cNvPr>
              <p:cNvSpPr txBox="1">
                <a:spLocks noRot="1" noChangeAspect="1" noMove="1" noResize="1" noEditPoints="1" noAdjustHandles="1" noChangeArrowheads="1" noChangeShapeType="1" noTextEdit="1"/>
              </p:cNvSpPr>
              <p:nvPr/>
            </p:nvSpPr>
            <p:spPr>
              <a:xfrm>
                <a:off x="7943557" y="3112165"/>
                <a:ext cx="4076991" cy="707886"/>
              </a:xfrm>
              <a:prstGeom prst="rect">
                <a:avLst/>
              </a:prstGeom>
              <a:blipFill>
                <a:blip r:embed="rId8"/>
                <a:stretch>
                  <a:fillRect t="-5172" b="-14655"/>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AF0BD6F-A596-A659-461C-333B2FC59C5D}"/>
                  </a:ext>
                </a:extLst>
              </p:cNvPr>
              <p:cNvSpPr txBox="1"/>
              <p:nvPr/>
            </p:nvSpPr>
            <p:spPr>
              <a:xfrm>
                <a:off x="7688825" y="3699607"/>
                <a:ext cx="2229729" cy="764825"/>
              </a:xfrm>
              <a:prstGeom prst="rect">
                <a:avLst/>
              </a:prstGeom>
              <a:noFill/>
              <a:ln>
                <a:noFill/>
              </a:ln>
            </p:spPr>
            <p:txBody>
              <a:bodyPr wrap="square">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US" i="1">
                              <a:latin typeface="Cambria Math" panose="02040503050406030204" pitchFamily="18" charset="0"/>
                            </a:rPr>
                          </m:ctrlPr>
                        </m:naryPr>
                        <m:sub>
                          <m:r>
                            <m:rPr>
                              <m:brk m:alnAt="23"/>
                            </m:rPr>
                            <a:rPr lang="en-US" i="1">
                              <a:solidFill>
                                <a:srgbClr val="00B050"/>
                              </a:solidFill>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𝑆</m:t>
                          </m:r>
                        </m:sub>
                        <m:sup/>
                        <m:e>
                          <m:r>
                            <a:rPr lang="en-US" b="1" i="1">
                              <a:latin typeface="Cambria Math" panose="02040503050406030204" pitchFamily="18" charset="0"/>
                            </a:rPr>
                            <m:t>𝝅</m:t>
                          </m:r>
                          <m:d>
                            <m:dPr>
                              <m:ctrlPr>
                                <a:rPr lang="en-US" i="1">
                                  <a:latin typeface="Cambria Math" panose="02040503050406030204" pitchFamily="18" charset="0"/>
                                </a:rPr>
                              </m:ctrlPr>
                            </m:dPr>
                            <m:e>
                              <m:r>
                                <a:rPr lang="en-US" i="1" dirty="0">
                                  <a:solidFill>
                                    <a:srgbClr val="7030A0"/>
                                  </a:solidFill>
                                  <a:latin typeface="Cambria Math" panose="02040503050406030204" pitchFamily="18" charset="0"/>
                                </a:rPr>
                                <m:t>𝑎</m:t>
                              </m:r>
                              <m:r>
                                <a:rPr lang="en-US" i="1" dirty="0">
                                  <a:latin typeface="Cambria Math" panose="02040503050406030204" pitchFamily="18" charset="0"/>
                                </a:rPr>
                                <m:t>∣</m:t>
                              </m:r>
                              <m:r>
                                <a:rPr lang="en-US" i="1" dirty="0">
                                  <a:solidFill>
                                    <a:srgbClr val="00B050"/>
                                  </a:solidFill>
                                  <a:latin typeface="Cambria Math" panose="02040503050406030204" pitchFamily="18" charset="0"/>
                                </a:rPr>
                                <m:t>𝑠</m:t>
                              </m:r>
                            </m:e>
                          </m:d>
                        </m:e>
                      </m:nary>
                      <m:r>
                        <a:rPr lang="en-US" b="0" i="1" smtClean="0">
                          <a:latin typeface="Cambria Math" panose="02040503050406030204" pitchFamily="18" charset="0"/>
                        </a:rPr>
                        <m:t>=1</m:t>
                      </m:r>
                    </m:oMath>
                  </m:oMathPara>
                </a14:m>
                <a:endParaRPr lang="en-US" sz="2000" dirty="0"/>
              </a:p>
            </p:txBody>
          </p:sp>
        </mc:Choice>
        <mc:Fallback xmlns="">
          <p:sp>
            <p:nvSpPr>
              <p:cNvPr id="21" name="TextBox 20">
                <a:extLst>
                  <a:ext uri="{FF2B5EF4-FFF2-40B4-BE49-F238E27FC236}">
                    <a16:creationId xmlns:a16="http://schemas.microsoft.com/office/drawing/2014/main" id="{8AF0BD6F-A596-A659-461C-333B2FC59C5D}"/>
                  </a:ext>
                </a:extLst>
              </p:cNvPr>
              <p:cNvSpPr txBox="1">
                <a:spLocks noRot="1" noChangeAspect="1" noMove="1" noResize="1" noEditPoints="1" noAdjustHandles="1" noChangeArrowheads="1" noChangeShapeType="1" noTextEdit="1"/>
              </p:cNvSpPr>
              <p:nvPr/>
            </p:nvSpPr>
            <p:spPr>
              <a:xfrm>
                <a:off x="7688825" y="3699607"/>
                <a:ext cx="2229729" cy="764825"/>
              </a:xfrm>
              <a:prstGeom prst="rect">
                <a:avLst/>
              </a:prstGeom>
              <a:blipFill>
                <a:blip r:embed="rId9"/>
                <a:stretch>
                  <a:fillRect/>
                </a:stretch>
              </a:blipFill>
              <a:ln>
                <a:noFill/>
              </a:ln>
            </p:spPr>
            <p:txBody>
              <a:bodyPr/>
              <a:lstStyle/>
              <a:p>
                <a:r>
                  <a:rPr lang="en-US">
                    <a:noFill/>
                  </a:rPr>
                  <a:t> </a:t>
                </a:r>
              </a:p>
            </p:txBody>
          </p:sp>
        </mc:Fallback>
      </mc:AlternateContent>
      <p:sp>
        <p:nvSpPr>
          <p:cNvPr id="23" name="TextBox 22">
            <a:extLst>
              <a:ext uri="{FF2B5EF4-FFF2-40B4-BE49-F238E27FC236}">
                <a16:creationId xmlns:a16="http://schemas.microsoft.com/office/drawing/2014/main" id="{683558B4-DA8D-3546-BC0E-60F5655699FC}"/>
              </a:ext>
            </a:extLst>
          </p:cNvPr>
          <p:cNvSpPr txBox="1"/>
          <p:nvPr/>
        </p:nvSpPr>
        <p:spPr>
          <a:xfrm>
            <a:off x="2076452" y="1869638"/>
            <a:ext cx="2346764" cy="400110"/>
          </a:xfrm>
          <a:prstGeom prst="rect">
            <a:avLst/>
          </a:prstGeom>
          <a:noFill/>
          <a:ln>
            <a:noFill/>
          </a:ln>
        </p:spPr>
        <p:txBody>
          <a:bodyPr wrap="square">
            <a:spAutoFit/>
          </a:bodyPr>
          <a:lstStyle/>
          <a:p>
            <a:pPr algn="ctr"/>
            <a:r>
              <a:rPr lang="en-US" sz="2000" dirty="0">
                <a:solidFill>
                  <a:srgbClr val="1306BA"/>
                </a:solidFill>
              </a:rPr>
              <a:t>Deterministic Policy</a:t>
            </a:r>
          </a:p>
        </p:txBody>
      </p:sp>
      <p:cxnSp>
        <p:nvCxnSpPr>
          <p:cNvPr id="28" name="Straight Connector 27">
            <a:extLst>
              <a:ext uri="{FF2B5EF4-FFF2-40B4-BE49-F238E27FC236}">
                <a16:creationId xmlns:a16="http://schemas.microsoft.com/office/drawing/2014/main" id="{404019E6-A167-B6C6-1357-9A58A339B2E8}"/>
              </a:ext>
            </a:extLst>
          </p:cNvPr>
          <p:cNvCxnSpPr>
            <a:cxnSpLocks/>
          </p:cNvCxnSpPr>
          <p:nvPr/>
        </p:nvCxnSpPr>
        <p:spPr>
          <a:xfrm>
            <a:off x="6096000" y="1840117"/>
            <a:ext cx="0" cy="3886100"/>
          </a:xfrm>
          <a:prstGeom prst="line">
            <a:avLst/>
          </a:prstGeom>
          <a:ln w="25400">
            <a:solidFill>
              <a:schemeClr val="tx1"/>
            </a:solidFill>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61C48C37-8A2C-472B-92FD-3419155CB2D3}"/>
                  </a:ext>
                </a:extLst>
              </p:cNvPr>
              <p:cNvSpPr txBox="1"/>
              <p:nvPr/>
            </p:nvSpPr>
            <p:spPr>
              <a:xfrm>
                <a:off x="2384350" y="4615029"/>
                <a:ext cx="3154586" cy="646331"/>
              </a:xfrm>
              <a:prstGeom prst="rect">
                <a:avLst/>
              </a:prstGeom>
              <a:noFill/>
              <a:ln>
                <a:noFill/>
              </a:ln>
            </p:spPr>
            <p:txBody>
              <a:bodyPr wrap="square">
                <a:spAutoFit/>
              </a:bodyPr>
              <a:lstStyle/>
              <a:p>
                <a:pPr/>
                <a14:m>
                  <m:oMathPara xmlns:m="http://schemas.openxmlformats.org/officeDocument/2006/math">
                    <m:oMathParaPr>
                      <m:jc m:val="left"/>
                    </m:oMathParaPr>
                    <m:oMath xmlns:m="http://schemas.openxmlformats.org/officeDocument/2006/math">
                      <m:r>
                        <a:rPr lang="en-US" b="1" i="1" smtClean="0">
                          <a:latin typeface="Cambria Math" panose="02040503050406030204" pitchFamily="18" charset="0"/>
                        </a:rPr>
                        <m:t>𝝅</m:t>
                      </m:r>
                      <m:d>
                        <m:dPr>
                          <m:ctrlPr>
                            <a:rPr lang="en-US" b="0" i="1" smtClean="0">
                              <a:latin typeface="Cambria Math" panose="02040503050406030204" pitchFamily="18" charset="0"/>
                            </a:rPr>
                          </m:ctrlPr>
                        </m:dPr>
                        <m:e>
                          <m:r>
                            <a:rPr lang="en-US" b="0" i="1" smtClean="0">
                              <a:latin typeface="Cambria Math" panose="02040503050406030204" pitchFamily="18" charset="0"/>
                            </a:rPr>
                            <m:t>h𝑢𝑛𝑔𝑟𝑦</m:t>
                          </m:r>
                        </m:e>
                      </m:d>
                      <m:r>
                        <a:rPr lang="en-US" b="0" i="1" smtClean="0">
                          <a:latin typeface="Cambria Math" panose="02040503050406030204" pitchFamily="18" charset="0"/>
                        </a:rPr>
                        <m:t>=</m:t>
                      </m:r>
                      <m:r>
                        <a:rPr lang="en-US" b="0" i="1" smtClean="0">
                          <a:latin typeface="Cambria Math" panose="02040503050406030204" pitchFamily="18" charset="0"/>
                        </a:rPr>
                        <m:t>𝑒𝑎𝑡</m:t>
                      </m:r>
                    </m:oMath>
                  </m:oMathPara>
                </a14:m>
                <a:endParaRPr lang="en-US" dirty="0"/>
              </a:p>
              <a:p>
                <a:pPr/>
                <a14:m>
                  <m:oMathPara xmlns:m="http://schemas.openxmlformats.org/officeDocument/2006/math">
                    <m:oMathParaPr>
                      <m:jc m:val="left"/>
                    </m:oMathParaPr>
                    <m:oMath xmlns:m="http://schemas.openxmlformats.org/officeDocument/2006/math">
                      <m:r>
                        <a:rPr lang="en-US" b="1" i="1" smtClean="0">
                          <a:latin typeface="Cambria Math" panose="02040503050406030204" pitchFamily="18" charset="0"/>
                        </a:rPr>
                        <m:t>𝝅</m:t>
                      </m:r>
                      <m:d>
                        <m:dPr>
                          <m:ctrlPr>
                            <a:rPr lang="en-US" b="0" i="1" smtClean="0">
                              <a:latin typeface="Cambria Math" panose="02040503050406030204" pitchFamily="18" charset="0"/>
                            </a:rPr>
                          </m:ctrlPr>
                        </m:dPr>
                        <m:e>
                          <m:r>
                            <a:rPr lang="en-US" b="0" i="1" smtClean="0">
                              <a:latin typeface="Cambria Math" panose="02040503050406030204" pitchFamily="18" charset="0"/>
                            </a:rPr>
                            <m:t>𝑒𝑛𝑒𝑚𝑦</m:t>
                          </m:r>
                          <m:r>
                            <a:rPr lang="en-US" b="0" i="1" smtClean="0">
                              <a:latin typeface="Cambria Math" panose="02040503050406030204" pitchFamily="18" charset="0"/>
                            </a:rPr>
                            <m:t>_</m:t>
                          </m:r>
                          <m:r>
                            <a:rPr lang="en-US" b="0" i="1" smtClean="0">
                              <a:latin typeface="Cambria Math" panose="02040503050406030204" pitchFamily="18" charset="0"/>
                            </a:rPr>
                            <m:t>𝑛𝑒𝑎𝑟𝑏𝑦</m:t>
                          </m:r>
                        </m:e>
                      </m:d>
                      <m:r>
                        <a:rPr lang="en-US" b="0" i="1" smtClean="0">
                          <a:latin typeface="Cambria Math" panose="02040503050406030204" pitchFamily="18" charset="0"/>
                        </a:rPr>
                        <m:t>=</m:t>
                      </m:r>
                      <m:r>
                        <a:rPr lang="en-US" b="0" i="1" smtClean="0">
                          <a:latin typeface="Cambria Math" panose="02040503050406030204" pitchFamily="18" charset="0"/>
                        </a:rPr>
                        <m:t>𝑎𝑡𝑡𝑎𝑐𝑘</m:t>
                      </m:r>
                    </m:oMath>
                  </m:oMathPara>
                </a14:m>
                <a:endParaRPr lang="en-US" dirty="0"/>
              </a:p>
            </p:txBody>
          </p:sp>
        </mc:Choice>
        <mc:Fallback xmlns="">
          <p:sp>
            <p:nvSpPr>
              <p:cNvPr id="33" name="TextBox 32">
                <a:extLst>
                  <a:ext uri="{FF2B5EF4-FFF2-40B4-BE49-F238E27FC236}">
                    <a16:creationId xmlns:a16="http://schemas.microsoft.com/office/drawing/2014/main" id="{61C48C37-8A2C-472B-92FD-3419155CB2D3}"/>
                  </a:ext>
                </a:extLst>
              </p:cNvPr>
              <p:cNvSpPr txBox="1">
                <a:spLocks noRot="1" noChangeAspect="1" noMove="1" noResize="1" noEditPoints="1" noAdjustHandles="1" noChangeArrowheads="1" noChangeShapeType="1" noTextEdit="1"/>
              </p:cNvSpPr>
              <p:nvPr/>
            </p:nvSpPr>
            <p:spPr>
              <a:xfrm>
                <a:off x="2384350" y="4615029"/>
                <a:ext cx="3154586" cy="646331"/>
              </a:xfrm>
              <a:prstGeom prst="rect">
                <a:avLst/>
              </a:prstGeom>
              <a:blipFill>
                <a:blip r:embed="rId10"/>
                <a:stretch>
                  <a:fillRect b="-7547"/>
                </a:stretch>
              </a:blipFill>
              <a:ln>
                <a:noFill/>
              </a:ln>
            </p:spPr>
            <p:txBody>
              <a:bodyPr/>
              <a:lstStyle/>
              <a:p>
                <a:r>
                  <a:rPr lang="en-US">
                    <a:noFill/>
                  </a:rPr>
                  <a:t> </a:t>
                </a:r>
              </a:p>
            </p:txBody>
          </p:sp>
        </mc:Fallback>
      </mc:AlternateContent>
      <p:sp>
        <p:nvSpPr>
          <p:cNvPr id="34" name="TextBox 33">
            <a:extLst>
              <a:ext uri="{FF2B5EF4-FFF2-40B4-BE49-F238E27FC236}">
                <a16:creationId xmlns:a16="http://schemas.microsoft.com/office/drawing/2014/main" id="{37F7C05A-BC6D-1141-D068-B965C1F2E8A3}"/>
              </a:ext>
            </a:extLst>
          </p:cNvPr>
          <p:cNvSpPr txBox="1"/>
          <p:nvPr/>
        </p:nvSpPr>
        <p:spPr>
          <a:xfrm>
            <a:off x="760536" y="4735144"/>
            <a:ext cx="1169864" cy="400110"/>
          </a:xfrm>
          <a:prstGeom prst="rect">
            <a:avLst/>
          </a:prstGeom>
          <a:noFill/>
          <a:ln>
            <a:noFill/>
          </a:ln>
        </p:spPr>
        <p:txBody>
          <a:bodyPr wrap="square">
            <a:spAutoFit/>
          </a:bodyPr>
          <a:lstStyle/>
          <a:p>
            <a:r>
              <a:rPr lang="en-US" sz="2000" dirty="0"/>
              <a:t>Example:</a:t>
            </a: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4B0E357A-8E3A-13DE-1BCF-3288D54D5524}"/>
                  </a:ext>
                </a:extLst>
              </p:cNvPr>
              <p:cNvSpPr txBox="1"/>
              <p:nvPr/>
            </p:nvSpPr>
            <p:spPr>
              <a:xfrm>
                <a:off x="7605835" y="4802887"/>
                <a:ext cx="3655303" cy="923330"/>
              </a:xfrm>
              <a:prstGeom prst="rect">
                <a:avLst/>
              </a:prstGeom>
              <a:noFill/>
              <a:ln>
                <a:noFill/>
              </a:ln>
            </p:spPr>
            <p:txBody>
              <a:bodyPr wrap="square">
                <a:spAutoFit/>
              </a:bodyPr>
              <a:lstStyle/>
              <a:p>
                <a14:m>
                  <m:oMath xmlns:m="http://schemas.openxmlformats.org/officeDocument/2006/math">
                    <m:r>
                      <a:rPr lang="en-US" b="1" i="1" smtClean="0">
                        <a:latin typeface="Cambria Math" panose="02040503050406030204" pitchFamily="18" charset="0"/>
                      </a:rPr>
                      <m:t>𝝅</m:t>
                    </m:r>
                    <m:d>
                      <m:dPr>
                        <m:ctrlPr>
                          <a:rPr lang="en-US" b="0" i="1" smtClean="0">
                            <a:latin typeface="Cambria Math" panose="02040503050406030204" pitchFamily="18" charset="0"/>
                          </a:rPr>
                        </m:ctrlPr>
                      </m:dPr>
                      <m:e>
                        <m:r>
                          <a:rPr lang="en-US" b="0" i="1" smtClean="0">
                            <a:latin typeface="Cambria Math" panose="02040503050406030204" pitchFamily="18" charset="0"/>
                          </a:rPr>
                          <m:t>𝑎𝑡𝑡𝑎𝑐𝑘</m:t>
                        </m:r>
                        <m:r>
                          <a:rPr lang="en-US" b="0" i="1" smtClean="0">
                            <a:latin typeface="Cambria Math" panose="02040503050406030204" pitchFamily="18" charset="0"/>
                          </a:rPr>
                          <m:t>∣</m:t>
                        </m:r>
                        <m:r>
                          <a:rPr lang="en-US" b="0" i="1" smtClean="0">
                            <a:latin typeface="Cambria Math" panose="02040503050406030204" pitchFamily="18" charset="0"/>
                          </a:rPr>
                          <m:t>𝑒𝑛𝑒𝑚𝑦</m:t>
                        </m:r>
                        <m:r>
                          <a:rPr lang="en-US" b="0" i="1" smtClean="0">
                            <a:latin typeface="Cambria Math" panose="02040503050406030204" pitchFamily="18" charset="0"/>
                          </a:rPr>
                          <m:t>_</m:t>
                        </m:r>
                        <m:r>
                          <a:rPr lang="en-US" b="0" i="1" smtClean="0">
                            <a:latin typeface="Cambria Math" panose="02040503050406030204" pitchFamily="18" charset="0"/>
                          </a:rPr>
                          <m:t>𝑛𝑒𝑎𝑟𝑏𝑦</m:t>
                        </m:r>
                      </m:e>
                    </m:d>
                    <m:r>
                      <a:rPr lang="en-US" b="0" i="1" smtClean="0">
                        <a:latin typeface="Cambria Math" panose="02040503050406030204" pitchFamily="18" charset="0"/>
                      </a:rPr>
                      <m:t>=0.</m:t>
                    </m:r>
                  </m:oMath>
                </a14:m>
                <a:r>
                  <a:rPr lang="en-US" dirty="0"/>
                  <a:t>6</a:t>
                </a:r>
              </a:p>
              <a:p>
                <a:pPr/>
                <a14:m>
                  <m:oMathPara xmlns:m="http://schemas.openxmlformats.org/officeDocument/2006/math">
                    <m:oMathParaPr>
                      <m:jc m:val="left"/>
                    </m:oMathParaPr>
                    <m:oMath xmlns:m="http://schemas.openxmlformats.org/officeDocument/2006/math">
                      <m:r>
                        <a:rPr lang="en-US" b="1" i="1" smtClean="0">
                          <a:latin typeface="Cambria Math" panose="02040503050406030204" pitchFamily="18" charset="0"/>
                        </a:rPr>
                        <m:t>𝝅</m:t>
                      </m:r>
                      <m:d>
                        <m:dPr>
                          <m:ctrlPr>
                            <a:rPr lang="en-US" b="0" i="1" smtClean="0">
                              <a:latin typeface="Cambria Math" panose="02040503050406030204" pitchFamily="18" charset="0"/>
                            </a:rPr>
                          </m:ctrlPr>
                        </m:dPr>
                        <m:e>
                          <m:r>
                            <a:rPr lang="en-US" b="0" i="1" smtClean="0">
                              <a:latin typeface="Cambria Math" panose="02040503050406030204" pitchFamily="18" charset="0"/>
                            </a:rPr>
                            <m:t>𝑑𝑒𝑓𝑒𝑛𝑑</m:t>
                          </m:r>
                          <m:r>
                            <a:rPr lang="en-US" b="0" i="1" smtClean="0">
                              <a:latin typeface="Cambria Math" panose="02040503050406030204" pitchFamily="18" charset="0"/>
                            </a:rPr>
                            <m:t>∣</m:t>
                          </m:r>
                          <m:r>
                            <a:rPr lang="en-US" b="0" i="1" smtClean="0">
                              <a:latin typeface="Cambria Math" panose="02040503050406030204" pitchFamily="18" charset="0"/>
                            </a:rPr>
                            <m:t>𝑒𝑛𝑒𝑚𝑦</m:t>
                          </m:r>
                          <m:r>
                            <a:rPr lang="en-US" b="0" i="1" smtClean="0">
                              <a:latin typeface="Cambria Math" panose="02040503050406030204" pitchFamily="18" charset="0"/>
                            </a:rPr>
                            <m:t>_</m:t>
                          </m:r>
                          <m:r>
                            <a:rPr lang="en-US" b="0" i="1" smtClean="0">
                              <a:latin typeface="Cambria Math" panose="02040503050406030204" pitchFamily="18" charset="0"/>
                            </a:rPr>
                            <m:t>𝑛𝑒𝑎𝑟𝑏𝑦</m:t>
                          </m:r>
                        </m:e>
                      </m:d>
                      <m:r>
                        <a:rPr lang="en-US" b="0" i="1" smtClean="0">
                          <a:latin typeface="Cambria Math" panose="02040503050406030204" pitchFamily="18" charset="0"/>
                        </a:rPr>
                        <m:t>=0.3</m:t>
                      </m:r>
                    </m:oMath>
                  </m:oMathPara>
                </a14:m>
                <a:endParaRPr lang="en-US" dirty="0"/>
              </a:p>
              <a:p>
                <a:pPr/>
                <a14:m>
                  <m:oMathPara xmlns:m="http://schemas.openxmlformats.org/officeDocument/2006/math">
                    <m:oMathParaPr>
                      <m:jc m:val="left"/>
                    </m:oMathParaPr>
                    <m:oMath xmlns:m="http://schemas.openxmlformats.org/officeDocument/2006/math">
                      <m:r>
                        <a:rPr lang="en-US" b="1" i="1" smtClean="0">
                          <a:latin typeface="Cambria Math" panose="02040503050406030204" pitchFamily="18" charset="0"/>
                        </a:rPr>
                        <m:t>𝝅</m:t>
                      </m:r>
                      <m:d>
                        <m:dPr>
                          <m:ctrlPr>
                            <a:rPr lang="en-US" b="0" i="1" smtClean="0">
                              <a:latin typeface="Cambria Math" panose="02040503050406030204" pitchFamily="18" charset="0"/>
                            </a:rPr>
                          </m:ctrlPr>
                        </m:dPr>
                        <m:e>
                          <m:r>
                            <a:rPr lang="en-US" b="0" i="1" smtClean="0">
                              <a:latin typeface="Cambria Math" panose="02040503050406030204" pitchFamily="18" charset="0"/>
                            </a:rPr>
                            <m:t>𝑓𝑙𝑒𝑎</m:t>
                          </m:r>
                          <m:r>
                            <a:rPr lang="en-US" b="0" i="1" smtClean="0">
                              <a:latin typeface="Cambria Math" panose="02040503050406030204" pitchFamily="18" charset="0"/>
                            </a:rPr>
                            <m:t>∣</m:t>
                          </m:r>
                          <m:r>
                            <a:rPr lang="en-US" b="0" i="1" smtClean="0">
                              <a:latin typeface="Cambria Math" panose="02040503050406030204" pitchFamily="18" charset="0"/>
                            </a:rPr>
                            <m:t>𝑒𝑛𝑒𝑚𝑦</m:t>
                          </m:r>
                          <m:r>
                            <a:rPr lang="en-US" b="0" i="1" smtClean="0">
                              <a:latin typeface="Cambria Math" panose="02040503050406030204" pitchFamily="18" charset="0"/>
                            </a:rPr>
                            <m:t>_</m:t>
                          </m:r>
                          <m:r>
                            <a:rPr lang="en-US" b="0" i="1" smtClean="0">
                              <a:latin typeface="Cambria Math" panose="02040503050406030204" pitchFamily="18" charset="0"/>
                            </a:rPr>
                            <m:t>𝑛𝑒𝑎𝑟𝑏𝑦</m:t>
                          </m:r>
                        </m:e>
                      </m:d>
                      <m:r>
                        <a:rPr lang="en-US" b="0" i="1" smtClean="0">
                          <a:latin typeface="Cambria Math" panose="02040503050406030204" pitchFamily="18" charset="0"/>
                        </a:rPr>
                        <m:t>=0.1</m:t>
                      </m:r>
                    </m:oMath>
                  </m:oMathPara>
                </a14:m>
                <a:endParaRPr lang="en-US" dirty="0"/>
              </a:p>
            </p:txBody>
          </p:sp>
        </mc:Choice>
        <mc:Fallback xmlns="">
          <p:sp>
            <p:nvSpPr>
              <p:cNvPr id="36" name="TextBox 35">
                <a:extLst>
                  <a:ext uri="{FF2B5EF4-FFF2-40B4-BE49-F238E27FC236}">
                    <a16:creationId xmlns:a16="http://schemas.microsoft.com/office/drawing/2014/main" id="{4B0E357A-8E3A-13DE-1BCF-3288D54D5524}"/>
                  </a:ext>
                </a:extLst>
              </p:cNvPr>
              <p:cNvSpPr txBox="1">
                <a:spLocks noRot="1" noChangeAspect="1" noMove="1" noResize="1" noEditPoints="1" noAdjustHandles="1" noChangeArrowheads="1" noChangeShapeType="1" noTextEdit="1"/>
              </p:cNvSpPr>
              <p:nvPr/>
            </p:nvSpPr>
            <p:spPr>
              <a:xfrm>
                <a:off x="7605835" y="4802887"/>
                <a:ext cx="3655303" cy="923330"/>
              </a:xfrm>
              <a:prstGeom prst="rect">
                <a:avLst/>
              </a:prstGeom>
              <a:blipFill>
                <a:blip r:embed="rId11"/>
                <a:stretch>
                  <a:fillRect t="-3974" b="-4636"/>
                </a:stretch>
              </a:blipFill>
              <a:ln>
                <a:noFill/>
              </a:ln>
            </p:spPr>
            <p:txBody>
              <a:bodyPr/>
              <a:lstStyle/>
              <a:p>
                <a:r>
                  <a:rPr lang="en-US">
                    <a:noFill/>
                  </a:rPr>
                  <a:t> </a:t>
                </a:r>
              </a:p>
            </p:txBody>
          </p:sp>
        </mc:Fallback>
      </mc:AlternateContent>
      <p:sp>
        <p:nvSpPr>
          <p:cNvPr id="37" name="TextBox 36">
            <a:extLst>
              <a:ext uri="{FF2B5EF4-FFF2-40B4-BE49-F238E27FC236}">
                <a16:creationId xmlns:a16="http://schemas.microsoft.com/office/drawing/2014/main" id="{90DE5A83-7860-96CB-AC93-55529D7726ED}"/>
              </a:ext>
            </a:extLst>
          </p:cNvPr>
          <p:cNvSpPr txBox="1"/>
          <p:nvPr/>
        </p:nvSpPr>
        <p:spPr>
          <a:xfrm>
            <a:off x="6265986" y="5026411"/>
            <a:ext cx="1169864" cy="400110"/>
          </a:xfrm>
          <a:prstGeom prst="rect">
            <a:avLst/>
          </a:prstGeom>
          <a:noFill/>
          <a:ln>
            <a:noFill/>
          </a:ln>
        </p:spPr>
        <p:txBody>
          <a:bodyPr wrap="square">
            <a:spAutoFit/>
          </a:bodyPr>
          <a:lstStyle/>
          <a:p>
            <a:r>
              <a:rPr lang="en-US" sz="2000" dirty="0"/>
              <a:t>Example:</a:t>
            </a: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32AE4A3D-C1C7-CD20-443A-3BA6BA06F331}"/>
                  </a:ext>
                </a:extLst>
              </p:cNvPr>
              <p:cNvSpPr txBox="1"/>
              <p:nvPr/>
            </p:nvSpPr>
            <p:spPr>
              <a:xfrm>
                <a:off x="1950058" y="6044141"/>
                <a:ext cx="8310561" cy="400110"/>
              </a:xfrm>
              <a:prstGeom prst="rect">
                <a:avLst/>
              </a:prstGeom>
              <a:noFill/>
              <a:ln>
                <a:noFill/>
              </a:ln>
            </p:spPr>
            <p:txBody>
              <a:bodyPr wrap="square">
                <a:spAutoFit/>
              </a:bodyPr>
              <a:lstStyle/>
              <a:p>
                <a:pPr>
                  <a:buNone/>
                </a:pPr>
                <a:r>
                  <a:rPr lang="en-US" sz="2000" b="1" dirty="0"/>
                  <a:t>Goal:</a:t>
                </a:r>
                <a:r>
                  <a:rPr lang="en-US" sz="2000" dirty="0"/>
                  <a:t> Find the optimal policy </a:t>
                </a:r>
                <a14:m>
                  <m:oMath xmlns:m="http://schemas.openxmlformats.org/officeDocument/2006/math">
                    <m:sSup>
                      <m:sSupPr>
                        <m:ctrlPr>
                          <a:rPr lang="en-US" sz="2000" b="0" i="1" smtClean="0">
                            <a:latin typeface="Cambria Math" panose="02040503050406030204" pitchFamily="18" charset="0"/>
                          </a:rPr>
                        </m:ctrlPr>
                      </m:sSupPr>
                      <m:e>
                        <m:r>
                          <a:rPr lang="en-US" sz="2000" b="1" i="1" smtClean="0">
                            <a:latin typeface="Cambria Math" panose="02040503050406030204" pitchFamily="18" charset="0"/>
                          </a:rPr>
                          <m:t>𝝅</m:t>
                        </m:r>
                      </m:e>
                      <m:sup>
                        <m:r>
                          <a:rPr lang="en-US" sz="2000" b="0" i="1" smtClean="0">
                            <a:latin typeface="Cambria Math" panose="02040503050406030204" pitchFamily="18" charset="0"/>
                          </a:rPr>
                          <m:t>∗</m:t>
                        </m:r>
                      </m:sup>
                    </m:sSup>
                  </m:oMath>
                </a14:m>
                <a:r>
                  <a:rPr lang="en-US" sz="2000" dirty="0"/>
                  <a:t> that maximizes expected cumulative reward.</a:t>
                </a:r>
              </a:p>
            </p:txBody>
          </p:sp>
        </mc:Choice>
        <mc:Fallback xmlns="">
          <p:sp>
            <p:nvSpPr>
              <p:cNvPr id="40" name="TextBox 39">
                <a:extLst>
                  <a:ext uri="{FF2B5EF4-FFF2-40B4-BE49-F238E27FC236}">
                    <a16:creationId xmlns:a16="http://schemas.microsoft.com/office/drawing/2014/main" id="{32AE4A3D-C1C7-CD20-443A-3BA6BA06F331}"/>
                  </a:ext>
                </a:extLst>
              </p:cNvPr>
              <p:cNvSpPr txBox="1">
                <a:spLocks noRot="1" noChangeAspect="1" noMove="1" noResize="1" noEditPoints="1" noAdjustHandles="1" noChangeArrowheads="1" noChangeShapeType="1" noTextEdit="1"/>
              </p:cNvSpPr>
              <p:nvPr/>
            </p:nvSpPr>
            <p:spPr>
              <a:xfrm>
                <a:off x="1950058" y="6044141"/>
                <a:ext cx="8310561" cy="400110"/>
              </a:xfrm>
              <a:prstGeom prst="rect">
                <a:avLst/>
              </a:prstGeom>
              <a:blipFill>
                <a:blip r:embed="rId12"/>
                <a:stretch>
                  <a:fillRect l="-807" t="-7576" b="-25758"/>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975007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34648-188E-782B-6C7C-08F78CBFC647}"/>
            </a:ext>
          </a:extLst>
        </p:cNvPr>
        <p:cNvGrpSpPr/>
        <p:nvPr/>
      </p:nvGrpSpPr>
      <p:grpSpPr>
        <a:xfrm>
          <a:off x="0" y="0"/>
          <a:ext cx="0" cy="0"/>
          <a:chOff x="0" y="0"/>
          <a:chExt cx="0" cy="0"/>
        </a:xfrm>
      </p:grpSpPr>
      <p:sp>
        <p:nvSpPr>
          <p:cNvPr id="4" name="Title 12">
            <a:extLst>
              <a:ext uri="{FF2B5EF4-FFF2-40B4-BE49-F238E27FC236}">
                <a16:creationId xmlns:a16="http://schemas.microsoft.com/office/drawing/2014/main" id="{005E2867-3A2C-4B91-3E91-5BD297F9311C}"/>
              </a:ext>
            </a:extLst>
          </p:cNvPr>
          <p:cNvSpPr txBox="1">
            <a:spLocks/>
          </p:cNvSpPr>
          <p:nvPr/>
        </p:nvSpPr>
        <p:spPr>
          <a:xfrm>
            <a:off x="471489" y="69597"/>
            <a:ext cx="11153622" cy="565671"/>
          </a:xfrm>
          <a:prstGeom prst="rect">
            <a:avLst/>
          </a:prstGeom>
          <a:ln>
            <a:noFill/>
          </a:ln>
        </p:spPr>
        <p:txBody>
          <a:bodyPr vert="horz" lIns="91440" tIns="45720" rIns="91440" bIns="45720" rtlCol="0" anchor="ctr">
            <a:noAutofit/>
          </a:bodyPr>
          <a:lst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a:lstStyle>
          <a:p>
            <a:pPr algn="ctr"/>
            <a:r>
              <a:rPr lang="en-US" sz="3600" dirty="0"/>
              <a:t>The RL Setting: Agent-Environment Loop</a:t>
            </a:r>
          </a:p>
        </p:txBody>
      </p:sp>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624510DD-D413-654E-CBD1-BF12967B45C3}"/>
                  </a:ext>
                </a:extLst>
              </p:cNvPr>
              <p:cNvSpPr txBox="1">
                <a:spLocks/>
              </p:cNvSpPr>
              <p:nvPr/>
            </p:nvSpPr>
            <p:spPr>
              <a:xfrm>
                <a:off x="2855649" y="5547909"/>
                <a:ext cx="6480702" cy="38856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t>Learning Goal</a:t>
                </a:r>
                <a:r>
                  <a:rPr lang="en-US" sz="2000" dirty="0"/>
                  <a:t>: Maximize the total cumulative reward </a:t>
                </a:r>
                <a14:m>
                  <m:oMath xmlns:m="http://schemas.openxmlformats.org/officeDocument/2006/math">
                    <m:nary>
                      <m:naryPr>
                        <m:chr m:val="∑"/>
                        <m:subHide m:val="on"/>
                        <m:supHide m:val="on"/>
                        <m:ctrlPr>
                          <a:rPr lang="en-US" sz="2000" i="1" smtClean="0">
                            <a:latin typeface="Cambria Math" panose="02040503050406030204" pitchFamily="18" charset="0"/>
                          </a:rPr>
                        </m:ctrlPr>
                      </m:naryPr>
                      <m:sub/>
                      <m:sup/>
                      <m:e>
                        <m:sSub>
                          <m:sSubPr>
                            <m:ctrlPr>
                              <a:rPr lang="en-US" sz="2000" b="0" i="1" smtClean="0">
                                <a:latin typeface="Cambria Math" panose="02040503050406030204" pitchFamily="18" charset="0"/>
                              </a:rPr>
                            </m:ctrlPr>
                          </m:sSubPr>
                          <m:e>
                            <m:r>
                              <a:rPr lang="en-US" sz="2000" b="0" i="1" smtClean="0">
                                <a:solidFill>
                                  <a:srgbClr val="1306BA"/>
                                </a:solidFill>
                                <a:latin typeface="Cambria Math" panose="02040503050406030204" pitchFamily="18" charset="0"/>
                              </a:rPr>
                              <m:t>𝑟</m:t>
                            </m:r>
                          </m:e>
                          <m:sub>
                            <m:r>
                              <a:rPr lang="en-US" sz="2000" b="0" i="1" smtClean="0">
                                <a:latin typeface="Cambria Math" panose="02040503050406030204" pitchFamily="18" charset="0"/>
                              </a:rPr>
                              <m:t>𝑡</m:t>
                            </m:r>
                          </m:sub>
                        </m:sSub>
                      </m:e>
                    </m:nary>
                  </m:oMath>
                </a14:m>
                <a:endParaRPr lang="en-US" sz="2000" dirty="0"/>
              </a:p>
            </p:txBody>
          </p:sp>
        </mc:Choice>
        <mc:Fallback xmlns="">
          <p:sp>
            <p:nvSpPr>
              <p:cNvPr id="9" name="Content Placeholder 2">
                <a:extLst>
                  <a:ext uri="{FF2B5EF4-FFF2-40B4-BE49-F238E27FC236}">
                    <a16:creationId xmlns:a16="http://schemas.microsoft.com/office/drawing/2014/main" id="{624510DD-D413-654E-CBD1-BF12967B45C3}"/>
                  </a:ext>
                </a:extLst>
              </p:cNvPr>
              <p:cNvSpPr txBox="1">
                <a:spLocks noRot="1" noChangeAspect="1" noMove="1" noResize="1" noEditPoints="1" noAdjustHandles="1" noChangeArrowheads="1" noChangeShapeType="1" noTextEdit="1"/>
              </p:cNvSpPr>
              <p:nvPr/>
            </p:nvSpPr>
            <p:spPr>
              <a:xfrm>
                <a:off x="2855649" y="5547909"/>
                <a:ext cx="6480702" cy="388563"/>
              </a:xfrm>
              <a:prstGeom prst="rect">
                <a:avLst/>
              </a:prstGeom>
              <a:blipFill>
                <a:blip r:embed="rId2"/>
                <a:stretch>
                  <a:fillRect l="-940" t="-134375" r="-4323" b="-1828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F4C2C386-2E85-1CA0-5DB2-76417CB06903}"/>
                  </a:ext>
                </a:extLst>
              </p:cNvPr>
              <p:cNvSpPr txBox="1">
                <a:spLocks/>
              </p:cNvSpPr>
              <p:nvPr/>
            </p:nvSpPr>
            <p:spPr>
              <a:xfrm>
                <a:off x="556176" y="1940866"/>
                <a:ext cx="2390851" cy="8259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000" dirty="0"/>
                  <a:t>At each time step </a:t>
                </a:r>
                <a14:m>
                  <m:oMath xmlns:m="http://schemas.openxmlformats.org/officeDocument/2006/math">
                    <m:r>
                      <a:rPr lang="en-US" sz="2000" i="1" dirty="0" smtClean="0">
                        <a:latin typeface="Cambria Math" panose="02040503050406030204" pitchFamily="18" charset="0"/>
                      </a:rPr>
                      <m:t>𝑡</m:t>
                    </m:r>
                  </m:oMath>
                </a14:m>
                <a:r>
                  <a:rPr lang="en-US" sz="2000" dirty="0"/>
                  <a:t>:</a:t>
                </a:r>
              </a:p>
              <a:p>
                <a:pPr marL="0" indent="0" algn="ctr">
                  <a:buFont typeface="Arial" panose="020B0604020202020204" pitchFamily="34" charset="0"/>
                  <a:buNone/>
                </a:pPr>
                <a:r>
                  <a:rPr lang="en-US" sz="2000" dirty="0"/>
                  <a:t>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𝑡</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𝑎</m:t>
                        </m:r>
                      </m:e>
                      <m:sub>
                        <m:r>
                          <a:rPr lang="en-US" sz="2000" b="0" i="1" smtClean="0">
                            <a:latin typeface="Cambria Math" panose="02040503050406030204" pitchFamily="18" charset="0"/>
                          </a:rPr>
                          <m:t>𝑡</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𝑟</m:t>
                        </m:r>
                      </m:e>
                      <m:sub>
                        <m:r>
                          <a:rPr lang="en-US" sz="2000" b="0" i="1" smtClean="0">
                            <a:latin typeface="Cambria Math" panose="02040503050406030204" pitchFamily="18" charset="0"/>
                          </a:rPr>
                          <m:t>𝑡</m:t>
                        </m:r>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𝑡</m:t>
                        </m:r>
                        <m:r>
                          <a:rPr lang="en-US" sz="2000" b="0" i="1" smtClean="0">
                            <a:latin typeface="Cambria Math" panose="02040503050406030204" pitchFamily="18" charset="0"/>
                          </a:rPr>
                          <m:t>+1</m:t>
                        </m:r>
                      </m:sub>
                    </m:sSub>
                  </m:oMath>
                </a14:m>
                <a:endParaRPr lang="en-US" sz="2000" dirty="0"/>
              </a:p>
            </p:txBody>
          </p:sp>
        </mc:Choice>
        <mc:Fallback xmlns="">
          <p:sp>
            <p:nvSpPr>
              <p:cNvPr id="10" name="Content Placeholder 2">
                <a:extLst>
                  <a:ext uri="{FF2B5EF4-FFF2-40B4-BE49-F238E27FC236}">
                    <a16:creationId xmlns:a16="http://schemas.microsoft.com/office/drawing/2014/main" id="{F4C2C386-2E85-1CA0-5DB2-76417CB06903}"/>
                  </a:ext>
                </a:extLst>
              </p:cNvPr>
              <p:cNvSpPr txBox="1">
                <a:spLocks noRot="1" noChangeAspect="1" noMove="1" noResize="1" noEditPoints="1" noAdjustHandles="1" noChangeArrowheads="1" noChangeShapeType="1" noTextEdit="1"/>
              </p:cNvSpPr>
              <p:nvPr/>
            </p:nvSpPr>
            <p:spPr>
              <a:xfrm>
                <a:off x="556176" y="1940866"/>
                <a:ext cx="2390851" cy="825967"/>
              </a:xfrm>
              <a:prstGeom prst="rect">
                <a:avLst/>
              </a:prstGeom>
              <a:blipFill>
                <a:blip r:embed="rId3"/>
                <a:stretch>
                  <a:fillRect t="-73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33361D7-CE09-E28C-BB2E-0E732421CB62}"/>
                  </a:ext>
                </a:extLst>
              </p:cNvPr>
              <p:cNvSpPr txBox="1"/>
              <p:nvPr/>
            </p:nvSpPr>
            <p:spPr>
              <a:xfrm>
                <a:off x="1824000" y="4044720"/>
                <a:ext cx="8544000" cy="923330"/>
              </a:xfrm>
              <a:prstGeom prst="rect">
                <a:avLst/>
              </a:prstGeom>
              <a:noFill/>
              <a:ln>
                <a:noFill/>
              </a:ln>
            </p:spPr>
            <p:txBody>
              <a:bodyPr wrap="square">
                <a:spAutoFit/>
              </a:bodyPr>
              <a:lstStyle/>
              <a:p>
                <a:pPr marL="342900" indent="-342900">
                  <a:buFont typeface="+mj-lt"/>
                  <a:buAutoNum type="arabicPeriod"/>
                </a:pPr>
                <a:r>
                  <a:rPr lang="en-US" b="1" dirty="0">
                    <a:solidFill>
                      <a:srgbClr val="7030A0"/>
                    </a:solidFill>
                  </a:rPr>
                  <a:t>Action Selection</a:t>
                </a:r>
                <a:r>
                  <a:rPr lang="en-US" dirty="0"/>
                  <a:t>:</a:t>
                </a:r>
                <a:r>
                  <a:rPr lang="en-US" b="1" dirty="0"/>
                  <a:t> </a:t>
                </a:r>
                <a:r>
                  <a:rPr lang="en-US" dirty="0"/>
                  <a:t>Agent uses current policy </a:t>
                </a:r>
                <a14:m>
                  <m:oMath xmlns:m="http://schemas.openxmlformats.org/officeDocument/2006/math">
                    <m:r>
                      <a:rPr lang="en-US" b="0" i="1" smtClean="0">
                        <a:latin typeface="Cambria Math" panose="02040503050406030204" pitchFamily="18" charset="0"/>
                      </a:rPr>
                      <m:t>𝜋</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solidFill>
                                  <a:srgbClr val="00B050"/>
                                </a:solidFill>
                                <a:latin typeface="Cambria Math" panose="02040503050406030204" pitchFamily="18" charset="0"/>
                              </a:rPr>
                              <m:t>𝑠</m:t>
                            </m:r>
                          </m:e>
                          <m:sub>
                            <m:r>
                              <a:rPr lang="en-US" b="0" i="1" smtClean="0">
                                <a:latin typeface="Cambria Math" panose="02040503050406030204" pitchFamily="18" charset="0"/>
                              </a:rPr>
                              <m:t>𝑡</m:t>
                            </m:r>
                          </m:sub>
                        </m:sSub>
                      </m:e>
                    </m:d>
                  </m:oMath>
                </a14:m>
                <a:r>
                  <a:rPr lang="en-US" dirty="0"/>
                  <a:t> to choose action </a:t>
                </a:r>
                <a14:m>
                  <m:oMath xmlns:m="http://schemas.openxmlformats.org/officeDocument/2006/math">
                    <m:sSub>
                      <m:sSubPr>
                        <m:ctrlPr>
                          <a:rPr lang="en-US" b="0" i="1" smtClean="0">
                            <a:latin typeface="Cambria Math" panose="02040503050406030204" pitchFamily="18" charset="0"/>
                          </a:rPr>
                        </m:ctrlPr>
                      </m:sSubPr>
                      <m:e>
                        <m:r>
                          <a:rPr lang="en-US" b="0" i="1" smtClean="0">
                            <a:solidFill>
                              <a:srgbClr val="7030A0"/>
                            </a:solidFill>
                            <a:latin typeface="Cambria Math" panose="02040503050406030204" pitchFamily="18" charset="0"/>
                          </a:rPr>
                          <m:t>𝑎</m:t>
                        </m:r>
                      </m:e>
                      <m:sub>
                        <m:r>
                          <a:rPr lang="en-US" b="0" i="1" smtClean="0">
                            <a:latin typeface="Cambria Math" panose="02040503050406030204" pitchFamily="18" charset="0"/>
                          </a:rPr>
                          <m:t>𝑡</m:t>
                        </m:r>
                      </m:sub>
                    </m:sSub>
                  </m:oMath>
                </a14:m>
                <a:endParaRPr lang="en-US" b="0" dirty="0"/>
              </a:p>
              <a:p>
                <a:pPr marL="342900" indent="-342900">
                  <a:buFont typeface="+mj-lt"/>
                  <a:buAutoNum type="arabicPeriod"/>
                </a:pPr>
                <a:r>
                  <a:rPr lang="en-US" b="1" dirty="0">
                    <a:solidFill>
                      <a:srgbClr val="00B050"/>
                    </a:solidFill>
                  </a:rPr>
                  <a:t>Environment response</a:t>
                </a:r>
                <a:r>
                  <a:rPr lang="en-US" dirty="0"/>
                  <a:t>:</a:t>
                </a:r>
                <a:r>
                  <a:rPr lang="en-US" b="1" dirty="0"/>
                  <a:t> </a:t>
                </a:r>
                <a:r>
                  <a:rPr lang="en-US" dirty="0"/>
                  <a:t>Environment transitions to new state </a:t>
                </a:r>
                <a14:m>
                  <m:oMath xmlns:m="http://schemas.openxmlformats.org/officeDocument/2006/math">
                    <m:sSub>
                      <m:sSubPr>
                        <m:ctrlPr>
                          <a:rPr lang="en-US" b="0" i="1" smtClean="0">
                            <a:latin typeface="Cambria Math" panose="02040503050406030204" pitchFamily="18" charset="0"/>
                          </a:rPr>
                        </m:ctrlPr>
                      </m:sSubPr>
                      <m:e>
                        <m:r>
                          <a:rPr lang="en-US" b="0" i="1" smtClean="0">
                            <a:solidFill>
                              <a:srgbClr val="00B050"/>
                            </a:solidFill>
                            <a:latin typeface="Cambria Math" panose="02040503050406030204" pitchFamily="18" charset="0"/>
                          </a:rPr>
                          <m:t>𝑠</m:t>
                        </m:r>
                      </m:e>
                      <m:sub>
                        <m:r>
                          <a:rPr lang="en-US" b="0" i="1" smtClean="0">
                            <a:latin typeface="Cambria Math" panose="02040503050406030204" pitchFamily="18" charset="0"/>
                          </a:rPr>
                          <m:t>𝑡</m:t>
                        </m:r>
                        <m:r>
                          <a:rPr lang="en-US" b="0" i="1" smtClean="0">
                            <a:latin typeface="Cambria Math" panose="02040503050406030204" pitchFamily="18" charset="0"/>
                          </a:rPr>
                          <m:t>+1</m:t>
                        </m:r>
                      </m:sub>
                    </m:sSub>
                  </m:oMath>
                </a14:m>
                <a:endParaRPr lang="en-US" dirty="0"/>
              </a:p>
              <a:p>
                <a:pPr marL="342900" indent="-342900">
                  <a:buFont typeface="+mj-lt"/>
                  <a:buAutoNum type="arabicPeriod"/>
                </a:pPr>
                <a:r>
                  <a:rPr lang="en-US" b="1" dirty="0">
                    <a:solidFill>
                      <a:srgbClr val="1306BA"/>
                    </a:solidFill>
                  </a:rPr>
                  <a:t>Learning Update: </a:t>
                </a:r>
                <a:r>
                  <a:rPr lang="en-US" dirty="0"/>
                  <a:t>Agent receives reward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𝑡</m:t>
                        </m:r>
                        <m:r>
                          <a:rPr lang="en-US" b="0" i="1" smtClean="0">
                            <a:latin typeface="Cambria Math" panose="02040503050406030204" pitchFamily="18" charset="0"/>
                          </a:rPr>
                          <m:t>+1</m:t>
                        </m:r>
                      </m:sub>
                    </m:sSub>
                  </m:oMath>
                </a14:m>
                <a:r>
                  <a:rPr lang="en-US" dirty="0"/>
                  <a:t> and improves policy for future decisions.</a:t>
                </a:r>
              </a:p>
            </p:txBody>
          </p:sp>
        </mc:Choice>
        <mc:Fallback xmlns="">
          <p:sp>
            <p:nvSpPr>
              <p:cNvPr id="18" name="TextBox 17">
                <a:extLst>
                  <a:ext uri="{FF2B5EF4-FFF2-40B4-BE49-F238E27FC236}">
                    <a16:creationId xmlns:a16="http://schemas.microsoft.com/office/drawing/2014/main" id="{033361D7-CE09-E28C-BB2E-0E732421CB62}"/>
                  </a:ext>
                </a:extLst>
              </p:cNvPr>
              <p:cNvSpPr txBox="1">
                <a:spLocks noRot="1" noChangeAspect="1" noMove="1" noResize="1" noEditPoints="1" noAdjustHandles="1" noChangeArrowheads="1" noChangeShapeType="1" noTextEdit="1"/>
              </p:cNvSpPr>
              <p:nvPr/>
            </p:nvSpPr>
            <p:spPr>
              <a:xfrm>
                <a:off x="1824000" y="4044720"/>
                <a:ext cx="8544000" cy="923330"/>
              </a:xfrm>
              <a:prstGeom prst="rect">
                <a:avLst/>
              </a:prstGeom>
              <a:blipFill>
                <a:blip r:embed="rId4"/>
                <a:stretch>
                  <a:fillRect l="-571" t="-3974" r="-571" b="-9934"/>
                </a:stretch>
              </a:blipFill>
              <a:ln>
                <a:noFill/>
              </a:ln>
            </p:spPr>
            <p:txBody>
              <a:bodyPr/>
              <a:lstStyle/>
              <a:p>
                <a:r>
                  <a:rPr lang="en-US">
                    <a:noFill/>
                  </a:rPr>
                  <a:t> </a:t>
                </a:r>
              </a:p>
            </p:txBody>
          </p:sp>
        </mc:Fallback>
      </mc:AlternateContent>
      <p:grpSp>
        <p:nvGrpSpPr>
          <p:cNvPr id="56" name="Group 55">
            <a:extLst>
              <a:ext uri="{FF2B5EF4-FFF2-40B4-BE49-F238E27FC236}">
                <a16:creationId xmlns:a16="http://schemas.microsoft.com/office/drawing/2014/main" id="{F9C44D35-AF12-499C-71EF-842565B9F1B2}"/>
              </a:ext>
            </a:extLst>
          </p:cNvPr>
          <p:cNvGrpSpPr/>
          <p:nvPr/>
        </p:nvGrpSpPr>
        <p:grpSpPr>
          <a:xfrm>
            <a:off x="3530126" y="1240529"/>
            <a:ext cx="7849548" cy="2413353"/>
            <a:chOff x="2168403" y="1817923"/>
            <a:chExt cx="7849548" cy="2413353"/>
          </a:xfrm>
        </p:grpSpPr>
        <p:sp>
          <p:nvSpPr>
            <p:cNvPr id="2" name="Rectangle: Rounded Corners 1">
              <a:extLst>
                <a:ext uri="{FF2B5EF4-FFF2-40B4-BE49-F238E27FC236}">
                  <a16:creationId xmlns:a16="http://schemas.microsoft.com/office/drawing/2014/main" id="{EC423407-8E82-6855-BE66-F070C2426AA8}"/>
                </a:ext>
              </a:extLst>
            </p:cNvPr>
            <p:cNvSpPr/>
            <p:nvPr/>
          </p:nvSpPr>
          <p:spPr>
            <a:xfrm>
              <a:off x="7133861" y="2247718"/>
              <a:ext cx="2884090" cy="1600255"/>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b="1" dirty="0">
                  <a:solidFill>
                    <a:schemeClr val="tx1"/>
                  </a:solidFill>
                </a:rPr>
                <a:t>Environment (World)</a:t>
              </a:r>
            </a:p>
            <a:p>
              <a:pPr algn="ctr"/>
              <a:endParaRPr lang="en-US" b="1" dirty="0">
                <a:solidFill>
                  <a:schemeClr val="tx1"/>
                </a:solidFill>
              </a:endParaRPr>
            </a:p>
            <a:p>
              <a:pPr algn="ctr"/>
              <a:endParaRPr lang="en-US" b="1" dirty="0">
                <a:solidFill>
                  <a:schemeClr val="tx1"/>
                </a:solidFill>
              </a:endParaRPr>
            </a:p>
            <a:p>
              <a:pPr algn="ctr"/>
              <a:endParaRPr lang="en-US" b="1" dirty="0">
                <a:solidFill>
                  <a:schemeClr val="tx1"/>
                </a:solidFill>
              </a:endParaRPr>
            </a:p>
          </p:txBody>
        </p:sp>
        <p:cxnSp>
          <p:nvCxnSpPr>
            <p:cNvPr id="25" name="Straight Arrow Connector 24">
              <a:extLst>
                <a:ext uri="{FF2B5EF4-FFF2-40B4-BE49-F238E27FC236}">
                  <a16:creationId xmlns:a16="http://schemas.microsoft.com/office/drawing/2014/main" id="{C27201EE-5E6C-8FD4-20F4-2939B4FB623B}"/>
                </a:ext>
              </a:extLst>
            </p:cNvPr>
            <p:cNvCxnSpPr>
              <a:cxnSpLocks/>
              <a:stCxn id="6" idx="3"/>
              <a:endCxn id="2" idx="1"/>
            </p:cNvCxnSpPr>
            <p:nvPr/>
          </p:nvCxnSpPr>
          <p:spPr>
            <a:xfrm flipV="1">
              <a:off x="4408461" y="3047846"/>
              <a:ext cx="2725400" cy="19519"/>
            </a:xfrm>
            <a:prstGeom prst="straightConnector1">
              <a:avLst/>
            </a:prstGeom>
            <a:ln w="25400">
              <a:solidFill>
                <a:srgbClr val="00B050"/>
              </a:solidFill>
              <a:headEnd type="stealth" w="lg" len="lg"/>
              <a:tailEnd type="none" w="lg" len="lg"/>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013671DB-69FB-1E2C-3156-5CAE0FFD8DB9}"/>
                    </a:ext>
                  </a:extLst>
                </p:cNvPr>
                <p:cNvSpPr txBox="1"/>
                <p:nvPr/>
              </p:nvSpPr>
              <p:spPr>
                <a:xfrm>
                  <a:off x="5170356" y="1817923"/>
                  <a:ext cx="1284848" cy="369332"/>
                </a:xfrm>
                <a:prstGeom prst="rect">
                  <a:avLst/>
                </a:prstGeom>
                <a:noFill/>
                <a:ln>
                  <a:noFill/>
                </a:ln>
              </p:spPr>
              <p:txBody>
                <a:bodyPr wrap="square" rtlCol="0" anchor="ctr" anchorCtr="1">
                  <a:spAutoFit/>
                </a:bodyPr>
                <a:lstStyle/>
                <a:p>
                  <a:r>
                    <a:rPr lang="en-US" dirty="0">
                      <a:solidFill>
                        <a:srgbClr val="7030A0"/>
                      </a:solidFill>
                    </a:rPr>
                    <a:t>Action (</a:t>
                  </a:r>
                  <a14:m>
                    <m:oMath xmlns:m="http://schemas.openxmlformats.org/officeDocument/2006/math">
                      <m:r>
                        <a:rPr lang="en-US" i="1" dirty="0" smtClean="0">
                          <a:solidFill>
                            <a:srgbClr val="7030A0"/>
                          </a:solidFill>
                          <a:latin typeface="Cambria Math" panose="02040503050406030204" pitchFamily="18" charset="0"/>
                        </a:rPr>
                        <m:t>𝑎</m:t>
                      </m:r>
                    </m:oMath>
                  </a14:m>
                  <a:r>
                    <a:rPr lang="en-US" dirty="0">
                      <a:solidFill>
                        <a:srgbClr val="7030A0"/>
                      </a:solidFill>
                    </a:rPr>
                    <a:t>)</a:t>
                  </a:r>
                </a:p>
              </p:txBody>
            </p:sp>
          </mc:Choice>
          <mc:Fallback xmlns="">
            <p:sp>
              <p:nvSpPr>
                <p:cNvPr id="26" name="TextBox 25">
                  <a:extLst>
                    <a:ext uri="{FF2B5EF4-FFF2-40B4-BE49-F238E27FC236}">
                      <a16:creationId xmlns:a16="http://schemas.microsoft.com/office/drawing/2014/main" id="{013671DB-69FB-1E2C-3156-5CAE0FFD8DB9}"/>
                    </a:ext>
                  </a:extLst>
                </p:cNvPr>
                <p:cNvSpPr txBox="1">
                  <a:spLocks noRot="1" noChangeAspect="1" noMove="1" noResize="1" noEditPoints="1" noAdjustHandles="1" noChangeArrowheads="1" noChangeShapeType="1" noTextEdit="1"/>
                </p:cNvSpPr>
                <p:nvPr/>
              </p:nvSpPr>
              <p:spPr>
                <a:xfrm>
                  <a:off x="5170356" y="1817923"/>
                  <a:ext cx="1284848" cy="369332"/>
                </a:xfrm>
                <a:prstGeom prst="rect">
                  <a:avLst/>
                </a:prstGeom>
                <a:blipFill>
                  <a:blip r:embed="rId5"/>
                  <a:stretch>
                    <a:fillRect t="-8197" b="-26230"/>
                  </a:stretch>
                </a:blipFill>
                <a:ln>
                  <a:noFill/>
                </a:ln>
              </p:spPr>
              <p:txBody>
                <a:bodyPr/>
                <a:lstStyle/>
                <a:p>
                  <a:r>
                    <a:rPr lang="en-US">
                      <a:noFill/>
                    </a:rPr>
                    <a:t> </a:t>
                  </a:r>
                </a:p>
              </p:txBody>
            </p:sp>
          </mc:Fallback>
        </mc:AlternateContent>
        <p:grpSp>
          <p:nvGrpSpPr>
            <p:cNvPr id="50" name="Group 49">
              <a:extLst>
                <a:ext uri="{FF2B5EF4-FFF2-40B4-BE49-F238E27FC236}">
                  <a16:creationId xmlns:a16="http://schemas.microsoft.com/office/drawing/2014/main" id="{6968DE14-633A-A66D-4D1D-488CFF8864C5}"/>
                </a:ext>
              </a:extLst>
            </p:cNvPr>
            <p:cNvGrpSpPr/>
            <p:nvPr/>
          </p:nvGrpSpPr>
          <p:grpSpPr>
            <a:xfrm>
              <a:off x="2168403" y="2224553"/>
              <a:ext cx="2342708" cy="1680023"/>
              <a:chOff x="2168402" y="1947206"/>
              <a:chExt cx="2342708" cy="1680023"/>
            </a:xfrm>
          </p:grpSpPr>
          <p:sp>
            <p:nvSpPr>
              <p:cNvPr id="6" name="Rectangle: Rounded Corners 5">
                <a:extLst>
                  <a:ext uri="{FF2B5EF4-FFF2-40B4-BE49-F238E27FC236}">
                    <a16:creationId xmlns:a16="http://schemas.microsoft.com/office/drawing/2014/main" id="{9516DC86-AD2B-32C0-A0AD-5C5830A9627D}"/>
                  </a:ext>
                </a:extLst>
              </p:cNvPr>
              <p:cNvSpPr/>
              <p:nvPr/>
            </p:nvSpPr>
            <p:spPr>
              <a:xfrm>
                <a:off x="2195364" y="1952807"/>
                <a:ext cx="2213096" cy="1674422"/>
              </a:xfrm>
              <a:prstGeom prst="roundRect">
                <a:avLst/>
              </a:prstGeom>
              <a:noFill/>
              <a:ln>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7" name="TextBox 6">
                <a:extLst>
                  <a:ext uri="{FF2B5EF4-FFF2-40B4-BE49-F238E27FC236}">
                    <a16:creationId xmlns:a16="http://schemas.microsoft.com/office/drawing/2014/main" id="{3649B2B5-8353-B9C6-EFDD-936BA8F2352B}"/>
                  </a:ext>
                </a:extLst>
              </p:cNvPr>
              <p:cNvSpPr txBox="1"/>
              <p:nvPr/>
            </p:nvSpPr>
            <p:spPr>
              <a:xfrm>
                <a:off x="3030374" y="1947206"/>
                <a:ext cx="1284848" cy="369332"/>
              </a:xfrm>
              <a:prstGeom prst="rect">
                <a:avLst/>
              </a:prstGeom>
              <a:noFill/>
              <a:ln>
                <a:noFill/>
              </a:ln>
            </p:spPr>
            <p:txBody>
              <a:bodyPr wrap="square" rtlCol="0" anchor="ctr" anchorCtr="1">
                <a:spAutoFit/>
              </a:bodyPr>
              <a:lstStyle/>
              <a:p>
                <a:r>
                  <a:rPr lang="en-US" b="1" dirty="0"/>
                  <a:t>Agent</a:t>
                </a:r>
              </a:p>
            </p:txBody>
          </p:sp>
          <p:pic>
            <p:nvPicPr>
              <p:cNvPr id="13" name="Graphic 12" descr="Detective male with solid fill">
                <a:extLst>
                  <a:ext uri="{FF2B5EF4-FFF2-40B4-BE49-F238E27FC236}">
                    <a16:creationId xmlns:a16="http://schemas.microsoft.com/office/drawing/2014/main" id="{7F30653A-6D2F-DE01-B2BA-DE26A5CFA5B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168402" y="2009078"/>
                <a:ext cx="914400" cy="914400"/>
              </a:xfrm>
              <a:prstGeom prst="rect">
                <a:avLst/>
              </a:prstGeom>
            </p:spPr>
          </p:pic>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44ABE919-17E3-7A9E-E413-956801C8D515}"/>
                      </a:ext>
                    </a:extLst>
                  </p:cNvPr>
                  <p:cNvSpPr txBox="1"/>
                  <p:nvPr/>
                </p:nvSpPr>
                <p:spPr>
                  <a:xfrm>
                    <a:off x="2625602" y="2550010"/>
                    <a:ext cx="1885508" cy="1077218"/>
                  </a:xfrm>
                  <a:prstGeom prst="rect">
                    <a:avLst/>
                  </a:prstGeom>
                  <a:noFill/>
                  <a:ln>
                    <a:noFill/>
                  </a:ln>
                </p:spPr>
                <p:txBody>
                  <a:bodyPr wrap="square" rtlCol="0" anchor="ctr" anchorCtr="1">
                    <a:spAutoFit/>
                  </a:bodyPr>
                  <a:lstStyle/>
                  <a:p>
                    <a:pPr algn="ctr"/>
                    <a:r>
                      <a:rPr lang="en-US" sz="1600" dirty="0"/>
                      <a:t>Policy </a:t>
                    </a:r>
                    <a14:m>
                      <m:oMath xmlns:m="http://schemas.openxmlformats.org/officeDocument/2006/math">
                        <m:r>
                          <a:rPr lang="en-US" sz="1600" b="1" i="1" smtClean="0">
                            <a:latin typeface="Cambria Math" panose="02040503050406030204" pitchFamily="18" charset="0"/>
                          </a:rPr>
                          <m:t>𝝅</m:t>
                        </m:r>
                        <m:d>
                          <m:dPr>
                            <m:ctrlPr>
                              <a:rPr lang="en-US" sz="1600" b="0" i="1" smtClean="0">
                                <a:latin typeface="Cambria Math" panose="02040503050406030204" pitchFamily="18" charset="0"/>
                              </a:rPr>
                            </m:ctrlPr>
                          </m:dPr>
                          <m:e>
                            <m:r>
                              <a:rPr lang="en-US" sz="1600" b="0" i="1" smtClean="0">
                                <a:solidFill>
                                  <a:srgbClr val="00B050"/>
                                </a:solidFill>
                                <a:latin typeface="Cambria Math" panose="02040503050406030204" pitchFamily="18" charset="0"/>
                              </a:rPr>
                              <m:t>𝑠</m:t>
                            </m:r>
                          </m:e>
                        </m:d>
                      </m:oMath>
                    </a14:m>
                    <a:endParaRPr lang="en-US" sz="1600" dirty="0"/>
                  </a:p>
                  <a:p>
                    <a:pPr marL="112713" indent="-112713">
                      <a:buFont typeface="Arial" panose="020B0604020202020204" pitchFamily="34" charset="0"/>
                      <a:buChar char="•"/>
                    </a:pPr>
                    <a:r>
                      <a:rPr lang="en-US" sz="1600" dirty="0"/>
                      <a:t>Observes State</a:t>
                    </a:r>
                  </a:p>
                  <a:p>
                    <a:pPr marL="112713" indent="-112713">
                      <a:buFont typeface="Arial" panose="020B0604020202020204" pitchFamily="34" charset="0"/>
                      <a:buChar char="•"/>
                    </a:pPr>
                    <a:r>
                      <a:rPr lang="en-US" sz="1600" dirty="0"/>
                      <a:t>Select Action</a:t>
                    </a:r>
                  </a:p>
                  <a:p>
                    <a:pPr marL="112713" indent="-112713">
                      <a:buFont typeface="Arial" panose="020B0604020202020204" pitchFamily="34" charset="0"/>
                      <a:buChar char="•"/>
                    </a:pPr>
                    <a:r>
                      <a:rPr lang="en-US" sz="1600" dirty="0"/>
                      <a:t>Learn &amp; Update</a:t>
                    </a:r>
                  </a:p>
                </p:txBody>
              </p:sp>
            </mc:Choice>
            <mc:Fallback xmlns="">
              <p:sp>
                <p:nvSpPr>
                  <p:cNvPr id="19" name="TextBox 18">
                    <a:extLst>
                      <a:ext uri="{FF2B5EF4-FFF2-40B4-BE49-F238E27FC236}">
                        <a16:creationId xmlns:a16="http://schemas.microsoft.com/office/drawing/2014/main" id="{44ABE919-17E3-7A9E-E413-956801C8D515}"/>
                      </a:ext>
                    </a:extLst>
                  </p:cNvPr>
                  <p:cNvSpPr txBox="1">
                    <a:spLocks noRot="1" noChangeAspect="1" noMove="1" noResize="1" noEditPoints="1" noAdjustHandles="1" noChangeArrowheads="1" noChangeShapeType="1" noTextEdit="1"/>
                  </p:cNvSpPr>
                  <p:nvPr/>
                </p:nvSpPr>
                <p:spPr>
                  <a:xfrm>
                    <a:off x="2625602" y="2550010"/>
                    <a:ext cx="1885508" cy="1077218"/>
                  </a:xfrm>
                  <a:prstGeom prst="rect">
                    <a:avLst/>
                  </a:prstGeom>
                  <a:blipFill>
                    <a:blip r:embed="rId8"/>
                    <a:stretch>
                      <a:fillRect t="-1130" b="-6780"/>
                    </a:stretch>
                  </a:blipFill>
                  <a:ln>
                    <a:noFill/>
                  </a:ln>
                </p:spPr>
                <p:txBody>
                  <a:bodyPr/>
                  <a:lstStyle/>
                  <a:p>
                    <a:r>
                      <a:rPr lang="en-US">
                        <a:noFill/>
                      </a:rPr>
                      <a:t> </a:t>
                    </a:r>
                  </a:p>
                </p:txBody>
              </p:sp>
            </mc:Fallback>
          </mc:AlternateContent>
        </p:grpSp>
        <p:sp>
          <p:nvSpPr>
            <p:cNvPr id="32" name="Arc 31">
              <a:extLst>
                <a:ext uri="{FF2B5EF4-FFF2-40B4-BE49-F238E27FC236}">
                  <a16:creationId xmlns:a16="http://schemas.microsoft.com/office/drawing/2014/main" id="{F3057514-28D1-FA73-CE5B-26E6239BE02C}"/>
                </a:ext>
              </a:extLst>
            </p:cNvPr>
            <p:cNvSpPr/>
            <p:nvPr/>
          </p:nvSpPr>
          <p:spPr>
            <a:xfrm>
              <a:off x="4403341" y="2102401"/>
              <a:ext cx="2736166" cy="618442"/>
            </a:xfrm>
            <a:prstGeom prst="arc">
              <a:avLst>
                <a:gd name="adj1" fmla="val 10804793"/>
                <a:gd name="adj2" fmla="val 0"/>
              </a:avLst>
            </a:prstGeom>
            <a:ln w="19050">
              <a:solidFill>
                <a:srgbClr val="7030A0"/>
              </a:solidFill>
              <a:tailEnd type="stealth" w="lg" len="lg"/>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solidFill>
                  <a:srgbClr val="7030A0"/>
                </a:solidFill>
              </a:endParaRPr>
            </a:p>
          </p:txBody>
        </p:sp>
        <p:sp>
          <p:nvSpPr>
            <p:cNvPr id="33" name="TextBox 32">
              <a:extLst>
                <a:ext uri="{FF2B5EF4-FFF2-40B4-BE49-F238E27FC236}">
                  <a16:creationId xmlns:a16="http://schemas.microsoft.com/office/drawing/2014/main" id="{20A2B978-0B49-B1C3-AE94-221FCB949BBE}"/>
                </a:ext>
              </a:extLst>
            </p:cNvPr>
            <p:cNvSpPr txBox="1"/>
            <p:nvPr/>
          </p:nvSpPr>
          <p:spPr>
            <a:xfrm>
              <a:off x="5350226" y="2093748"/>
              <a:ext cx="903264" cy="261610"/>
            </a:xfrm>
            <a:prstGeom prst="rect">
              <a:avLst/>
            </a:prstGeom>
            <a:noFill/>
            <a:ln>
              <a:noFill/>
            </a:ln>
          </p:spPr>
          <p:txBody>
            <a:bodyPr wrap="square" rtlCol="0" anchor="ctr" anchorCtr="1">
              <a:spAutoFit/>
            </a:bodyPr>
            <a:lstStyle/>
            <a:p>
              <a:r>
                <a:rPr lang="en-US" sz="1100" dirty="0"/>
                <a:t>What To Do</a:t>
              </a:r>
            </a:p>
          </p:txBody>
        </p:sp>
        <p:sp>
          <p:nvSpPr>
            <p:cNvPr id="35" name="TextBox 34">
              <a:extLst>
                <a:ext uri="{FF2B5EF4-FFF2-40B4-BE49-F238E27FC236}">
                  <a16:creationId xmlns:a16="http://schemas.microsoft.com/office/drawing/2014/main" id="{A36FBC67-7691-083B-05EA-320F97AEB28E}"/>
                </a:ext>
              </a:extLst>
            </p:cNvPr>
            <p:cNvSpPr txBox="1"/>
            <p:nvPr/>
          </p:nvSpPr>
          <p:spPr>
            <a:xfrm>
              <a:off x="7633152" y="2852003"/>
              <a:ext cx="1885508" cy="830997"/>
            </a:xfrm>
            <a:prstGeom prst="rect">
              <a:avLst/>
            </a:prstGeom>
            <a:noFill/>
            <a:ln>
              <a:noFill/>
            </a:ln>
          </p:spPr>
          <p:txBody>
            <a:bodyPr wrap="square" rtlCol="0" anchor="ctr" anchorCtr="1">
              <a:spAutoFit/>
            </a:bodyPr>
            <a:lstStyle/>
            <a:p>
              <a:pPr marL="168275" indent="-168275">
                <a:buFont typeface="Arial" panose="020B0604020202020204" pitchFamily="34" charset="0"/>
                <a:buChar char="•"/>
              </a:pPr>
              <a:r>
                <a:rPr lang="en-US" sz="1600" dirty="0">
                  <a:solidFill>
                    <a:schemeClr val="tx1"/>
                  </a:solidFill>
                </a:rPr>
                <a:t>Process Action</a:t>
              </a:r>
            </a:p>
            <a:p>
              <a:pPr marL="168275" indent="-168275">
                <a:buFont typeface="Arial" panose="020B0604020202020204" pitchFamily="34" charset="0"/>
                <a:buChar char="•"/>
              </a:pPr>
              <a:r>
                <a:rPr lang="en-US" sz="1600" dirty="0"/>
                <a:t>Update State</a:t>
              </a:r>
              <a:endParaRPr lang="en-US" sz="1600" dirty="0">
                <a:solidFill>
                  <a:schemeClr val="tx1"/>
                </a:solidFill>
              </a:endParaRPr>
            </a:p>
            <a:p>
              <a:pPr marL="168275" indent="-168275">
                <a:buFont typeface="Arial" panose="020B0604020202020204" pitchFamily="34" charset="0"/>
                <a:buChar char="•"/>
              </a:pPr>
              <a:r>
                <a:rPr lang="en-US" sz="1600" dirty="0">
                  <a:solidFill>
                    <a:schemeClr val="tx1"/>
                  </a:solidFill>
                </a:rPr>
                <a:t>Compute Reward</a:t>
              </a: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D2817BCB-0F54-213D-C028-A1CE87664CDC}"/>
                    </a:ext>
                  </a:extLst>
                </p:cNvPr>
                <p:cNvSpPr txBox="1"/>
                <p:nvPr/>
              </p:nvSpPr>
              <p:spPr>
                <a:xfrm>
                  <a:off x="5170356" y="3664929"/>
                  <a:ext cx="1284848" cy="369332"/>
                </a:xfrm>
                <a:prstGeom prst="rect">
                  <a:avLst/>
                </a:prstGeom>
                <a:noFill/>
                <a:ln>
                  <a:noFill/>
                </a:ln>
              </p:spPr>
              <p:txBody>
                <a:bodyPr wrap="square" rtlCol="0" anchor="ctr" anchorCtr="1">
                  <a:spAutoFit/>
                </a:bodyPr>
                <a:lstStyle/>
                <a:p>
                  <a:r>
                    <a:rPr lang="en-US" dirty="0">
                      <a:solidFill>
                        <a:srgbClr val="1306BA"/>
                      </a:solidFill>
                    </a:rPr>
                    <a:t>Reward (</a:t>
                  </a:r>
                  <a14:m>
                    <m:oMath xmlns:m="http://schemas.openxmlformats.org/officeDocument/2006/math">
                      <m:r>
                        <a:rPr lang="en-US" i="1" dirty="0" smtClean="0">
                          <a:solidFill>
                            <a:srgbClr val="1306BA"/>
                          </a:solidFill>
                          <a:latin typeface="Cambria Math" panose="02040503050406030204" pitchFamily="18" charset="0"/>
                        </a:rPr>
                        <m:t>𝑟</m:t>
                      </m:r>
                    </m:oMath>
                  </a14:m>
                  <a:r>
                    <a:rPr lang="en-US" dirty="0">
                      <a:solidFill>
                        <a:srgbClr val="1306BA"/>
                      </a:solidFill>
                    </a:rPr>
                    <a:t>)</a:t>
                  </a:r>
                </a:p>
              </p:txBody>
            </p:sp>
          </mc:Choice>
          <mc:Fallback xmlns="">
            <p:sp>
              <p:nvSpPr>
                <p:cNvPr id="36" name="TextBox 35">
                  <a:extLst>
                    <a:ext uri="{FF2B5EF4-FFF2-40B4-BE49-F238E27FC236}">
                      <a16:creationId xmlns:a16="http://schemas.microsoft.com/office/drawing/2014/main" id="{D2817BCB-0F54-213D-C028-A1CE87664CDC}"/>
                    </a:ext>
                  </a:extLst>
                </p:cNvPr>
                <p:cNvSpPr txBox="1">
                  <a:spLocks noRot="1" noChangeAspect="1" noMove="1" noResize="1" noEditPoints="1" noAdjustHandles="1" noChangeArrowheads="1" noChangeShapeType="1" noTextEdit="1"/>
                </p:cNvSpPr>
                <p:nvPr/>
              </p:nvSpPr>
              <p:spPr>
                <a:xfrm>
                  <a:off x="5170356" y="3664929"/>
                  <a:ext cx="1284848" cy="369332"/>
                </a:xfrm>
                <a:prstGeom prst="rect">
                  <a:avLst/>
                </a:prstGeom>
                <a:blipFill>
                  <a:blip r:embed="rId9"/>
                  <a:stretch>
                    <a:fillRect l="-476" t="-8197" r="-952" b="-26230"/>
                  </a:stretch>
                </a:blipFill>
                <a:ln>
                  <a:noFill/>
                </a:ln>
              </p:spPr>
              <p:txBody>
                <a:bodyPr/>
                <a:lstStyle/>
                <a:p>
                  <a:r>
                    <a:rPr lang="en-US">
                      <a:noFill/>
                    </a:rPr>
                    <a:t> </a:t>
                  </a:r>
                </a:p>
              </p:txBody>
            </p:sp>
          </mc:Fallback>
        </mc:AlternateContent>
        <p:sp>
          <p:nvSpPr>
            <p:cNvPr id="38" name="TextBox 37">
              <a:extLst>
                <a:ext uri="{FF2B5EF4-FFF2-40B4-BE49-F238E27FC236}">
                  <a16:creationId xmlns:a16="http://schemas.microsoft.com/office/drawing/2014/main" id="{0F85D497-9FA2-7A34-54C6-66F0E77E8B26}"/>
                </a:ext>
              </a:extLst>
            </p:cNvPr>
            <p:cNvSpPr txBox="1"/>
            <p:nvPr/>
          </p:nvSpPr>
          <p:spPr>
            <a:xfrm>
              <a:off x="5249369" y="3969666"/>
              <a:ext cx="1104978" cy="261610"/>
            </a:xfrm>
            <a:prstGeom prst="rect">
              <a:avLst/>
            </a:prstGeom>
            <a:noFill/>
            <a:ln>
              <a:noFill/>
            </a:ln>
          </p:spPr>
          <p:txBody>
            <a:bodyPr wrap="square" rtlCol="0" anchor="ctr" anchorCtr="1">
              <a:spAutoFit/>
            </a:bodyPr>
            <a:lstStyle/>
            <a:p>
              <a:r>
                <a:rPr lang="en-US" sz="1100" dirty="0"/>
                <a:t>How good / bad</a:t>
              </a: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171B4923-BE92-DEDA-CB19-B8815C99808F}"/>
                    </a:ext>
                  </a:extLst>
                </p:cNvPr>
                <p:cNvSpPr txBox="1"/>
                <p:nvPr/>
              </p:nvSpPr>
              <p:spPr>
                <a:xfrm>
                  <a:off x="5170356" y="2746578"/>
                  <a:ext cx="1284848" cy="369332"/>
                </a:xfrm>
                <a:prstGeom prst="rect">
                  <a:avLst/>
                </a:prstGeom>
                <a:noFill/>
                <a:ln>
                  <a:noFill/>
                </a:ln>
              </p:spPr>
              <p:txBody>
                <a:bodyPr wrap="square" rtlCol="0" anchor="ctr" anchorCtr="1">
                  <a:spAutoFit/>
                </a:bodyPr>
                <a:lstStyle/>
                <a:p>
                  <a:r>
                    <a:rPr lang="en-US" dirty="0">
                      <a:solidFill>
                        <a:srgbClr val="00B050"/>
                      </a:solidFill>
                    </a:rPr>
                    <a:t>State (</a:t>
                  </a:r>
                  <a14:m>
                    <m:oMath xmlns:m="http://schemas.openxmlformats.org/officeDocument/2006/math">
                      <m:r>
                        <a:rPr lang="en-US" i="1" dirty="0" smtClean="0">
                          <a:solidFill>
                            <a:srgbClr val="00B050"/>
                          </a:solidFill>
                          <a:latin typeface="Cambria Math" panose="02040503050406030204" pitchFamily="18" charset="0"/>
                        </a:rPr>
                        <m:t>𝑠</m:t>
                      </m:r>
                    </m:oMath>
                  </a14:m>
                  <a:r>
                    <a:rPr lang="en-US" dirty="0">
                      <a:solidFill>
                        <a:srgbClr val="00B050"/>
                      </a:solidFill>
                    </a:rPr>
                    <a:t>)</a:t>
                  </a:r>
                </a:p>
              </p:txBody>
            </p:sp>
          </mc:Choice>
          <mc:Fallback xmlns="">
            <p:sp>
              <p:nvSpPr>
                <p:cNvPr id="41" name="TextBox 40">
                  <a:extLst>
                    <a:ext uri="{FF2B5EF4-FFF2-40B4-BE49-F238E27FC236}">
                      <a16:creationId xmlns:a16="http://schemas.microsoft.com/office/drawing/2014/main" id="{171B4923-BE92-DEDA-CB19-B8815C99808F}"/>
                    </a:ext>
                  </a:extLst>
                </p:cNvPr>
                <p:cNvSpPr txBox="1">
                  <a:spLocks noRot="1" noChangeAspect="1" noMove="1" noResize="1" noEditPoints="1" noAdjustHandles="1" noChangeArrowheads="1" noChangeShapeType="1" noTextEdit="1"/>
                </p:cNvSpPr>
                <p:nvPr/>
              </p:nvSpPr>
              <p:spPr>
                <a:xfrm>
                  <a:off x="5170356" y="2746578"/>
                  <a:ext cx="1284848" cy="369332"/>
                </a:xfrm>
                <a:prstGeom prst="rect">
                  <a:avLst/>
                </a:prstGeom>
                <a:blipFill>
                  <a:blip r:embed="rId10"/>
                  <a:stretch>
                    <a:fillRect t="-8333" b="-26667"/>
                  </a:stretch>
                </a:blipFill>
                <a:ln>
                  <a:noFill/>
                </a:ln>
              </p:spPr>
              <p:txBody>
                <a:bodyPr/>
                <a:lstStyle/>
                <a:p>
                  <a:r>
                    <a:rPr lang="en-US">
                      <a:noFill/>
                    </a:rPr>
                    <a:t> </a:t>
                  </a:r>
                </a:p>
              </p:txBody>
            </p:sp>
          </mc:Fallback>
        </mc:AlternateContent>
        <p:sp>
          <p:nvSpPr>
            <p:cNvPr id="42" name="TextBox 41">
              <a:extLst>
                <a:ext uri="{FF2B5EF4-FFF2-40B4-BE49-F238E27FC236}">
                  <a16:creationId xmlns:a16="http://schemas.microsoft.com/office/drawing/2014/main" id="{C3445E3D-6E0E-8670-D938-1DD14C0FB01D}"/>
                </a:ext>
              </a:extLst>
            </p:cNvPr>
            <p:cNvSpPr txBox="1"/>
            <p:nvPr/>
          </p:nvSpPr>
          <p:spPr>
            <a:xfrm>
              <a:off x="5249369" y="3023186"/>
              <a:ext cx="1104978" cy="261610"/>
            </a:xfrm>
            <a:prstGeom prst="rect">
              <a:avLst/>
            </a:prstGeom>
            <a:noFill/>
            <a:ln>
              <a:noFill/>
            </a:ln>
          </p:spPr>
          <p:txBody>
            <a:bodyPr wrap="square" rtlCol="0" anchor="ctr" anchorCtr="1">
              <a:spAutoFit/>
            </a:bodyPr>
            <a:lstStyle/>
            <a:p>
              <a:r>
                <a:rPr lang="en-US" sz="1100" dirty="0"/>
                <a:t>What I See</a:t>
              </a:r>
            </a:p>
          </p:txBody>
        </p:sp>
        <p:sp>
          <p:nvSpPr>
            <p:cNvPr id="44" name="Arc 43">
              <a:extLst>
                <a:ext uri="{FF2B5EF4-FFF2-40B4-BE49-F238E27FC236}">
                  <a16:creationId xmlns:a16="http://schemas.microsoft.com/office/drawing/2014/main" id="{BAC2F7FD-B094-B666-7BBD-F01B9E2F3ED1}"/>
                </a:ext>
              </a:extLst>
            </p:cNvPr>
            <p:cNvSpPr/>
            <p:nvPr/>
          </p:nvSpPr>
          <p:spPr>
            <a:xfrm rot="10800000">
              <a:off x="4403341" y="3379033"/>
              <a:ext cx="2736166" cy="618442"/>
            </a:xfrm>
            <a:prstGeom prst="arc">
              <a:avLst>
                <a:gd name="adj1" fmla="val 10804793"/>
                <a:gd name="adj2" fmla="val 0"/>
              </a:avLst>
            </a:prstGeom>
            <a:ln w="19050">
              <a:solidFill>
                <a:srgbClr val="1306BA"/>
              </a:solidFill>
              <a:tailEnd type="stealth" w="lg" len="lg"/>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3641324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B47D6-2B4C-125B-6162-7F549C5B1A72}"/>
            </a:ext>
          </a:extLst>
        </p:cNvPr>
        <p:cNvGrpSpPr/>
        <p:nvPr/>
      </p:nvGrpSpPr>
      <p:grpSpPr>
        <a:xfrm>
          <a:off x="0" y="0"/>
          <a:ext cx="0" cy="0"/>
          <a:chOff x="0" y="0"/>
          <a:chExt cx="0" cy="0"/>
        </a:xfrm>
      </p:grpSpPr>
      <p:sp>
        <p:nvSpPr>
          <p:cNvPr id="4" name="Title 12">
            <a:extLst>
              <a:ext uri="{FF2B5EF4-FFF2-40B4-BE49-F238E27FC236}">
                <a16:creationId xmlns:a16="http://schemas.microsoft.com/office/drawing/2014/main" id="{79A2AA6E-9798-32CE-F048-8FE0E902C252}"/>
              </a:ext>
            </a:extLst>
          </p:cNvPr>
          <p:cNvSpPr txBox="1">
            <a:spLocks/>
          </p:cNvSpPr>
          <p:nvPr/>
        </p:nvSpPr>
        <p:spPr>
          <a:xfrm>
            <a:off x="471489" y="69597"/>
            <a:ext cx="11153622" cy="565671"/>
          </a:xfrm>
          <a:prstGeom prst="rect">
            <a:avLst/>
          </a:prstGeom>
          <a:ln>
            <a:noFill/>
          </a:ln>
        </p:spPr>
        <p:txBody>
          <a:bodyPr vert="horz" lIns="91440" tIns="45720" rIns="91440" bIns="45720" rtlCol="0" anchor="ctr">
            <a:noAutofit/>
          </a:bodyPr>
          <a:lst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a:lstStyle>
          <a:p>
            <a:pPr algn="ctr"/>
            <a:r>
              <a:rPr lang="en-US" sz="3600" dirty="0"/>
              <a:t>Agent-Environment Loop Example I</a:t>
            </a:r>
          </a:p>
        </p:txBody>
      </p:sp>
      <p:sp>
        <p:nvSpPr>
          <p:cNvPr id="5" name="TextBox 4">
            <a:extLst>
              <a:ext uri="{FF2B5EF4-FFF2-40B4-BE49-F238E27FC236}">
                <a16:creationId xmlns:a16="http://schemas.microsoft.com/office/drawing/2014/main" id="{E13B155E-E634-1436-D3BA-CDB433044FB4}"/>
              </a:ext>
            </a:extLst>
          </p:cNvPr>
          <p:cNvSpPr txBox="1"/>
          <p:nvPr/>
        </p:nvSpPr>
        <p:spPr>
          <a:xfrm>
            <a:off x="704850" y="1649839"/>
            <a:ext cx="4597400" cy="1477328"/>
          </a:xfrm>
          <a:prstGeom prst="rect">
            <a:avLst/>
          </a:prstGeom>
          <a:noFill/>
          <a:ln>
            <a:noFill/>
          </a:ln>
        </p:spPr>
        <p:txBody>
          <a:bodyPr wrap="square">
            <a:spAutoFit/>
          </a:bodyPr>
          <a:lstStyle/>
          <a:p>
            <a:pPr>
              <a:buNone/>
            </a:pPr>
            <a:r>
              <a:rPr lang="en-US" b="1" dirty="0"/>
              <a:t>Agent</a:t>
            </a:r>
            <a:r>
              <a:rPr lang="en-US" dirty="0"/>
              <a:t>: Robot in 3x3 grid</a:t>
            </a:r>
          </a:p>
          <a:p>
            <a:endParaRPr lang="en-US" b="1" dirty="0"/>
          </a:p>
          <a:p>
            <a:r>
              <a:rPr lang="en-US" b="1" dirty="0"/>
              <a:t>State</a:t>
            </a:r>
            <a:r>
              <a:rPr lang="en-US" dirty="0"/>
              <a:t>: Robot's position (1-9); start in 5 (center)</a:t>
            </a:r>
          </a:p>
          <a:p>
            <a:endParaRPr lang="en-US" dirty="0"/>
          </a:p>
          <a:p>
            <a:r>
              <a:rPr lang="en-US" b="1" dirty="0"/>
              <a:t>Actions</a:t>
            </a:r>
            <a:r>
              <a:rPr lang="en-US" dirty="0"/>
              <a:t>: Up, Down, Left, Right</a:t>
            </a:r>
          </a:p>
        </p:txBody>
      </p:sp>
      <p:pic>
        <p:nvPicPr>
          <p:cNvPr id="8" name="Picture 7">
            <a:extLst>
              <a:ext uri="{FF2B5EF4-FFF2-40B4-BE49-F238E27FC236}">
                <a16:creationId xmlns:a16="http://schemas.microsoft.com/office/drawing/2014/main" id="{B8C11B3D-025F-6CB8-CDDF-19BF0134163E}"/>
              </a:ext>
            </a:extLst>
          </p:cNvPr>
          <p:cNvPicPr>
            <a:picLocks noChangeAspect="1"/>
          </p:cNvPicPr>
          <p:nvPr/>
        </p:nvPicPr>
        <p:blipFill>
          <a:blip r:embed="rId2"/>
          <a:stretch>
            <a:fillRect/>
          </a:stretch>
        </p:blipFill>
        <p:spPr>
          <a:xfrm>
            <a:off x="8058150" y="1803668"/>
            <a:ext cx="2552700" cy="2552700"/>
          </a:xfrm>
          <a:prstGeom prst="rect">
            <a:avLst/>
          </a:prstGeom>
        </p:spPr>
      </p:pic>
      <p:pic>
        <p:nvPicPr>
          <p:cNvPr id="12" name="Graphic 11" descr="Robot with solid fill">
            <a:extLst>
              <a:ext uri="{FF2B5EF4-FFF2-40B4-BE49-F238E27FC236}">
                <a16:creationId xmlns:a16="http://schemas.microsoft.com/office/drawing/2014/main" id="{2E4854E6-5296-326A-9FE1-3F96EB8A5A9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59850" y="2705368"/>
            <a:ext cx="749300" cy="749300"/>
          </a:xfrm>
          <a:prstGeom prst="rect">
            <a:avLst/>
          </a:prstGeom>
        </p:spPr>
      </p:pic>
      <p:pic>
        <p:nvPicPr>
          <p:cNvPr id="15" name="Graphic 14" descr="Race Flag with solid fill">
            <a:extLst>
              <a:ext uri="{FF2B5EF4-FFF2-40B4-BE49-F238E27FC236}">
                <a16:creationId xmlns:a16="http://schemas.microsoft.com/office/drawing/2014/main" id="{D796A836-9B6E-2833-2456-2EF626D8AAB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29800" y="1917968"/>
            <a:ext cx="635000" cy="635000"/>
          </a:xfrm>
          <a:prstGeom prst="rect">
            <a:avLst/>
          </a:prstGeom>
        </p:spPr>
      </p:pic>
      <p:sp>
        <p:nvSpPr>
          <p:cNvPr id="16" name="TextBox 15">
            <a:extLst>
              <a:ext uri="{FF2B5EF4-FFF2-40B4-BE49-F238E27FC236}">
                <a16:creationId xmlns:a16="http://schemas.microsoft.com/office/drawing/2014/main" id="{2E7FAB1A-2613-EE9C-A837-C1AD55F3C7C6}"/>
              </a:ext>
            </a:extLst>
          </p:cNvPr>
          <p:cNvSpPr txBox="1"/>
          <p:nvPr/>
        </p:nvSpPr>
        <p:spPr>
          <a:xfrm>
            <a:off x="704850" y="3627388"/>
            <a:ext cx="5284470" cy="1754326"/>
          </a:xfrm>
          <a:prstGeom prst="rect">
            <a:avLst/>
          </a:prstGeom>
          <a:noFill/>
          <a:ln>
            <a:noFill/>
          </a:ln>
        </p:spPr>
        <p:txBody>
          <a:bodyPr wrap="square">
            <a:spAutoFit/>
          </a:bodyPr>
          <a:lstStyle/>
          <a:p>
            <a:r>
              <a:rPr lang="en-US" b="1" dirty="0"/>
              <a:t>Goal</a:t>
            </a:r>
            <a:r>
              <a:rPr lang="en-US" dirty="0"/>
              <a:t>: Reach position 9 (top-right corner)</a:t>
            </a:r>
          </a:p>
          <a:p>
            <a:pPr algn="ctr"/>
            <a:r>
              <a:rPr lang="en-US" dirty="0"/>
              <a:t>(we will also stipulate in 3 moves or fewer).</a:t>
            </a:r>
          </a:p>
          <a:p>
            <a:endParaRPr lang="en-US" b="1" dirty="0"/>
          </a:p>
          <a:p>
            <a:r>
              <a:rPr lang="en-US" b="1" dirty="0"/>
              <a:t>Rewards</a:t>
            </a:r>
            <a:r>
              <a:rPr lang="en-US" dirty="0"/>
              <a:t>: +10 for reaching goal, -1 for each step</a:t>
            </a:r>
          </a:p>
          <a:p>
            <a:endParaRPr lang="en-US" b="1" dirty="0"/>
          </a:p>
          <a:p>
            <a:r>
              <a:rPr lang="en-US" b="1" dirty="0"/>
              <a:t>Initial Policy</a:t>
            </a:r>
            <a:r>
              <a:rPr lang="en-US" dirty="0"/>
              <a:t>: Random (25% chance for each direction)</a:t>
            </a:r>
          </a:p>
        </p:txBody>
      </p:sp>
      <p:graphicFrame>
        <p:nvGraphicFramePr>
          <p:cNvPr id="17" name="Table 16">
            <a:extLst>
              <a:ext uri="{FF2B5EF4-FFF2-40B4-BE49-F238E27FC236}">
                <a16:creationId xmlns:a16="http://schemas.microsoft.com/office/drawing/2014/main" id="{D74141C7-F059-2B1F-CB41-1AC0C4D8D104}"/>
              </a:ext>
            </a:extLst>
          </p:cNvPr>
          <p:cNvGraphicFramePr>
            <a:graphicFrameLocks noGrp="1"/>
          </p:cNvGraphicFramePr>
          <p:nvPr>
            <p:extLst>
              <p:ext uri="{D42A27DB-BD31-4B8C-83A1-F6EECF244321}">
                <p14:modId xmlns:p14="http://schemas.microsoft.com/office/powerpoint/2010/main" val="943327221"/>
              </p:ext>
            </p:extLst>
          </p:nvPr>
        </p:nvGraphicFramePr>
        <p:xfrm>
          <a:off x="8058149" y="1803668"/>
          <a:ext cx="2552700" cy="2552700"/>
        </p:xfrm>
        <a:graphic>
          <a:graphicData uri="http://schemas.openxmlformats.org/drawingml/2006/table">
            <a:tbl>
              <a:tblPr firstRow="1" bandRow="1">
                <a:tableStyleId>{2D5ABB26-0587-4C30-8999-92F81FD0307C}</a:tableStyleId>
              </a:tblPr>
              <a:tblGrid>
                <a:gridCol w="850900">
                  <a:extLst>
                    <a:ext uri="{9D8B030D-6E8A-4147-A177-3AD203B41FA5}">
                      <a16:colId xmlns:a16="http://schemas.microsoft.com/office/drawing/2014/main" val="722755510"/>
                    </a:ext>
                  </a:extLst>
                </a:gridCol>
                <a:gridCol w="850900">
                  <a:extLst>
                    <a:ext uri="{9D8B030D-6E8A-4147-A177-3AD203B41FA5}">
                      <a16:colId xmlns:a16="http://schemas.microsoft.com/office/drawing/2014/main" val="1272341787"/>
                    </a:ext>
                  </a:extLst>
                </a:gridCol>
                <a:gridCol w="850900">
                  <a:extLst>
                    <a:ext uri="{9D8B030D-6E8A-4147-A177-3AD203B41FA5}">
                      <a16:colId xmlns:a16="http://schemas.microsoft.com/office/drawing/2014/main" val="3946667277"/>
                    </a:ext>
                  </a:extLst>
                </a:gridCol>
              </a:tblGrid>
              <a:tr h="850900">
                <a:tc>
                  <a:txBody>
                    <a:bodyPr/>
                    <a:lstStyle/>
                    <a:p>
                      <a:pPr algn="l"/>
                      <a:r>
                        <a:rPr lang="en-US" dirty="0"/>
                        <a:t>7</a:t>
                      </a:r>
                    </a:p>
                  </a:txBody>
                  <a:tcPr/>
                </a:tc>
                <a:tc>
                  <a:txBody>
                    <a:bodyPr/>
                    <a:lstStyle/>
                    <a:p>
                      <a:pPr algn="l"/>
                      <a:r>
                        <a:rPr lang="en-US" dirty="0"/>
                        <a:t>8</a:t>
                      </a:r>
                    </a:p>
                  </a:txBody>
                  <a:tcPr/>
                </a:tc>
                <a:tc>
                  <a:txBody>
                    <a:bodyPr/>
                    <a:lstStyle/>
                    <a:p>
                      <a:pPr algn="l"/>
                      <a:r>
                        <a:rPr lang="en-US" dirty="0"/>
                        <a:t>9</a:t>
                      </a:r>
                    </a:p>
                  </a:txBody>
                  <a:tcPr/>
                </a:tc>
                <a:extLst>
                  <a:ext uri="{0D108BD9-81ED-4DB2-BD59-A6C34878D82A}">
                    <a16:rowId xmlns:a16="http://schemas.microsoft.com/office/drawing/2014/main" val="398204582"/>
                  </a:ext>
                </a:extLst>
              </a:tr>
              <a:tr h="850900">
                <a:tc>
                  <a:txBody>
                    <a:bodyPr/>
                    <a:lstStyle/>
                    <a:p>
                      <a:pPr algn="l"/>
                      <a:r>
                        <a:rPr lang="en-US" dirty="0"/>
                        <a:t>4</a:t>
                      </a:r>
                    </a:p>
                  </a:txBody>
                  <a:tcPr/>
                </a:tc>
                <a:tc>
                  <a:txBody>
                    <a:bodyPr/>
                    <a:lstStyle/>
                    <a:p>
                      <a:pPr algn="l"/>
                      <a:r>
                        <a:rPr lang="en-US" dirty="0"/>
                        <a:t>5</a:t>
                      </a:r>
                    </a:p>
                  </a:txBody>
                  <a:tcPr/>
                </a:tc>
                <a:tc>
                  <a:txBody>
                    <a:bodyPr/>
                    <a:lstStyle/>
                    <a:p>
                      <a:pPr algn="l"/>
                      <a:r>
                        <a:rPr lang="en-US" dirty="0"/>
                        <a:t>6</a:t>
                      </a:r>
                    </a:p>
                  </a:txBody>
                  <a:tcPr/>
                </a:tc>
                <a:extLst>
                  <a:ext uri="{0D108BD9-81ED-4DB2-BD59-A6C34878D82A}">
                    <a16:rowId xmlns:a16="http://schemas.microsoft.com/office/drawing/2014/main" val="93963989"/>
                  </a:ext>
                </a:extLst>
              </a:tr>
              <a:tr h="850900">
                <a:tc>
                  <a:txBody>
                    <a:bodyPr/>
                    <a:lstStyle/>
                    <a:p>
                      <a:pPr algn="l"/>
                      <a:r>
                        <a:rPr lang="en-US" dirty="0"/>
                        <a:t>1</a:t>
                      </a:r>
                    </a:p>
                  </a:txBody>
                  <a:tcPr/>
                </a:tc>
                <a:tc>
                  <a:txBody>
                    <a:bodyPr/>
                    <a:lstStyle/>
                    <a:p>
                      <a:pPr algn="l"/>
                      <a:r>
                        <a:rPr lang="en-US" dirty="0"/>
                        <a:t>2</a:t>
                      </a:r>
                    </a:p>
                  </a:txBody>
                  <a:tcPr/>
                </a:tc>
                <a:tc>
                  <a:txBody>
                    <a:bodyPr/>
                    <a:lstStyle/>
                    <a:p>
                      <a:pPr algn="l"/>
                      <a:r>
                        <a:rPr lang="en-US" dirty="0"/>
                        <a:t>3</a:t>
                      </a:r>
                    </a:p>
                  </a:txBody>
                  <a:tcPr/>
                </a:tc>
                <a:extLst>
                  <a:ext uri="{0D108BD9-81ED-4DB2-BD59-A6C34878D82A}">
                    <a16:rowId xmlns:a16="http://schemas.microsoft.com/office/drawing/2014/main" val="2402297787"/>
                  </a:ext>
                </a:extLst>
              </a:tr>
            </a:tbl>
          </a:graphicData>
        </a:graphic>
      </p:graphicFrame>
    </p:spTree>
    <p:extLst>
      <p:ext uri="{BB962C8B-B14F-4D97-AF65-F5344CB8AC3E}">
        <p14:creationId xmlns:p14="http://schemas.microsoft.com/office/powerpoint/2010/main" val="600096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D82AB-294F-E24C-FF61-E17103ECB694}"/>
            </a:ext>
          </a:extLst>
        </p:cNvPr>
        <p:cNvGrpSpPr/>
        <p:nvPr/>
      </p:nvGrpSpPr>
      <p:grpSpPr>
        <a:xfrm>
          <a:off x="0" y="0"/>
          <a:ext cx="0" cy="0"/>
          <a:chOff x="0" y="0"/>
          <a:chExt cx="0" cy="0"/>
        </a:xfrm>
      </p:grpSpPr>
      <p:sp>
        <p:nvSpPr>
          <p:cNvPr id="4" name="Title 12">
            <a:extLst>
              <a:ext uri="{FF2B5EF4-FFF2-40B4-BE49-F238E27FC236}">
                <a16:creationId xmlns:a16="http://schemas.microsoft.com/office/drawing/2014/main" id="{32026DF9-5315-5CB5-2B0C-C8BBEB606C1E}"/>
              </a:ext>
            </a:extLst>
          </p:cNvPr>
          <p:cNvSpPr txBox="1">
            <a:spLocks/>
          </p:cNvSpPr>
          <p:nvPr/>
        </p:nvSpPr>
        <p:spPr>
          <a:xfrm>
            <a:off x="471489" y="69597"/>
            <a:ext cx="11153622" cy="565671"/>
          </a:xfrm>
          <a:prstGeom prst="rect">
            <a:avLst/>
          </a:prstGeom>
          <a:ln>
            <a:noFill/>
          </a:ln>
        </p:spPr>
        <p:txBody>
          <a:bodyPr vert="horz" lIns="91440" tIns="45720" rIns="91440" bIns="45720" rtlCol="0" anchor="ctr">
            <a:noAutofit/>
          </a:bodyPr>
          <a:lst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a:lstStyle>
          <a:p>
            <a:pPr algn="ctr"/>
            <a:r>
              <a:rPr lang="en-US" sz="3600" dirty="0"/>
              <a:t>Agent-Environment Loop Example II</a:t>
            </a:r>
          </a:p>
        </p:txBody>
      </p:sp>
      <p:sp>
        <p:nvSpPr>
          <p:cNvPr id="5" name="TextBox 4">
            <a:extLst>
              <a:ext uri="{FF2B5EF4-FFF2-40B4-BE49-F238E27FC236}">
                <a16:creationId xmlns:a16="http://schemas.microsoft.com/office/drawing/2014/main" id="{49AFF95F-007A-7060-E680-48EB01FC0638}"/>
              </a:ext>
            </a:extLst>
          </p:cNvPr>
          <p:cNvSpPr txBox="1"/>
          <p:nvPr/>
        </p:nvSpPr>
        <p:spPr>
          <a:xfrm>
            <a:off x="756920" y="1109684"/>
            <a:ext cx="1543050" cy="1754326"/>
          </a:xfrm>
          <a:prstGeom prst="rect">
            <a:avLst/>
          </a:prstGeom>
          <a:noFill/>
          <a:ln>
            <a:noFill/>
          </a:ln>
        </p:spPr>
        <p:txBody>
          <a:bodyPr wrap="square">
            <a:spAutoFit/>
          </a:bodyPr>
          <a:lstStyle/>
          <a:p>
            <a:pPr>
              <a:buNone/>
            </a:pPr>
            <a:r>
              <a:rPr lang="en-US" b="1" dirty="0"/>
              <a:t>State</a:t>
            </a:r>
            <a:r>
              <a:rPr lang="en-US" dirty="0"/>
              <a:t>:</a:t>
            </a:r>
          </a:p>
          <a:p>
            <a:pPr>
              <a:buNone/>
            </a:pPr>
            <a:r>
              <a:rPr lang="en-US" b="1" dirty="0"/>
              <a:t>Policy</a:t>
            </a:r>
            <a:r>
              <a:rPr lang="en-US" dirty="0"/>
              <a:t>:</a:t>
            </a:r>
          </a:p>
          <a:p>
            <a:pPr>
              <a:buNone/>
            </a:pPr>
            <a:r>
              <a:rPr lang="en-US" b="1" dirty="0"/>
              <a:t>Action</a:t>
            </a:r>
            <a:r>
              <a:rPr lang="en-US" dirty="0"/>
              <a:t>:</a:t>
            </a:r>
          </a:p>
          <a:p>
            <a:pPr>
              <a:buNone/>
            </a:pPr>
            <a:r>
              <a:rPr lang="en-US" b="1" dirty="0"/>
              <a:t>Environment</a:t>
            </a:r>
            <a:r>
              <a:rPr lang="en-US" dirty="0"/>
              <a:t>:</a:t>
            </a:r>
          </a:p>
          <a:p>
            <a:pPr>
              <a:buNone/>
            </a:pPr>
            <a:r>
              <a:rPr lang="en-US" b="1" dirty="0"/>
              <a:t>Reward</a:t>
            </a:r>
            <a:r>
              <a:rPr lang="en-US" dirty="0"/>
              <a:t>:</a:t>
            </a:r>
          </a:p>
          <a:p>
            <a:pPr>
              <a:buNone/>
            </a:pPr>
            <a:r>
              <a:rPr lang="en-US" b="1" dirty="0"/>
              <a:t>New State</a:t>
            </a:r>
            <a:r>
              <a:rPr lang="en-US" dirty="0"/>
              <a:t>:</a:t>
            </a:r>
          </a:p>
        </p:txBody>
      </p:sp>
      <p:pic>
        <p:nvPicPr>
          <p:cNvPr id="8" name="Picture 7">
            <a:extLst>
              <a:ext uri="{FF2B5EF4-FFF2-40B4-BE49-F238E27FC236}">
                <a16:creationId xmlns:a16="http://schemas.microsoft.com/office/drawing/2014/main" id="{9368B252-879A-C430-E1F0-03D81BB82431}"/>
              </a:ext>
            </a:extLst>
          </p:cNvPr>
          <p:cNvPicPr>
            <a:picLocks noChangeAspect="1"/>
          </p:cNvPicPr>
          <p:nvPr/>
        </p:nvPicPr>
        <p:blipFill>
          <a:blip r:embed="rId2"/>
          <a:stretch>
            <a:fillRect/>
          </a:stretch>
        </p:blipFill>
        <p:spPr>
          <a:xfrm>
            <a:off x="6520180" y="796925"/>
            <a:ext cx="2210068" cy="2210068"/>
          </a:xfrm>
          <a:prstGeom prst="rect">
            <a:avLst/>
          </a:prstGeom>
        </p:spPr>
      </p:pic>
      <p:pic>
        <p:nvPicPr>
          <p:cNvPr id="12" name="Graphic 11" descr="Robot with solid fill">
            <a:extLst>
              <a:ext uri="{FF2B5EF4-FFF2-40B4-BE49-F238E27FC236}">
                <a16:creationId xmlns:a16="http://schemas.microsoft.com/office/drawing/2014/main" id="{0E010416-B497-E1EF-247E-13A6E356CF8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00851" y="1577596"/>
            <a:ext cx="648726" cy="648726"/>
          </a:xfrm>
          <a:prstGeom prst="rect">
            <a:avLst/>
          </a:prstGeom>
        </p:spPr>
      </p:pic>
      <p:pic>
        <p:nvPicPr>
          <p:cNvPr id="15" name="Graphic 14" descr="Race Flag with solid fill">
            <a:extLst>
              <a:ext uri="{FF2B5EF4-FFF2-40B4-BE49-F238E27FC236}">
                <a16:creationId xmlns:a16="http://schemas.microsoft.com/office/drawing/2014/main" id="{45DDE9BA-1894-92AD-1F00-D457BCCAB7A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88251" y="895504"/>
            <a:ext cx="549768" cy="549768"/>
          </a:xfrm>
          <a:prstGeom prst="rect">
            <a:avLst/>
          </a:prstGeom>
        </p:spPr>
      </p:pic>
      <p:pic>
        <p:nvPicPr>
          <p:cNvPr id="19" name="Picture 18">
            <a:extLst>
              <a:ext uri="{FF2B5EF4-FFF2-40B4-BE49-F238E27FC236}">
                <a16:creationId xmlns:a16="http://schemas.microsoft.com/office/drawing/2014/main" id="{D50C5C4D-8AD8-8CAB-8EEA-CA883F1B5A3B}"/>
              </a:ext>
            </a:extLst>
          </p:cNvPr>
          <p:cNvPicPr>
            <a:picLocks noChangeAspect="1"/>
          </p:cNvPicPr>
          <p:nvPr/>
        </p:nvPicPr>
        <p:blipFill>
          <a:blip r:embed="rId2"/>
          <a:stretch>
            <a:fillRect/>
          </a:stretch>
        </p:blipFill>
        <p:spPr>
          <a:xfrm>
            <a:off x="9415043" y="796925"/>
            <a:ext cx="2210068" cy="2210068"/>
          </a:xfrm>
          <a:prstGeom prst="rect">
            <a:avLst/>
          </a:prstGeom>
        </p:spPr>
      </p:pic>
      <p:pic>
        <p:nvPicPr>
          <p:cNvPr id="20" name="Graphic 19" descr="Robot with solid fill">
            <a:extLst>
              <a:ext uri="{FF2B5EF4-FFF2-40B4-BE49-F238E27FC236}">
                <a16:creationId xmlns:a16="http://schemas.microsoft.com/office/drawing/2014/main" id="{23450840-529C-21A8-6985-9874C1A87EB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01872" y="1577596"/>
            <a:ext cx="648726" cy="648726"/>
          </a:xfrm>
          <a:prstGeom prst="rect">
            <a:avLst/>
          </a:prstGeom>
        </p:spPr>
      </p:pic>
      <p:pic>
        <p:nvPicPr>
          <p:cNvPr id="21" name="Graphic 20" descr="Race Flag with solid fill">
            <a:extLst>
              <a:ext uri="{FF2B5EF4-FFF2-40B4-BE49-F238E27FC236}">
                <a16:creationId xmlns:a16="http://schemas.microsoft.com/office/drawing/2014/main" id="{5E8081D8-E1BF-7DD3-8A57-554894653A4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983114" y="895504"/>
            <a:ext cx="549768" cy="549768"/>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C26398B-B8E2-4061-4CE2-EBEF10C5B7DD}"/>
                  </a:ext>
                </a:extLst>
              </p:cNvPr>
              <p:cNvSpPr txBox="1"/>
              <p:nvPr/>
            </p:nvSpPr>
            <p:spPr>
              <a:xfrm>
                <a:off x="2585719" y="1109684"/>
                <a:ext cx="3549647" cy="1754326"/>
              </a:xfrm>
              <a:prstGeom prst="rect">
                <a:avLst/>
              </a:prstGeom>
              <a:noFill/>
              <a:ln>
                <a:noFill/>
              </a:ln>
            </p:spPr>
            <p:txBody>
              <a:bodyPr wrap="square">
                <a:spAutoFit/>
              </a:bodyPr>
              <a:lstStyle/>
              <a:p>
                <a:pPr>
                  <a:buNone/>
                </a:pPr>
                <a:r>
                  <a:rPr lang="en-US" dirty="0"/>
                  <a:t>Position 5 (center)</a:t>
                </a:r>
              </a:p>
              <a:p>
                <a:pPr>
                  <a:buNone/>
                </a:pPr>
                <a14:m>
                  <m:oMath xmlns:m="http://schemas.openxmlformats.org/officeDocument/2006/math">
                    <m:r>
                      <a:rPr lang="en-US" b="0" i="1" dirty="0" smtClean="0">
                        <a:latin typeface="Cambria Math" panose="02040503050406030204" pitchFamily="18" charset="0"/>
                      </a:rPr>
                      <m:t>𝜋</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5</m:t>
                        </m:r>
                      </m:e>
                    </m:d>
                  </m:oMath>
                </a14:m>
                <a:r>
                  <a:rPr lang="en-US" dirty="0"/>
                  <a:t> = random → chooses “Left”</a:t>
                </a:r>
              </a:p>
              <a:p>
                <a:pPr>
                  <a:buNone/>
                </a:pPr>
                <a:r>
                  <a:rPr lang="en-US" dirty="0"/>
                  <a:t>Move Left</a:t>
                </a:r>
              </a:p>
              <a:p>
                <a:pPr>
                  <a:buNone/>
                </a:pPr>
                <a:r>
                  <a:rPr lang="en-US" dirty="0"/>
                  <a:t>Robot moves to position 4 (mid-left)</a:t>
                </a:r>
              </a:p>
              <a:p>
                <a:pPr>
                  <a:buNone/>
                </a:pPr>
                <a:r>
                  <a:rPr lang="en-US" dirty="0"/>
                  <a:t>-1 (step penalty)</a:t>
                </a:r>
              </a:p>
              <a:p>
                <a:pPr>
                  <a:buNone/>
                </a:pPr>
                <a:r>
                  <a:rPr lang="en-US" dirty="0"/>
                  <a:t>Position 4</a:t>
                </a:r>
              </a:p>
            </p:txBody>
          </p:sp>
        </mc:Choice>
        <mc:Fallback xmlns="">
          <p:sp>
            <p:nvSpPr>
              <p:cNvPr id="6" name="TextBox 5">
                <a:extLst>
                  <a:ext uri="{FF2B5EF4-FFF2-40B4-BE49-F238E27FC236}">
                    <a16:creationId xmlns:a16="http://schemas.microsoft.com/office/drawing/2014/main" id="{EC26398B-B8E2-4061-4CE2-EBEF10C5B7DD}"/>
                  </a:ext>
                </a:extLst>
              </p:cNvPr>
              <p:cNvSpPr txBox="1">
                <a:spLocks noRot="1" noChangeAspect="1" noMove="1" noResize="1" noEditPoints="1" noAdjustHandles="1" noChangeArrowheads="1" noChangeShapeType="1" noTextEdit="1"/>
              </p:cNvSpPr>
              <p:nvPr/>
            </p:nvSpPr>
            <p:spPr>
              <a:xfrm>
                <a:off x="2585719" y="1109684"/>
                <a:ext cx="3549647" cy="1754326"/>
              </a:xfrm>
              <a:prstGeom prst="rect">
                <a:avLst/>
              </a:prstGeom>
              <a:blipFill>
                <a:blip r:embed="rId7"/>
                <a:stretch>
                  <a:fillRect l="-1375" t="-1736" r="-1546" b="-4514"/>
                </a:stretch>
              </a:blipFill>
              <a:ln>
                <a:noFill/>
              </a:ln>
            </p:spPr>
            <p:txBody>
              <a:bodyPr/>
              <a:lstStyle/>
              <a:p>
                <a:r>
                  <a:rPr lang="en-US">
                    <a:noFill/>
                  </a:rPr>
                  <a:t> </a:t>
                </a:r>
              </a:p>
            </p:txBody>
          </p:sp>
        </mc:Fallback>
      </mc:AlternateContent>
      <p:cxnSp>
        <p:nvCxnSpPr>
          <p:cNvPr id="14" name="Straight Connector 13">
            <a:extLst>
              <a:ext uri="{FF2B5EF4-FFF2-40B4-BE49-F238E27FC236}">
                <a16:creationId xmlns:a16="http://schemas.microsoft.com/office/drawing/2014/main" id="{E00AD0FA-ADE0-D15B-7BAB-DAFE9D608B62}"/>
              </a:ext>
            </a:extLst>
          </p:cNvPr>
          <p:cNvCxnSpPr>
            <a:cxnSpLocks/>
          </p:cNvCxnSpPr>
          <p:nvPr/>
        </p:nvCxnSpPr>
        <p:spPr>
          <a:xfrm>
            <a:off x="787400" y="3435350"/>
            <a:ext cx="10617200" cy="0"/>
          </a:xfrm>
          <a:prstGeom prst="line">
            <a:avLst/>
          </a:prstGeom>
          <a:ln w="25400">
            <a:solidFill>
              <a:schemeClr val="tx1"/>
            </a:solidFill>
            <a:prstDash val="sysDot"/>
          </a:ln>
        </p:spPr>
        <p:style>
          <a:lnRef idx="1">
            <a:schemeClr val="accent2"/>
          </a:lnRef>
          <a:fillRef idx="0">
            <a:schemeClr val="accent2"/>
          </a:fillRef>
          <a:effectRef idx="0">
            <a:schemeClr val="accent2"/>
          </a:effectRef>
          <a:fontRef idx="minor">
            <a:schemeClr val="tx1"/>
          </a:fontRef>
        </p:style>
      </p:cxnSp>
      <p:sp>
        <p:nvSpPr>
          <p:cNvPr id="23" name="TextBox 22">
            <a:extLst>
              <a:ext uri="{FF2B5EF4-FFF2-40B4-BE49-F238E27FC236}">
                <a16:creationId xmlns:a16="http://schemas.microsoft.com/office/drawing/2014/main" id="{5067BD46-4622-F1B1-CD16-3575483424AE}"/>
              </a:ext>
            </a:extLst>
          </p:cNvPr>
          <p:cNvSpPr txBox="1"/>
          <p:nvPr/>
        </p:nvSpPr>
        <p:spPr>
          <a:xfrm flipH="1">
            <a:off x="8897620" y="1717293"/>
            <a:ext cx="436880" cy="369332"/>
          </a:xfrm>
          <a:prstGeom prst="rect">
            <a:avLst/>
          </a:prstGeom>
          <a:noFill/>
          <a:ln>
            <a:noFill/>
          </a:ln>
        </p:spPr>
        <p:txBody>
          <a:bodyPr wrap="square">
            <a:spAutoFit/>
          </a:bodyPr>
          <a:lstStyle/>
          <a:p>
            <a:r>
              <a:rPr lang="en-US" dirty="0"/>
              <a:t>→</a:t>
            </a:r>
          </a:p>
        </p:txBody>
      </p:sp>
      <p:sp>
        <p:nvSpPr>
          <p:cNvPr id="24" name="TextBox 23">
            <a:extLst>
              <a:ext uri="{FF2B5EF4-FFF2-40B4-BE49-F238E27FC236}">
                <a16:creationId xmlns:a16="http://schemas.microsoft.com/office/drawing/2014/main" id="{32B4B612-346F-A2DE-410D-E565631561B2}"/>
              </a:ext>
            </a:extLst>
          </p:cNvPr>
          <p:cNvSpPr txBox="1"/>
          <p:nvPr/>
        </p:nvSpPr>
        <p:spPr>
          <a:xfrm>
            <a:off x="2041402" y="4149241"/>
            <a:ext cx="1543050" cy="1754326"/>
          </a:xfrm>
          <a:prstGeom prst="rect">
            <a:avLst/>
          </a:prstGeom>
          <a:noFill/>
          <a:ln>
            <a:noFill/>
          </a:ln>
        </p:spPr>
        <p:txBody>
          <a:bodyPr wrap="square">
            <a:spAutoFit/>
          </a:bodyPr>
          <a:lstStyle/>
          <a:p>
            <a:pPr>
              <a:buNone/>
            </a:pPr>
            <a:r>
              <a:rPr lang="en-US" b="1" dirty="0"/>
              <a:t>State</a:t>
            </a:r>
            <a:r>
              <a:rPr lang="en-US" dirty="0"/>
              <a:t>:</a:t>
            </a:r>
          </a:p>
          <a:p>
            <a:pPr>
              <a:buNone/>
            </a:pPr>
            <a:r>
              <a:rPr lang="en-US" b="1" dirty="0"/>
              <a:t>Policy</a:t>
            </a:r>
            <a:r>
              <a:rPr lang="en-US" dirty="0"/>
              <a:t>:</a:t>
            </a:r>
          </a:p>
          <a:p>
            <a:pPr>
              <a:buNone/>
            </a:pPr>
            <a:r>
              <a:rPr lang="en-US" b="1" dirty="0"/>
              <a:t>Action</a:t>
            </a:r>
            <a:r>
              <a:rPr lang="en-US" dirty="0"/>
              <a:t>:</a:t>
            </a:r>
          </a:p>
          <a:p>
            <a:pPr>
              <a:buNone/>
            </a:pPr>
            <a:r>
              <a:rPr lang="en-US" b="1" dirty="0"/>
              <a:t>Environment</a:t>
            </a:r>
            <a:r>
              <a:rPr lang="en-US" dirty="0"/>
              <a:t>:</a:t>
            </a:r>
          </a:p>
          <a:p>
            <a:pPr>
              <a:buNone/>
            </a:pPr>
            <a:r>
              <a:rPr lang="en-US" b="1" dirty="0"/>
              <a:t>Reward</a:t>
            </a:r>
            <a:r>
              <a:rPr lang="en-US" dirty="0"/>
              <a:t>:</a:t>
            </a:r>
          </a:p>
          <a:p>
            <a:pPr>
              <a:buNone/>
            </a:pPr>
            <a:r>
              <a:rPr lang="en-US" b="1" dirty="0"/>
              <a:t>New State</a:t>
            </a:r>
            <a:r>
              <a:rPr lang="en-US" dirty="0"/>
              <a:t>:</a:t>
            </a:r>
          </a:p>
        </p:txBody>
      </p:sp>
      <p:grpSp>
        <p:nvGrpSpPr>
          <p:cNvPr id="36" name="Group 35">
            <a:extLst>
              <a:ext uri="{FF2B5EF4-FFF2-40B4-BE49-F238E27FC236}">
                <a16:creationId xmlns:a16="http://schemas.microsoft.com/office/drawing/2014/main" id="{F86B8509-BA52-5744-8927-4CA93BE2CBED}"/>
              </a:ext>
            </a:extLst>
          </p:cNvPr>
          <p:cNvGrpSpPr/>
          <p:nvPr/>
        </p:nvGrpSpPr>
        <p:grpSpPr>
          <a:xfrm>
            <a:off x="9415043" y="3787664"/>
            <a:ext cx="2210068" cy="2210068"/>
            <a:chOff x="9415043" y="3787664"/>
            <a:chExt cx="2210068" cy="2210068"/>
          </a:xfrm>
        </p:grpSpPr>
        <p:pic>
          <p:nvPicPr>
            <p:cNvPr id="28" name="Picture 27">
              <a:extLst>
                <a:ext uri="{FF2B5EF4-FFF2-40B4-BE49-F238E27FC236}">
                  <a16:creationId xmlns:a16="http://schemas.microsoft.com/office/drawing/2014/main" id="{7147BEA8-DE30-AE07-6C1D-68692F352F70}"/>
                </a:ext>
              </a:extLst>
            </p:cNvPr>
            <p:cNvPicPr>
              <a:picLocks noChangeAspect="1"/>
            </p:cNvPicPr>
            <p:nvPr/>
          </p:nvPicPr>
          <p:blipFill>
            <a:blip r:embed="rId2"/>
            <a:stretch>
              <a:fillRect/>
            </a:stretch>
          </p:blipFill>
          <p:spPr>
            <a:xfrm>
              <a:off x="9415043" y="3787664"/>
              <a:ext cx="2210068" cy="2210068"/>
            </a:xfrm>
            <a:prstGeom prst="rect">
              <a:avLst/>
            </a:prstGeom>
          </p:spPr>
        </p:pic>
        <p:pic>
          <p:nvPicPr>
            <p:cNvPr id="29" name="Graphic 28" descr="Robot with solid fill">
              <a:extLst>
                <a:ext uri="{FF2B5EF4-FFF2-40B4-BE49-F238E27FC236}">
                  <a16:creationId xmlns:a16="http://schemas.microsoft.com/office/drawing/2014/main" id="{2E021CAD-4933-F4FB-3A79-8010864A66F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01872" y="5315095"/>
              <a:ext cx="648726" cy="648726"/>
            </a:xfrm>
            <a:prstGeom prst="rect">
              <a:avLst/>
            </a:prstGeom>
          </p:spPr>
        </p:pic>
      </p:grpSp>
      <p:pic>
        <p:nvPicPr>
          <p:cNvPr id="30" name="Graphic 29" descr="Race Flag with solid fill">
            <a:extLst>
              <a:ext uri="{FF2B5EF4-FFF2-40B4-BE49-F238E27FC236}">
                <a16:creationId xmlns:a16="http://schemas.microsoft.com/office/drawing/2014/main" id="{38AF7AFC-39F5-5E17-4C1C-5B4B56BF587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983114" y="3886243"/>
            <a:ext cx="549768" cy="549768"/>
          </a:xfrm>
          <a:prstGeom prst="rect">
            <a:avLst/>
          </a:prstGeom>
        </p:spPr>
      </p:pic>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F9B1130C-4B6B-62C5-03C1-C45726271EB1}"/>
                  </a:ext>
                </a:extLst>
              </p:cNvPr>
              <p:cNvSpPr txBox="1"/>
              <p:nvPr/>
            </p:nvSpPr>
            <p:spPr>
              <a:xfrm>
                <a:off x="3870202" y="4149241"/>
                <a:ext cx="3932678" cy="1754326"/>
              </a:xfrm>
              <a:prstGeom prst="rect">
                <a:avLst/>
              </a:prstGeom>
              <a:noFill/>
              <a:ln>
                <a:noFill/>
              </a:ln>
            </p:spPr>
            <p:txBody>
              <a:bodyPr wrap="square">
                <a:spAutoFit/>
              </a:bodyPr>
              <a:lstStyle/>
              <a:p>
                <a:pPr>
                  <a:buNone/>
                </a:pPr>
                <a:r>
                  <a:rPr lang="en-US" dirty="0"/>
                  <a:t>Position 4 (mid-left)</a:t>
                </a:r>
              </a:p>
              <a:p>
                <a:pPr>
                  <a:buNone/>
                </a:pPr>
                <a14:m>
                  <m:oMath xmlns:m="http://schemas.openxmlformats.org/officeDocument/2006/math">
                    <m:r>
                      <a:rPr lang="en-US" b="0" i="1" dirty="0" smtClean="0">
                        <a:latin typeface="Cambria Math" panose="02040503050406030204" pitchFamily="18" charset="0"/>
                      </a:rPr>
                      <m:t>𝜋</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4</m:t>
                        </m:r>
                      </m:e>
                    </m:d>
                  </m:oMath>
                </a14:m>
                <a:r>
                  <a:rPr lang="en-US" dirty="0"/>
                  <a:t> = random → chooses “Down”</a:t>
                </a:r>
              </a:p>
              <a:p>
                <a:pPr>
                  <a:buNone/>
                </a:pPr>
                <a:r>
                  <a:rPr lang="en-US" dirty="0"/>
                  <a:t>Move Down</a:t>
                </a:r>
              </a:p>
              <a:p>
                <a:pPr>
                  <a:buNone/>
                </a:pPr>
                <a:r>
                  <a:rPr lang="en-US" dirty="0"/>
                  <a:t>Robot moves to position 1 (bottom-left)</a:t>
                </a:r>
              </a:p>
              <a:p>
                <a:pPr>
                  <a:buNone/>
                </a:pPr>
                <a:r>
                  <a:rPr lang="en-US" dirty="0"/>
                  <a:t>-1 (step penalty)</a:t>
                </a:r>
              </a:p>
              <a:p>
                <a:pPr>
                  <a:buNone/>
                </a:pPr>
                <a:r>
                  <a:rPr lang="en-US" dirty="0"/>
                  <a:t>Position 4</a:t>
                </a:r>
              </a:p>
            </p:txBody>
          </p:sp>
        </mc:Choice>
        <mc:Fallback xmlns="">
          <p:sp>
            <p:nvSpPr>
              <p:cNvPr id="31" name="TextBox 30">
                <a:extLst>
                  <a:ext uri="{FF2B5EF4-FFF2-40B4-BE49-F238E27FC236}">
                    <a16:creationId xmlns:a16="http://schemas.microsoft.com/office/drawing/2014/main" id="{F9B1130C-4B6B-62C5-03C1-C45726271EB1}"/>
                  </a:ext>
                </a:extLst>
              </p:cNvPr>
              <p:cNvSpPr txBox="1">
                <a:spLocks noRot="1" noChangeAspect="1" noMove="1" noResize="1" noEditPoints="1" noAdjustHandles="1" noChangeArrowheads="1" noChangeShapeType="1" noTextEdit="1"/>
              </p:cNvSpPr>
              <p:nvPr/>
            </p:nvSpPr>
            <p:spPr>
              <a:xfrm>
                <a:off x="3870202" y="4149241"/>
                <a:ext cx="3932678" cy="1754326"/>
              </a:xfrm>
              <a:prstGeom prst="rect">
                <a:avLst/>
              </a:prstGeom>
              <a:blipFill>
                <a:blip r:embed="rId8"/>
                <a:stretch>
                  <a:fillRect l="-1395" t="-2091" r="-465" b="-4878"/>
                </a:stretch>
              </a:blipFill>
              <a:ln>
                <a:noFill/>
              </a:ln>
            </p:spPr>
            <p:txBody>
              <a:bodyPr/>
              <a:lstStyle/>
              <a:p>
                <a:r>
                  <a:rPr lang="en-US">
                    <a:noFill/>
                  </a:rPr>
                  <a:t> </a:t>
                </a:r>
              </a:p>
            </p:txBody>
          </p:sp>
        </mc:Fallback>
      </mc:AlternateContent>
      <p:cxnSp>
        <p:nvCxnSpPr>
          <p:cNvPr id="35" name="Straight Arrow Connector 34">
            <a:extLst>
              <a:ext uri="{FF2B5EF4-FFF2-40B4-BE49-F238E27FC236}">
                <a16:creationId xmlns:a16="http://schemas.microsoft.com/office/drawing/2014/main" id="{8DE02FF0-3315-BCB8-F60D-3A50E30DC599}"/>
              </a:ext>
            </a:extLst>
          </p:cNvPr>
          <p:cNvCxnSpPr/>
          <p:nvPr/>
        </p:nvCxnSpPr>
        <p:spPr>
          <a:xfrm>
            <a:off x="10527697" y="3078480"/>
            <a:ext cx="0" cy="655844"/>
          </a:xfrm>
          <a:prstGeom prst="straightConnector1">
            <a:avLst/>
          </a:prstGeom>
          <a:ln w="19050">
            <a:solidFill>
              <a:schemeClr val="tx1"/>
            </a:solidFill>
            <a:tailEnd type="triangle"/>
          </a:ln>
        </p:spPr>
        <p:style>
          <a:lnRef idx="1">
            <a:schemeClr val="accent2"/>
          </a:lnRef>
          <a:fillRef idx="0">
            <a:schemeClr val="accent2"/>
          </a:fillRef>
          <a:effectRef idx="0">
            <a:schemeClr val="accent2"/>
          </a:effectRef>
          <a:fontRef idx="minor">
            <a:schemeClr val="tx1"/>
          </a:fontRef>
        </p:style>
      </p:cxnSp>
      <p:graphicFrame>
        <p:nvGraphicFramePr>
          <p:cNvPr id="37" name="Table 36">
            <a:extLst>
              <a:ext uri="{FF2B5EF4-FFF2-40B4-BE49-F238E27FC236}">
                <a16:creationId xmlns:a16="http://schemas.microsoft.com/office/drawing/2014/main" id="{E5711BE3-424E-73E4-C80A-769B7A0E93DA}"/>
              </a:ext>
            </a:extLst>
          </p:cNvPr>
          <p:cNvGraphicFramePr>
            <a:graphicFrameLocks noGrp="1"/>
          </p:cNvGraphicFramePr>
          <p:nvPr>
            <p:extLst>
              <p:ext uri="{D42A27DB-BD31-4B8C-83A1-F6EECF244321}">
                <p14:modId xmlns:p14="http://schemas.microsoft.com/office/powerpoint/2010/main" val="4238842946"/>
              </p:ext>
            </p:extLst>
          </p:nvPr>
        </p:nvGraphicFramePr>
        <p:xfrm>
          <a:off x="6526530" y="811163"/>
          <a:ext cx="2203718" cy="2195829"/>
        </p:xfrm>
        <a:graphic>
          <a:graphicData uri="http://schemas.openxmlformats.org/drawingml/2006/table">
            <a:tbl>
              <a:tblPr firstRow="1" bandRow="1">
                <a:tableStyleId>{2D5ABB26-0587-4C30-8999-92F81FD0307C}</a:tableStyleId>
              </a:tblPr>
              <a:tblGrid>
                <a:gridCol w="742950">
                  <a:extLst>
                    <a:ext uri="{9D8B030D-6E8A-4147-A177-3AD203B41FA5}">
                      <a16:colId xmlns:a16="http://schemas.microsoft.com/office/drawing/2014/main" val="722755510"/>
                    </a:ext>
                  </a:extLst>
                </a:gridCol>
                <a:gridCol w="701040">
                  <a:extLst>
                    <a:ext uri="{9D8B030D-6E8A-4147-A177-3AD203B41FA5}">
                      <a16:colId xmlns:a16="http://schemas.microsoft.com/office/drawing/2014/main" val="1272341787"/>
                    </a:ext>
                  </a:extLst>
                </a:gridCol>
                <a:gridCol w="759728">
                  <a:extLst>
                    <a:ext uri="{9D8B030D-6E8A-4147-A177-3AD203B41FA5}">
                      <a16:colId xmlns:a16="http://schemas.microsoft.com/office/drawing/2014/main" val="3946667277"/>
                    </a:ext>
                  </a:extLst>
                </a:gridCol>
              </a:tblGrid>
              <a:tr h="731943">
                <a:tc>
                  <a:txBody>
                    <a:bodyPr/>
                    <a:lstStyle/>
                    <a:p>
                      <a:pPr algn="l"/>
                      <a:r>
                        <a:rPr lang="en-US" dirty="0"/>
                        <a:t>7</a:t>
                      </a:r>
                    </a:p>
                  </a:txBody>
                  <a:tcPr/>
                </a:tc>
                <a:tc>
                  <a:txBody>
                    <a:bodyPr/>
                    <a:lstStyle/>
                    <a:p>
                      <a:pPr algn="l"/>
                      <a:r>
                        <a:rPr lang="en-US" dirty="0"/>
                        <a:t>8</a:t>
                      </a:r>
                    </a:p>
                  </a:txBody>
                  <a:tcPr/>
                </a:tc>
                <a:tc>
                  <a:txBody>
                    <a:bodyPr/>
                    <a:lstStyle/>
                    <a:p>
                      <a:pPr algn="l"/>
                      <a:r>
                        <a:rPr lang="en-US" dirty="0"/>
                        <a:t>9</a:t>
                      </a:r>
                    </a:p>
                  </a:txBody>
                  <a:tcPr/>
                </a:tc>
                <a:extLst>
                  <a:ext uri="{0D108BD9-81ED-4DB2-BD59-A6C34878D82A}">
                    <a16:rowId xmlns:a16="http://schemas.microsoft.com/office/drawing/2014/main" val="398204582"/>
                  </a:ext>
                </a:extLst>
              </a:tr>
              <a:tr h="731943">
                <a:tc>
                  <a:txBody>
                    <a:bodyPr/>
                    <a:lstStyle/>
                    <a:p>
                      <a:pPr algn="l"/>
                      <a:r>
                        <a:rPr lang="en-US" dirty="0"/>
                        <a:t>4</a:t>
                      </a:r>
                    </a:p>
                  </a:txBody>
                  <a:tcPr/>
                </a:tc>
                <a:tc>
                  <a:txBody>
                    <a:bodyPr/>
                    <a:lstStyle/>
                    <a:p>
                      <a:pPr algn="l"/>
                      <a:r>
                        <a:rPr lang="en-US" dirty="0"/>
                        <a:t>5</a:t>
                      </a:r>
                    </a:p>
                  </a:txBody>
                  <a:tcPr/>
                </a:tc>
                <a:tc>
                  <a:txBody>
                    <a:bodyPr/>
                    <a:lstStyle/>
                    <a:p>
                      <a:pPr algn="l"/>
                      <a:r>
                        <a:rPr lang="en-US" dirty="0"/>
                        <a:t>6</a:t>
                      </a:r>
                    </a:p>
                  </a:txBody>
                  <a:tcPr/>
                </a:tc>
                <a:extLst>
                  <a:ext uri="{0D108BD9-81ED-4DB2-BD59-A6C34878D82A}">
                    <a16:rowId xmlns:a16="http://schemas.microsoft.com/office/drawing/2014/main" val="93963989"/>
                  </a:ext>
                </a:extLst>
              </a:tr>
              <a:tr h="731943">
                <a:tc>
                  <a:txBody>
                    <a:bodyPr/>
                    <a:lstStyle/>
                    <a:p>
                      <a:pPr algn="l"/>
                      <a:r>
                        <a:rPr lang="en-US" dirty="0"/>
                        <a:t>1</a:t>
                      </a:r>
                    </a:p>
                  </a:txBody>
                  <a:tcPr/>
                </a:tc>
                <a:tc>
                  <a:txBody>
                    <a:bodyPr/>
                    <a:lstStyle/>
                    <a:p>
                      <a:pPr algn="l"/>
                      <a:r>
                        <a:rPr lang="en-US" dirty="0"/>
                        <a:t>2</a:t>
                      </a:r>
                    </a:p>
                  </a:txBody>
                  <a:tcPr/>
                </a:tc>
                <a:tc>
                  <a:txBody>
                    <a:bodyPr/>
                    <a:lstStyle/>
                    <a:p>
                      <a:pPr algn="l"/>
                      <a:r>
                        <a:rPr lang="en-US" dirty="0"/>
                        <a:t>3</a:t>
                      </a:r>
                    </a:p>
                  </a:txBody>
                  <a:tcPr/>
                </a:tc>
                <a:extLst>
                  <a:ext uri="{0D108BD9-81ED-4DB2-BD59-A6C34878D82A}">
                    <a16:rowId xmlns:a16="http://schemas.microsoft.com/office/drawing/2014/main" val="2402297787"/>
                  </a:ext>
                </a:extLst>
              </a:tr>
            </a:tbl>
          </a:graphicData>
        </a:graphic>
      </p:graphicFrame>
      <p:graphicFrame>
        <p:nvGraphicFramePr>
          <p:cNvPr id="38" name="Table 37">
            <a:extLst>
              <a:ext uri="{FF2B5EF4-FFF2-40B4-BE49-F238E27FC236}">
                <a16:creationId xmlns:a16="http://schemas.microsoft.com/office/drawing/2014/main" id="{82235FC0-B840-13E4-2754-4ED724E7D18B}"/>
              </a:ext>
            </a:extLst>
          </p:cNvPr>
          <p:cNvGraphicFramePr>
            <a:graphicFrameLocks noGrp="1"/>
          </p:cNvGraphicFramePr>
          <p:nvPr>
            <p:extLst>
              <p:ext uri="{D42A27DB-BD31-4B8C-83A1-F6EECF244321}">
                <p14:modId xmlns:p14="http://schemas.microsoft.com/office/powerpoint/2010/main" val="2711336721"/>
              </p:ext>
            </p:extLst>
          </p:nvPr>
        </p:nvGraphicFramePr>
        <p:xfrm>
          <a:off x="9415043" y="796925"/>
          <a:ext cx="2203718" cy="2195829"/>
        </p:xfrm>
        <a:graphic>
          <a:graphicData uri="http://schemas.openxmlformats.org/drawingml/2006/table">
            <a:tbl>
              <a:tblPr firstRow="1" bandRow="1">
                <a:tableStyleId>{2D5ABB26-0587-4C30-8999-92F81FD0307C}</a:tableStyleId>
              </a:tblPr>
              <a:tblGrid>
                <a:gridCol w="742950">
                  <a:extLst>
                    <a:ext uri="{9D8B030D-6E8A-4147-A177-3AD203B41FA5}">
                      <a16:colId xmlns:a16="http://schemas.microsoft.com/office/drawing/2014/main" val="722755510"/>
                    </a:ext>
                  </a:extLst>
                </a:gridCol>
                <a:gridCol w="701040">
                  <a:extLst>
                    <a:ext uri="{9D8B030D-6E8A-4147-A177-3AD203B41FA5}">
                      <a16:colId xmlns:a16="http://schemas.microsoft.com/office/drawing/2014/main" val="1272341787"/>
                    </a:ext>
                  </a:extLst>
                </a:gridCol>
                <a:gridCol w="759728">
                  <a:extLst>
                    <a:ext uri="{9D8B030D-6E8A-4147-A177-3AD203B41FA5}">
                      <a16:colId xmlns:a16="http://schemas.microsoft.com/office/drawing/2014/main" val="3946667277"/>
                    </a:ext>
                  </a:extLst>
                </a:gridCol>
              </a:tblGrid>
              <a:tr h="731943">
                <a:tc>
                  <a:txBody>
                    <a:bodyPr/>
                    <a:lstStyle/>
                    <a:p>
                      <a:pPr algn="l"/>
                      <a:r>
                        <a:rPr lang="en-US" dirty="0"/>
                        <a:t>7</a:t>
                      </a:r>
                    </a:p>
                  </a:txBody>
                  <a:tcPr/>
                </a:tc>
                <a:tc>
                  <a:txBody>
                    <a:bodyPr/>
                    <a:lstStyle/>
                    <a:p>
                      <a:pPr algn="l"/>
                      <a:r>
                        <a:rPr lang="en-US" dirty="0"/>
                        <a:t>8</a:t>
                      </a:r>
                    </a:p>
                  </a:txBody>
                  <a:tcPr/>
                </a:tc>
                <a:tc>
                  <a:txBody>
                    <a:bodyPr/>
                    <a:lstStyle/>
                    <a:p>
                      <a:pPr algn="l"/>
                      <a:r>
                        <a:rPr lang="en-US" dirty="0"/>
                        <a:t>9</a:t>
                      </a:r>
                    </a:p>
                  </a:txBody>
                  <a:tcPr/>
                </a:tc>
                <a:extLst>
                  <a:ext uri="{0D108BD9-81ED-4DB2-BD59-A6C34878D82A}">
                    <a16:rowId xmlns:a16="http://schemas.microsoft.com/office/drawing/2014/main" val="398204582"/>
                  </a:ext>
                </a:extLst>
              </a:tr>
              <a:tr h="731943">
                <a:tc>
                  <a:txBody>
                    <a:bodyPr/>
                    <a:lstStyle/>
                    <a:p>
                      <a:pPr algn="l"/>
                      <a:r>
                        <a:rPr lang="en-US" dirty="0"/>
                        <a:t>4</a:t>
                      </a:r>
                    </a:p>
                  </a:txBody>
                  <a:tcPr/>
                </a:tc>
                <a:tc>
                  <a:txBody>
                    <a:bodyPr/>
                    <a:lstStyle/>
                    <a:p>
                      <a:pPr algn="l"/>
                      <a:r>
                        <a:rPr lang="en-US" dirty="0"/>
                        <a:t>5</a:t>
                      </a:r>
                    </a:p>
                  </a:txBody>
                  <a:tcPr/>
                </a:tc>
                <a:tc>
                  <a:txBody>
                    <a:bodyPr/>
                    <a:lstStyle/>
                    <a:p>
                      <a:pPr algn="l"/>
                      <a:r>
                        <a:rPr lang="en-US" dirty="0"/>
                        <a:t>6</a:t>
                      </a:r>
                    </a:p>
                  </a:txBody>
                  <a:tcPr/>
                </a:tc>
                <a:extLst>
                  <a:ext uri="{0D108BD9-81ED-4DB2-BD59-A6C34878D82A}">
                    <a16:rowId xmlns:a16="http://schemas.microsoft.com/office/drawing/2014/main" val="93963989"/>
                  </a:ext>
                </a:extLst>
              </a:tr>
              <a:tr h="731943">
                <a:tc>
                  <a:txBody>
                    <a:bodyPr/>
                    <a:lstStyle/>
                    <a:p>
                      <a:pPr algn="l"/>
                      <a:r>
                        <a:rPr lang="en-US" dirty="0"/>
                        <a:t>1</a:t>
                      </a:r>
                    </a:p>
                  </a:txBody>
                  <a:tcPr/>
                </a:tc>
                <a:tc>
                  <a:txBody>
                    <a:bodyPr/>
                    <a:lstStyle/>
                    <a:p>
                      <a:pPr algn="l"/>
                      <a:r>
                        <a:rPr lang="en-US" dirty="0"/>
                        <a:t>2</a:t>
                      </a:r>
                    </a:p>
                  </a:txBody>
                  <a:tcPr/>
                </a:tc>
                <a:tc>
                  <a:txBody>
                    <a:bodyPr/>
                    <a:lstStyle/>
                    <a:p>
                      <a:pPr algn="l"/>
                      <a:r>
                        <a:rPr lang="en-US" dirty="0"/>
                        <a:t>3</a:t>
                      </a:r>
                    </a:p>
                  </a:txBody>
                  <a:tcPr/>
                </a:tc>
                <a:extLst>
                  <a:ext uri="{0D108BD9-81ED-4DB2-BD59-A6C34878D82A}">
                    <a16:rowId xmlns:a16="http://schemas.microsoft.com/office/drawing/2014/main" val="2402297787"/>
                  </a:ext>
                </a:extLst>
              </a:tr>
            </a:tbl>
          </a:graphicData>
        </a:graphic>
      </p:graphicFrame>
      <p:graphicFrame>
        <p:nvGraphicFramePr>
          <p:cNvPr id="39" name="Table 38">
            <a:extLst>
              <a:ext uri="{FF2B5EF4-FFF2-40B4-BE49-F238E27FC236}">
                <a16:creationId xmlns:a16="http://schemas.microsoft.com/office/drawing/2014/main" id="{DDFF8389-BC24-93A2-381F-3D7C6F373093}"/>
              </a:ext>
            </a:extLst>
          </p:cNvPr>
          <p:cNvGraphicFramePr>
            <a:graphicFrameLocks noGrp="1"/>
          </p:cNvGraphicFramePr>
          <p:nvPr>
            <p:extLst>
              <p:ext uri="{D42A27DB-BD31-4B8C-83A1-F6EECF244321}">
                <p14:modId xmlns:p14="http://schemas.microsoft.com/office/powerpoint/2010/main" val="2711336721"/>
              </p:ext>
            </p:extLst>
          </p:nvPr>
        </p:nvGraphicFramePr>
        <p:xfrm>
          <a:off x="9415043" y="3805811"/>
          <a:ext cx="2203718" cy="2195829"/>
        </p:xfrm>
        <a:graphic>
          <a:graphicData uri="http://schemas.openxmlformats.org/drawingml/2006/table">
            <a:tbl>
              <a:tblPr firstRow="1" bandRow="1">
                <a:tableStyleId>{2D5ABB26-0587-4C30-8999-92F81FD0307C}</a:tableStyleId>
              </a:tblPr>
              <a:tblGrid>
                <a:gridCol w="742950">
                  <a:extLst>
                    <a:ext uri="{9D8B030D-6E8A-4147-A177-3AD203B41FA5}">
                      <a16:colId xmlns:a16="http://schemas.microsoft.com/office/drawing/2014/main" val="722755510"/>
                    </a:ext>
                  </a:extLst>
                </a:gridCol>
                <a:gridCol w="701040">
                  <a:extLst>
                    <a:ext uri="{9D8B030D-6E8A-4147-A177-3AD203B41FA5}">
                      <a16:colId xmlns:a16="http://schemas.microsoft.com/office/drawing/2014/main" val="1272341787"/>
                    </a:ext>
                  </a:extLst>
                </a:gridCol>
                <a:gridCol w="759728">
                  <a:extLst>
                    <a:ext uri="{9D8B030D-6E8A-4147-A177-3AD203B41FA5}">
                      <a16:colId xmlns:a16="http://schemas.microsoft.com/office/drawing/2014/main" val="3946667277"/>
                    </a:ext>
                  </a:extLst>
                </a:gridCol>
              </a:tblGrid>
              <a:tr h="731943">
                <a:tc>
                  <a:txBody>
                    <a:bodyPr/>
                    <a:lstStyle/>
                    <a:p>
                      <a:pPr algn="l"/>
                      <a:r>
                        <a:rPr lang="en-US" dirty="0"/>
                        <a:t>7</a:t>
                      </a:r>
                    </a:p>
                  </a:txBody>
                  <a:tcPr/>
                </a:tc>
                <a:tc>
                  <a:txBody>
                    <a:bodyPr/>
                    <a:lstStyle/>
                    <a:p>
                      <a:pPr algn="l"/>
                      <a:r>
                        <a:rPr lang="en-US" dirty="0"/>
                        <a:t>8</a:t>
                      </a:r>
                    </a:p>
                  </a:txBody>
                  <a:tcPr/>
                </a:tc>
                <a:tc>
                  <a:txBody>
                    <a:bodyPr/>
                    <a:lstStyle/>
                    <a:p>
                      <a:pPr algn="l"/>
                      <a:r>
                        <a:rPr lang="en-US" dirty="0"/>
                        <a:t>9</a:t>
                      </a:r>
                    </a:p>
                  </a:txBody>
                  <a:tcPr/>
                </a:tc>
                <a:extLst>
                  <a:ext uri="{0D108BD9-81ED-4DB2-BD59-A6C34878D82A}">
                    <a16:rowId xmlns:a16="http://schemas.microsoft.com/office/drawing/2014/main" val="398204582"/>
                  </a:ext>
                </a:extLst>
              </a:tr>
              <a:tr h="731943">
                <a:tc>
                  <a:txBody>
                    <a:bodyPr/>
                    <a:lstStyle/>
                    <a:p>
                      <a:pPr algn="l"/>
                      <a:r>
                        <a:rPr lang="en-US" dirty="0"/>
                        <a:t>4</a:t>
                      </a:r>
                    </a:p>
                  </a:txBody>
                  <a:tcPr/>
                </a:tc>
                <a:tc>
                  <a:txBody>
                    <a:bodyPr/>
                    <a:lstStyle/>
                    <a:p>
                      <a:pPr algn="l"/>
                      <a:r>
                        <a:rPr lang="en-US" dirty="0"/>
                        <a:t>5</a:t>
                      </a:r>
                    </a:p>
                  </a:txBody>
                  <a:tcPr/>
                </a:tc>
                <a:tc>
                  <a:txBody>
                    <a:bodyPr/>
                    <a:lstStyle/>
                    <a:p>
                      <a:pPr algn="l"/>
                      <a:r>
                        <a:rPr lang="en-US" dirty="0"/>
                        <a:t>6</a:t>
                      </a:r>
                    </a:p>
                  </a:txBody>
                  <a:tcPr/>
                </a:tc>
                <a:extLst>
                  <a:ext uri="{0D108BD9-81ED-4DB2-BD59-A6C34878D82A}">
                    <a16:rowId xmlns:a16="http://schemas.microsoft.com/office/drawing/2014/main" val="93963989"/>
                  </a:ext>
                </a:extLst>
              </a:tr>
              <a:tr h="731943">
                <a:tc>
                  <a:txBody>
                    <a:bodyPr/>
                    <a:lstStyle/>
                    <a:p>
                      <a:pPr algn="l"/>
                      <a:r>
                        <a:rPr lang="en-US" dirty="0"/>
                        <a:t>1</a:t>
                      </a:r>
                    </a:p>
                  </a:txBody>
                  <a:tcPr/>
                </a:tc>
                <a:tc>
                  <a:txBody>
                    <a:bodyPr/>
                    <a:lstStyle/>
                    <a:p>
                      <a:pPr algn="l"/>
                      <a:r>
                        <a:rPr lang="en-US" dirty="0"/>
                        <a:t>2</a:t>
                      </a:r>
                    </a:p>
                  </a:txBody>
                  <a:tcPr/>
                </a:tc>
                <a:tc>
                  <a:txBody>
                    <a:bodyPr/>
                    <a:lstStyle/>
                    <a:p>
                      <a:pPr algn="l"/>
                      <a:r>
                        <a:rPr lang="en-US" dirty="0"/>
                        <a:t>3</a:t>
                      </a:r>
                    </a:p>
                  </a:txBody>
                  <a:tcPr/>
                </a:tc>
                <a:extLst>
                  <a:ext uri="{0D108BD9-81ED-4DB2-BD59-A6C34878D82A}">
                    <a16:rowId xmlns:a16="http://schemas.microsoft.com/office/drawing/2014/main" val="2402297787"/>
                  </a:ext>
                </a:extLst>
              </a:tr>
            </a:tbl>
          </a:graphicData>
        </a:graphic>
      </p:graphicFrame>
    </p:spTree>
    <p:extLst>
      <p:ext uri="{BB962C8B-B14F-4D97-AF65-F5344CB8AC3E}">
        <p14:creationId xmlns:p14="http://schemas.microsoft.com/office/powerpoint/2010/main" val="315725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C43D1-F714-506D-4633-417E2FBE4DE4}"/>
            </a:ext>
          </a:extLst>
        </p:cNvPr>
        <p:cNvGrpSpPr/>
        <p:nvPr/>
      </p:nvGrpSpPr>
      <p:grpSpPr>
        <a:xfrm>
          <a:off x="0" y="0"/>
          <a:ext cx="0" cy="0"/>
          <a:chOff x="0" y="0"/>
          <a:chExt cx="0" cy="0"/>
        </a:xfrm>
      </p:grpSpPr>
      <p:sp>
        <p:nvSpPr>
          <p:cNvPr id="4" name="Title 12">
            <a:extLst>
              <a:ext uri="{FF2B5EF4-FFF2-40B4-BE49-F238E27FC236}">
                <a16:creationId xmlns:a16="http://schemas.microsoft.com/office/drawing/2014/main" id="{A1020512-7BEC-6BA8-F5A3-227719A28F5E}"/>
              </a:ext>
            </a:extLst>
          </p:cNvPr>
          <p:cNvSpPr txBox="1">
            <a:spLocks/>
          </p:cNvSpPr>
          <p:nvPr/>
        </p:nvSpPr>
        <p:spPr>
          <a:xfrm>
            <a:off x="471489" y="69597"/>
            <a:ext cx="11153622" cy="565671"/>
          </a:xfrm>
          <a:prstGeom prst="rect">
            <a:avLst/>
          </a:prstGeom>
          <a:ln>
            <a:noFill/>
          </a:ln>
        </p:spPr>
        <p:txBody>
          <a:bodyPr vert="horz" lIns="91440" tIns="45720" rIns="91440" bIns="45720" rtlCol="0" anchor="ctr">
            <a:noAutofit/>
          </a:bodyPr>
          <a:lst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a:lstStyle>
          <a:p>
            <a:pPr algn="ctr"/>
            <a:r>
              <a:rPr lang="en-US" sz="3600" dirty="0"/>
              <a:t>Agent-Environment Loop Example III</a:t>
            </a:r>
          </a:p>
        </p:txBody>
      </p:sp>
      <p:sp>
        <p:nvSpPr>
          <p:cNvPr id="5" name="TextBox 4">
            <a:extLst>
              <a:ext uri="{FF2B5EF4-FFF2-40B4-BE49-F238E27FC236}">
                <a16:creationId xmlns:a16="http://schemas.microsoft.com/office/drawing/2014/main" id="{01BEE87C-2EFF-F8D7-5A01-697274383E33}"/>
              </a:ext>
            </a:extLst>
          </p:cNvPr>
          <p:cNvSpPr txBox="1"/>
          <p:nvPr/>
        </p:nvSpPr>
        <p:spPr>
          <a:xfrm>
            <a:off x="756920" y="1588179"/>
            <a:ext cx="1543050" cy="1754326"/>
          </a:xfrm>
          <a:prstGeom prst="rect">
            <a:avLst/>
          </a:prstGeom>
          <a:noFill/>
          <a:ln>
            <a:noFill/>
          </a:ln>
        </p:spPr>
        <p:txBody>
          <a:bodyPr wrap="square">
            <a:spAutoFit/>
          </a:bodyPr>
          <a:lstStyle/>
          <a:p>
            <a:pPr>
              <a:buNone/>
            </a:pPr>
            <a:r>
              <a:rPr lang="en-US" b="1" dirty="0"/>
              <a:t>State</a:t>
            </a:r>
            <a:r>
              <a:rPr lang="en-US" dirty="0"/>
              <a:t>:</a:t>
            </a:r>
          </a:p>
          <a:p>
            <a:pPr>
              <a:buNone/>
            </a:pPr>
            <a:r>
              <a:rPr lang="en-US" b="1" dirty="0"/>
              <a:t>Policy</a:t>
            </a:r>
            <a:r>
              <a:rPr lang="en-US" dirty="0"/>
              <a:t>:</a:t>
            </a:r>
          </a:p>
          <a:p>
            <a:pPr>
              <a:buNone/>
            </a:pPr>
            <a:r>
              <a:rPr lang="en-US" b="1" dirty="0"/>
              <a:t>Action</a:t>
            </a:r>
            <a:r>
              <a:rPr lang="en-US" dirty="0"/>
              <a:t>:</a:t>
            </a:r>
          </a:p>
          <a:p>
            <a:pPr>
              <a:buNone/>
            </a:pPr>
            <a:r>
              <a:rPr lang="en-US" b="1" dirty="0"/>
              <a:t>Environment</a:t>
            </a:r>
            <a:r>
              <a:rPr lang="en-US" dirty="0"/>
              <a:t>:</a:t>
            </a:r>
          </a:p>
          <a:p>
            <a:pPr>
              <a:buNone/>
            </a:pPr>
            <a:r>
              <a:rPr lang="en-US" b="1" dirty="0"/>
              <a:t>Reward</a:t>
            </a:r>
            <a:r>
              <a:rPr lang="en-US" dirty="0"/>
              <a:t>:</a:t>
            </a:r>
          </a:p>
          <a:p>
            <a:pPr>
              <a:buNone/>
            </a:pPr>
            <a:r>
              <a:rPr lang="en-US" b="1" dirty="0"/>
              <a:t>New State</a:t>
            </a:r>
            <a:r>
              <a:rPr lang="en-US" dirty="0"/>
              <a:t>:</a:t>
            </a:r>
          </a:p>
        </p:txBody>
      </p:sp>
      <p:pic>
        <p:nvPicPr>
          <p:cNvPr id="19" name="Picture 18">
            <a:extLst>
              <a:ext uri="{FF2B5EF4-FFF2-40B4-BE49-F238E27FC236}">
                <a16:creationId xmlns:a16="http://schemas.microsoft.com/office/drawing/2014/main" id="{EAF06B15-1CF2-A30E-6D62-F3B6C20860DD}"/>
              </a:ext>
            </a:extLst>
          </p:cNvPr>
          <p:cNvPicPr>
            <a:picLocks noChangeAspect="1"/>
          </p:cNvPicPr>
          <p:nvPr/>
        </p:nvPicPr>
        <p:blipFill>
          <a:blip r:embed="rId2"/>
          <a:stretch>
            <a:fillRect/>
          </a:stretch>
        </p:blipFill>
        <p:spPr>
          <a:xfrm>
            <a:off x="9415043" y="1275420"/>
            <a:ext cx="2210068" cy="2210068"/>
          </a:xfrm>
          <a:prstGeom prst="rect">
            <a:avLst/>
          </a:prstGeom>
        </p:spPr>
      </p:pic>
      <p:pic>
        <p:nvPicPr>
          <p:cNvPr id="20" name="Graphic 19" descr="Robot with solid fill">
            <a:extLst>
              <a:ext uri="{FF2B5EF4-FFF2-40B4-BE49-F238E27FC236}">
                <a16:creationId xmlns:a16="http://schemas.microsoft.com/office/drawing/2014/main" id="{28D8D2A1-9457-511B-5552-EC7F53EC467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01872" y="2802851"/>
            <a:ext cx="648726" cy="648726"/>
          </a:xfrm>
          <a:prstGeom prst="rect">
            <a:avLst/>
          </a:prstGeom>
        </p:spPr>
      </p:pic>
      <p:pic>
        <p:nvPicPr>
          <p:cNvPr id="21" name="Graphic 20" descr="Race Flag with solid fill">
            <a:extLst>
              <a:ext uri="{FF2B5EF4-FFF2-40B4-BE49-F238E27FC236}">
                <a16:creationId xmlns:a16="http://schemas.microsoft.com/office/drawing/2014/main" id="{41BDE81F-36CC-4A7F-838D-FCEFBE602BD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983114" y="1373999"/>
            <a:ext cx="549768" cy="549768"/>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58C96DC-D2C6-6F60-8BF2-62269E62EDBF}"/>
                  </a:ext>
                </a:extLst>
              </p:cNvPr>
              <p:cNvSpPr txBox="1"/>
              <p:nvPr/>
            </p:nvSpPr>
            <p:spPr>
              <a:xfrm>
                <a:off x="2585719" y="1588179"/>
                <a:ext cx="3549647" cy="1754326"/>
              </a:xfrm>
              <a:prstGeom prst="rect">
                <a:avLst/>
              </a:prstGeom>
              <a:noFill/>
              <a:ln>
                <a:noFill/>
              </a:ln>
            </p:spPr>
            <p:txBody>
              <a:bodyPr wrap="square">
                <a:spAutoFit/>
              </a:bodyPr>
              <a:lstStyle/>
              <a:p>
                <a:pPr>
                  <a:buNone/>
                </a:pPr>
                <a:r>
                  <a:rPr lang="en-US" dirty="0"/>
                  <a:t>Position 1 (bottom-left)</a:t>
                </a:r>
              </a:p>
              <a:p>
                <a:pPr>
                  <a:buNone/>
                </a:pPr>
                <a14:m>
                  <m:oMath xmlns:m="http://schemas.openxmlformats.org/officeDocument/2006/math">
                    <m:r>
                      <a:rPr lang="en-US" b="0" i="1" dirty="0" smtClean="0">
                        <a:latin typeface="Cambria Math" panose="02040503050406030204" pitchFamily="18" charset="0"/>
                      </a:rPr>
                      <m:t>𝜋</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1</m:t>
                        </m:r>
                      </m:e>
                    </m:d>
                  </m:oMath>
                </a14:m>
                <a:r>
                  <a:rPr lang="en-US" dirty="0"/>
                  <a:t> = random → chooses “Left”</a:t>
                </a:r>
              </a:p>
              <a:p>
                <a:pPr>
                  <a:buNone/>
                </a:pPr>
                <a:r>
                  <a:rPr lang="en-US" dirty="0"/>
                  <a:t>(Try to) Move Left</a:t>
                </a:r>
              </a:p>
              <a:p>
                <a:pPr>
                  <a:buNone/>
                </a:pPr>
                <a:r>
                  <a:rPr lang="en-US" dirty="0"/>
                  <a:t>Hits wall, stays at 1 (bottom-left)</a:t>
                </a:r>
              </a:p>
              <a:p>
                <a:pPr>
                  <a:buNone/>
                </a:pPr>
                <a:r>
                  <a:rPr lang="en-US" dirty="0"/>
                  <a:t>-1 (step penalty)</a:t>
                </a:r>
              </a:p>
              <a:p>
                <a:pPr algn="ctr">
                  <a:buNone/>
                </a:pPr>
                <a:r>
                  <a:rPr lang="en-US" b="1" dirty="0"/>
                  <a:t>Episode Ends: FAILURE</a:t>
                </a:r>
              </a:p>
            </p:txBody>
          </p:sp>
        </mc:Choice>
        <mc:Fallback xmlns="">
          <p:sp>
            <p:nvSpPr>
              <p:cNvPr id="6" name="TextBox 5">
                <a:extLst>
                  <a:ext uri="{FF2B5EF4-FFF2-40B4-BE49-F238E27FC236}">
                    <a16:creationId xmlns:a16="http://schemas.microsoft.com/office/drawing/2014/main" id="{158C96DC-D2C6-6F60-8BF2-62269E62EDBF}"/>
                  </a:ext>
                </a:extLst>
              </p:cNvPr>
              <p:cNvSpPr txBox="1">
                <a:spLocks noRot="1" noChangeAspect="1" noMove="1" noResize="1" noEditPoints="1" noAdjustHandles="1" noChangeArrowheads="1" noChangeShapeType="1" noTextEdit="1"/>
              </p:cNvSpPr>
              <p:nvPr/>
            </p:nvSpPr>
            <p:spPr>
              <a:xfrm>
                <a:off x="2585719" y="1588179"/>
                <a:ext cx="3549647" cy="1754326"/>
              </a:xfrm>
              <a:prstGeom prst="rect">
                <a:avLst/>
              </a:prstGeom>
              <a:blipFill>
                <a:blip r:embed="rId7"/>
                <a:stretch>
                  <a:fillRect l="-1375" t="-2091" b="-4878"/>
                </a:stretch>
              </a:blipFill>
              <a:ln>
                <a:noFill/>
              </a:ln>
            </p:spPr>
            <p:txBody>
              <a:bodyPr/>
              <a:lstStyle/>
              <a:p>
                <a:r>
                  <a:rPr lang="en-US">
                    <a:noFill/>
                  </a:rPr>
                  <a:t> </a:t>
                </a:r>
              </a:p>
            </p:txBody>
          </p:sp>
        </mc:Fallback>
      </mc:AlternateContent>
      <p:sp>
        <p:nvSpPr>
          <p:cNvPr id="23" name="TextBox 22">
            <a:extLst>
              <a:ext uri="{FF2B5EF4-FFF2-40B4-BE49-F238E27FC236}">
                <a16:creationId xmlns:a16="http://schemas.microsoft.com/office/drawing/2014/main" id="{00611001-3775-AA27-AF2D-950C7764B7AF}"/>
              </a:ext>
            </a:extLst>
          </p:cNvPr>
          <p:cNvSpPr txBox="1"/>
          <p:nvPr/>
        </p:nvSpPr>
        <p:spPr>
          <a:xfrm flipH="1">
            <a:off x="8897620" y="2195788"/>
            <a:ext cx="436880" cy="369332"/>
          </a:xfrm>
          <a:prstGeom prst="rect">
            <a:avLst/>
          </a:prstGeom>
          <a:noFill/>
          <a:ln>
            <a:noFill/>
          </a:ln>
        </p:spPr>
        <p:txBody>
          <a:bodyPr wrap="square">
            <a:spAutoFit/>
          </a:bodyPr>
          <a:lstStyle/>
          <a:p>
            <a:r>
              <a:rPr lang="en-US" dirty="0"/>
              <a:t>→</a:t>
            </a:r>
          </a:p>
        </p:txBody>
      </p:sp>
      <p:grpSp>
        <p:nvGrpSpPr>
          <p:cNvPr id="2" name="Group 1">
            <a:extLst>
              <a:ext uri="{FF2B5EF4-FFF2-40B4-BE49-F238E27FC236}">
                <a16:creationId xmlns:a16="http://schemas.microsoft.com/office/drawing/2014/main" id="{7635E219-C280-7075-5AC1-1ED2E0F77A98}"/>
              </a:ext>
            </a:extLst>
          </p:cNvPr>
          <p:cNvGrpSpPr/>
          <p:nvPr/>
        </p:nvGrpSpPr>
        <p:grpSpPr>
          <a:xfrm>
            <a:off x="6607009" y="1275420"/>
            <a:ext cx="2210068" cy="2210068"/>
            <a:chOff x="9415043" y="3787664"/>
            <a:chExt cx="2210068" cy="2210068"/>
          </a:xfrm>
        </p:grpSpPr>
        <p:pic>
          <p:nvPicPr>
            <p:cNvPr id="3" name="Picture 2">
              <a:extLst>
                <a:ext uri="{FF2B5EF4-FFF2-40B4-BE49-F238E27FC236}">
                  <a16:creationId xmlns:a16="http://schemas.microsoft.com/office/drawing/2014/main" id="{CB00B7F0-5579-C879-F357-62E9FC7F7CB6}"/>
                </a:ext>
              </a:extLst>
            </p:cNvPr>
            <p:cNvPicPr>
              <a:picLocks noChangeAspect="1"/>
            </p:cNvPicPr>
            <p:nvPr/>
          </p:nvPicPr>
          <p:blipFill>
            <a:blip r:embed="rId2"/>
            <a:stretch>
              <a:fillRect/>
            </a:stretch>
          </p:blipFill>
          <p:spPr>
            <a:xfrm>
              <a:off x="9415043" y="3787664"/>
              <a:ext cx="2210068" cy="2210068"/>
            </a:xfrm>
            <a:prstGeom prst="rect">
              <a:avLst/>
            </a:prstGeom>
          </p:spPr>
        </p:pic>
        <p:pic>
          <p:nvPicPr>
            <p:cNvPr id="7" name="Graphic 6" descr="Robot with solid fill">
              <a:extLst>
                <a:ext uri="{FF2B5EF4-FFF2-40B4-BE49-F238E27FC236}">
                  <a16:creationId xmlns:a16="http://schemas.microsoft.com/office/drawing/2014/main" id="{830BD38B-26B6-97A7-4FFB-16213A31647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01872" y="5315095"/>
              <a:ext cx="648726" cy="648726"/>
            </a:xfrm>
            <a:prstGeom prst="rect">
              <a:avLst/>
            </a:prstGeom>
          </p:spPr>
        </p:pic>
      </p:grpSp>
      <p:pic>
        <p:nvPicPr>
          <p:cNvPr id="9" name="Graphic 8" descr="Race Flag with solid fill">
            <a:extLst>
              <a:ext uri="{FF2B5EF4-FFF2-40B4-BE49-F238E27FC236}">
                <a16:creationId xmlns:a16="http://schemas.microsoft.com/office/drawing/2014/main" id="{FB4EC82A-9432-95F6-D02F-C1DD37E13B3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75080" y="1373999"/>
            <a:ext cx="549768" cy="549768"/>
          </a:xfrm>
          <a:prstGeom prst="rect">
            <a:avLst/>
          </a:prstGeom>
        </p:spPr>
      </p:pic>
      <p:sp>
        <p:nvSpPr>
          <p:cNvPr id="10" name="Content Placeholder 2">
            <a:extLst>
              <a:ext uri="{FF2B5EF4-FFF2-40B4-BE49-F238E27FC236}">
                <a16:creationId xmlns:a16="http://schemas.microsoft.com/office/drawing/2014/main" id="{4225FF96-5881-4AC4-5096-8228C6E791F3}"/>
              </a:ext>
            </a:extLst>
          </p:cNvPr>
          <p:cNvSpPr txBox="1">
            <a:spLocks/>
          </p:cNvSpPr>
          <p:nvPr/>
        </p:nvSpPr>
        <p:spPr>
          <a:xfrm>
            <a:off x="1469403" y="4101134"/>
            <a:ext cx="1929118" cy="38856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t>Policy Update</a:t>
            </a:r>
            <a:r>
              <a:rPr lang="en-US" sz="2000" dirty="0"/>
              <a:t>:</a:t>
            </a:r>
          </a:p>
        </p:txBody>
      </p:sp>
      <mc:AlternateContent xmlns:mc="http://schemas.openxmlformats.org/markup-compatibility/2006" xmlns:a14="http://schemas.microsoft.com/office/drawing/2010/main">
        <mc:Choice Requires="a14">
          <p:sp>
            <p:nvSpPr>
              <p:cNvPr id="11" name="Content Placeholder 2">
                <a:extLst>
                  <a:ext uri="{FF2B5EF4-FFF2-40B4-BE49-F238E27FC236}">
                    <a16:creationId xmlns:a16="http://schemas.microsoft.com/office/drawing/2014/main" id="{397155A6-D8DC-1E2B-FDED-B07CE98B9922}"/>
                  </a:ext>
                </a:extLst>
              </p:cNvPr>
              <p:cNvSpPr txBox="1">
                <a:spLocks/>
              </p:cNvSpPr>
              <p:nvPr/>
            </p:nvSpPr>
            <p:spPr>
              <a:xfrm>
                <a:off x="3702062" y="4438399"/>
                <a:ext cx="1791957" cy="193694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𝜋</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5</m:t>
                          </m:r>
                        </m:e>
                      </m:d>
                    </m:oMath>
                  </m:oMathPara>
                </a14:m>
                <a:endParaRPr lang="en-US" sz="2000" dirty="0"/>
              </a:p>
              <a:p>
                <a:pPr marL="0" indent="0">
                  <a:buFont typeface="Arial" panose="020B0604020202020204" pitchFamily="34" charset="0"/>
                  <a:buNone/>
                </a:pPr>
                <a:r>
                  <a:rPr lang="en-US" sz="2000" dirty="0"/>
                  <a:t>Right:  26.32%</a:t>
                </a:r>
              </a:p>
              <a:p>
                <a:pPr marL="0" indent="0">
                  <a:buFont typeface="Arial" panose="020B0604020202020204" pitchFamily="34" charset="0"/>
                  <a:buNone/>
                </a:pPr>
                <a:r>
                  <a:rPr lang="en-US" sz="2000" dirty="0"/>
                  <a:t>Left:    21.05%</a:t>
                </a:r>
              </a:p>
              <a:p>
                <a:pPr marL="0" indent="0">
                  <a:buFont typeface="Arial" panose="020B0604020202020204" pitchFamily="34" charset="0"/>
                  <a:buNone/>
                </a:pPr>
                <a:r>
                  <a:rPr lang="en-US" sz="2000" dirty="0"/>
                  <a:t>Up:      26.32%</a:t>
                </a:r>
              </a:p>
              <a:p>
                <a:pPr marL="0" indent="0">
                  <a:buFont typeface="Arial" panose="020B0604020202020204" pitchFamily="34" charset="0"/>
                  <a:buNone/>
                </a:pPr>
                <a:r>
                  <a:rPr lang="en-US" sz="2000" dirty="0"/>
                  <a:t>Down: 26.32%  </a:t>
                </a:r>
              </a:p>
            </p:txBody>
          </p:sp>
        </mc:Choice>
        <mc:Fallback xmlns="">
          <p:sp>
            <p:nvSpPr>
              <p:cNvPr id="11" name="Content Placeholder 2">
                <a:extLst>
                  <a:ext uri="{FF2B5EF4-FFF2-40B4-BE49-F238E27FC236}">
                    <a16:creationId xmlns:a16="http://schemas.microsoft.com/office/drawing/2014/main" id="{397155A6-D8DC-1E2B-FDED-B07CE98B9922}"/>
                  </a:ext>
                </a:extLst>
              </p:cNvPr>
              <p:cNvSpPr txBox="1">
                <a:spLocks noRot="1" noChangeAspect="1" noMove="1" noResize="1" noEditPoints="1" noAdjustHandles="1" noChangeArrowheads="1" noChangeShapeType="1" noTextEdit="1"/>
              </p:cNvSpPr>
              <p:nvPr/>
            </p:nvSpPr>
            <p:spPr>
              <a:xfrm>
                <a:off x="3702062" y="4438399"/>
                <a:ext cx="1791957" cy="1936941"/>
              </a:xfrm>
              <a:prstGeom prst="rect">
                <a:avLst/>
              </a:prstGeom>
              <a:blipFill>
                <a:blip r:embed="rId8"/>
                <a:stretch>
                  <a:fillRect l="-3401" r="-340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Content Placeholder 2">
                <a:extLst>
                  <a:ext uri="{FF2B5EF4-FFF2-40B4-BE49-F238E27FC236}">
                    <a16:creationId xmlns:a16="http://schemas.microsoft.com/office/drawing/2014/main" id="{A30EE992-8934-339E-5D16-FBC540C5F4B9}"/>
                  </a:ext>
                </a:extLst>
              </p:cNvPr>
              <p:cNvSpPr txBox="1">
                <a:spLocks/>
              </p:cNvSpPr>
              <p:nvPr/>
            </p:nvSpPr>
            <p:spPr>
              <a:xfrm>
                <a:off x="6135366" y="4438398"/>
                <a:ext cx="1791957" cy="193694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𝜋</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4</m:t>
                          </m:r>
                        </m:e>
                      </m:d>
                    </m:oMath>
                  </m:oMathPara>
                </a14:m>
                <a:endParaRPr lang="en-US" sz="2000" dirty="0"/>
              </a:p>
              <a:p>
                <a:pPr marL="0" indent="0">
                  <a:buFont typeface="Arial" panose="020B0604020202020204" pitchFamily="34" charset="0"/>
                  <a:buNone/>
                </a:pPr>
                <a:r>
                  <a:rPr lang="en-US" sz="2000" dirty="0"/>
                  <a:t>Right:  26.32%</a:t>
                </a:r>
              </a:p>
              <a:p>
                <a:pPr marL="0" indent="0">
                  <a:buFont typeface="Arial" panose="020B0604020202020204" pitchFamily="34" charset="0"/>
                  <a:buNone/>
                </a:pPr>
                <a:r>
                  <a:rPr lang="en-US" sz="2000" dirty="0"/>
                  <a:t>Left:    21.05%</a:t>
                </a:r>
              </a:p>
              <a:p>
                <a:pPr marL="0" indent="0">
                  <a:buFont typeface="Arial" panose="020B0604020202020204" pitchFamily="34" charset="0"/>
                  <a:buNone/>
                </a:pPr>
                <a:r>
                  <a:rPr lang="en-US" sz="2000" dirty="0"/>
                  <a:t>Up:      26.32%</a:t>
                </a:r>
              </a:p>
              <a:p>
                <a:pPr marL="0" indent="0">
                  <a:buFont typeface="Arial" panose="020B0604020202020204" pitchFamily="34" charset="0"/>
                  <a:buNone/>
                </a:pPr>
                <a:r>
                  <a:rPr lang="en-US" sz="2000" dirty="0"/>
                  <a:t>Down: 26.32%  </a:t>
                </a:r>
              </a:p>
            </p:txBody>
          </p:sp>
        </mc:Choice>
        <mc:Fallback xmlns="">
          <p:sp>
            <p:nvSpPr>
              <p:cNvPr id="13" name="Content Placeholder 2">
                <a:extLst>
                  <a:ext uri="{FF2B5EF4-FFF2-40B4-BE49-F238E27FC236}">
                    <a16:creationId xmlns:a16="http://schemas.microsoft.com/office/drawing/2014/main" id="{A30EE992-8934-339E-5D16-FBC540C5F4B9}"/>
                  </a:ext>
                </a:extLst>
              </p:cNvPr>
              <p:cNvSpPr txBox="1">
                <a:spLocks noRot="1" noChangeAspect="1" noMove="1" noResize="1" noEditPoints="1" noAdjustHandles="1" noChangeArrowheads="1" noChangeShapeType="1" noTextEdit="1"/>
              </p:cNvSpPr>
              <p:nvPr/>
            </p:nvSpPr>
            <p:spPr>
              <a:xfrm>
                <a:off x="6135366" y="4438398"/>
                <a:ext cx="1791957" cy="1936941"/>
              </a:xfrm>
              <a:prstGeom prst="rect">
                <a:avLst/>
              </a:prstGeom>
              <a:blipFill>
                <a:blip r:embed="rId9"/>
                <a:stretch>
                  <a:fillRect l="-3401" r="-340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Content Placeholder 2">
                <a:extLst>
                  <a:ext uri="{FF2B5EF4-FFF2-40B4-BE49-F238E27FC236}">
                    <a16:creationId xmlns:a16="http://schemas.microsoft.com/office/drawing/2014/main" id="{7FF3C980-B242-059A-4796-4EF7AF076E93}"/>
                  </a:ext>
                </a:extLst>
              </p:cNvPr>
              <p:cNvSpPr txBox="1">
                <a:spLocks/>
              </p:cNvSpPr>
              <p:nvPr/>
            </p:nvSpPr>
            <p:spPr>
              <a:xfrm>
                <a:off x="8568670" y="4438398"/>
                <a:ext cx="1791957" cy="193694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𝜋</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e>
                      </m:d>
                    </m:oMath>
                  </m:oMathPara>
                </a14:m>
                <a:endParaRPr lang="en-US" sz="2000" dirty="0"/>
              </a:p>
              <a:p>
                <a:pPr marL="0" indent="0">
                  <a:buFont typeface="Arial" panose="020B0604020202020204" pitchFamily="34" charset="0"/>
                  <a:buNone/>
                </a:pPr>
                <a:r>
                  <a:rPr lang="en-US" sz="2000" dirty="0"/>
                  <a:t>Right:  26.32%</a:t>
                </a:r>
              </a:p>
              <a:p>
                <a:pPr marL="0" indent="0">
                  <a:buFont typeface="Arial" panose="020B0604020202020204" pitchFamily="34" charset="0"/>
                  <a:buNone/>
                </a:pPr>
                <a:r>
                  <a:rPr lang="en-US" sz="2000" dirty="0"/>
                  <a:t>Left:    21.05%</a:t>
                </a:r>
              </a:p>
              <a:p>
                <a:pPr marL="0" indent="0">
                  <a:buFont typeface="Arial" panose="020B0604020202020204" pitchFamily="34" charset="0"/>
                  <a:buNone/>
                </a:pPr>
                <a:r>
                  <a:rPr lang="en-US" sz="2000" dirty="0"/>
                  <a:t>Up:      26.32%</a:t>
                </a:r>
              </a:p>
              <a:p>
                <a:pPr marL="0" indent="0">
                  <a:buFont typeface="Arial" panose="020B0604020202020204" pitchFamily="34" charset="0"/>
                  <a:buNone/>
                </a:pPr>
                <a:r>
                  <a:rPr lang="en-US" sz="2000" dirty="0"/>
                  <a:t>Down: 26.32%  </a:t>
                </a:r>
              </a:p>
            </p:txBody>
          </p:sp>
        </mc:Choice>
        <mc:Fallback xmlns="">
          <p:sp>
            <p:nvSpPr>
              <p:cNvPr id="16" name="Content Placeholder 2">
                <a:extLst>
                  <a:ext uri="{FF2B5EF4-FFF2-40B4-BE49-F238E27FC236}">
                    <a16:creationId xmlns:a16="http://schemas.microsoft.com/office/drawing/2014/main" id="{7FF3C980-B242-059A-4796-4EF7AF076E93}"/>
                  </a:ext>
                </a:extLst>
              </p:cNvPr>
              <p:cNvSpPr txBox="1">
                <a:spLocks noRot="1" noChangeAspect="1" noMove="1" noResize="1" noEditPoints="1" noAdjustHandles="1" noChangeArrowheads="1" noChangeShapeType="1" noTextEdit="1"/>
              </p:cNvSpPr>
              <p:nvPr/>
            </p:nvSpPr>
            <p:spPr>
              <a:xfrm>
                <a:off x="8568670" y="4438398"/>
                <a:ext cx="1791957" cy="1936941"/>
              </a:xfrm>
              <a:prstGeom prst="rect">
                <a:avLst/>
              </a:prstGeom>
              <a:blipFill>
                <a:blip r:embed="rId10"/>
                <a:stretch>
                  <a:fillRect l="-3741" r="-3061"/>
                </a:stretch>
              </a:blipFill>
            </p:spPr>
            <p:txBody>
              <a:bodyPr/>
              <a:lstStyle/>
              <a:p>
                <a:r>
                  <a:rPr lang="en-US">
                    <a:noFill/>
                  </a:rPr>
                  <a:t> </a:t>
                </a:r>
              </a:p>
            </p:txBody>
          </p:sp>
        </mc:Fallback>
      </mc:AlternateContent>
      <p:graphicFrame>
        <p:nvGraphicFramePr>
          <p:cNvPr id="18" name="Table 17">
            <a:extLst>
              <a:ext uri="{FF2B5EF4-FFF2-40B4-BE49-F238E27FC236}">
                <a16:creationId xmlns:a16="http://schemas.microsoft.com/office/drawing/2014/main" id="{15BF525F-A306-8F58-FE6C-BA4CE7339F79}"/>
              </a:ext>
            </a:extLst>
          </p:cNvPr>
          <p:cNvGraphicFramePr>
            <a:graphicFrameLocks noGrp="1"/>
          </p:cNvGraphicFramePr>
          <p:nvPr>
            <p:extLst>
              <p:ext uri="{D42A27DB-BD31-4B8C-83A1-F6EECF244321}">
                <p14:modId xmlns:p14="http://schemas.microsoft.com/office/powerpoint/2010/main" val="2862161037"/>
              </p:ext>
            </p:extLst>
          </p:nvPr>
        </p:nvGraphicFramePr>
        <p:xfrm>
          <a:off x="6613359" y="1255748"/>
          <a:ext cx="2203718" cy="2195829"/>
        </p:xfrm>
        <a:graphic>
          <a:graphicData uri="http://schemas.openxmlformats.org/drawingml/2006/table">
            <a:tbl>
              <a:tblPr firstRow="1" bandRow="1">
                <a:tableStyleId>{2D5ABB26-0587-4C30-8999-92F81FD0307C}</a:tableStyleId>
              </a:tblPr>
              <a:tblGrid>
                <a:gridCol w="742950">
                  <a:extLst>
                    <a:ext uri="{9D8B030D-6E8A-4147-A177-3AD203B41FA5}">
                      <a16:colId xmlns:a16="http://schemas.microsoft.com/office/drawing/2014/main" val="722755510"/>
                    </a:ext>
                  </a:extLst>
                </a:gridCol>
                <a:gridCol w="701040">
                  <a:extLst>
                    <a:ext uri="{9D8B030D-6E8A-4147-A177-3AD203B41FA5}">
                      <a16:colId xmlns:a16="http://schemas.microsoft.com/office/drawing/2014/main" val="1272341787"/>
                    </a:ext>
                  </a:extLst>
                </a:gridCol>
                <a:gridCol w="759728">
                  <a:extLst>
                    <a:ext uri="{9D8B030D-6E8A-4147-A177-3AD203B41FA5}">
                      <a16:colId xmlns:a16="http://schemas.microsoft.com/office/drawing/2014/main" val="3946667277"/>
                    </a:ext>
                  </a:extLst>
                </a:gridCol>
              </a:tblGrid>
              <a:tr h="731943">
                <a:tc>
                  <a:txBody>
                    <a:bodyPr/>
                    <a:lstStyle/>
                    <a:p>
                      <a:pPr algn="l"/>
                      <a:r>
                        <a:rPr lang="en-US" dirty="0"/>
                        <a:t>7</a:t>
                      </a:r>
                    </a:p>
                  </a:txBody>
                  <a:tcPr/>
                </a:tc>
                <a:tc>
                  <a:txBody>
                    <a:bodyPr/>
                    <a:lstStyle/>
                    <a:p>
                      <a:pPr algn="l"/>
                      <a:r>
                        <a:rPr lang="en-US" dirty="0"/>
                        <a:t>8</a:t>
                      </a:r>
                    </a:p>
                  </a:txBody>
                  <a:tcPr/>
                </a:tc>
                <a:tc>
                  <a:txBody>
                    <a:bodyPr/>
                    <a:lstStyle/>
                    <a:p>
                      <a:pPr algn="l"/>
                      <a:r>
                        <a:rPr lang="en-US" dirty="0"/>
                        <a:t>9</a:t>
                      </a:r>
                    </a:p>
                  </a:txBody>
                  <a:tcPr/>
                </a:tc>
                <a:extLst>
                  <a:ext uri="{0D108BD9-81ED-4DB2-BD59-A6C34878D82A}">
                    <a16:rowId xmlns:a16="http://schemas.microsoft.com/office/drawing/2014/main" val="398204582"/>
                  </a:ext>
                </a:extLst>
              </a:tr>
              <a:tr h="731943">
                <a:tc>
                  <a:txBody>
                    <a:bodyPr/>
                    <a:lstStyle/>
                    <a:p>
                      <a:pPr algn="l"/>
                      <a:r>
                        <a:rPr lang="en-US" dirty="0"/>
                        <a:t>4</a:t>
                      </a:r>
                    </a:p>
                  </a:txBody>
                  <a:tcPr/>
                </a:tc>
                <a:tc>
                  <a:txBody>
                    <a:bodyPr/>
                    <a:lstStyle/>
                    <a:p>
                      <a:pPr algn="l"/>
                      <a:r>
                        <a:rPr lang="en-US" dirty="0"/>
                        <a:t>5</a:t>
                      </a:r>
                    </a:p>
                  </a:txBody>
                  <a:tcPr/>
                </a:tc>
                <a:tc>
                  <a:txBody>
                    <a:bodyPr/>
                    <a:lstStyle/>
                    <a:p>
                      <a:pPr algn="l"/>
                      <a:r>
                        <a:rPr lang="en-US" dirty="0"/>
                        <a:t>6</a:t>
                      </a:r>
                    </a:p>
                  </a:txBody>
                  <a:tcPr/>
                </a:tc>
                <a:extLst>
                  <a:ext uri="{0D108BD9-81ED-4DB2-BD59-A6C34878D82A}">
                    <a16:rowId xmlns:a16="http://schemas.microsoft.com/office/drawing/2014/main" val="93963989"/>
                  </a:ext>
                </a:extLst>
              </a:tr>
              <a:tr h="731943">
                <a:tc>
                  <a:txBody>
                    <a:bodyPr/>
                    <a:lstStyle/>
                    <a:p>
                      <a:pPr algn="l"/>
                      <a:r>
                        <a:rPr lang="en-US" dirty="0"/>
                        <a:t>1</a:t>
                      </a:r>
                    </a:p>
                  </a:txBody>
                  <a:tcPr/>
                </a:tc>
                <a:tc>
                  <a:txBody>
                    <a:bodyPr/>
                    <a:lstStyle/>
                    <a:p>
                      <a:pPr algn="l"/>
                      <a:r>
                        <a:rPr lang="en-US" dirty="0"/>
                        <a:t>2</a:t>
                      </a:r>
                    </a:p>
                  </a:txBody>
                  <a:tcPr/>
                </a:tc>
                <a:tc>
                  <a:txBody>
                    <a:bodyPr/>
                    <a:lstStyle/>
                    <a:p>
                      <a:pPr algn="l"/>
                      <a:r>
                        <a:rPr lang="en-US" dirty="0"/>
                        <a:t>3</a:t>
                      </a:r>
                    </a:p>
                  </a:txBody>
                  <a:tcPr/>
                </a:tc>
                <a:extLst>
                  <a:ext uri="{0D108BD9-81ED-4DB2-BD59-A6C34878D82A}">
                    <a16:rowId xmlns:a16="http://schemas.microsoft.com/office/drawing/2014/main" val="2402297787"/>
                  </a:ext>
                </a:extLst>
              </a:tr>
            </a:tbl>
          </a:graphicData>
        </a:graphic>
      </p:graphicFrame>
      <p:graphicFrame>
        <p:nvGraphicFramePr>
          <p:cNvPr id="22" name="Table 21">
            <a:extLst>
              <a:ext uri="{FF2B5EF4-FFF2-40B4-BE49-F238E27FC236}">
                <a16:creationId xmlns:a16="http://schemas.microsoft.com/office/drawing/2014/main" id="{316036F5-1F99-6FC2-2366-8F9365B8C846}"/>
              </a:ext>
            </a:extLst>
          </p:cNvPr>
          <p:cNvGraphicFramePr>
            <a:graphicFrameLocks noGrp="1"/>
          </p:cNvGraphicFramePr>
          <p:nvPr>
            <p:extLst>
              <p:ext uri="{D42A27DB-BD31-4B8C-83A1-F6EECF244321}">
                <p14:modId xmlns:p14="http://schemas.microsoft.com/office/powerpoint/2010/main" val="3605637566"/>
              </p:ext>
            </p:extLst>
          </p:nvPr>
        </p:nvGraphicFramePr>
        <p:xfrm>
          <a:off x="9421393" y="1255748"/>
          <a:ext cx="2203718" cy="2195829"/>
        </p:xfrm>
        <a:graphic>
          <a:graphicData uri="http://schemas.openxmlformats.org/drawingml/2006/table">
            <a:tbl>
              <a:tblPr firstRow="1" bandRow="1">
                <a:tableStyleId>{2D5ABB26-0587-4C30-8999-92F81FD0307C}</a:tableStyleId>
              </a:tblPr>
              <a:tblGrid>
                <a:gridCol w="742950">
                  <a:extLst>
                    <a:ext uri="{9D8B030D-6E8A-4147-A177-3AD203B41FA5}">
                      <a16:colId xmlns:a16="http://schemas.microsoft.com/office/drawing/2014/main" val="722755510"/>
                    </a:ext>
                  </a:extLst>
                </a:gridCol>
                <a:gridCol w="701040">
                  <a:extLst>
                    <a:ext uri="{9D8B030D-6E8A-4147-A177-3AD203B41FA5}">
                      <a16:colId xmlns:a16="http://schemas.microsoft.com/office/drawing/2014/main" val="1272341787"/>
                    </a:ext>
                  </a:extLst>
                </a:gridCol>
                <a:gridCol w="759728">
                  <a:extLst>
                    <a:ext uri="{9D8B030D-6E8A-4147-A177-3AD203B41FA5}">
                      <a16:colId xmlns:a16="http://schemas.microsoft.com/office/drawing/2014/main" val="3946667277"/>
                    </a:ext>
                  </a:extLst>
                </a:gridCol>
              </a:tblGrid>
              <a:tr h="731943">
                <a:tc>
                  <a:txBody>
                    <a:bodyPr/>
                    <a:lstStyle/>
                    <a:p>
                      <a:pPr algn="l"/>
                      <a:r>
                        <a:rPr lang="en-US" dirty="0"/>
                        <a:t>7</a:t>
                      </a:r>
                    </a:p>
                  </a:txBody>
                  <a:tcPr/>
                </a:tc>
                <a:tc>
                  <a:txBody>
                    <a:bodyPr/>
                    <a:lstStyle/>
                    <a:p>
                      <a:pPr algn="l"/>
                      <a:r>
                        <a:rPr lang="en-US" dirty="0"/>
                        <a:t>8</a:t>
                      </a:r>
                    </a:p>
                  </a:txBody>
                  <a:tcPr/>
                </a:tc>
                <a:tc>
                  <a:txBody>
                    <a:bodyPr/>
                    <a:lstStyle/>
                    <a:p>
                      <a:pPr algn="l"/>
                      <a:r>
                        <a:rPr lang="en-US" dirty="0"/>
                        <a:t>9</a:t>
                      </a:r>
                    </a:p>
                  </a:txBody>
                  <a:tcPr/>
                </a:tc>
                <a:extLst>
                  <a:ext uri="{0D108BD9-81ED-4DB2-BD59-A6C34878D82A}">
                    <a16:rowId xmlns:a16="http://schemas.microsoft.com/office/drawing/2014/main" val="398204582"/>
                  </a:ext>
                </a:extLst>
              </a:tr>
              <a:tr h="731943">
                <a:tc>
                  <a:txBody>
                    <a:bodyPr/>
                    <a:lstStyle/>
                    <a:p>
                      <a:pPr algn="l"/>
                      <a:r>
                        <a:rPr lang="en-US" dirty="0"/>
                        <a:t>4</a:t>
                      </a:r>
                    </a:p>
                  </a:txBody>
                  <a:tcPr/>
                </a:tc>
                <a:tc>
                  <a:txBody>
                    <a:bodyPr/>
                    <a:lstStyle/>
                    <a:p>
                      <a:pPr algn="l"/>
                      <a:r>
                        <a:rPr lang="en-US" dirty="0"/>
                        <a:t>5</a:t>
                      </a:r>
                    </a:p>
                  </a:txBody>
                  <a:tcPr/>
                </a:tc>
                <a:tc>
                  <a:txBody>
                    <a:bodyPr/>
                    <a:lstStyle/>
                    <a:p>
                      <a:pPr algn="l"/>
                      <a:r>
                        <a:rPr lang="en-US" dirty="0"/>
                        <a:t>6</a:t>
                      </a:r>
                    </a:p>
                  </a:txBody>
                  <a:tcPr/>
                </a:tc>
                <a:extLst>
                  <a:ext uri="{0D108BD9-81ED-4DB2-BD59-A6C34878D82A}">
                    <a16:rowId xmlns:a16="http://schemas.microsoft.com/office/drawing/2014/main" val="93963989"/>
                  </a:ext>
                </a:extLst>
              </a:tr>
              <a:tr h="731943">
                <a:tc>
                  <a:txBody>
                    <a:bodyPr/>
                    <a:lstStyle/>
                    <a:p>
                      <a:pPr algn="l"/>
                      <a:r>
                        <a:rPr lang="en-US" dirty="0"/>
                        <a:t>1</a:t>
                      </a:r>
                    </a:p>
                  </a:txBody>
                  <a:tcPr/>
                </a:tc>
                <a:tc>
                  <a:txBody>
                    <a:bodyPr/>
                    <a:lstStyle/>
                    <a:p>
                      <a:pPr algn="l"/>
                      <a:r>
                        <a:rPr lang="en-US" dirty="0"/>
                        <a:t>2</a:t>
                      </a:r>
                    </a:p>
                  </a:txBody>
                  <a:tcPr/>
                </a:tc>
                <a:tc>
                  <a:txBody>
                    <a:bodyPr/>
                    <a:lstStyle/>
                    <a:p>
                      <a:pPr algn="l"/>
                      <a:r>
                        <a:rPr lang="en-US" dirty="0"/>
                        <a:t>3</a:t>
                      </a:r>
                    </a:p>
                  </a:txBody>
                  <a:tcPr/>
                </a:tc>
                <a:extLst>
                  <a:ext uri="{0D108BD9-81ED-4DB2-BD59-A6C34878D82A}">
                    <a16:rowId xmlns:a16="http://schemas.microsoft.com/office/drawing/2014/main" val="2402297787"/>
                  </a:ext>
                </a:extLst>
              </a:tr>
            </a:tbl>
          </a:graphicData>
        </a:graphic>
      </p:graphicFrame>
      <p:sp>
        <p:nvSpPr>
          <p:cNvPr id="25" name="Content Placeholder 2">
            <a:extLst>
              <a:ext uri="{FF2B5EF4-FFF2-40B4-BE49-F238E27FC236}">
                <a16:creationId xmlns:a16="http://schemas.microsoft.com/office/drawing/2014/main" id="{D05B312C-244C-7FA3-D2D3-B0E97CF08F4A}"/>
              </a:ext>
            </a:extLst>
          </p:cNvPr>
          <p:cNvSpPr txBox="1">
            <a:spLocks/>
          </p:cNvSpPr>
          <p:nvPr/>
        </p:nvSpPr>
        <p:spPr>
          <a:xfrm>
            <a:off x="1675143" y="5176854"/>
            <a:ext cx="1517637" cy="61242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dirty="0"/>
              <a:t>(Subtract 5% and normalize.)</a:t>
            </a:r>
          </a:p>
        </p:txBody>
      </p:sp>
      <p:cxnSp>
        <p:nvCxnSpPr>
          <p:cNvPr id="34" name="Straight Connector 33">
            <a:extLst>
              <a:ext uri="{FF2B5EF4-FFF2-40B4-BE49-F238E27FC236}">
                <a16:creationId xmlns:a16="http://schemas.microsoft.com/office/drawing/2014/main" id="{B29801BA-FE01-3915-B770-556B9227D2AE}"/>
              </a:ext>
            </a:extLst>
          </p:cNvPr>
          <p:cNvCxnSpPr>
            <a:cxnSpLocks/>
          </p:cNvCxnSpPr>
          <p:nvPr/>
        </p:nvCxnSpPr>
        <p:spPr>
          <a:xfrm>
            <a:off x="787400" y="3839210"/>
            <a:ext cx="10617200" cy="0"/>
          </a:xfrm>
          <a:prstGeom prst="line">
            <a:avLst/>
          </a:prstGeom>
          <a:ln w="25400">
            <a:solidFill>
              <a:schemeClr val="tx1"/>
            </a:solidFill>
            <a:prstDash val="sysDot"/>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9020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8A753-A5F5-C084-F0A8-C3E83E560A90}"/>
            </a:ext>
          </a:extLst>
        </p:cNvPr>
        <p:cNvGrpSpPr/>
        <p:nvPr/>
      </p:nvGrpSpPr>
      <p:grpSpPr>
        <a:xfrm>
          <a:off x="0" y="0"/>
          <a:ext cx="0" cy="0"/>
          <a:chOff x="0" y="0"/>
          <a:chExt cx="0" cy="0"/>
        </a:xfrm>
      </p:grpSpPr>
      <p:sp>
        <p:nvSpPr>
          <p:cNvPr id="4" name="Title 12">
            <a:extLst>
              <a:ext uri="{FF2B5EF4-FFF2-40B4-BE49-F238E27FC236}">
                <a16:creationId xmlns:a16="http://schemas.microsoft.com/office/drawing/2014/main" id="{FA71640D-80C1-BBA0-54FC-31EB2CE0F83D}"/>
              </a:ext>
            </a:extLst>
          </p:cNvPr>
          <p:cNvSpPr txBox="1">
            <a:spLocks/>
          </p:cNvSpPr>
          <p:nvPr/>
        </p:nvSpPr>
        <p:spPr>
          <a:xfrm>
            <a:off x="471489" y="69597"/>
            <a:ext cx="11153622" cy="565671"/>
          </a:xfrm>
          <a:prstGeom prst="rect">
            <a:avLst/>
          </a:prstGeom>
          <a:ln>
            <a:noFill/>
          </a:ln>
        </p:spPr>
        <p:txBody>
          <a:bodyPr vert="horz" lIns="91440" tIns="45720" rIns="91440" bIns="45720" rtlCol="0" anchor="ctr">
            <a:noAutofit/>
          </a:bodyPr>
          <a:lst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a:lstStyle>
          <a:p>
            <a:pPr algn="ctr"/>
            <a:r>
              <a:rPr lang="en-US" sz="3600" dirty="0"/>
              <a:t>Agent-Environment Loop Example IV</a:t>
            </a:r>
          </a:p>
        </p:txBody>
      </p:sp>
      <p:sp>
        <p:nvSpPr>
          <p:cNvPr id="5" name="TextBox 4">
            <a:extLst>
              <a:ext uri="{FF2B5EF4-FFF2-40B4-BE49-F238E27FC236}">
                <a16:creationId xmlns:a16="http://schemas.microsoft.com/office/drawing/2014/main" id="{487E9BE1-F94D-2CE0-2911-41B00FA5BCAD}"/>
              </a:ext>
            </a:extLst>
          </p:cNvPr>
          <p:cNvSpPr txBox="1"/>
          <p:nvPr/>
        </p:nvSpPr>
        <p:spPr>
          <a:xfrm>
            <a:off x="756920" y="1361397"/>
            <a:ext cx="1543050" cy="1754326"/>
          </a:xfrm>
          <a:prstGeom prst="rect">
            <a:avLst/>
          </a:prstGeom>
          <a:noFill/>
          <a:ln>
            <a:noFill/>
          </a:ln>
        </p:spPr>
        <p:txBody>
          <a:bodyPr wrap="square">
            <a:spAutoFit/>
          </a:bodyPr>
          <a:lstStyle/>
          <a:p>
            <a:pPr>
              <a:buNone/>
            </a:pPr>
            <a:r>
              <a:rPr lang="en-US" b="1" dirty="0"/>
              <a:t>State</a:t>
            </a:r>
            <a:r>
              <a:rPr lang="en-US" dirty="0"/>
              <a:t>:</a:t>
            </a:r>
          </a:p>
          <a:p>
            <a:pPr>
              <a:buNone/>
            </a:pPr>
            <a:r>
              <a:rPr lang="en-US" b="1" dirty="0"/>
              <a:t>Policy</a:t>
            </a:r>
            <a:r>
              <a:rPr lang="en-US" dirty="0"/>
              <a:t>:</a:t>
            </a:r>
          </a:p>
          <a:p>
            <a:pPr>
              <a:buNone/>
            </a:pPr>
            <a:r>
              <a:rPr lang="en-US" b="1" dirty="0"/>
              <a:t>Action</a:t>
            </a:r>
            <a:r>
              <a:rPr lang="en-US" dirty="0"/>
              <a:t>:</a:t>
            </a:r>
          </a:p>
          <a:p>
            <a:pPr>
              <a:buNone/>
            </a:pPr>
            <a:r>
              <a:rPr lang="en-US" b="1" dirty="0"/>
              <a:t>Environment</a:t>
            </a:r>
            <a:r>
              <a:rPr lang="en-US" dirty="0"/>
              <a:t>:</a:t>
            </a:r>
          </a:p>
          <a:p>
            <a:pPr>
              <a:buNone/>
            </a:pPr>
            <a:r>
              <a:rPr lang="en-US" b="1" dirty="0"/>
              <a:t>Reward</a:t>
            </a:r>
            <a:r>
              <a:rPr lang="en-US" dirty="0"/>
              <a:t>:</a:t>
            </a:r>
          </a:p>
          <a:p>
            <a:pPr>
              <a:buNone/>
            </a:pPr>
            <a:r>
              <a:rPr lang="en-US" b="1" dirty="0"/>
              <a:t>New State</a:t>
            </a:r>
            <a:r>
              <a:rPr lang="en-US" dirty="0"/>
              <a:t>:</a:t>
            </a:r>
          </a:p>
        </p:txBody>
      </p:sp>
      <p:pic>
        <p:nvPicPr>
          <p:cNvPr id="19" name="Picture 18">
            <a:extLst>
              <a:ext uri="{FF2B5EF4-FFF2-40B4-BE49-F238E27FC236}">
                <a16:creationId xmlns:a16="http://schemas.microsoft.com/office/drawing/2014/main" id="{21EEDFAE-1191-97F0-20D6-4275DAE68128}"/>
              </a:ext>
            </a:extLst>
          </p:cNvPr>
          <p:cNvPicPr>
            <a:picLocks noChangeAspect="1"/>
          </p:cNvPicPr>
          <p:nvPr/>
        </p:nvPicPr>
        <p:blipFill>
          <a:blip r:embed="rId2"/>
          <a:stretch>
            <a:fillRect/>
          </a:stretch>
        </p:blipFill>
        <p:spPr>
          <a:xfrm>
            <a:off x="9415043" y="1048638"/>
            <a:ext cx="2210068" cy="2210068"/>
          </a:xfrm>
          <a:prstGeom prst="rect">
            <a:avLst/>
          </a:prstGeom>
        </p:spPr>
      </p:pic>
      <p:pic>
        <p:nvPicPr>
          <p:cNvPr id="20" name="Graphic 19" descr="Robot with solid fill">
            <a:extLst>
              <a:ext uri="{FF2B5EF4-FFF2-40B4-BE49-F238E27FC236}">
                <a16:creationId xmlns:a16="http://schemas.microsoft.com/office/drawing/2014/main" id="{F58319E0-9AC4-D55D-EB57-6F2AF96105D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33635" y="1917682"/>
            <a:ext cx="648726" cy="648726"/>
          </a:xfrm>
          <a:prstGeom prst="rect">
            <a:avLst/>
          </a:prstGeom>
        </p:spPr>
      </p:pic>
      <p:pic>
        <p:nvPicPr>
          <p:cNvPr id="21" name="Graphic 20" descr="Race Flag with solid fill">
            <a:extLst>
              <a:ext uri="{FF2B5EF4-FFF2-40B4-BE49-F238E27FC236}">
                <a16:creationId xmlns:a16="http://schemas.microsoft.com/office/drawing/2014/main" id="{71B5003C-4EE6-4A81-430F-733EE2F251F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983114" y="1244585"/>
            <a:ext cx="549768" cy="549768"/>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7AE968F-8FF1-7C60-1968-FFC72E00F95B}"/>
                  </a:ext>
                </a:extLst>
              </p:cNvPr>
              <p:cNvSpPr txBox="1"/>
              <p:nvPr/>
            </p:nvSpPr>
            <p:spPr>
              <a:xfrm>
                <a:off x="2380513" y="1361397"/>
                <a:ext cx="4371341" cy="1754326"/>
              </a:xfrm>
              <a:prstGeom prst="rect">
                <a:avLst/>
              </a:prstGeom>
              <a:noFill/>
              <a:ln>
                <a:noFill/>
              </a:ln>
            </p:spPr>
            <p:txBody>
              <a:bodyPr wrap="square">
                <a:spAutoFit/>
              </a:bodyPr>
              <a:lstStyle/>
              <a:p>
                <a:pPr>
                  <a:buNone/>
                </a:pPr>
                <a:r>
                  <a:rPr lang="en-US" dirty="0"/>
                  <a:t>Position 5 (center)</a:t>
                </a:r>
              </a:p>
              <a:p>
                <a:pPr>
                  <a:buNone/>
                </a:pPr>
                <a14:m>
                  <m:oMath xmlns:m="http://schemas.openxmlformats.org/officeDocument/2006/math">
                    <m:r>
                      <a:rPr lang="en-US" b="0" i="1" dirty="0" smtClean="0">
                        <a:latin typeface="Cambria Math" panose="02040503050406030204" pitchFamily="18" charset="0"/>
                      </a:rPr>
                      <m:t>𝜋</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5</m:t>
                        </m:r>
                      </m:e>
                    </m:d>
                  </m:oMath>
                </a14:m>
                <a:r>
                  <a:rPr lang="en-US" dirty="0"/>
                  <a:t> = Learned 80% “Right” </a:t>
                </a:r>
                <a:r>
                  <a:rPr lang="en-US" dirty="0">
                    <a:sym typeface="Wingdings" panose="05000000000000000000" pitchFamily="2" charset="2"/>
                  </a:rPr>
                  <a:t> Move Right</a:t>
                </a:r>
                <a:endParaRPr lang="en-US" dirty="0"/>
              </a:p>
              <a:p>
                <a:pPr>
                  <a:buNone/>
                </a:pPr>
                <a:r>
                  <a:rPr lang="en-US" dirty="0"/>
                  <a:t>Move Right</a:t>
                </a:r>
              </a:p>
              <a:p>
                <a:pPr>
                  <a:buNone/>
                </a:pPr>
                <a:r>
                  <a:rPr lang="en-US" dirty="0"/>
                  <a:t>Moves to Position 6 (mid-right)</a:t>
                </a:r>
              </a:p>
              <a:p>
                <a:pPr>
                  <a:buNone/>
                </a:pPr>
                <a:r>
                  <a:rPr lang="en-US" dirty="0"/>
                  <a:t>-1 (step penalty)</a:t>
                </a:r>
              </a:p>
              <a:p>
                <a:pPr>
                  <a:buNone/>
                </a:pPr>
                <a:r>
                  <a:rPr lang="en-US" dirty="0"/>
                  <a:t>Position 6</a:t>
                </a:r>
              </a:p>
            </p:txBody>
          </p:sp>
        </mc:Choice>
        <mc:Fallback xmlns="">
          <p:sp>
            <p:nvSpPr>
              <p:cNvPr id="6" name="TextBox 5">
                <a:extLst>
                  <a:ext uri="{FF2B5EF4-FFF2-40B4-BE49-F238E27FC236}">
                    <a16:creationId xmlns:a16="http://schemas.microsoft.com/office/drawing/2014/main" id="{57AE968F-8FF1-7C60-1968-FFC72E00F95B}"/>
                  </a:ext>
                </a:extLst>
              </p:cNvPr>
              <p:cNvSpPr txBox="1">
                <a:spLocks noRot="1" noChangeAspect="1" noMove="1" noResize="1" noEditPoints="1" noAdjustHandles="1" noChangeArrowheads="1" noChangeShapeType="1" noTextEdit="1"/>
              </p:cNvSpPr>
              <p:nvPr/>
            </p:nvSpPr>
            <p:spPr>
              <a:xfrm>
                <a:off x="2380513" y="1361397"/>
                <a:ext cx="4371341" cy="1754326"/>
              </a:xfrm>
              <a:prstGeom prst="rect">
                <a:avLst/>
              </a:prstGeom>
              <a:blipFill>
                <a:blip r:embed="rId7"/>
                <a:stretch>
                  <a:fillRect l="-1255" t="-1736" b="-4514"/>
                </a:stretch>
              </a:blipFill>
              <a:ln>
                <a:noFill/>
              </a:ln>
            </p:spPr>
            <p:txBody>
              <a:bodyPr/>
              <a:lstStyle/>
              <a:p>
                <a:r>
                  <a:rPr lang="en-US">
                    <a:noFill/>
                  </a:rPr>
                  <a:t> </a:t>
                </a:r>
              </a:p>
            </p:txBody>
          </p:sp>
        </mc:Fallback>
      </mc:AlternateContent>
      <p:sp>
        <p:nvSpPr>
          <p:cNvPr id="23" name="TextBox 22">
            <a:extLst>
              <a:ext uri="{FF2B5EF4-FFF2-40B4-BE49-F238E27FC236}">
                <a16:creationId xmlns:a16="http://schemas.microsoft.com/office/drawing/2014/main" id="{B5CB0736-B209-C521-D482-7ED176347D5C}"/>
              </a:ext>
            </a:extLst>
          </p:cNvPr>
          <p:cNvSpPr txBox="1"/>
          <p:nvPr/>
        </p:nvSpPr>
        <p:spPr>
          <a:xfrm flipH="1">
            <a:off x="8897620" y="1969006"/>
            <a:ext cx="436880" cy="369332"/>
          </a:xfrm>
          <a:prstGeom prst="rect">
            <a:avLst/>
          </a:prstGeom>
          <a:noFill/>
          <a:ln>
            <a:noFill/>
          </a:ln>
        </p:spPr>
        <p:txBody>
          <a:bodyPr wrap="square">
            <a:spAutoFit/>
          </a:bodyPr>
          <a:lstStyle/>
          <a:p>
            <a:r>
              <a:rPr lang="en-US" dirty="0"/>
              <a:t>→</a:t>
            </a:r>
          </a:p>
        </p:txBody>
      </p:sp>
      <p:grpSp>
        <p:nvGrpSpPr>
          <p:cNvPr id="2" name="Group 1">
            <a:extLst>
              <a:ext uri="{FF2B5EF4-FFF2-40B4-BE49-F238E27FC236}">
                <a16:creationId xmlns:a16="http://schemas.microsoft.com/office/drawing/2014/main" id="{558B081E-A977-9FB5-67E9-77A3EFCF9656}"/>
              </a:ext>
            </a:extLst>
          </p:cNvPr>
          <p:cNvGrpSpPr/>
          <p:nvPr/>
        </p:nvGrpSpPr>
        <p:grpSpPr>
          <a:xfrm>
            <a:off x="6607009" y="1048638"/>
            <a:ext cx="2210068" cy="2210068"/>
            <a:chOff x="9415043" y="3787664"/>
            <a:chExt cx="2210068" cy="2210068"/>
          </a:xfrm>
        </p:grpSpPr>
        <p:pic>
          <p:nvPicPr>
            <p:cNvPr id="3" name="Picture 2">
              <a:extLst>
                <a:ext uri="{FF2B5EF4-FFF2-40B4-BE49-F238E27FC236}">
                  <a16:creationId xmlns:a16="http://schemas.microsoft.com/office/drawing/2014/main" id="{F86605C3-1745-2A56-E8F8-870F7B8195B4}"/>
                </a:ext>
              </a:extLst>
            </p:cNvPr>
            <p:cNvPicPr>
              <a:picLocks noChangeAspect="1"/>
            </p:cNvPicPr>
            <p:nvPr/>
          </p:nvPicPr>
          <p:blipFill>
            <a:blip r:embed="rId2"/>
            <a:stretch>
              <a:fillRect/>
            </a:stretch>
          </p:blipFill>
          <p:spPr>
            <a:xfrm>
              <a:off x="9415043" y="3787664"/>
              <a:ext cx="2210068" cy="2210068"/>
            </a:xfrm>
            <a:prstGeom prst="rect">
              <a:avLst/>
            </a:prstGeom>
          </p:spPr>
        </p:pic>
        <p:pic>
          <p:nvPicPr>
            <p:cNvPr id="7" name="Graphic 6" descr="Robot with solid fill">
              <a:extLst>
                <a:ext uri="{FF2B5EF4-FFF2-40B4-BE49-F238E27FC236}">
                  <a16:creationId xmlns:a16="http://schemas.microsoft.com/office/drawing/2014/main" id="{88BD9921-8645-3A38-E17E-06FA570AB05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195714" y="4562370"/>
              <a:ext cx="648726" cy="648726"/>
            </a:xfrm>
            <a:prstGeom prst="rect">
              <a:avLst/>
            </a:prstGeom>
          </p:spPr>
        </p:pic>
      </p:grpSp>
      <p:pic>
        <p:nvPicPr>
          <p:cNvPr id="9" name="Graphic 8" descr="Race Flag with solid fill">
            <a:extLst>
              <a:ext uri="{FF2B5EF4-FFF2-40B4-BE49-F238E27FC236}">
                <a16:creationId xmlns:a16="http://schemas.microsoft.com/office/drawing/2014/main" id="{55806ED9-68E2-BE36-D92F-BB5CDC6D538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75080" y="1244585"/>
            <a:ext cx="549768" cy="549768"/>
          </a:xfrm>
          <a:prstGeom prst="rect">
            <a:avLst/>
          </a:prstGeom>
        </p:spPr>
      </p:pic>
      <p:cxnSp>
        <p:nvCxnSpPr>
          <p:cNvPr id="8" name="Straight Connector 7">
            <a:extLst>
              <a:ext uri="{FF2B5EF4-FFF2-40B4-BE49-F238E27FC236}">
                <a16:creationId xmlns:a16="http://schemas.microsoft.com/office/drawing/2014/main" id="{6AF1E5DC-B4CD-FB83-3431-A6CDD8309B8A}"/>
              </a:ext>
            </a:extLst>
          </p:cNvPr>
          <p:cNvCxnSpPr>
            <a:cxnSpLocks/>
          </p:cNvCxnSpPr>
          <p:nvPr/>
        </p:nvCxnSpPr>
        <p:spPr>
          <a:xfrm>
            <a:off x="787400" y="783590"/>
            <a:ext cx="10617200" cy="0"/>
          </a:xfrm>
          <a:prstGeom prst="line">
            <a:avLst/>
          </a:prstGeom>
          <a:ln w="25400">
            <a:solidFill>
              <a:schemeClr val="tx1"/>
            </a:solidFill>
            <a:prstDash val="sysDot"/>
          </a:ln>
        </p:spPr>
        <p:style>
          <a:lnRef idx="1">
            <a:schemeClr val="accent2"/>
          </a:lnRef>
          <a:fillRef idx="0">
            <a:schemeClr val="accent2"/>
          </a:fillRef>
          <a:effectRef idx="0">
            <a:schemeClr val="accent2"/>
          </a:effectRef>
          <a:fontRef idx="minor">
            <a:schemeClr val="tx1"/>
          </a:fontRef>
        </p:style>
      </p:cxnSp>
      <p:sp>
        <p:nvSpPr>
          <p:cNvPr id="11" name="TextBox 10">
            <a:extLst>
              <a:ext uri="{FF2B5EF4-FFF2-40B4-BE49-F238E27FC236}">
                <a16:creationId xmlns:a16="http://schemas.microsoft.com/office/drawing/2014/main" id="{D8049C34-B05B-B942-2EE8-4733549CF22C}"/>
              </a:ext>
            </a:extLst>
          </p:cNvPr>
          <p:cNvSpPr txBox="1"/>
          <p:nvPr/>
        </p:nvSpPr>
        <p:spPr>
          <a:xfrm>
            <a:off x="1382400" y="863972"/>
            <a:ext cx="3215640" cy="369332"/>
          </a:xfrm>
          <a:prstGeom prst="rect">
            <a:avLst/>
          </a:prstGeom>
          <a:noFill/>
          <a:ln>
            <a:noFill/>
          </a:ln>
        </p:spPr>
        <p:txBody>
          <a:bodyPr wrap="square">
            <a:spAutoFit/>
          </a:bodyPr>
          <a:lstStyle/>
          <a:p>
            <a:pPr>
              <a:buNone/>
            </a:pPr>
            <a:r>
              <a:rPr lang="en-US" b="1" dirty="0"/>
              <a:t>Restart Episode: 50</a:t>
            </a:r>
            <a:r>
              <a:rPr lang="en-US" b="1" baseline="30000" dirty="0"/>
              <a:t>th</a:t>
            </a:r>
            <a:r>
              <a:rPr lang="en-US" b="1" dirty="0"/>
              <a:t> Iteration</a:t>
            </a:r>
          </a:p>
        </p:txBody>
      </p:sp>
      <p:sp>
        <p:nvSpPr>
          <p:cNvPr id="12" name="TextBox 11">
            <a:extLst>
              <a:ext uri="{FF2B5EF4-FFF2-40B4-BE49-F238E27FC236}">
                <a16:creationId xmlns:a16="http://schemas.microsoft.com/office/drawing/2014/main" id="{B796379A-84BA-691B-AD61-C273D2D7CB41}"/>
              </a:ext>
            </a:extLst>
          </p:cNvPr>
          <p:cNvSpPr txBox="1"/>
          <p:nvPr/>
        </p:nvSpPr>
        <p:spPr>
          <a:xfrm>
            <a:off x="756920" y="3765965"/>
            <a:ext cx="1543050" cy="1754326"/>
          </a:xfrm>
          <a:prstGeom prst="rect">
            <a:avLst/>
          </a:prstGeom>
          <a:noFill/>
          <a:ln>
            <a:noFill/>
          </a:ln>
        </p:spPr>
        <p:txBody>
          <a:bodyPr wrap="square">
            <a:spAutoFit/>
          </a:bodyPr>
          <a:lstStyle/>
          <a:p>
            <a:pPr>
              <a:buNone/>
            </a:pPr>
            <a:r>
              <a:rPr lang="en-US" b="1" dirty="0"/>
              <a:t>State</a:t>
            </a:r>
            <a:r>
              <a:rPr lang="en-US" dirty="0"/>
              <a:t>:</a:t>
            </a:r>
          </a:p>
          <a:p>
            <a:pPr>
              <a:buNone/>
            </a:pPr>
            <a:r>
              <a:rPr lang="en-US" b="1" dirty="0"/>
              <a:t>Policy</a:t>
            </a:r>
            <a:r>
              <a:rPr lang="en-US" dirty="0"/>
              <a:t>:</a:t>
            </a:r>
          </a:p>
          <a:p>
            <a:pPr>
              <a:buNone/>
            </a:pPr>
            <a:r>
              <a:rPr lang="en-US" b="1" dirty="0"/>
              <a:t>Action</a:t>
            </a:r>
            <a:r>
              <a:rPr lang="en-US" dirty="0"/>
              <a:t>:</a:t>
            </a:r>
          </a:p>
          <a:p>
            <a:pPr>
              <a:buNone/>
            </a:pPr>
            <a:r>
              <a:rPr lang="en-US" b="1" dirty="0"/>
              <a:t>Environment</a:t>
            </a:r>
            <a:r>
              <a:rPr lang="en-US" dirty="0"/>
              <a:t>:</a:t>
            </a:r>
          </a:p>
          <a:p>
            <a:pPr>
              <a:buNone/>
            </a:pPr>
            <a:r>
              <a:rPr lang="en-US" b="1" dirty="0"/>
              <a:t>Reward</a:t>
            </a:r>
            <a:r>
              <a:rPr lang="en-US" dirty="0"/>
              <a:t>:</a:t>
            </a:r>
          </a:p>
          <a:p>
            <a:pPr>
              <a:buNone/>
            </a:pPr>
            <a:r>
              <a:rPr lang="en-US" b="1" dirty="0"/>
              <a:t>New State</a:t>
            </a:r>
            <a:r>
              <a:rPr lang="en-US" dirty="0"/>
              <a:t>:</a:t>
            </a:r>
          </a:p>
        </p:txBody>
      </p:sp>
      <p:pic>
        <p:nvPicPr>
          <p:cNvPr id="13" name="Picture 12">
            <a:extLst>
              <a:ext uri="{FF2B5EF4-FFF2-40B4-BE49-F238E27FC236}">
                <a16:creationId xmlns:a16="http://schemas.microsoft.com/office/drawing/2014/main" id="{295B9CEC-35BF-C4F6-7331-790A91DD3980}"/>
              </a:ext>
            </a:extLst>
          </p:cNvPr>
          <p:cNvPicPr>
            <a:picLocks noChangeAspect="1"/>
          </p:cNvPicPr>
          <p:nvPr/>
        </p:nvPicPr>
        <p:blipFill>
          <a:blip r:embed="rId2"/>
          <a:stretch>
            <a:fillRect/>
          </a:stretch>
        </p:blipFill>
        <p:spPr>
          <a:xfrm>
            <a:off x="9415043" y="3826080"/>
            <a:ext cx="2210068" cy="2210068"/>
          </a:xfrm>
          <a:prstGeom prst="rect">
            <a:avLst/>
          </a:prstGeom>
        </p:spPr>
      </p:pic>
      <p:pic>
        <p:nvPicPr>
          <p:cNvPr id="14" name="Graphic 13" descr="Robot with solid fill">
            <a:extLst>
              <a:ext uri="{FF2B5EF4-FFF2-40B4-BE49-F238E27FC236}">
                <a16:creationId xmlns:a16="http://schemas.microsoft.com/office/drawing/2014/main" id="{93F81966-14A0-360F-8FEB-3F2DE59AAFC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33635" y="3877404"/>
            <a:ext cx="648726" cy="648726"/>
          </a:xfrm>
          <a:prstGeom prst="rect">
            <a:avLst/>
          </a:prstGeom>
        </p:spPr>
      </p:pic>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E8CB7FC-F4EE-3E5B-B1DB-3C274DB4734F}"/>
                  </a:ext>
                </a:extLst>
              </p:cNvPr>
              <p:cNvSpPr txBox="1"/>
              <p:nvPr/>
            </p:nvSpPr>
            <p:spPr>
              <a:xfrm>
                <a:off x="2380513" y="3765965"/>
                <a:ext cx="4371341" cy="1754326"/>
              </a:xfrm>
              <a:prstGeom prst="rect">
                <a:avLst/>
              </a:prstGeom>
              <a:noFill/>
              <a:ln>
                <a:noFill/>
              </a:ln>
            </p:spPr>
            <p:txBody>
              <a:bodyPr wrap="square">
                <a:spAutoFit/>
              </a:bodyPr>
              <a:lstStyle/>
              <a:p>
                <a:pPr>
                  <a:buNone/>
                </a:pPr>
                <a:r>
                  <a:rPr lang="en-US" dirty="0"/>
                  <a:t>Position 6 (mid-right)</a:t>
                </a:r>
              </a:p>
              <a:p>
                <a:pPr>
                  <a:buNone/>
                </a:pPr>
                <a14:m>
                  <m:oMath xmlns:m="http://schemas.openxmlformats.org/officeDocument/2006/math">
                    <m:r>
                      <a:rPr lang="en-US" b="0" i="1" dirty="0" smtClean="0">
                        <a:latin typeface="Cambria Math" panose="02040503050406030204" pitchFamily="18" charset="0"/>
                      </a:rPr>
                      <m:t>𝜋</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6</m:t>
                        </m:r>
                      </m:e>
                    </m:d>
                  </m:oMath>
                </a14:m>
                <a:r>
                  <a:rPr lang="en-US" dirty="0"/>
                  <a:t> = Learned 90% “Up” </a:t>
                </a:r>
                <a:r>
                  <a:rPr lang="en-US" dirty="0">
                    <a:sym typeface="Wingdings" panose="05000000000000000000" pitchFamily="2" charset="2"/>
                  </a:rPr>
                  <a:t> Move Up</a:t>
                </a:r>
                <a:endParaRPr lang="en-US" dirty="0"/>
              </a:p>
              <a:p>
                <a:pPr>
                  <a:buNone/>
                </a:pPr>
                <a:r>
                  <a:rPr lang="en-US" dirty="0"/>
                  <a:t>Move Up</a:t>
                </a:r>
              </a:p>
              <a:p>
                <a:pPr>
                  <a:buNone/>
                </a:pPr>
                <a:r>
                  <a:rPr lang="en-US" dirty="0"/>
                  <a:t>Moves to Position 9 (upper-right)</a:t>
                </a:r>
              </a:p>
              <a:p>
                <a:pPr>
                  <a:buNone/>
                </a:pPr>
                <a:r>
                  <a:rPr lang="en-US" dirty="0"/>
                  <a:t>+10 (GOAL)</a:t>
                </a:r>
              </a:p>
              <a:p>
                <a:pPr algn="ctr">
                  <a:buNone/>
                </a:pPr>
                <a:r>
                  <a:rPr lang="en-US" b="1" dirty="0"/>
                  <a:t>Episode Ends: SUCCESS</a:t>
                </a:r>
              </a:p>
            </p:txBody>
          </p:sp>
        </mc:Choice>
        <mc:Fallback xmlns="">
          <p:sp>
            <p:nvSpPr>
              <p:cNvPr id="16" name="TextBox 15">
                <a:extLst>
                  <a:ext uri="{FF2B5EF4-FFF2-40B4-BE49-F238E27FC236}">
                    <a16:creationId xmlns:a16="http://schemas.microsoft.com/office/drawing/2014/main" id="{5E8CB7FC-F4EE-3E5B-B1DB-3C274DB4734F}"/>
                  </a:ext>
                </a:extLst>
              </p:cNvPr>
              <p:cNvSpPr txBox="1">
                <a:spLocks noRot="1" noChangeAspect="1" noMove="1" noResize="1" noEditPoints="1" noAdjustHandles="1" noChangeArrowheads="1" noChangeShapeType="1" noTextEdit="1"/>
              </p:cNvSpPr>
              <p:nvPr/>
            </p:nvSpPr>
            <p:spPr>
              <a:xfrm>
                <a:off x="2380513" y="3765965"/>
                <a:ext cx="4371341" cy="1754326"/>
              </a:xfrm>
              <a:prstGeom prst="rect">
                <a:avLst/>
              </a:prstGeom>
              <a:blipFill>
                <a:blip r:embed="rId8"/>
                <a:stretch>
                  <a:fillRect l="-1255" t="-2083" b="-4514"/>
                </a:stretch>
              </a:blipFill>
              <a:ln>
                <a:noFill/>
              </a:ln>
            </p:spPr>
            <p:txBody>
              <a:bodyPr/>
              <a:lstStyle/>
              <a:p>
                <a:r>
                  <a:rPr lang="en-US">
                    <a:noFill/>
                  </a:rPr>
                  <a:t> </a:t>
                </a:r>
              </a:p>
            </p:txBody>
          </p:sp>
        </mc:Fallback>
      </mc:AlternateContent>
      <p:cxnSp>
        <p:nvCxnSpPr>
          <p:cNvPr id="26" name="Straight Connector 25">
            <a:extLst>
              <a:ext uri="{FF2B5EF4-FFF2-40B4-BE49-F238E27FC236}">
                <a16:creationId xmlns:a16="http://schemas.microsoft.com/office/drawing/2014/main" id="{386E8B2B-564E-3BF0-B3B2-1B5F81836F2C}"/>
              </a:ext>
            </a:extLst>
          </p:cNvPr>
          <p:cNvCxnSpPr>
            <a:cxnSpLocks/>
          </p:cNvCxnSpPr>
          <p:nvPr/>
        </p:nvCxnSpPr>
        <p:spPr>
          <a:xfrm>
            <a:off x="787400" y="3496563"/>
            <a:ext cx="10617200" cy="0"/>
          </a:xfrm>
          <a:prstGeom prst="line">
            <a:avLst/>
          </a:prstGeom>
          <a:ln w="25400">
            <a:solidFill>
              <a:schemeClr val="tx1"/>
            </a:solidFill>
            <a:prstDash val="sysDot"/>
          </a:ln>
        </p:spPr>
        <p:style>
          <a:lnRef idx="1">
            <a:schemeClr val="accent2"/>
          </a:lnRef>
          <a:fillRef idx="0">
            <a:schemeClr val="accent2"/>
          </a:fillRef>
          <a:effectRef idx="0">
            <a:schemeClr val="accent2"/>
          </a:effectRef>
          <a:fontRef idx="minor">
            <a:schemeClr val="tx1"/>
          </a:fontRef>
        </p:style>
      </p:cxnSp>
      <p:cxnSp>
        <p:nvCxnSpPr>
          <p:cNvPr id="28" name="Straight Arrow Connector 27">
            <a:extLst>
              <a:ext uri="{FF2B5EF4-FFF2-40B4-BE49-F238E27FC236}">
                <a16:creationId xmlns:a16="http://schemas.microsoft.com/office/drawing/2014/main" id="{EE503E0A-E1F5-8E9F-683C-C93BFBFBEBF5}"/>
              </a:ext>
            </a:extLst>
          </p:cNvPr>
          <p:cNvCxnSpPr>
            <a:cxnSpLocks/>
          </p:cNvCxnSpPr>
          <p:nvPr/>
        </p:nvCxnSpPr>
        <p:spPr>
          <a:xfrm>
            <a:off x="10527697" y="3336121"/>
            <a:ext cx="0" cy="419100"/>
          </a:xfrm>
          <a:prstGeom prst="straightConnector1">
            <a:avLst/>
          </a:prstGeom>
          <a:ln w="19050">
            <a:solidFill>
              <a:schemeClr val="tx1"/>
            </a:solidFill>
            <a:tailEnd type="triangle"/>
          </a:ln>
        </p:spPr>
        <p:style>
          <a:lnRef idx="1">
            <a:schemeClr val="accent2"/>
          </a:lnRef>
          <a:fillRef idx="0">
            <a:schemeClr val="accent2"/>
          </a:fillRef>
          <a:effectRef idx="0">
            <a:schemeClr val="accent2"/>
          </a:effectRef>
          <a:fontRef idx="minor">
            <a:schemeClr val="tx1"/>
          </a:fontRef>
        </p:style>
      </p:cxnSp>
      <p:graphicFrame>
        <p:nvGraphicFramePr>
          <p:cNvPr id="30" name="Table 29">
            <a:extLst>
              <a:ext uri="{FF2B5EF4-FFF2-40B4-BE49-F238E27FC236}">
                <a16:creationId xmlns:a16="http://schemas.microsoft.com/office/drawing/2014/main" id="{AF700AE2-4033-2B27-40C1-63746FC597F3}"/>
              </a:ext>
            </a:extLst>
          </p:cNvPr>
          <p:cNvGraphicFramePr>
            <a:graphicFrameLocks noGrp="1"/>
          </p:cNvGraphicFramePr>
          <p:nvPr>
            <p:extLst>
              <p:ext uri="{D42A27DB-BD31-4B8C-83A1-F6EECF244321}">
                <p14:modId xmlns:p14="http://schemas.microsoft.com/office/powerpoint/2010/main" val="2645786788"/>
              </p:ext>
            </p:extLst>
          </p:nvPr>
        </p:nvGraphicFramePr>
        <p:xfrm>
          <a:off x="6613359" y="1063629"/>
          <a:ext cx="2203718" cy="2195829"/>
        </p:xfrm>
        <a:graphic>
          <a:graphicData uri="http://schemas.openxmlformats.org/drawingml/2006/table">
            <a:tbl>
              <a:tblPr firstRow="1" bandRow="1">
                <a:tableStyleId>{2D5ABB26-0587-4C30-8999-92F81FD0307C}</a:tableStyleId>
              </a:tblPr>
              <a:tblGrid>
                <a:gridCol w="742950">
                  <a:extLst>
                    <a:ext uri="{9D8B030D-6E8A-4147-A177-3AD203B41FA5}">
                      <a16:colId xmlns:a16="http://schemas.microsoft.com/office/drawing/2014/main" val="722755510"/>
                    </a:ext>
                  </a:extLst>
                </a:gridCol>
                <a:gridCol w="701040">
                  <a:extLst>
                    <a:ext uri="{9D8B030D-6E8A-4147-A177-3AD203B41FA5}">
                      <a16:colId xmlns:a16="http://schemas.microsoft.com/office/drawing/2014/main" val="1272341787"/>
                    </a:ext>
                  </a:extLst>
                </a:gridCol>
                <a:gridCol w="759728">
                  <a:extLst>
                    <a:ext uri="{9D8B030D-6E8A-4147-A177-3AD203B41FA5}">
                      <a16:colId xmlns:a16="http://schemas.microsoft.com/office/drawing/2014/main" val="3946667277"/>
                    </a:ext>
                  </a:extLst>
                </a:gridCol>
              </a:tblGrid>
              <a:tr h="731943">
                <a:tc>
                  <a:txBody>
                    <a:bodyPr/>
                    <a:lstStyle/>
                    <a:p>
                      <a:pPr algn="l"/>
                      <a:r>
                        <a:rPr lang="en-US" dirty="0"/>
                        <a:t>7</a:t>
                      </a:r>
                    </a:p>
                  </a:txBody>
                  <a:tcPr/>
                </a:tc>
                <a:tc>
                  <a:txBody>
                    <a:bodyPr/>
                    <a:lstStyle/>
                    <a:p>
                      <a:pPr algn="l"/>
                      <a:r>
                        <a:rPr lang="en-US" dirty="0"/>
                        <a:t>8</a:t>
                      </a:r>
                    </a:p>
                  </a:txBody>
                  <a:tcPr/>
                </a:tc>
                <a:tc>
                  <a:txBody>
                    <a:bodyPr/>
                    <a:lstStyle/>
                    <a:p>
                      <a:pPr algn="l"/>
                      <a:r>
                        <a:rPr lang="en-US" dirty="0"/>
                        <a:t>9</a:t>
                      </a:r>
                    </a:p>
                  </a:txBody>
                  <a:tcPr/>
                </a:tc>
                <a:extLst>
                  <a:ext uri="{0D108BD9-81ED-4DB2-BD59-A6C34878D82A}">
                    <a16:rowId xmlns:a16="http://schemas.microsoft.com/office/drawing/2014/main" val="398204582"/>
                  </a:ext>
                </a:extLst>
              </a:tr>
              <a:tr h="731943">
                <a:tc>
                  <a:txBody>
                    <a:bodyPr/>
                    <a:lstStyle/>
                    <a:p>
                      <a:pPr algn="l"/>
                      <a:r>
                        <a:rPr lang="en-US" dirty="0"/>
                        <a:t>4</a:t>
                      </a:r>
                    </a:p>
                  </a:txBody>
                  <a:tcPr/>
                </a:tc>
                <a:tc>
                  <a:txBody>
                    <a:bodyPr/>
                    <a:lstStyle/>
                    <a:p>
                      <a:pPr algn="l"/>
                      <a:r>
                        <a:rPr lang="en-US" dirty="0"/>
                        <a:t>5</a:t>
                      </a:r>
                    </a:p>
                  </a:txBody>
                  <a:tcPr/>
                </a:tc>
                <a:tc>
                  <a:txBody>
                    <a:bodyPr/>
                    <a:lstStyle/>
                    <a:p>
                      <a:pPr algn="l"/>
                      <a:r>
                        <a:rPr lang="en-US" dirty="0"/>
                        <a:t>6</a:t>
                      </a:r>
                    </a:p>
                  </a:txBody>
                  <a:tcPr/>
                </a:tc>
                <a:extLst>
                  <a:ext uri="{0D108BD9-81ED-4DB2-BD59-A6C34878D82A}">
                    <a16:rowId xmlns:a16="http://schemas.microsoft.com/office/drawing/2014/main" val="93963989"/>
                  </a:ext>
                </a:extLst>
              </a:tr>
              <a:tr h="731943">
                <a:tc>
                  <a:txBody>
                    <a:bodyPr/>
                    <a:lstStyle/>
                    <a:p>
                      <a:pPr algn="l"/>
                      <a:r>
                        <a:rPr lang="en-US" dirty="0"/>
                        <a:t>1</a:t>
                      </a:r>
                    </a:p>
                  </a:txBody>
                  <a:tcPr/>
                </a:tc>
                <a:tc>
                  <a:txBody>
                    <a:bodyPr/>
                    <a:lstStyle/>
                    <a:p>
                      <a:pPr algn="l"/>
                      <a:r>
                        <a:rPr lang="en-US" dirty="0"/>
                        <a:t>2</a:t>
                      </a:r>
                    </a:p>
                  </a:txBody>
                  <a:tcPr/>
                </a:tc>
                <a:tc>
                  <a:txBody>
                    <a:bodyPr/>
                    <a:lstStyle/>
                    <a:p>
                      <a:pPr algn="l"/>
                      <a:r>
                        <a:rPr lang="en-US" dirty="0"/>
                        <a:t>3</a:t>
                      </a:r>
                    </a:p>
                  </a:txBody>
                  <a:tcPr/>
                </a:tc>
                <a:extLst>
                  <a:ext uri="{0D108BD9-81ED-4DB2-BD59-A6C34878D82A}">
                    <a16:rowId xmlns:a16="http://schemas.microsoft.com/office/drawing/2014/main" val="2402297787"/>
                  </a:ext>
                </a:extLst>
              </a:tr>
            </a:tbl>
          </a:graphicData>
        </a:graphic>
      </p:graphicFrame>
      <p:graphicFrame>
        <p:nvGraphicFramePr>
          <p:cNvPr id="31" name="Table 30">
            <a:extLst>
              <a:ext uri="{FF2B5EF4-FFF2-40B4-BE49-F238E27FC236}">
                <a16:creationId xmlns:a16="http://schemas.microsoft.com/office/drawing/2014/main" id="{E0E9752C-B063-FEC4-1EE3-21AFE69348DA}"/>
              </a:ext>
            </a:extLst>
          </p:cNvPr>
          <p:cNvGraphicFramePr>
            <a:graphicFrameLocks noGrp="1"/>
          </p:cNvGraphicFramePr>
          <p:nvPr>
            <p:extLst>
              <p:ext uri="{D42A27DB-BD31-4B8C-83A1-F6EECF244321}">
                <p14:modId xmlns:p14="http://schemas.microsoft.com/office/powerpoint/2010/main" val="3025524441"/>
              </p:ext>
            </p:extLst>
          </p:nvPr>
        </p:nvGraphicFramePr>
        <p:xfrm>
          <a:off x="9415043" y="1031333"/>
          <a:ext cx="2203718" cy="2195829"/>
        </p:xfrm>
        <a:graphic>
          <a:graphicData uri="http://schemas.openxmlformats.org/drawingml/2006/table">
            <a:tbl>
              <a:tblPr firstRow="1" bandRow="1">
                <a:tableStyleId>{2D5ABB26-0587-4C30-8999-92F81FD0307C}</a:tableStyleId>
              </a:tblPr>
              <a:tblGrid>
                <a:gridCol w="742950">
                  <a:extLst>
                    <a:ext uri="{9D8B030D-6E8A-4147-A177-3AD203B41FA5}">
                      <a16:colId xmlns:a16="http://schemas.microsoft.com/office/drawing/2014/main" val="722755510"/>
                    </a:ext>
                  </a:extLst>
                </a:gridCol>
                <a:gridCol w="701040">
                  <a:extLst>
                    <a:ext uri="{9D8B030D-6E8A-4147-A177-3AD203B41FA5}">
                      <a16:colId xmlns:a16="http://schemas.microsoft.com/office/drawing/2014/main" val="1272341787"/>
                    </a:ext>
                  </a:extLst>
                </a:gridCol>
                <a:gridCol w="759728">
                  <a:extLst>
                    <a:ext uri="{9D8B030D-6E8A-4147-A177-3AD203B41FA5}">
                      <a16:colId xmlns:a16="http://schemas.microsoft.com/office/drawing/2014/main" val="3946667277"/>
                    </a:ext>
                  </a:extLst>
                </a:gridCol>
              </a:tblGrid>
              <a:tr h="731943">
                <a:tc>
                  <a:txBody>
                    <a:bodyPr/>
                    <a:lstStyle/>
                    <a:p>
                      <a:pPr algn="l"/>
                      <a:r>
                        <a:rPr lang="en-US" dirty="0"/>
                        <a:t>7</a:t>
                      </a:r>
                    </a:p>
                  </a:txBody>
                  <a:tcPr/>
                </a:tc>
                <a:tc>
                  <a:txBody>
                    <a:bodyPr/>
                    <a:lstStyle/>
                    <a:p>
                      <a:pPr algn="l"/>
                      <a:r>
                        <a:rPr lang="en-US" dirty="0"/>
                        <a:t>8</a:t>
                      </a:r>
                    </a:p>
                  </a:txBody>
                  <a:tcPr/>
                </a:tc>
                <a:tc>
                  <a:txBody>
                    <a:bodyPr/>
                    <a:lstStyle/>
                    <a:p>
                      <a:pPr algn="l"/>
                      <a:r>
                        <a:rPr lang="en-US" dirty="0"/>
                        <a:t>9</a:t>
                      </a:r>
                    </a:p>
                  </a:txBody>
                  <a:tcPr/>
                </a:tc>
                <a:extLst>
                  <a:ext uri="{0D108BD9-81ED-4DB2-BD59-A6C34878D82A}">
                    <a16:rowId xmlns:a16="http://schemas.microsoft.com/office/drawing/2014/main" val="398204582"/>
                  </a:ext>
                </a:extLst>
              </a:tr>
              <a:tr h="731943">
                <a:tc>
                  <a:txBody>
                    <a:bodyPr/>
                    <a:lstStyle/>
                    <a:p>
                      <a:pPr algn="l"/>
                      <a:r>
                        <a:rPr lang="en-US" dirty="0"/>
                        <a:t>4</a:t>
                      </a:r>
                    </a:p>
                  </a:txBody>
                  <a:tcPr/>
                </a:tc>
                <a:tc>
                  <a:txBody>
                    <a:bodyPr/>
                    <a:lstStyle/>
                    <a:p>
                      <a:pPr algn="l"/>
                      <a:r>
                        <a:rPr lang="en-US" dirty="0"/>
                        <a:t>5</a:t>
                      </a:r>
                    </a:p>
                  </a:txBody>
                  <a:tcPr/>
                </a:tc>
                <a:tc>
                  <a:txBody>
                    <a:bodyPr/>
                    <a:lstStyle/>
                    <a:p>
                      <a:pPr algn="l"/>
                      <a:r>
                        <a:rPr lang="en-US" dirty="0"/>
                        <a:t>6</a:t>
                      </a:r>
                    </a:p>
                  </a:txBody>
                  <a:tcPr/>
                </a:tc>
                <a:extLst>
                  <a:ext uri="{0D108BD9-81ED-4DB2-BD59-A6C34878D82A}">
                    <a16:rowId xmlns:a16="http://schemas.microsoft.com/office/drawing/2014/main" val="93963989"/>
                  </a:ext>
                </a:extLst>
              </a:tr>
              <a:tr h="731943">
                <a:tc>
                  <a:txBody>
                    <a:bodyPr/>
                    <a:lstStyle/>
                    <a:p>
                      <a:pPr algn="l"/>
                      <a:r>
                        <a:rPr lang="en-US" dirty="0"/>
                        <a:t>1</a:t>
                      </a:r>
                    </a:p>
                  </a:txBody>
                  <a:tcPr/>
                </a:tc>
                <a:tc>
                  <a:txBody>
                    <a:bodyPr/>
                    <a:lstStyle/>
                    <a:p>
                      <a:pPr algn="l"/>
                      <a:r>
                        <a:rPr lang="en-US" dirty="0"/>
                        <a:t>2</a:t>
                      </a:r>
                    </a:p>
                  </a:txBody>
                  <a:tcPr/>
                </a:tc>
                <a:tc>
                  <a:txBody>
                    <a:bodyPr/>
                    <a:lstStyle/>
                    <a:p>
                      <a:pPr algn="l"/>
                      <a:r>
                        <a:rPr lang="en-US" dirty="0"/>
                        <a:t>3</a:t>
                      </a:r>
                    </a:p>
                  </a:txBody>
                  <a:tcPr/>
                </a:tc>
                <a:extLst>
                  <a:ext uri="{0D108BD9-81ED-4DB2-BD59-A6C34878D82A}">
                    <a16:rowId xmlns:a16="http://schemas.microsoft.com/office/drawing/2014/main" val="2402297787"/>
                  </a:ext>
                </a:extLst>
              </a:tr>
            </a:tbl>
          </a:graphicData>
        </a:graphic>
      </p:graphicFrame>
      <p:graphicFrame>
        <p:nvGraphicFramePr>
          <p:cNvPr id="32" name="Table 31">
            <a:extLst>
              <a:ext uri="{FF2B5EF4-FFF2-40B4-BE49-F238E27FC236}">
                <a16:creationId xmlns:a16="http://schemas.microsoft.com/office/drawing/2014/main" id="{F645F645-5334-5A30-2FF6-B0F26F708F60}"/>
              </a:ext>
            </a:extLst>
          </p:cNvPr>
          <p:cNvGraphicFramePr>
            <a:graphicFrameLocks noGrp="1"/>
          </p:cNvGraphicFramePr>
          <p:nvPr>
            <p:extLst>
              <p:ext uri="{D42A27DB-BD31-4B8C-83A1-F6EECF244321}">
                <p14:modId xmlns:p14="http://schemas.microsoft.com/office/powerpoint/2010/main" val="3867750458"/>
              </p:ext>
            </p:extLst>
          </p:nvPr>
        </p:nvGraphicFramePr>
        <p:xfrm>
          <a:off x="9425838" y="3826080"/>
          <a:ext cx="2203718" cy="2195829"/>
        </p:xfrm>
        <a:graphic>
          <a:graphicData uri="http://schemas.openxmlformats.org/drawingml/2006/table">
            <a:tbl>
              <a:tblPr firstRow="1" bandRow="1">
                <a:tableStyleId>{2D5ABB26-0587-4C30-8999-92F81FD0307C}</a:tableStyleId>
              </a:tblPr>
              <a:tblGrid>
                <a:gridCol w="742950">
                  <a:extLst>
                    <a:ext uri="{9D8B030D-6E8A-4147-A177-3AD203B41FA5}">
                      <a16:colId xmlns:a16="http://schemas.microsoft.com/office/drawing/2014/main" val="722755510"/>
                    </a:ext>
                  </a:extLst>
                </a:gridCol>
                <a:gridCol w="701040">
                  <a:extLst>
                    <a:ext uri="{9D8B030D-6E8A-4147-A177-3AD203B41FA5}">
                      <a16:colId xmlns:a16="http://schemas.microsoft.com/office/drawing/2014/main" val="1272341787"/>
                    </a:ext>
                  </a:extLst>
                </a:gridCol>
                <a:gridCol w="759728">
                  <a:extLst>
                    <a:ext uri="{9D8B030D-6E8A-4147-A177-3AD203B41FA5}">
                      <a16:colId xmlns:a16="http://schemas.microsoft.com/office/drawing/2014/main" val="3946667277"/>
                    </a:ext>
                  </a:extLst>
                </a:gridCol>
              </a:tblGrid>
              <a:tr h="731943">
                <a:tc>
                  <a:txBody>
                    <a:bodyPr/>
                    <a:lstStyle/>
                    <a:p>
                      <a:pPr algn="l"/>
                      <a:r>
                        <a:rPr lang="en-US" dirty="0"/>
                        <a:t>7</a:t>
                      </a:r>
                    </a:p>
                  </a:txBody>
                  <a:tcPr/>
                </a:tc>
                <a:tc>
                  <a:txBody>
                    <a:bodyPr/>
                    <a:lstStyle/>
                    <a:p>
                      <a:pPr algn="l"/>
                      <a:r>
                        <a:rPr lang="en-US" dirty="0"/>
                        <a:t>8</a:t>
                      </a:r>
                    </a:p>
                  </a:txBody>
                  <a:tcPr/>
                </a:tc>
                <a:tc>
                  <a:txBody>
                    <a:bodyPr/>
                    <a:lstStyle/>
                    <a:p>
                      <a:pPr algn="l"/>
                      <a:r>
                        <a:rPr lang="en-US" dirty="0"/>
                        <a:t>9</a:t>
                      </a:r>
                    </a:p>
                  </a:txBody>
                  <a:tcPr/>
                </a:tc>
                <a:extLst>
                  <a:ext uri="{0D108BD9-81ED-4DB2-BD59-A6C34878D82A}">
                    <a16:rowId xmlns:a16="http://schemas.microsoft.com/office/drawing/2014/main" val="398204582"/>
                  </a:ext>
                </a:extLst>
              </a:tr>
              <a:tr h="731943">
                <a:tc>
                  <a:txBody>
                    <a:bodyPr/>
                    <a:lstStyle/>
                    <a:p>
                      <a:pPr algn="l"/>
                      <a:r>
                        <a:rPr lang="en-US" dirty="0"/>
                        <a:t>4</a:t>
                      </a:r>
                    </a:p>
                  </a:txBody>
                  <a:tcPr/>
                </a:tc>
                <a:tc>
                  <a:txBody>
                    <a:bodyPr/>
                    <a:lstStyle/>
                    <a:p>
                      <a:pPr algn="l"/>
                      <a:r>
                        <a:rPr lang="en-US" dirty="0"/>
                        <a:t>5</a:t>
                      </a:r>
                    </a:p>
                  </a:txBody>
                  <a:tcPr/>
                </a:tc>
                <a:tc>
                  <a:txBody>
                    <a:bodyPr/>
                    <a:lstStyle/>
                    <a:p>
                      <a:pPr algn="l"/>
                      <a:r>
                        <a:rPr lang="en-US" dirty="0"/>
                        <a:t>6</a:t>
                      </a:r>
                    </a:p>
                  </a:txBody>
                  <a:tcPr/>
                </a:tc>
                <a:extLst>
                  <a:ext uri="{0D108BD9-81ED-4DB2-BD59-A6C34878D82A}">
                    <a16:rowId xmlns:a16="http://schemas.microsoft.com/office/drawing/2014/main" val="93963989"/>
                  </a:ext>
                </a:extLst>
              </a:tr>
              <a:tr h="731943">
                <a:tc>
                  <a:txBody>
                    <a:bodyPr/>
                    <a:lstStyle/>
                    <a:p>
                      <a:pPr algn="l"/>
                      <a:r>
                        <a:rPr lang="en-US" dirty="0"/>
                        <a:t>1</a:t>
                      </a:r>
                    </a:p>
                  </a:txBody>
                  <a:tcPr/>
                </a:tc>
                <a:tc>
                  <a:txBody>
                    <a:bodyPr/>
                    <a:lstStyle/>
                    <a:p>
                      <a:pPr algn="l"/>
                      <a:r>
                        <a:rPr lang="en-US" dirty="0"/>
                        <a:t>2</a:t>
                      </a:r>
                    </a:p>
                  </a:txBody>
                  <a:tcPr/>
                </a:tc>
                <a:tc>
                  <a:txBody>
                    <a:bodyPr/>
                    <a:lstStyle/>
                    <a:p>
                      <a:pPr algn="l"/>
                      <a:r>
                        <a:rPr lang="en-US" dirty="0"/>
                        <a:t>3</a:t>
                      </a:r>
                    </a:p>
                  </a:txBody>
                  <a:tcPr/>
                </a:tc>
                <a:extLst>
                  <a:ext uri="{0D108BD9-81ED-4DB2-BD59-A6C34878D82A}">
                    <a16:rowId xmlns:a16="http://schemas.microsoft.com/office/drawing/2014/main" val="2402297787"/>
                  </a:ext>
                </a:extLst>
              </a:tr>
            </a:tbl>
          </a:graphicData>
        </a:graphic>
      </p:graphicFrame>
      <p:sp>
        <p:nvSpPr>
          <p:cNvPr id="33" name="Content Placeholder 2">
            <a:extLst>
              <a:ext uri="{FF2B5EF4-FFF2-40B4-BE49-F238E27FC236}">
                <a16:creationId xmlns:a16="http://schemas.microsoft.com/office/drawing/2014/main" id="{0DA8FB89-A440-2F61-3358-5BEC0A2C0FF8}"/>
              </a:ext>
            </a:extLst>
          </p:cNvPr>
          <p:cNvSpPr txBox="1">
            <a:spLocks/>
          </p:cNvSpPr>
          <p:nvPr/>
        </p:nvSpPr>
        <p:spPr>
          <a:xfrm>
            <a:off x="930420" y="6067629"/>
            <a:ext cx="1929118" cy="38856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t>Policy Update</a:t>
            </a:r>
            <a:endParaRPr lang="en-US" sz="2000" dirty="0"/>
          </a:p>
        </p:txBody>
      </p:sp>
      <mc:AlternateContent xmlns:mc="http://schemas.openxmlformats.org/markup-compatibility/2006" xmlns:a14="http://schemas.microsoft.com/office/drawing/2010/main">
        <mc:Choice Requires="a14">
          <p:sp>
            <p:nvSpPr>
              <p:cNvPr id="34" name="Content Placeholder 2">
                <a:extLst>
                  <a:ext uri="{FF2B5EF4-FFF2-40B4-BE49-F238E27FC236}">
                    <a16:creationId xmlns:a16="http://schemas.microsoft.com/office/drawing/2014/main" id="{93B98BBE-4E1D-5F2B-9AAE-4BE2CC3C1DEB}"/>
                  </a:ext>
                </a:extLst>
              </p:cNvPr>
              <p:cNvSpPr txBox="1">
                <a:spLocks/>
              </p:cNvSpPr>
              <p:nvPr/>
            </p:nvSpPr>
            <p:spPr>
              <a:xfrm>
                <a:off x="6096000" y="5904895"/>
                <a:ext cx="1395718" cy="77784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𝜋</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5</m:t>
                          </m:r>
                        </m:e>
                      </m:d>
                    </m:oMath>
                  </m:oMathPara>
                </a14:m>
                <a:endParaRPr lang="en-US" sz="2000" dirty="0"/>
              </a:p>
              <a:p>
                <a:pPr marL="0" indent="0">
                  <a:buFont typeface="Arial" panose="020B0604020202020204" pitchFamily="34" charset="0"/>
                  <a:buNone/>
                </a:pPr>
                <a:r>
                  <a:rPr lang="en-US" sz="2000" dirty="0"/>
                  <a:t>Right:  85%</a:t>
                </a:r>
              </a:p>
            </p:txBody>
          </p:sp>
        </mc:Choice>
        <mc:Fallback xmlns="">
          <p:sp>
            <p:nvSpPr>
              <p:cNvPr id="34" name="Content Placeholder 2">
                <a:extLst>
                  <a:ext uri="{FF2B5EF4-FFF2-40B4-BE49-F238E27FC236}">
                    <a16:creationId xmlns:a16="http://schemas.microsoft.com/office/drawing/2014/main" id="{93B98BBE-4E1D-5F2B-9AAE-4BE2CC3C1DEB}"/>
                  </a:ext>
                </a:extLst>
              </p:cNvPr>
              <p:cNvSpPr txBox="1">
                <a:spLocks noRot="1" noChangeAspect="1" noMove="1" noResize="1" noEditPoints="1" noAdjustHandles="1" noChangeArrowheads="1" noChangeShapeType="1" noTextEdit="1"/>
              </p:cNvSpPr>
              <p:nvPr/>
            </p:nvSpPr>
            <p:spPr>
              <a:xfrm>
                <a:off x="6096000" y="5904895"/>
                <a:ext cx="1395718" cy="777845"/>
              </a:xfrm>
              <a:prstGeom prst="rect">
                <a:avLst/>
              </a:prstGeom>
              <a:blipFill>
                <a:blip r:embed="rId9"/>
                <a:stretch>
                  <a:fillRect l="-4367" r="-437" b="-86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Content Placeholder 2">
                <a:extLst>
                  <a:ext uri="{FF2B5EF4-FFF2-40B4-BE49-F238E27FC236}">
                    <a16:creationId xmlns:a16="http://schemas.microsoft.com/office/drawing/2014/main" id="{1EB78CF1-F9DA-6B55-5970-A86AEBEF3688}"/>
                  </a:ext>
                </a:extLst>
              </p:cNvPr>
              <p:cNvSpPr txBox="1">
                <a:spLocks/>
              </p:cNvSpPr>
              <p:nvPr/>
            </p:nvSpPr>
            <p:spPr>
              <a:xfrm>
                <a:off x="7539763" y="5904895"/>
                <a:ext cx="1156131" cy="77784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𝜋</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6</m:t>
                          </m:r>
                        </m:e>
                      </m:d>
                    </m:oMath>
                  </m:oMathPara>
                </a14:m>
                <a:endParaRPr lang="en-US" sz="2000" dirty="0"/>
              </a:p>
              <a:p>
                <a:pPr marL="0" indent="0">
                  <a:buFont typeface="Arial" panose="020B0604020202020204" pitchFamily="34" charset="0"/>
                  <a:buNone/>
                </a:pPr>
                <a:r>
                  <a:rPr lang="en-US" sz="2000" dirty="0"/>
                  <a:t>Up:  95%</a:t>
                </a:r>
              </a:p>
            </p:txBody>
          </p:sp>
        </mc:Choice>
        <mc:Fallback xmlns="">
          <p:sp>
            <p:nvSpPr>
              <p:cNvPr id="37" name="Content Placeholder 2">
                <a:extLst>
                  <a:ext uri="{FF2B5EF4-FFF2-40B4-BE49-F238E27FC236}">
                    <a16:creationId xmlns:a16="http://schemas.microsoft.com/office/drawing/2014/main" id="{1EB78CF1-F9DA-6B55-5970-A86AEBEF3688}"/>
                  </a:ext>
                </a:extLst>
              </p:cNvPr>
              <p:cNvSpPr txBox="1">
                <a:spLocks noRot="1" noChangeAspect="1" noMove="1" noResize="1" noEditPoints="1" noAdjustHandles="1" noChangeArrowheads="1" noChangeShapeType="1" noTextEdit="1"/>
              </p:cNvSpPr>
              <p:nvPr/>
            </p:nvSpPr>
            <p:spPr>
              <a:xfrm>
                <a:off x="7539763" y="5904895"/>
                <a:ext cx="1156131" cy="777845"/>
              </a:xfrm>
              <a:prstGeom prst="rect">
                <a:avLst/>
              </a:prstGeom>
              <a:blipFill>
                <a:blip r:embed="rId10"/>
                <a:stretch>
                  <a:fillRect l="-5820" r="-1058" b="-8661"/>
                </a:stretch>
              </a:blipFill>
            </p:spPr>
            <p:txBody>
              <a:bodyPr/>
              <a:lstStyle/>
              <a:p>
                <a:r>
                  <a:rPr lang="en-US">
                    <a:noFill/>
                  </a:rPr>
                  <a:t> </a:t>
                </a:r>
              </a:p>
            </p:txBody>
          </p:sp>
        </mc:Fallback>
      </mc:AlternateContent>
      <p:sp>
        <p:nvSpPr>
          <p:cNvPr id="38" name="Content Placeholder 2">
            <a:extLst>
              <a:ext uri="{FF2B5EF4-FFF2-40B4-BE49-F238E27FC236}">
                <a16:creationId xmlns:a16="http://schemas.microsoft.com/office/drawing/2014/main" id="{BAD761F8-3465-8E64-8072-44B8F2275439}"/>
              </a:ext>
            </a:extLst>
          </p:cNvPr>
          <p:cNvSpPr txBox="1">
            <a:spLocks/>
          </p:cNvSpPr>
          <p:nvPr/>
        </p:nvSpPr>
        <p:spPr>
          <a:xfrm>
            <a:off x="2932743" y="6021909"/>
            <a:ext cx="3163257" cy="53891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i="0" dirty="0">
                <a:solidFill>
                  <a:srgbClr val="424242"/>
                </a:solidFill>
                <a:effectLst/>
              </a:rPr>
              <a:t>(Increase ‘Good Move’ directions; normalization of others omitted.)</a:t>
            </a:r>
            <a:endParaRPr lang="en-US" sz="1600" dirty="0"/>
          </a:p>
        </p:txBody>
      </p:sp>
      <p:cxnSp>
        <p:nvCxnSpPr>
          <p:cNvPr id="39" name="Straight Connector 38">
            <a:extLst>
              <a:ext uri="{FF2B5EF4-FFF2-40B4-BE49-F238E27FC236}">
                <a16:creationId xmlns:a16="http://schemas.microsoft.com/office/drawing/2014/main" id="{183374F0-E8C8-F1ED-FF09-4046B4ED766E}"/>
              </a:ext>
            </a:extLst>
          </p:cNvPr>
          <p:cNvCxnSpPr>
            <a:cxnSpLocks/>
          </p:cNvCxnSpPr>
          <p:nvPr/>
        </p:nvCxnSpPr>
        <p:spPr>
          <a:xfrm>
            <a:off x="787400" y="5642020"/>
            <a:ext cx="8029677" cy="0"/>
          </a:xfrm>
          <a:prstGeom prst="line">
            <a:avLst/>
          </a:prstGeom>
          <a:ln w="25400">
            <a:solidFill>
              <a:schemeClr val="tx1"/>
            </a:solidFill>
            <a:prstDash val="sysDot"/>
          </a:ln>
        </p:spPr>
        <p:style>
          <a:lnRef idx="1">
            <a:schemeClr val="accent2"/>
          </a:lnRef>
          <a:fillRef idx="0">
            <a:schemeClr val="accent2"/>
          </a:fillRef>
          <a:effectRef idx="0">
            <a:schemeClr val="accent2"/>
          </a:effectRef>
          <a:fontRef idx="minor">
            <a:schemeClr val="tx1"/>
          </a:fontRef>
        </p:style>
      </p:cxnSp>
      <p:cxnSp>
        <p:nvCxnSpPr>
          <p:cNvPr id="41" name="Straight Connector 40">
            <a:extLst>
              <a:ext uri="{FF2B5EF4-FFF2-40B4-BE49-F238E27FC236}">
                <a16:creationId xmlns:a16="http://schemas.microsoft.com/office/drawing/2014/main" id="{569EC6EF-A91C-CCA8-038C-6E1C5AD87497}"/>
              </a:ext>
            </a:extLst>
          </p:cNvPr>
          <p:cNvCxnSpPr>
            <a:cxnSpLocks/>
          </p:cNvCxnSpPr>
          <p:nvPr/>
        </p:nvCxnSpPr>
        <p:spPr>
          <a:xfrm flipV="1">
            <a:off x="8817077" y="5642020"/>
            <a:ext cx="0" cy="918800"/>
          </a:xfrm>
          <a:prstGeom prst="line">
            <a:avLst/>
          </a:prstGeom>
          <a:ln w="25400">
            <a:solidFill>
              <a:schemeClr val="tx1"/>
            </a:solidFill>
            <a:prstDash val="sysDot"/>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684929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52D69-CF05-BC09-FBC5-5E30114C3593}"/>
            </a:ext>
          </a:extLst>
        </p:cNvPr>
        <p:cNvGrpSpPr/>
        <p:nvPr/>
      </p:nvGrpSpPr>
      <p:grpSpPr>
        <a:xfrm>
          <a:off x="0" y="0"/>
          <a:ext cx="0" cy="0"/>
          <a:chOff x="0" y="0"/>
          <a:chExt cx="0" cy="0"/>
        </a:xfrm>
      </p:grpSpPr>
      <p:sp>
        <p:nvSpPr>
          <p:cNvPr id="4" name="Title 12">
            <a:extLst>
              <a:ext uri="{FF2B5EF4-FFF2-40B4-BE49-F238E27FC236}">
                <a16:creationId xmlns:a16="http://schemas.microsoft.com/office/drawing/2014/main" id="{AAF0CE53-4455-7CFE-50E9-7EC91D9CA4CC}"/>
              </a:ext>
            </a:extLst>
          </p:cNvPr>
          <p:cNvSpPr txBox="1">
            <a:spLocks/>
          </p:cNvSpPr>
          <p:nvPr/>
        </p:nvSpPr>
        <p:spPr>
          <a:xfrm>
            <a:off x="471489" y="69597"/>
            <a:ext cx="11153622" cy="565671"/>
          </a:xfrm>
          <a:prstGeom prst="rect">
            <a:avLst/>
          </a:prstGeom>
          <a:ln>
            <a:noFill/>
          </a:ln>
        </p:spPr>
        <p:txBody>
          <a:bodyPr vert="horz" lIns="91440" tIns="45720" rIns="91440" bIns="45720" rtlCol="0" anchor="ctr">
            <a:noAutofit/>
          </a:bodyPr>
          <a:lst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a:lstStyle>
          <a:p>
            <a:pPr algn="ctr"/>
            <a:r>
              <a:rPr lang="en-US" sz="3600" dirty="0"/>
              <a:t>Agent-Environment Loop Example V</a:t>
            </a:r>
          </a:p>
        </p:txBody>
      </p:sp>
      <p:pic>
        <p:nvPicPr>
          <p:cNvPr id="13" name="Picture 12">
            <a:extLst>
              <a:ext uri="{FF2B5EF4-FFF2-40B4-BE49-F238E27FC236}">
                <a16:creationId xmlns:a16="http://schemas.microsoft.com/office/drawing/2014/main" id="{8EEE9016-C58E-99CD-0787-9D342E33671D}"/>
              </a:ext>
            </a:extLst>
          </p:cNvPr>
          <p:cNvPicPr>
            <a:picLocks noChangeAspect="1"/>
          </p:cNvPicPr>
          <p:nvPr/>
        </p:nvPicPr>
        <p:blipFill>
          <a:blip r:embed="rId2"/>
          <a:stretch>
            <a:fillRect/>
          </a:stretch>
        </p:blipFill>
        <p:spPr>
          <a:xfrm>
            <a:off x="9521723" y="857328"/>
            <a:ext cx="2210068" cy="2210068"/>
          </a:xfrm>
          <a:prstGeom prst="rect">
            <a:avLst/>
          </a:prstGeom>
        </p:spPr>
      </p:pic>
      <p:pic>
        <p:nvPicPr>
          <p:cNvPr id="14" name="Graphic 13" descr="Robot with solid fill">
            <a:extLst>
              <a:ext uri="{FF2B5EF4-FFF2-40B4-BE49-F238E27FC236}">
                <a16:creationId xmlns:a16="http://schemas.microsoft.com/office/drawing/2014/main" id="{3C4B79B8-D833-9C34-43E8-6C1ACB565F8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40315" y="908652"/>
            <a:ext cx="648726" cy="648726"/>
          </a:xfrm>
          <a:prstGeom prst="rect">
            <a:avLst/>
          </a:prstGeom>
        </p:spPr>
      </p:pic>
      <p:graphicFrame>
        <p:nvGraphicFramePr>
          <p:cNvPr id="32" name="Table 31">
            <a:extLst>
              <a:ext uri="{FF2B5EF4-FFF2-40B4-BE49-F238E27FC236}">
                <a16:creationId xmlns:a16="http://schemas.microsoft.com/office/drawing/2014/main" id="{E2C5A314-12BA-090C-56F7-032C2E677FB5}"/>
              </a:ext>
            </a:extLst>
          </p:cNvPr>
          <p:cNvGraphicFramePr>
            <a:graphicFrameLocks noGrp="1"/>
          </p:cNvGraphicFramePr>
          <p:nvPr>
            <p:extLst>
              <p:ext uri="{D42A27DB-BD31-4B8C-83A1-F6EECF244321}">
                <p14:modId xmlns:p14="http://schemas.microsoft.com/office/powerpoint/2010/main" val="359690576"/>
              </p:ext>
            </p:extLst>
          </p:nvPr>
        </p:nvGraphicFramePr>
        <p:xfrm>
          <a:off x="9532518" y="857328"/>
          <a:ext cx="2203718" cy="2195829"/>
        </p:xfrm>
        <a:graphic>
          <a:graphicData uri="http://schemas.openxmlformats.org/drawingml/2006/table">
            <a:tbl>
              <a:tblPr firstRow="1" bandRow="1">
                <a:tableStyleId>{2D5ABB26-0587-4C30-8999-92F81FD0307C}</a:tableStyleId>
              </a:tblPr>
              <a:tblGrid>
                <a:gridCol w="742950">
                  <a:extLst>
                    <a:ext uri="{9D8B030D-6E8A-4147-A177-3AD203B41FA5}">
                      <a16:colId xmlns:a16="http://schemas.microsoft.com/office/drawing/2014/main" val="722755510"/>
                    </a:ext>
                  </a:extLst>
                </a:gridCol>
                <a:gridCol w="701040">
                  <a:extLst>
                    <a:ext uri="{9D8B030D-6E8A-4147-A177-3AD203B41FA5}">
                      <a16:colId xmlns:a16="http://schemas.microsoft.com/office/drawing/2014/main" val="1272341787"/>
                    </a:ext>
                  </a:extLst>
                </a:gridCol>
                <a:gridCol w="759728">
                  <a:extLst>
                    <a:ext uri="{9D8B030D-6E8A-4147-A177-3AD203B41FA5}">
                      <a16:colId xmlns:a16="http://schemas.microsoft.com/office/drawing/2014/main" val="3946667277"/>
                    </a:ext>
                  </a:extLst>
                </a:gridCol>
              </a:tblGrid>
              <a:tr h="731943">
                <a:tc>
                  <a:txBody>
                    <a:bodyPr/>
                    <a:lstStyle/>
                    <a:p>
                      <a:pPr algn="l"/>
                      <a:r>
                        <a:rPr lang="en-US" dirty="0"/>
                        <a:t>7</a:t>
                      </a:r>
                    </a:p>
                  </a:txBody>
                  <a:tcPr/>
                </a:tc>
                <a:tc>
                  <a:txBody>
                    <a:bodyPr/>
                    <a:lstStyle/>
                    <a:p>
                      <a:pPr algn="l"/>
                      <a:r>
                        <a:rPr lang="en-US" dirty="0"/>
                        <a:t>8</a:t>
                      </a:r>
                    </a:p>
                  </a:txBody>
                  <a:tcPr/>
                </a:tc>
                <a:tc>
                  <a:txBody>
                    <a:bodyPr/>
                    <a:lstStyle/>
                    <a:p>
                      <a:pPr algn="l"/>
                      <a:r>
                        <a:rPr lang="en-US" dirty="0"/>
                        <a:t>9</a:t>
                      </a:r>
                    </a:p>
                  </a:txBody>
                  <a:tcPr/>
                </a:tc>
                <a:extLst>
                  <a:ext uri="{0D108BD9-81ED-4DB2-BD59-A6C34878D82A}">
                    <a16:rowId xmlns:a16="http://schemas.microsoft.com/office/drawing/2014/main" val="398204582"/>
                  </a:ext>
                </a:extLst>
              </a:tr>
              <a:tr h="731943">
                <a:tc>
                  <a:txBody>
                    <a:bodyPr/>
                    <a:lstStyle/>
                    <a:p>
                      <a:pPr algn="l"/>
                      <a:r>
                        <a:rPr lang="en-US" dirty="0"/>
                        <a:t>4</a:t>
                      </a:r>
                    </a:p>
                  </a:txBody>
                  <a:tcPr/>
                </a:tc>
                <a:tc>
                  <a:txBody>
                    <a:bodyPr/>
                    <a:lstStyle/>
                    <a:p>
                      <a:pPr algn="l"/>
                      <a:r>
                        <a:rPr lang="en-US" dirty="0"/>
                        <a:t>5</a:t>
                      </a:r>
                    </a:p>
                  </a:txBody>
                  <a:tcPr/>
                </a:tc>
                <a:tc>
                  <a:txBody>
                    <a:bodyPr/>
                    <a:lstStyle/>
                    <a:p>
                      <a:pPr algn="l"/>
                      <a:r>
                        <a:rPr lang="en-US" dirty="0"/>
                        <a:t>6</a:t>
                      </a:r>
                    </a:p>
                  </a:txBody>
                  <a:tcPr/>
                </a:tc>
                <a:extLst>
                  <a:ext uri="{0D108BD9-81ED-4DB2-BD59-A6C34878D82A}">
                    <a16:rowId xmlns:a16="http://schemas.microsoft.com/office/drawing/2014/main" val="93963989"/>
                  </a:ext>
                </a:extLst>
              </a:tr>
              <a:tr h="731943">
                <a:tc>
                  <a:txBody>
                    <a:bodyPr/>
                    <a:lstStyle/>
                    <a:p>
                      <a:pPr algn="l"/>
                      <a:r>
                        <a:rPr lang="en-US" dirty="0"/>
                        <a:t>1</a:t>
                      </a:r>
                    </a:p>
                  </a:txBody>
                  <a:tcPr/>
                </a:tc>
                <a:tc>
                  <a:txBody>
                    <a:bodyPr/>
                    <a:lstStyle/>
                    <a:p>
                      <a:pPr algn="l"/>
                      <a:r>
                        <a:rPr lang="en-US" dirty="0"/>
                        <a:t>2</a:t>
                      </a:r>
                    </a:p>
                  </a:txBody>
                  <a:tcPr/>
                </a:tc>
                <a:tc>
                  <a:txBody>
                    <a:bodyPr/>
                    <a:lstStyle/>
                    <a:p>
                      <a:pPr algn="l"/>
                      <a:r>
                        <a:rPr lang="en-US" dirty="0"/>
                        <a:t>3</a:t>
                      </a:r>
                    </a:p>
                  </a:txBody>
                  <a:tcPr/>
                </a:tc>
                <a:extLst>
                  <a:ext uri="{0D108BD9-81ED-4DB2-BD59-A6C34878D82A}">
                    <a16:rowId xmlns:a16="http://schemas.microsoft.com/office/drawing/2014/main" val="2402297787"/>
                  </a:ext>
                </a:extLst>
              </a:tr>
            </a:tbl>
          </a:graphicData>
        </a:graphic>
      </p:graphicFrame>
      <p:cxnSp>
        <p:nvCxnSpPr>
          <p:cNvPr id="39" name="Straight Connector 38">
            <a:extLst>
              <a:ext uri="{FF2B5EF4-FFF2-40B4-BE49-F238E27FC236}">
                <a16:creationId xmlns:a16="http://schemas.microsoft.com/office/drawing/2014/main" id="{05051A7A-E07D-530D-8380-788DA5D1C59F}"/>
              </a:ext>
            </a:extLst>
          </p:cNvPr>
          <p:cNvCxnSpPr>
            <a:cxnSpLocks/>
          </p:cNvCxnSpPr>
          <p:nvPr/>
        </p:nvCxnSpPr>
        <p:spPr>
          <a:xfrm>
            <a:off x="723900" y="3401740"/>
            <a:ext cx="11168382" cy="0"/>
          </a:xfrm>
          <a:prstGeom prst="line">
            <a:avLst/>
          </a:prstGeom>
          <a:ln w="25400">
            <a:solidFill>
              <a:schemeClr val="tx1"/>
            </a:solidFill>
            <a:prstDash val="sysDot"/>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58DD10CB-A010-B72D-25DE-DC2041BE91B9}"/>
                  </a:ext>
                </a:extLst>
              </p:cNvPr>
              <p:cNvSpPr txBox="1">
                <a:spLocks/>
              </p:cNvSpPr>
              <p:nvPr/>
            </p:nvSpPr>
            <p:spPr>
              <a:xfrm>
                <a:off x="3144840" y="1337562"/>
                <a:ext cx="1791957" cy="193694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𝜋</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5</m:t>
                          </m:r>
                        </m:e>
                      </m:d>
                    </m:oMath>
                  </m:oMathPara>
                </a14:m>
                <a:endParaRPr lang="en-US" sz="2000" dirty="0"/>
              </a:p>
              <a:p>
                <a:pPr marL="0" indent="0">
                  <a:buFont typeface="Arial" panose="020B0604020202020204" pitchFamily="34" charset="0"/>
                  <a:buNone/>
                </a:pPr>
                <a:r>
                  <a:rPr lang="en-US" sz="2000" dirty="0"/>
                  <a:t>Right:  85%</a:t>
                </a:r>
              </a:p>
              <a:p>
                <a:pPr marL="0" indent="0">
                  <a:buFont typeface="Arial" panose="020B0604020202020204" pitchFamily="34" charset="0"/>
                  <a:buNone/>
                </a:pPr>
                <a:r>
                  <a:rPr lang="en-US" sz="2000" dirty="0"/>
                  <a:t>Left:    5%</a:t>
                </a:r>
              </a:p>
              <a:p>
                <a:pPr marL="0" indent="0">
                  <a:buFont typeface="Arial" panose="020B0604020202020204" pitchFamily="34" charset="0"/>
                  <a:buNone/>
                </a:pPr>
                <a:r>
                  <a:rPr lang="en-US" sz="2000" dirty="0"/>
                  <a:t>Up:      5%</a:t>
                </a:r>
              </a:p>
              <a:p>
                <a:pPr marL="0" indent="0">
                  <a:buFont typeface="Arial" panose="020B0604020202020204" pitchFamily="34" charset="0"/>
                  <a:buNone/>
                </a:pPr>
                <a:r>
                  <a:rPr lang="en-US" sz="2000" dirty="0"/>
                  <a:t>Down: 5%  </a:t>
                </a:r>
              </a:p>
            </p:txBody>
          </p:sp>
        </mc:Choice>
        <mc:Fallback xmlns="">
          <p:sp>
            <p:nvSpPr>
              <p:cNvPr id="10" name="Content Placeholder 2">
                <a:extLst>
                  <a:ext uri="{FF2B5EF4-FFF2-40B4-BE49-F238E27FC236}">
                    <a16:creationId xmlns:a16="http://schemas.microsoft.com/office/drawing/2014/main" id="{58DD10CB-A010-B72D-25DE-DC2041BE91B9}"/>
                  </a:ext>
                </a:extLst>
              </p:cNvPr>
              <p:cNvSpPr txBox="1">
                <a:spLocks noRot="1" noChangeAspect="1" noMove="1" noResize="1" noEditPoints="1" noAdjustHandles="1" noChangeArrowheads="1" noChangeShapeType="1" noTextEdit="1"/>
              </p:cNvSpPr>
              <p:nvPr/>
            </p:nvSpPr>
            <p:spPr>
              <a:xfrm>
                <a:off x="3144840" y="1337562"/>
                <a:ext cx="1791957" cy="1936941"/>
              </a:xfrm>
              <a:prstGeom prst="rect">
                <a:avLst/>
              </a:prstGeom>
              <a:blipFill>
                <a:blip r:embed="rId5"/>
                <a:stretch>
                  <a:fillRect l="-37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Content Placeholder 2">
                <a:extLst>
                  <a:ext uri="{FF2B5EF4-FFF2-40B4-BE49-F238E27FC236}">
                    <a16:creationId xmlns:a16="http://schemas.microsoft.com/office/drawing/2014/main" id="{6B8B34D9-DEB1-9155-4BF3-FDE0E6742131}"/>
                  </a:ext>
                </a:extLst>
              </p:cNvPr>
              <p:cNvSpPr txBox="1">
                <a:spLocks/>
              </p:cNvSpPr>
              <p:nvPr/>
            </p:nvSpPr>
            <p:spPr>
              <a:xfrm>
                <a:off x="4958767" y="1337561"/>
                <a:ext cx="1791957" cy="193694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𝜋</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6</m:t>
                          </m:r>
                        </m:e>
                      </m:d>
                    </m:oMath>
                  </m:oMathPara>
                </a14:m>
                <a:endParaRPr lang="en-US" sz="2000" dirty="0"/>
              </a:p>
              <a:p>
                <a:pPr marL="0" indent="0">
                  <a:buFont typeface="Arial" panose="020B0604020202020204" pitchFamily="34" charset="0"/>
                  <a:buNone/>
                </a:pPr>
                <a:r>
                  <a:rPr lang="en-US" sz="2000" dirty="0"/>
                  <a:t>Right:  1%</a:t>
                </a:r>
              </a:p>
              <a:p>
                <a:pPr marL="0" indent="0">
                  <a:buFont typeface="Arial" panose="020B0604020202020204" pitchFamily="34" charset="0"/>
                  <a:buNone/>
                </a:pPr>
                <a:r>
                  <a:rPr lang="en-US" sz="2000" dirty="0"/>
                  <a:t>Left:    2%</a:t>
                </a:r>
              </a:p>
              <a:p>
                <a:pPr marL="0" indent="0">
                  <a:buFont typeface="Arial" panose="020B0604020202020204" pitchFamily="34" charset="0"/>
                  <a:buNone/>
                </a:pPr>
                <a:r>
                  <a:rPr lang="en-US" sz="2000" dirty="0"/>
                  <a:t>Up:      95%</a:t>
                </a:r>
              </a:p>
              <a:p>
                <a:pPr marL="0" indent="0">
                  <a:buFont typeface="Arial" panose="020B0604020202020204" pitchFamily="34" charset="0"/>
                  <a:buNone/>
                </a:pPr>
                <a:r>
                  <a:rPr lang="en-US" sz="2000" dirty="0"/>
                  <a:t>Down: 2%  </a:t>
                </a:r>
              </a:p>
            </p:txBody>
          </p:sp>
        </mc:Choice>
        <mc:Fallback xmlns="">
          <p:sp>
            <p:nvSpPr>
              <p:cNvPr id="15" name="Content Placeholder 2">
                <a:extLst>
                  <a:ext uri="{FF2B5EF4-FFF2-40B4-BE49-F238E27FC236}">
                    <a16:creationId xmlns:a16="http://schemas.microsoft.com/office/drawing/2014/main" id="{6B8B34D9-DEB1-9155-4BF3-FDE0E6742131}"/>
                  </a:ext>
                </a:extLst>
              </p:cNvPr>
              <p:cNvSpPr txBox="1">
                <a:spLocks noRot="1" noChangeAspect="1" noMove="1" noResize="1" noEditPoints="1" noAdjustHandles="1" noChangeArrowheads="1" noChangeShapeType="1" noTextEdit="1"/>
              </p:cNvSpPr>
              <p:nvPr/>
            </p:nvSpPr>
            <p:spPr>
              <a:xfrm>
                <a:off x="4958767" y="1337561"/>
                <a:ext cx="1791957" cy="1936941"/>
              </a:xfrm>
              <a:prstGeom prst="rect">
                <a:avLst/>
              </a:prstGeom>
              <a:blipFill>
                <a:blip r:embed="rId6"/>
                <a:stretch>
                  <a:fillRect l="-340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Content Placeholder 2">
                <a:extLst>
                  <a:ext uri="{FF2B5EF4-FFF2-40B4-BE49-F238E27FC236}">
                    <a16:creationId xmlns:a16="http://schemas.microsoft.com/office/drawing/2014/main" id="{3196C8DC-D486-9176-1147-084465306F7A}"/>
                  </a:ext>
                </a:extLst>
              </p:cNvPr>
              <p:cNvSpPr txBox="1">
                <a:spLocks/>
              </p:cNvSpPr>
              <p:nvPr/>
            </p:nvSpPr>
            <p:spPr>
              <a:xfrm>
                <a:off x="6750724" y="1337561"/>
                <a:ext cx="1791957" cy="193694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𝜋</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8</m:t>
                          </m:r>
                        </m:e>
                      </m:d>
                    </m:oMath>
                  </m:oMathPara>
                </a14:m>
                <a:endParaRPr lang="en-US" sz="2000" dirty="0"/>
              </a:p>
              <a:p>
                <a:pPr marL="0" indent="0">
                  <a:buFont typeface="Arial" panose="020B0604020202020204" pitchFamily="34" charset="0"/>
                  <a:buNone/>
                </a:pPr>
                <a:r>
                  <a:rPr lang="en-US" sz="2000" dirty="0"/>
                  <a:t>Right:  90%</a:t>
                </a:r>
              </a:p>
              <a:p>
                <a:pPr marL="0" indent="0">
                  <a:buFont typeface="Arial" panose="020B0604020202020204" pitchFamily="34" charset="0"/>
                  <a:buNone/>
                </a:pPr>
                <a:r>
                  <a:rPr lang="en-US" sz="2000" dirty="0"/>
                  <a:t>Left:    4%</a:t>
                </a:r>
              </a:p>
              <a:p>
                <a:pPr marL="0" indent="0">
                  <a:buFont typeface="Arial" panose="020B0604020202020204" pitchFamily="34" charset="0"/>
                  <a:buNone/>
                </a:pPr>
                <a:r>
                  <a:rPr lang="en-US" sz="2000" dirty="0"/>
                  <a:t>Up:      2%</a:t>
                </a:r>
              </a:p>
              <a:p>
                <a:pPr marL="0" indent="0">
                  <a:buFont typeface="Arial" panose="020B0604020202020204" pitchFamily="34" charset="0"/>
                  <a:buNone/>
                </a:pPr>
                <a:r>
                  <a:rPr lang="en-US" sz="2000" dirty="0"/>
                  <a:t>Down: 4%  </a:t>
                </a:r>
              </a:p>
            </p:txBody>
          </p:sp>
        </mc:Choice>
        <mc:Fallback xmlns="">
          <p:sp>
            <p:nvSpPr>
              <p:cNvPr id="17" name="Content Placeholder 2">
                <a:extLst>
                  <a:ext uri="{FF2B5EF4-FFF2-40B4-BE49-F238E27FC236}">
                    <a16:creationId xmlns:a16="http://schemas.microsoft.com/office/drawing/2014/main" id="{3196C8DC-D486-9176-1147-084465306F7A}"/>
                  </a:ext>
                </a:extLst>
              </p:cNvPr>
              <p:cNvSpPr txBox="1">
                <a:spLocks noRot="1" noChangeAspect="1" noMove="1" noResize="1" noEditPoints="1" noAdjustHandles="1" noChangeArrowheads="1" noChangeShapeType="1" noTextEdit="1"/>
              </p:cNvSpPr>
              <p:nvPr/>
            </p:nvSpPr>
            <p:spPr>
              <a:xfrm>
                <a:off x="6750724" y="1337561"/>
                <a:ext cx="1791957" cy="1936941"/>
              </a:xfrm>
              <a:prstGeom prst="rect">
                <a:avLst/>
              </a:prstGeom>
              <a:blipFill>
                <a:blip r:embed="rId7"/>
                <a:stretch>
                  <a:fillRect l="-3401"/>
                </a:stretch>
              </a:blipFill>
            </p:spPr>
            <p:txBody>
              <a:bodyPr/>
              <a:lstStyle/>
              <a:p>
                <a:r>
                  <a:rPr lang="en-US">
                    <a:noFill/>
                  </a:rPr>
                  <a:t> </a:t>
                </a:r>
              </a:p>
            </p:txBody>
          </p:sp>
        </mc:Fallback>
      </mc:AlternateContent>
      <p:sp>
        <p:nvSpPr>
          <p:cNvPr id="22" name="TextBox 21">
            <a:extLst>
              <a:ext uri="{FF2B5EF4-FFF2-40B4-BE49-F238E27FC236}">
                <a16:creationId xmlns:a16="http://schemas.microsoft.com/office/drawing/2014/main" id="{047CDF47-8162-68BA-E6AC-A296317F7C7B}"/>
              </a:ext>
            </a:extLst>
          </p:cNvPr>
          <p:cNvSpPr txBox="1"/>
          <p:nvPr/>
        </p:nvSpPr>
        <p:spPr>
          <a:xfrm>
            <a:off x="2248861" y="4086609"/>
            <a:ext cx="3482886" cy="646331"/>
          </a:xfrm>
          <a:prstGeom prst="rect">
            <a:avLst/>
          </a:prstGeom>
          <a:noFill/>
          <a:ln>
            <a:noFill/>
          </a:ln>
        </p:spPr>
        <p:txBody>
          <a:bodyPr wrap="square">
            <a:spAutoFit/>
          </a:bodyPr>
          <a:lstStyle/>
          <a:p>
            <a:pPr>
              <a:spcBef>
                <a:spcPts val="1200"/>
              </a:spcBef>
            </a:pPr>
            <a:r>
              <a:rPr lang="en-US" b="1" dirty="0"/>
              <a:t>Episode 1</a:t>
            </a:r>
            <a:r>
              <a:rPr lang="en-US" dirty="0"/>
              <a:t>: Random movement, hitting walls, never reaching goal</a:t>
            </a:r>
          </a:p>
        </p:txBody>
      </p:sp>
      <p:sp>
        <p:nvSpPr>
          <p:cNvPr id="25" name="TextBox 24">
            <a:extLst>
              <a:ext uri="{FF2B5EF4-FFF2-40B4-BE49-F238E27FC236}">
                <a16:creationId xmlns:a16="http://schemas.microsoft.com/office/drawing/2014/main" id="{E761BC3A-CDDE-DA48-97B1-C33FDB714755}"/>
              </a:ext>
            </a:extLst>
          </p:cNvPr>
          <p:cNvSpPr txBox="1"/>
          <p:nvPr/>
        </p:nvSpPr>
        <p:spPr>
          <a:xfrm>
            <a:off x="1759014" y="5717808"/>
            <a:ext cx="7945465" cy="646331"/>
          </a:xfrm>
          <a:prstGeom prst="rect">
            <a:avLst/>
          </a:prstGeom>
          <a:noFill/>
          <a:ln>
            <a:solidFill>
              <a:schemeClr val="bg2"/>
            </a:solidFill>
          </a:ln>
        </p:spPr>
        <p:txBody>
          <a:bodyPr wrap="square">
            <a:spAutoFit/>
          </a:bodyPr>
          <a:lstStyle/>
          <a:p>
            <a:pPr algn="ctr"/>
            <a:r>
              <a:rPr lang="en-US" dirty="0"/>
              <a:t>The robot learned the shortest path to the goal purely through trial and error, with the policy encoding the optimal route!</a:t>
            </a:r>
          </a:p>
        </p:txBody>
      </p:sp>
      <mc:AlternateContent xmlns:mc="http://schemas.openxmlformats.org/markup-compatibility/2006" xmlns:a14="http://schemas.microsoft.com/office/drawing/2010/main">
        <mc:Choice Requires="a14">
          <p:sp>
            <p:nvSpPr>
              <p:cNvPr id="44" name="Content Placeholder 2">
                <a:extLst>
                  <a:ext uri="{FF2B5EF4-FFF2-40B4-BE49-F238E27FC236}">
                    <a16:creationId xmlns:a16="http://schemas.microsoft.com/office/drawing/2014/main" id="{2A2B0A38-F0A6-BEC1-C931-9AE9A6573501}"/>
                  </a:ext>
                </a:extLst>
              </p:cNvPr>
              <p:cNvSpPr txBox="1">
                <a:spLocks/>
              </p:cNvSpPr>
              <p:nvPr/>
            </p:nvSpPr>
            <p:spPr>
              <a:xfrm>
                <a:off x="877845" y="1010625"/>
                <a:ext cx="2742033" cy="38856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t>Final Learned Policy: </a:t>
                </a:r>
                <a14:m>
                  <m:oMath xmlns:m="http://schemas.openxmlformats.org/officeDocument/2006/math">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𝝅</m:t>
                        </m:r>
                      </m:e>
                      <m:sup>
                        <m:r>
                          <a:rPr lang="en-US" sz="2000" b="0" i="1" smtClean="0">
                            <a:latin typeface="Cambria Math" panose="02040503050406030204" pitchFamily="18" charset="0"/>
                          </a:rPr>
                          <m:t>∗</m:t>
                        </m:r>
                      </m:sup>
                    </m:sSup>
                  </m:oMath>
                </a14:m>
                <a:endParaRPr lang="en-US" sz="2000" dirty="0"/>
              </a:p>
            </p:txBody>
          </p:sp>
        </mc:Choice>
        <mc:Fallback xmlns="">
          <p:sp>
            <p:nvSpPr>
              <p:cNvPr id="44" name="Content Placeholder 2">
                <a:extLst>
                  <a:ext uri="{FF2B5EF4-FFF2-40B4-BE49-F238E27FC236}">
                    <a16:creationId xmlns:a16="http://schemas.microsoft.com/office/drawing/2014/main" id="{2A2B0A38-F0A6-BEC1-C931-9AE9A6573501}"/>
                  </a:ext>
                </a:extLst>
              </p:cNvPr>
              <p:cNvSpPr txBox="1">
                <a:spLocks noRot="1" noChangeAspect="1" noMove="1" noResize="1" noEditPoints="1" noAdjustHandles="1" noChangeArrowheads="1" noChangeShapeType="1" noTextEdit="1"/>
              </p:cNvSpPr>
              <p:nvPr/>
            </p:nvSpPr>
            <p:spPr>
              <a:xfrm>
                <a:off x="877845" y="1010625"/>
                <a:ext cx="2742033" cy="388563"/>
              </a:xfrm>
              <a:prstGeom prst="rect">
                <a:avLst/>
              </a:prstGeom>
              <a:blipFill>
                <a:blip r:embed="rId9"/>
                <a:stretch>
                  <a:fillRect l="-2222" t="-17188" b="-21875"/>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B0FE3E65-E3E1-2C58-DA48-B8DA767F7861}"/>
              </a:ext>
            </a:extLst>
          </p:cNvPr>
          <p:cNvSpPr txBox="1"/>
          <p:nvPr/>
        </p:nvSpPr>
        <p:spPr>
          <a:xfrm>
            <a:off x="6533563" y="4086608"/>
            <a:ext cx="3643280" cy="646331"/>
          </a:xfrm>
          <a:prstGeom prst="rect">
            <a:avLst/>
          </a:prstGeom>
          <a:noFill/>
          <a:ln>
            <a:noFill/>
          </a:ln>
        </p:spPr>
        <p:txBody>
          <a:bodyPr wrap="square">
            <a:spAutoFit/>
          </a:bodyPr>
          <a:lstStyle/>
          <a:p>
            <a:pPr>
              <a:spcBef>
                <a:spcPts val="1200"/>
              </a:spcBef>
            </a:pPr>
            <a:r>
              <a:rPr lang="en-US" b="1" dirty="0"/>
              <a:t>Episode 50</a:t>
            </a:r>
            <a:r>
              <a:rPr lang="en-US" dirty="0"/>
              <a:t>: Direct path to goal in just 2 steps</a:t>
            </a:r>
          </a:p>
        </p:txBody>
      </p:sp>
      <p:sp>
        <p:nvSpPr>
          <p:cNvPr id="5" name="TextBox 4">
            <a:extLst>
              <a:ext uri="{FF2B5EF4-FFF2-40B4-BE49-F238E27FC236}">
                <a16:creationId xmlns:a16="http://schemas.microsoft.com/office/drawing/2014/main" id="{716A4EDC-60FD-DF26-52F5-C9C6BE87A487}"/>
              </a:ext>
            </a:extLst>
          </p:cNvPr>
          <p:cNvSpPr txBox="1"/>
          <p:nvPr/>
        </p:nvSpPr>
        <p:spPr>
          <a:xfrm>
            <a:off x="2372030" y="4885282"/>
            <a:ext cx="7872121" cy="369332"/>
          </a:xfrm>
          <a:prstGeom prst="rect">
            <a:avLst/>
          </a:prstGeom>
          <a:noFill/>
          <a:ln>
            <a:solidFill>
              <a:schemeClr val="bg2"/>
            </a:solidFill>
          </a:ln>
        </p:spPr>
        <p:txBody>
          <a:bodyPr wrap="square">
            <a:spAutoFit/>
          </a:bodyPr>
          <a:lstStyle/>
          <a:p>
            <a:pPr>
              <a:spcBef>
                <a:spcPts val="1200"/>
              </a:spcBef>
            </a:pPr>
            <a:r>
              <a:rPr lang="en-US" b="1" dirty="0"/>
              <a:t>Policy Evolution</a:t>
            </a:r>
            <a:r>
              <a:rPr lang="en-US" dirty="0"/>
              <a:t>: From random movement to 85-95% optimal moves.</a:t>
            </a:r>
          </a:p>
        </p:txBody>
      </p:sp>
      <p:sp>
        <p:nvSpPr>
          <p:cNvPr id="6" name="TextBox 5">
            <a:extLst>
              <a:ext uri="{FF2B5EF4-FFF2-40B4-BE49-F238E27FC236}">
                <a16:creationId xmlns:a16="http://schemas.microsoft.com/office/drawing/2014/main" id="{ED4F5F36-152F-8B89-D22C-8C36AB9F146A}"/>
              </a:ext>
            </a:extLst>
          </p:cNvPr>
          <p:cNvSpPr txBox="1"/>
          <p:nvPr/>
        </p:nvSpPr>
        <p:spPr>
          <a:xfrm>
            <a:off x="5254708" y="3554083"/>
            <a:ext cx="1587183" cy="461665"/>
          </a:xfrm>
          <a:prstGeom prst="rect">
            <a:avLst/>
          </a:prstGeom>
          <a:noFill/>
          <a:ln>
            <a:noFill/>
          </a:ln>
        </p:spPr>
        <p:txBody>
          <a:bodyPr wrap="square">
            <a:spAutoFit/>
          </a:bodyPr>
          <a:lstStyle/>
          <a:p>
            <a:pPr algn="ctr">
              <a:buNone/>
            </a:pPr>
            <a:r>
              <a:rPr lang="en-US" sz="2400" b="1" dirty="0"/>
              <a:t>Summary</a:t>
            </a:r>
            <a:endParaRPr lang="en-US" sz="2400" dirty="0"/>
          </a:p>
        </p:txBody>
      </p:sp>
      <p:sp>
        <p:nvSpPr>
          <p:cNvPr id="7" name="Arrow: Right 6">
            <a:extLst>
              <a:ext uri="{FF2B5EF4-FFF2-40B4-BE49-F238E27FC236}">
                <a16:creationId xmlns:a16="http://schemas.microsoft.com/office/drawing/2014/main" id="{34A094AD-A470-E5F2-B9EF-7396F74A7EA0}"/>
              </a:ext>
            </a:extLst>
          </p:cNvPr>
          <p:cNvSpPr/>
          <p:nvPr/>
        </p:nvSpPr>
        <p:spPr>
          <a:xfrm>
            <a:off x="5823430" y="4297041"/>
            <a:ext cx="449740" cy="239973"/>
          </a:xfrm>
          <a:prstGeom prst="rightArrow">
            <a:avLst/>
          </a:prstGeom>
          <a:solidFill>
            <a:srgbClr val="1306BA"/>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Tree>
    <p:extLst>
      <p:ext uri="{BB962C8B-B14F-4D97-AF65-F5344CB8AC3E}">
        <p14:creationId xmlns:p14="http://schemas.microsoft.com/office/powerpoint/2010/main" val="433569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99C46-BEF7-6FB7-68BE-A43849C30BD3}"/>
            </a:ext>
          </a:extLst>
        </p:cNvPr>
        <p:cNvGrpSpPr/>
        <p:nvPr/>
      </p:nvGrpSpPr>
      <p:grpSpPr>
        <a:xfrm>
          <a:off x="0" y="0"/>
          <a:ext cx="0" cy="0"/>
          <a:chOff x="0" y="0"/>
          <a:chExt cx="0" cy="0"/>
        </a:xfrm>
      </p:grpSpPr>
      <p:sp>
        <p:nvSpPr>
          <p:cNvPr id="4" name="Title 12">
            <a:extLst>
              <a:ext uri="{FF2B5EF4-FFF2-40B4-BE49-F238E27FC236}">
                <a16:creationId xmlns:a16="http://schemas.microsoft.com/office/drawing/2014/main" id="{D2612F8F-F099-02FA-2C1C-2261BD6BF975}"/>
              </a:ext>
            </a:extLst>
          </p:cNvPr>
          <p:cNvSpPr txBox="1">
            <a:spLocks/>
          </p:cNvSpPr>
          <p:nvPr/>
        </p:nvSpPr>
        <p:spPr>
          <a:xfrm>
            <a:off x="471489" y="69597"/>
            <a:ext cx="11153622" cy="565671"/>
          </a:xfrm>
          <a:prstGeom prst="rect">
            <a:avLst/>
          </a:prstGeom>
          <a:ln>
            <a:noFill/>
          </a:ln>
        </p:spPr>
        <p:txBody>
          <a:bodyPr vert="horz" lIns="91440" tIns="45720" rIns="91440" bIns="45720" rtlCol="0" anchor="ctr">
            <a:noAutofit/>
          </a:bodyPr>
          <a:lst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a:lstStyle>
          <a:p>
            <a:pPr algn="ctr"/>
            <a:r>
              <a:rPr lang="en-US" sz="3600" dirty="0"/>
              <a:t>The Three Faces of a Policy</a:t>
            </a: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43CBD22D-E096-33ED-8811-C0A3328FF659}"/>
                  </a:ext>
                </a:extLst>
              </p:cNvPr>
              <p:cNvSpPr txBox="1"/>
              <p:nvPr/>
            </p:nvSpPr>
            <p:spPr>
              <a:xfrm>
                <a:off x="551974" y="1233785"/>
                <a:ext cx="10992651" cy="2923877"/>
              </a:xfrm>
              <a:prstGeom prst="rect">
                <a:avLst/>
              </a:prstGeom>
              <a:noFill/>
              <a:ln>
                <a:noFill/>
              </a:ln>
            </p:spPr>
            <p:txBody>
              <a:bodyPr wrap="square">
                <a:spAutoFit/>
              </a:bodyPr>
              <a:lstStyle/>
              <a:p>
                <a:r>
                  <a:rPr lang="en-US" sz="2200" dirty="0"/>
                  <a:t>A </a:t>
                </a:r>
                <a:r>
                  <a:rPr lang="en-US" sz="2200" b="1" i="1" dirty="0"/>
                  <a:t>policy</a:t>
                </a:r>
                <a:r>
                  <a:rPr lang="en-US" sz="2200" dirty="0"/>
                  <a:t> is three things simultaneously:</a:t>
                </a:r>
              </a:p>
              <a:p>
                <a:pPr marL="342900" indent="-342900">
                  <a:spcBef>
                    <a:spcPts val="1200"/>
                  </a:spcBef>
                  <a:buFont typeface="+mj-lt"/>
                  <a:buAutoNum type="arabicPeriod"/>
                </a:pPr>
                <a:r>
                  <a:rPr lang="en-US" sz="2200" b="1" i="1" dirty="0"/>
                  <a:t>What the agent learns.</a:t>
                </a:r>
                <a:r>
                  <a:rPr lang="en-US" sz="2200" dirty="0"/>
                  <a:t> The policy reflects experience—built through trial and error across episodes, encoding: ‘When X happens, Y works best.’</a:t>
                </a:r>
              </a:p>
              <a:p>
                <a:pPr marL="342900" indent="-342900">
                  <a:spcBef>
                    <a:spcPts val="1200"/>
                  </a:spcBef>
                  <a:buFont typeface="+mj-lt"/>
                  <a:buAutoNum type="arabicPeriod"/>
                </a:pPr>
                <a:r>
                  <a:rPr lang="en-US" sz="2200" b="1" i="1" dirty="0"/>
                  <a:t>The Solution. </a:t>
                </a:r>
                <a:r>
                  <a:rPr lang="en-US" sz="2200" dirty="0"/>
                  <a:t>The optimal policy </a:t>
                </a:r>
                <a14:m>
                  <m:oMath xmlns:m="http://schemas.openxmlformats.org/officeDocument/2006/math">
                    <m:sSup>
                      <m:sSupPr>
                        <m:ctrlPr>
                          <a:rPr lang="en-US" sz="2200" b="0" i="1" dirty="0" smtClean="0">
                            <a:latin typeface="Cambria Math" panose="02040503050406030204" pitchFamily="18" charset="0"/>
                          </a:rPr>
                        </m:ctrlPr>
                      </m:sSupPr>
                      <m:e>
                        <m:r>
                          <a:rPr lang="en-US" sz="2200" b="0" i="1" dirty="0" smtClean="0">
                            <a:latin typeface="Cambria Math" panose="02040503050406030204" pitchFamily="18" charset="0"/>
                          </a:rPr>
                          <m:t>𝜋</m:t>
                        </m:r>
                      </m:e>
                      <m:sup>
                        <m:r>
                          <a:rPr lang="en-US" sz="2200" b="0" i="1" dirty="0" smtClean="0">
                            <a:latin typeface="Cambria Math" panose="02040503050406030204" pitchFamily="18" charset="0"/>
                          </a:rPr>
                          <m:t>∗</m:t>
                        </m:r>
                      </m:sup>
                    </m:sSup>
                  </m:oMath>
                </a14:m>
                <a:r>
                  <a:rPr lang="en-US" sz="2200" dirty="0"/>
                  <a:t> is the goal of RL—it answers what to do in every situation, fully solving the task.</a:t>
                </a:r>
              </a:p>
              <a:p>
                <a:pPr marL="342900" indent="-342900">
                  <a:spcBef>
                    <a:spcPts val="1200"/>
                  </a:spcBef>
                  <a:buFont typeface="+mj-lt"/>
                  <a:buAutoNum type="arabicPeriod"/>
                </a:pPr>
                <a:r>
                  <a:rPr lang="en-US" sz="2200" b="1" i="1" dirty="0"/>
                  <a:t>The Decision-Making Mechanism. </a:t>
                </a:r>
                <a:r>
                  <a:rPr lang="en-US" sz="2200" dirty="0"/>
                  <a:t>The policy is the agent’s decision engine—invoked at every step to answer: ‘Given this state, what action?’</a:t>
                </a:r>
              </a:p>
            </p:txBody>
          </p:sp>
        </mc:Choice>
        <mc:Fallback xmlns="">
          <p:sp>
            <p:nvSpPr>
              <p:cNvPr id="35" name="TextBox 34">
                <a:extLst>
                  <a:ext uri="{FF2B5EF4-FFF2-40B4-BE49-F238E27FC236}">
                    <a16:creationId xmlns:a16="http://schemas.microsoft.com/office/drawing/2014/main" id="{43CBD22D-E096-33ED-8811-C0A3328FF659}"/>
                  </a:ext>
                </a:extLst>
              </p:cNvPr>
              <p:cNvSpPr txBox="1">
                <a:spLocks noRot="1" noChangeAspect="1" noMove="1" noResize="1" noEditPoints="1" noAdjustHandles="1" noChangeArrowheads="1" noChangeShapeType="1" noTextEdit="1"/>
              </p:cNvSpPr>
              <p:nvPr/>
            </p:nvSpPr>
            <p:spPr>
              <a:xfrm>
                <a:off x="551974" y="1233785"/>
                <a:ext cx="10992651" cy="2923877"/>
              </a:xfrm>
              <a:prstGeom prst="rect">
                <a:avLst/>
              </a:prstGeom>
              <a:blipFill>
                <a:blip r:embed="rId2"/>
                <a:stretch>
                  <a:fillRect l="-776" t="-1250" b="-3333"/>
                </a:stretch>
              </a:blipFill>
              <a:ln>
                <a:noFill/>
              </a:ln>
            </p:spPr>
            <p:txBody>
              <a:bodyPr/>
              <a:lstStyle/>
              <a:p>
                <a:r>
                  <a:rPr lang="en-US">
                    <a:noFill/>
                  </a:rPr>
                  <a:t> </a:t>
                </a:r>
              </a:p>
            </p:txBody>
          </p:sp>
        </mc:Fallback>
      </mc:AlternateContent>
      <p:sp>
        <p:nvSpPr>
          <p:cNvPr id="3" name="TextBox 2">
            <a:extLst>
              <a:ext uri="{FF2B5EF4-FFF2-40B4-BE49-F238E27FC236}">
                <a16:creationId xmlns:a16="http://schemas.microsoft.com/office/drawing/2014/main" id="{B5D938F2-4A0A-B5D9-A312-03E5FC488390}"/>
              </a:ext>
            </a:extLst>
          </p:cNvPr>
          <p:cNvSpPr txBox="1"/>
          <p:nvPr/>
        </p:nvSpPr>
        <p:spPr>
          <a:xfrm>
            <a:off x="1137209" y="4826187"/>
            <a:ext cx="9822180" cy="1107996"/>
          </a:xfrm>
          <a:prstGeom prst="rect">
            <a:avLst/>
          </a:prstGeom>
          <a:noFill/>
          <a:ln>
            <a:solidFill>
              <a:schemeClr val="bg2"/>
            </a:solidFill>
          </a:ln>
        </p:spPr>
        <p:txBody>
          <a:bodyPr wrap="square">
            <a:spAutoFit/>
          </a:bodyPr>
          <a:lstStyle/>
          <a:p>
            <a:r>
              <a:rPr lang="en-US" sz="2200" dirty="0"/>
              <a:t>This is what makes RL so elegant—the learning process, the solution, and the execution mechanism are all the same thing. The agent does not acquire knowledge about optimal behavior; it directly develops the policy that IS the optimal behavior.</a:t>
            </a:r>
          </a:p>
        </p:txBody>
      </p:sp>
    </p:spTree>
    <p:extLst>
      <p:ext uri="{BB962C8B-B14F-4D97-AF65-F5344CB8AC3E}">
        <p14:creationId xmlns:p14="http://schemas.microsoft.com/office/powerpoint/2010/main" val="757604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4050" y="1647825"/>
            <a:ext cx="5334000" cy="4327391"/>
          </a:xfrm>
        </p:spPr>
        <p:txBody>
          <a:bodyPr>
            <a:noAutofit/>
          </a:bodyPr>
          <a:lstStyle/>
          <a:p>
            <a:pPr marL="0" indent="0">
              <a:spcBef>
                <a:spcPts val="3000"/>
              </a:spcBef>
              <a:buNone/>
            </a:pPr>
            <a:r>
              <a:rPr sz="1400" b="1" dirty="0"/>
              <a:t>Game Playing</a:t>
            </a:r>
          </a:p>
          <a:p>
            <a:pPr marL="457200" lvl="1"/>
            <a:r>
              <a:rPr sz="1400" b="1" dirty="0"/>
              <a:t>AlphaGo/AlphaZero</a:t>
            </a:r>
            <a:r>
              <a:rPr sz="1400" dirty="0"/>
              <a:t>: Mastered Go, Chess, Shogi</a:t>
            </a:r>
          </a:p>
          <a:p>
            <a:pPr marL="457200" lvl="1"/>
            <a:r>
              <a:rPr sz="1400" b="1" dirty="0"/>
              <a:t>Atari Games</a:t>
            </a:r>
            <a:r>
              <a:rPr sz="1400" dirty="0"/>
              <a:t>: Human-level performance from pixels (Breakout, Pong, Space Invaders)</a:t>
            </a:r>
          </a:p>
          <a:p>
            <a:pPr marL="457200" lvl="1"/>
            <a:r>
              <a:rPr sz="1400" b="1" dirty="0"/>
              <a:t>StarCraft II</a:t>
            </a:r>
            <a:r>
              <a:rPr sz="1400" dirty="0"/>
              <a:t>: </a:t>
            </a:r>
            <a:r>
              <a:rPr sz="1400" dirty="0" err="1"/>
              <a:t>AlphaStar</a:t>
            </a:r>
            <a:r>
              <a:rPr sz="1400" dirty="0"/>
              <a:t> reached Grandmaster level</a:t>
            </a:r>
          </a:p>
          <a:p>
            <a:pPr marL="457200" lvl="1"/>
            <a:r>
              <a:rPr sz="1400" b="1" dirty="0"/>
              <a:t>Dota 2</a:t>
            </a:r>
            <a:r>
              <a:rPr sz="1400" dirty="0"/>
              <a:t>: OpenAI Five competed against professional players</a:t>
            </a:r>
          </a:p>
          <a:p>
            <a:pPr marL="457200" lvl="1"/>
            <a:r>
              <a:rPr sz="1400" b="1" dirty="0"/>
              <a:t>Poker</a:t>
            </a:r>
            <a:r>
              <a:rPr sz="1400" dirty="0"/>
              <a:t>: </a:t>
            </a:r>
            <a:r>
              <a:rPr sz="1400" dirty="0" err="1"/>
              <a:t>Libratus</a:t>
            </a:r>
            <a:r>
              <a:rPr sz="1400" dirty="0"/>
              <a:t> and Pluribus beat top human players</a:t>
            </a:r>
          </a:p>
          <a:p>
            <a:pPr marL="457200" lvl="1"/>
            <a:r>
              <a:rPr sz="1400" b="1" dirty="0"/>
              <a:t>Hide and Seek</a:t>
            </a:r>
            <a:r>
              <a:rPr sz="1400" dirty="0"/>
              <a:t>: OpenAI agents developed complex strategies</a:t>
            </a:r>
          </a:p>
          <a:p>
            <a:pPr marL="0" indent="0">
              <a:spcBef>
                <a:spcPts val="3000"/>
              </a:spcBef>
              <a:buNone/>
            </a:pPr>
            <a:r>
              <a:rPr sz="1400" b="1" dirty="0"/>
              <a:t>Robotics</a:t>
            </a:r>
          </a:p>
          <a:p>
            <a:pPr marL="457200" lvl="1"/>
            <a:r>
              <a:rPr sz="1400" b="1" dirty="0"/>
              <a:t>Robot Grasping</a:t>
            </a:r>
            <a:r>
              <a:rPr sz="1400" dirty="0"/>
              <a:t>: Learning to pick up various objects</a:t>
            </a:r>
          </a:p>
          <a:p>
            <a:pPr marL="457200" lvl="1"/>
            <a:r>
              <a:rPr sz="1400" b="1" dirty="0"/>
              <a:t>Autonomous Vehicles</a:t>
            </a:r>
            <a:r>
              <a:rPr sz="1400" dirty="0"/>
              <a:t>: Tesla, Waymo navigation systems</a:t>
            </a:r>
          </a:p>
          <a:p>
            <a:pPr marL="457200" lvl="1"/>
            <a:r>
              <a:rPr sz="1400" b="1" dirty="0"/>
              <a:t>Drone Navigation</a:t>
            </a:r>
            <a:r>
              <a:rPr sz="1400" dirty="0"/>
              <a:t>: Obstacle avoidance and path planning</a:t>
            </a:r>
          </a:p>
          <a:p>
            <a:pPr marL="457200" lvl="1"/>
            <a:r>
              <a:rPr sz="1400" b="1" dirty="0"/>
              <a:t>Robotic Surgery</a:t>
            </a:r>
            <a:r>
              <a:rPr sz="1400" dirty="0"/>
              <a:t>: Precision movements in medical procedures</a:t>
            </a:r>
          </a:p>
          <a:p>
            <a:pPr marL="457200" lvl="1"/>
            <a:r>
              <a:rPr sz="1400" b="1" dirty="0"/>
              <a:t>Warehouse Automation</a:t>
            </a:r>
            <a:r>
              <a:rPr sz="1400" dirty="0"/>
              <a:t>: Amazon’s robotic fulfillment centers</a:t>
            </a:r>
          </a:p>
          <a:p>
            <a:pPr marL="457200" lvl="1"/>
            <a:r>
              <a:rPr sz="1400" b="1" dirty="0"/>
              <a:t>Humanoid Robots</a:t>
            </a:r>
            <a:r>
              <a:rPr sz="1400" dirty="0"/>
              <a:t>: Boston Dynamics Atlas parkour movements</a:t>
            </a:r>
          </a:p>
        </p:txBody>
      </p:sp>
      <p:sp>
        <p:nvSpPr>
          <p:cNvPr id="4" name="Title 12">
            <a:extLst>
              <a:ext uri="{FF2B5EF4-FFF2-40B4-BE49-F238E27FC236}">
                <a16:creationId xmlns:a16="http://schemas.microsoft.com/office/drawing/2014/main" id="{1DE791DC-AB47-6867-42C0-D5E558BCACF2}"/>
              </a:ext>
            </a:extLst>
          </p:cNvPr>
          <p:cNvSpPr txBox="1">
            <a:spLocks/>
          </p:cNvSpPr>
          <p:nvPr/>
        </p:nvSpPr>
        <p:spPr>
          <a:xfrm>
            <a:off x="471489" y="69597"/>
            <a:ext cx="11153622" cy="565671"/>
          </a:xfrm>
          <a:prstGeom prst="rect">
            <a:avLst/>
          </a:prstGeom>
          <a:ln>
            <a:noFill/>
          </a:ln>
        </p:spPr>
        <p:txBody>
          <a:bodyPr vert="horz" lIns="91440" tIns="45720" rIns="91440" bIns="45720" rtlCol="0" anchor="ctr">
            <a:noAutofit/>
          </a:bodyPr>
          <a:lst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a:lstStyle>
          <a:p>
            <a:pPr algn="ctr"/>
            <a:r>
              <a:rPr lang="en-US" sz="3600" dirty="0"/>
              <a:t>Some Real-World RL Examples</a:t>
            </a:r>
          </a:p>
        </p:txBody>
      </p:sp>
      <p:sp>
        <p:nvSpPr>
          <p:cNvPr id="7" name="Content Placeholder 2">
            <a:extLst>
              <a:ext uri="{FF2B5EF4-FFF2-40B4-BE49-F238E27FC236}">
                <a16:creationId xmlns:a16="http://schemas.microsoft.com/office/drawing/2014/main" id="{D1A031DA-D1C1-297F-0756-3FB866CA081E}"/>
              </a:ext>
            </a:extLst>
          </p:cNvPr>
          <p:cNvSpPr txBox="1">
            <a:spLocks/>
          </p:cNvSpPr>
          <p:nvPr/>
        </p:nvSpPr>
        <p:spPr>
          <a:xfrm>
            <a:off x="6680200" y="1790632"/>
            <a:ext cx="5118100" cy="40417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3000"/>
              </a:spcBef>
              <a:buFont typeface="Arial" panose="020B0604020202020204" pitchFamily="34" charset="0"/>
              <a:buNone/>
            </a:pPr>
            <a:r>
              <a:rPr lang="en-US" sz="1400" b="1" dirty="0"/>
              <a:t>Business &amp; Finance</a:t>
            </a:r>
          </a:p>
          <a:p>
            <a:pPr marL="457200" lvl="1"/>
            <a:r>
              <a:rPr lang="en-US" sz="1400" b="1" dirty="0"/>
              <a:t>Algorithmic Trading</a:t>
            </a:r>
            <a:r>
              <a:rPr lang="en-US" sz="1400" dirty="0"/>
              <a:t>: High-frequency trading strategies</a:t>
            </a:r>
          </a:p>
          <a:p>
            <a:pPr marL="457200" lvl="1"/>
            <a:r>
              <a:rPr lang="en-US" sz="1400" b="1" dirty="0"/>
              <a:t>Portfolio Management</a:t>
            </a:r>
            <a:r>
              <a:rPr lang="en-US" sz="1400" dirty="0"/>
              <a:t>: Dynamic asset allocation</a:t>
            </a:r>
          </a:p>
          <a:p>
            <a:pPr marL="457200" lvl="1"/>
            <a:r>
              <a:rPr lang="en-US" sz="1400" b="1" dirty="0"/>
              <a:t>Pricing Optimization</a:t>
            </a:r>
            <a:r>
              <a:rPr lang="en-US" sz="1400" dirty="0"/>
              <a:t>: Airlines, hotels adjusting prices</a:t>
            </a:r>
          </a:p>
          <a:p>
            <a:pPr marL="457200" lvl="1"/>
            <a:r>
              <a:rPr lang="en-US" sz="1400" b="1" dirty="0"/>
              <a:t>Fraud Detection</a:t>
            </a:r>
            <a:r>
              <a:rPr lang="en-US" sz="1400" dirty="0"/>
              <a:t>: Credit card companies detecting anomalies</a:t>
            </a:r>
          </a:p>
          <a:p>
            <a:pPr marL="457200" lvl="1"/>
            <a:r>
              <a:rPr lang="en-US" sz="1400" b="1" dirty="0"/>
              <a:t>Supply Chain</a:t>
            </a:r>
            <a:r>
              <a:rPr lang="en-US" sz="1400" dirty="0"/>
              <a:t>: Inventory management and logistics</a:t>
            </a:r>
          </a:p>
          <a:p>
            <a:pPr marL="457200" lvl="1"/>
            <a:r>
              <a:rPr lang="en-US" sz="1400" b="1" dirty="0"/>
              <a:t>Advertisement</a:t>
            </a:r>
            <a:r>
              <a:rPr lang="en-US" sz="1400" dirty="0"/>
              <a:t>: Real-time bidding for online ads</a:t>
            </a:r>
          </a:p>
          <a:p>
            <a:pPr marL="0" indent="0">
              <a:spcBef>
                <a:spcPts val="3000"/>
              </a:spcBef>
              <a:buFont typeface="Arial" panose="020B0604020202020204" pitchFamily="34" charset="0"/>
              <a:buNone/>
            </a:pPr>
            <a:r>
              <a:rPr lang="en-US" sz="1400" b="1" dirty="0"/>
              <a:t>Healthcare &amp; Science</a:t>
            </a:r>
          </a:p>
          <a:p>
            <a:pPr marL="457200" lvl="1"/>
            <a:r>
              <a:rPr lang="en-US" sz="1400" b="1" dirty="0"/>
              <a:t>Drug Discovery</a:t>
            </a:r>
            <a:r>
              <a:rPr lang="en-US" sz="1400" dirty="0"/>
              <a:t>: Finding new pharmaceutical compounds</a:t>
            </a:r>
          </a:p>
          <a:p>
            <a:pPr marL="457200" lvl="1"/>
            <a:r>
              <a:rPr lang="en-US" sz="1400" b="1" dirty="0"/>
              <a:t>Personalized Medicine</a:t>
            </a:r>
            <a:r>
              <a:rPr lang="en-US" sz="1400" dirty="0"/>
              <a:t>: Treatment recommendations</a:t>
            </a:r>
          </a:p>
          <a:p>
            <a:pPr marL="457200" lvl="1"/>
            <a:r>
              <a:rPr lang="en-US" sz="1400" b="1" dirty="0"/>
              <a:t>Clinical Trial Design</a:t>
            </a:r>
            <a:r>
              <a:rPr lang="en-US" sz="1400" dirty="0"/>
              <a:t>: Optimizing patient recruitment</a:t>
            </a:r>
          </a:p>
          <a:p>
            <a:pPr marL="457200" lvl="1"/>
            <a:r>
              <a:rPr lang="en-US" sz="1400" b="1" dirty="0"/>
              <a:t>Protein Folding</a:t>
            </a:r>
            <a:r>
              <a:rPr lang="en-US" sz="1400" dirty="0"/>
              <a:t>: AlphaFold predicting 3D structures</a:t>
            </a:r>
          </a:p>
          <a:p>
            <a:pPr marL="457200" lvl="1"/>
            <a:r>
              <a:rPr lang="en-US" sz="1400" b="1" dirty="0"/>
              <a:t>Medical Imaging</a:t>
            </a:r>
            <a:r>
              <a:rPr lang="en-US" sz="1400" dirty="0"/>
              <a:t>: Improving diagnostic accuracy</a:t>
            </a:r>
          </a:p>
          <a:p>
            <a:pPr marL="457200" lvl="1"/>
            <a:r>
              <a:rPr lang="en-US" sz="1400" b="1" dirty="0"/>
              <a:t>Epidemic Control</a:t>
            </a:r>
            <a:r>
              <a:rPr lang="en-US" sz="1400" dirty="0"/>
              <a:t>: Optimizing intervention strategies</a:t>
            </a:r>
          </a:p>
        </p:txBody>
      </p:sp>
      <p:sp>
        <p:nvSpPr>
          <p:cNvPr id="8" name="Content Placeholder 2">
            <a:extLst>
              <a:ext uri="{FF2B5EF4-FFF2-40B4-BE49-F238E27FC236}">
                <a16:creationId xmlns:a16="http://schemas.microsoft.com/office/drawing/2014/main" id="{F85A9759-DCBE-0C22-DD82-FD96C48F5EB3}"/>
              </a:ext>
            </a:extLst>
          </p:cNvPr>
          <p:cNvSpPr txBox="1">
            <a:spLocks/>
          </p:cNvSpPr>
          <p:nvPr/>
        </p:nvSpPr>
        <p:spPr>
          <a:xfrm>
            <a:off x="610469" y="882785"/>
            <a:ext cx="10971061" cy="37451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t>Some concrete examples where RL has been successful.</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124B1-D342-457D-6C1C-56072F41D917}"/>
            </a:ext>
          </a:extLst>
        </p:cNvPr>
        <p:cNvGrpSpPr/>
        <p:nvPr/>
      </p:nvGrpSpPr>
      <p:grpSpPr>
        <a:xfrm>
          <a:off x="0" y="0"/>
          <a:ext cx="0" cy="0"/>
          <a:chOff x="0" y="0"/>
          <a:chExt cx="0" cy="0"/>
        </a:xfrm>
      </p:grpSpPr>
      <p:sp>
        <p:nvSpPr>
          <p:cNvPr id="4" name="Title 12">
            <a:extLst>
              <a:ext uri="{FF2B5EF4-FFF2-40B4-BE49-F238E27FC236}">
                <a16:creationId xmlns:a16="http://schemas.microsoft.com/office/drawing/2014/main" id="{DD8F81A1-3BD6-48A4-3EB0-B7E6CFCC177E}"/>
              </a:ext>
            </a:extLst>
          </p:cNvPr>
          <p:cNvSpPr txBox="1">
            <a:spLocks/>
          </p:cNvSpPr>
          <p:nvPr/>
        </p:nvSpPr>
        <p:spPr>
          <a:xfrm>
            <a:off x="471489" y="69597"/>
            <a:ext cx="11153622" cy="565671"/>
          </a:xfrm>
          <a:prstGeom prst="rect">
            <a:avLst/>
          </a:prstGeom>
          <a:ln>
            <a:noFill/>
          </a:ln>
        </p:spPr>
        <p:txBody>
          <a:bodyPr vert="horz" lIns="91440" tIns="45720" rIns="91440" bIns="45720" rtlCol="0" anchor="ctr">
            <a:noAutofit/>
          </a:bodyPr>
          <a:lst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a:lstStyle>
          <a:p>
            <a:pPr algn="ctr"/>
            <a:r>
              <a:rPr lang="en-US" sz="3600" dirty="0"/>
              <a:t>Markov Decision Process</a:t>
            </a:r>
          </a:p>
        </p:txBody>
      </p:sp>
      <p:sp>
        <p:nvSpPr>
          <p:cNvPr id="8" name="TextBox 7">
            <a:extLst>
              <a:ext uri="{FF2B5EF4-FFF2-40B4-BE49-F238E27FC236}">
                <a16:creationId xmlns:a16="http://schemas.microsoft.com/office/drawing/2014/main" id="{1D77104B-4E9D-BE3A-08AC-855C20028EE9}"/>
              </a:ext>
            </a:extLst>
          </p:cNvPr>
          <p:cNvSpPr txBox="1"/>
          <p:nvPr/>
        </p:nvSpPr>
        <p:spPr>
          <a:xfrm>
            <a:off x="624840" y="920142"/>
            <a:ext cx="11000269" cy="707886"/>
          </a:xfrm>
          <a:prstGeom prst="rect">
            <a:avLst/>
          </a:prstGeom>
          <a:noFill/>
          <a:ln>
            <a:noFill/>
          </a:ln>
        </p:spPr>
        <p:txBody>
          <a:bodyPr wrap="square">
            <a:spAutoFit/>
          </a:bodyPr>
          <a:lstStyle/>
          <a:p>
            <a:r>
              <a:rPr lang="en-US" sz="2000" dirty="0"/>
              <a:t>How do we formalize RL problems mathematically? We need a framework that captures the essential elements: states, actions, rewards, and transitions. (Again, this might seem slightly familiar.)</a:t>
            </a:r>
          </a:p>
        </p:txBody>
      </p:sp>
      <p:grpSp>
        <p:nvGrpSpPr>
          <p:cNvPr id="37" name="Group 36">
            <a:extLst>
              <a:ext uri="{FF2B5EF4-FFF2-40B4-BE49-F238E27FC236}">
                <a16:creationId xmlns:a16="http://schemas.microsoft.com/office/drawing/2014/main" id="{824E36F0-8F2B-4944-B235-AA29BFE5E362}"/>
              </a:ext>
            </a:extLst>
          </p:cNvPr>
          <p:cNvGrpSpPr/>
          <p:nvPr/>
        </p:nvGrpSpPr>
        <p:grpSpPr>
          <a:xfrm>
            <a:off x="746575" y="2553048"/>
            <a:ext cx="10603450" cy="4000152"/>
            <a:chOff x="624840" y="1768188"/>
            <a:chExt cx="10603450" cy="4205892"/>
          </a:xfrm>
        </p:grpSpPr>
        <p:sp>
          <p:nvSpPr>
            <p:cNvPr id="27" name="TextBox 26">
              <a:extLst>
                <a:ext uri="{FF2B5EF4-FFF2-40B4-BE49-F238E27FC236}">
                  <a16:creationId xmlns:a16="http://schemas.microsoft.com/office/drawing/2014/main" id="{10A600CE-483A-7899-A34A-AB6CED2EA2C0}"/>
                </a:ext>
              </a:extLst>
            </p:cNvPr>
            <p:cNvSpPr txBox="1"/>
            <p:nvPr/>
          </p:nvSpPr>
          <p:spPr>
            <a:xfrm>
              <a:off x="624840" y="1768188"/>
              <a:ext cx="10603450" cy="4205892"/>
            </a:xfrm>
            <a:prstGeom prst="rect">
              <a:avLst/>
            </a:prstGeom>
            <a:noFill/>
            <a:ln w="19050">
              <a:solidFill>
                <a:schemeClr val="tx1"/>
              </a:solidFill>
            </a:ln>
          </p:spPr>
          <p:txBody>
            <a:bodyPr wrap="square">
              <a:spAutoFit/>
            </a:bodyPr>
            <a:lstStyle/>
            <a:p>
              <a:endParaRPr lang="en-US" sz="2000" dirty="0"/>
            </a:p>
          </p:txBody>
        </p:sp>
        <p:sp>
          <p:nvSpPr>
            <p:cNvPr id="11" name="TextBox 10">
              <a:extLst>
                <a:ext uri="{FF2B5EF4-FFF2-40B4-BE49-F238E27FC236}">
                  <a16:creationId xmlns:a16="http://schemas.microsoft.com/office/drawing/2014/main" id="{CE29A8E2-59B0-B4C5-F95C-C7BFAC685F58}"/>
                </a:ext>
              </a:extLst>
            </p:cNvPr>
            <p:cNvSpPr txBox="1"/>
            <p:nvPr/>
          </p:nvSpPr>
          <p:spPr>
            <a:xfrm>
              <a:off x="624841" y="1834026"/>
              <a:ext cx="5120640" cy="400110"/>
            </a:xfrm>
            <a:prstGeom prst="rect">
              <a:avLst/>
            </a:prstGeom>
            <a:noFill/>
            <a:ln>
              <a:noFill/>
            </a:ln>
          </p:spPr>
          <p:txBody>
            <a:bodyPr wrap="square">
              <a:spAutoFit/>
            </a:bodyPr>
            <a:lstStyle/>
            <a:p>
              <a:r>
                <a:rPr lang="en-US" sz="2000" dirty="0"/>
                <a:t>A Markov Decision Process (MDP) is defined by:</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4FB8653-5656-D056-1EBC-E379D7D00908}"/>
                    </a:ext>
                  </a:extLst>
                </p:cNvPr>
                <p:cNvSpPr txBox="1"/>
                <p:nvPr/>
              </p:nvSpPr>
              <p:spPr>
                <a:xfrm>
                  <a:off x="891719" y="2342605"/>
                  <a:ext cx="2014141" cy="430887"/>
                </a:xfrm>
                <a:prstGeom prst="rect">
                  <a:avLst/>
                </a:prstGeom>
                <a:noFill/>
                <a:ln>
                  <a:noFill/>
                </a:ln>
              </p:spPr>
              <p:txBody>
                <a:bodyPr wrap="square">
                  <a:spAutoFit/>
                </a:bodyPr>
                <a:lstStyle/>
                <a:p>
                  <a14:m>
                    <m:oMath xmlns:m="http://schemas.openxmlformats.org/officeDocument/2006/math">
                      <m:r>
                        <a:rPr lang="en-US" sz="2200" b="0" i="1" dirty="0" smtClean="0">
                          <a:solidFill>
                            <a:srgbClr val="00B050"/>
                          </a:solidFill>
                          <a:latin typeface="Cambria Math" panose="02040503050406030204" pitchFamily="18" charset="0"/>
                        </a:rPr>
                        <m:t>𝑆</m:t>
                      </m:r>
                    </m:oMath>
                  </a14:m>
                  <a:r>
                    <a:rPr lang="en-US" sz="2200" dirty="0"/>
                    <a:t>: Set of states</a:t>
                  </a:r>
                </a:p>
              </p:txBody>
            </p:sp>
          </mc:Choice>
          <mc:Fallback xmlns="">
            <p:sp>
              <p:nvSpPr>
                <p:cNvPr id="12" name="TextBox 11">
                  <a:extLst>
                    <a:ext uri="{FF2B5EF4-FFF2-40B4-BE49-F238E27FC236}">
                      <a16:creationId xmlns:a16="http://schemas.microsoft.com/office/drawing/2014/main" id="{E4FB8653-5656-D056-1EBC-E379D7D00908}"/>
                    </a:ext>
                  </a:extLst>
                </p:cNvPr>
                <p:cNvSpPr txBox="1">
                  <a:spLocks noRot="1" noChangeAspect="1" noMove="1" noResize="1" noEditPoints="1" noAdjustHandles="1" noChangeArrowheads="1" noChangeShapeType="1" noTextEdit="1"/>
                </p:cNvSpPr>
                <p:nvPr/>
              </p:nvSpPr>
              <p:spPr>
                <a:xfrm>
                  <a:off x="891719" y="2342605"/>
                  <a:ext cx="2014141" cy="430887"/>
                </a:xfrm>
                <a:prstGeom prst="rect">
                  <a:avLst/>
                </a:prstGeom>
                <a:blipFill>
                  <a:blip r:embed="rId2"/>
                  <a:stretch>
                    <a:fillRect l="-302" t="-9859" b="-28169"/>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5371E2F-757A-12D5-401D-8CCDD61A9D6B}"/>
                    </a:ext>
                  </a:extLst>
                </p:cNvPr>
                <p:cNvSpPr txBox="1"/>
                <p:nvPr/>
              </p:nvSpPr>
              <p:spPr>
                <a:xfrm>
                  <a:off x="3361493" y="2342605"/>
                  <a:ext cx="4323002" cy="430887"/>
                </a:xfrm>
                <a:prstGeom prst="rect">
                  <a:avLst/>
                </a:prstGeom>
                <a:noFill/>
                <a:ln>
                  <a:noFill/>
                </a:ln>
              </p:spPr>
              <p:txBody>
                <a:bodyPr wrap="square">
                  <a:spAutoFit/>
                </a:bodyPr>
                <a:lstStyle/>
                <a:p>
                  <a14:m>
                    <m:oMath xmlns:m="http://schemas.openxmlformats.org/officeDocument/2006/math">
                      <m:r>
                        <a:rPr lang="en-US" sz="2200" b="0" i="1" dirty="0" smtClean="0">
                          <a:solidFill>
                            <a:srgbClr val="FF0000"/>
                          </a:solidFill>
                          <a:latin typeface="Cambria Math" panose="02040503050406030204" pitchFamily="18" charset="0"/>
                        </a:rPr>
                        <m:t>𝑃</m:t>
                      </m:r>
                      <m:d>
                        <m:dPr>
                          <m:ctrlPr>
                            <a:rPr lang="en-US" sz="2200" b="0" i="1" dirty="0" smtClean="0">
                              <a:latin typeface="Cambria Math" panose="02040503050406030204" pitchFamily="18" charset="0"/>
                            </a:rPr>
                          </m:ctrlPr>
                        </m:dPr>
                        <m:e>
                          <m:sSup>
                            <m:sSupPr>
                              <m:ctrlPr>
                                <a:rPr lang="en-US" sz="2200" b="0" i="1" smtClean="0">
                                  <a:solidFill>
                                    <a:srgbClr val="00B050"/>
                                  </a:solidFill>
                                  <a:latin typeface="Cambria Math" panose="02040503050406030204" pitchFamily="18" charset="0"/>
                                </a:rPr>
                              </m:ctrlPr>
                            </m:sSupPr>
                            <m:e>
                              <m:r>
                                <a:rPr lang="en-US" sz="2200" i="1" smtClean="0">
                                  <a:solidFill>
                                    <a:srgbClr val="00B050"/>
                                  </a:solidFill>
                                  <a:latin typeface="Cambria Math" panose="02040503050406030204" pitchFamily="18" charset="0"/>
                                </a:rPr>
                                <m:t>𝑠</m:t>
                              </m:r>
                            </m:e>
                            <m:sup>
                              <m:r>
                                <a:rPr lang="en-US" sz="2200" b="0" i="1" smtClean="0">
                                  <a:solidFill>
                                    <a:srgbClr val="00B050"/>
                                  </a:solidFill>
                                  <a:latin typeface="Cambria Math" panose="02040503050406030204" pitchFamily="18" charset="0"/>
                                </a:rPr>
                                <m:t>′</m:t>
                              </m:r>
                            </m:sup>
                          </m:sSup>
                          <m:r>
                            <a:rPr lang="en-US" sz="2200" b="0" i="1" smtClean="0">
                              <a:solidFill>
                                <a:schemeClr val="tx1"/>
                              </a:solidFill>
                              <a:latin typeface="Cambria Math" panose="02040503050406030204" pitchFamily="18" charset="0"/>
                            </a:rPr>
                            <m:t>∣</m:t>
                          </m:r>
                          <m:r>
                            <a:rPr lang="en-US" sz="2200" i="1">
                              <a:solidFill>
                                <a:srgbClr val="00B050"/>
                              </a:solidFill>
                              <a:latin typeface="Cambria Math" panose="02040503050406030204" pitchFamily="18" charset="0"/>
                            </a:rPr>
                            <m:t>𝑠</m:t>
                          </m:r>
                          <m:r>
                            <a:rPr lang="en-US" sz="2200" b="0" i="1" dirty="0" smtClean="0">
                              <a:latin typeface="Cambria Math" panose="02040503050406030204" pitchFamily="18" charset="0"/>
                            </a:rPr>
                            <m:t>,</m:t>
                          </m:r>
                          <m:r>
                            <a:rPr lang="en-US" sz="2200" b="0" i="1" dirty="0" smtClean="0">
                              <a:solidFill>
                                <a:srgbClr val="7030A0"/>
                              </a:solidFill>
                              <a:latin typeface="Cambria Math" panose="02040503050406030204" pitchFamily="18" charset="0"/>
                            </a:rPr>
                            <m:t>𝑎</m:t>
                          </m:r>
                        </m:e>
                      </m:d>
                      <m:r>
                        <a:rPr lang="en-US" sz="2200" b="0" i="1" dirty="0" smtClean="0">
                          <a:latin typeface="Cambria Math" panose="02040503050406030204" pitchFamily="18" charset="0"/>
                        </a:rPr>
                        <m:t>:</m:t>
                      </m:r>
                    </m:oMath>
                  </a14:m>
                  <a:r>
                    <a:rPr lang="en-US" sz="2200" dirty="0"/>
                    <a:t> Transition probabilities.</a:t>
                  </a:r>
                </a:p>
              </p:txBody>
            </p:sp>
          </mc:Choice>
          <mc:Fallback xmlns="">
            <p:sp>
              <p:nvSpPr>
                <p:cNvPr id="16" name="TextBox 15">
                  <a:extLst>
                    <a:ext uri="{FF2B5EF4-FFF2-40B4-BE49-F238E27FC236}">
                      <a16:creationId xmlns:a16="http://schemas.microsoft.com/office/drawing/2014/main" id="{85371E2F-757A-12D5-401D-8CCDD61A9D6B}"/>
                    </a:ext>
                  </a:extLst>
                </p:cNvPr>
                <p:cNvSpPr txBox="1">
                  <a:spLocks noRot="1" noChangeAspect="1" noMove="1" noResize="1" noEditPoints="1" noAdjustHandles="1" noChangeArrowheads="1" noChangeShapeType="1" noTextEdit="1"/>
                </p:cNvSpPr>
                <p:nvPr/>
              </p:nvSpPr>
              <p:spPr>
                <a:xfrm>
                  <a:off x="3361493" y="2342605"/>
                  <a:ext cx="4323002" cy="430887"/>
                </a:xfrm>
                <a:prstGeom prst="rect">
                  <a:avLst/>
                </a:prstGeom>
                <a:blipFill>
                  <a:blip r:embed="rId3"/>
                  <a:stretch>
                    <a:fillRect l="-141" t="-9859" r="-423" b="-28169"/>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C1C1BC63-BE41-626A-80C4-48758C436ED2}"/>
                    </a:ext>
                  </a:extLst>
                </p:cNvPr>
                <p:cNvSpPr txBox="1"/>
                <p:nvPr/>
              </p:nvSpPr>
              <p:spPr>
                <a:xfrm>
                  <a:off x="3361493" y="2843139"/>
                  <a:ext cx="3278661" cy="453049"/>
                </a:xfrm>
                <a:prstGeom prst="rect">
                  <a:avLst/>
                </a:prstGeom>
                <a:noFill/>
                <a:ln>
                  <a:noFill/>
                </a:ln>
              </p:spPr>
              <p:txBody>
                <a:bodyPr wrap="square">
                  <a:spAutoFit/>
                </a:bodyPr>
                <a:lstStyle/>
                <a:p>
                  <a14:m>
                    <m:oMath xmlns:m="http://schemas.openxmlformats.org/officeDocument/2006/math">
                      <m:r>
                        <a:rPr lang="en-US" sz="2200" b="0" i="1" dirty="0" smtClean="0">
                          <a:solidFill>
                            <a:srgbClr val="1306BA"/>
                          </a:solidFill>
                          <a:latin typeface="Cambria Math" panose="02040503050406030204" pitchFamily="18" charset="0"/>
                        </a:rPr>
                        <m:t>𝑅</m:t>
                      </m:r>
                      <m:d>
                        <m:dPr>
                          <m:ctrlPr>
                            <a:rPr lang="en-US" sz="2200" b="0" i="1" dirty="0" smtClean="0">
                              <a:latin typeface="Cambria Math" panose="02040503050406030204" pitchFamily="18" charset="0"/>
                            </a:rPr>
                          </m:ctrlPr>
                        </m:dPr>
                        <m:e>
                          <m:r>
                            <a:rPr lang="en-US" sz="2200" i="1" smtClean="0">
                              <a:solidFill>
                                <a:srgbClr val="00B050"/>
                              </a:solidFill>
                              <a:latin typeface="Cambria Math" panose="02040503050406030204" pitchFamily="18" charset="0"/>
                            </a:rPr>
                            <m:t>𝑠</m:t>
                          </m:r>
                          <m:r>
                            <a:rPr lang="en-US" sz="2200" b="0" i="1" dirty="0" smtClean="0">
                              <a:latin typeface="Cambria Math" panose="02040503050406030204" pitchFamily="18" charset="0"/>
                            </a:rPr>
                            <m:t>,</m:t>
                          </m:r>
                          <m:r>
                            <a:rPr lang="en-US" sz="2200" i="1" dirty="0" smtClean="0">
                              <a:solidFill>
                                <a:srgbClr val="7030A0"/>
                              </a:solidFill>
                              <a:latin typeface="Cambria Math" panose="02040503050406030204" pitchFamily="18" charset="0"/>
                            </a:rPr>
                            <m:t>𝑎</m:t>
                          </m:r>
                          <m:r>
                            <a:rPr lang="en-US" sz="2200" b="0" i="1" dirty="0" smtClean="0">
                              <a:latin typeface="Cambria Math" panose="02040503050406030204" pitchFamily="18" charset="0"/>
                            </a:rPr>
                            <m:t>,</m:t>
                          </m:r>
                          <m:r>
                            <a:rPr lang="en-US" sz="2200" i="1" smtClean="0">
                              <a:solidFill>
                                <a:srgbClr val="00B050"/>
                              </a:solidFill>
                              <a:latin typeface="Cambria Math" panose="02040503050406030204" pitchFamily="18" charset="0"/>
                            </a:rPr>
                            <m:t>𝑠</m:t>
                          </m:r>
                          <m:r>
                            <a:rPr lang="en-US" sz="2200" b="0" i="1" dirty="0" smtClean="0">
                              <a:latin typeface="Cambria Math" panose="02040503050406030204" pitchFamily="18" charset="0"/>
                            </a:rPr>
                            <m:t>′</m:t>
                          </m:r>
                        </m:e>
                      </m:d>
                      <m:r>
                        <a:rPr lang="en-US" sz="2200" b="0" i="1" dirty="0" smtClean="0">
                          <a:latin typeface="Cambria Math" panose="02040503050406030204" pitchFamily="18" charset="0"/>
                        </a:rPr>
                        <m:t>:</m:t>
                      </m:r>
                    </m:oMath>
                  </a14:m>
                  <a:r>
                    <a:rPr lang="en-US" sz="2200" dirty="0"/>
                    <a:t> reward function</a:t>
                  </a:r>
                </a:p>
              </p:txBody>
            </p:sp>
          </mc:Choice>
          <mc:Fallback xmlns="">
            <p:sp>
              <p:nvSpPr>
                <p:cNvPr id="20" name="TextBox 19">
                  <a:extLst>
                    <a:ext uri="{FF2B5EF4-FFF2-40B4-BE49-F238E27FC236}">
                      <a16:creationId xmlns:a16="http://schemas.microsoft.com/office/drawing/2014/main" id="{C1C1BC63-BE41-626A-80C4-48758C436ED2}"/>
                    </a:ext>
                  </a:extLst>
                </p:cNvPr>
                <p:cNvSpPr txBox="1">
                  <a:spLocks noRot="1" noChangeAspect="1" noMove="1" noResize="1" noEditPoints="1" noAdjustHandles="1" noChangeArrowheads="1" noChangeShapeType="1" noTextEdit="1"/>
                </p:cNvSpPr>
                <p:nvPr/>
              </p:nvSpPr>
              <p:spPr>
                <a:xfrm>
                  <a:off x="3361493" y="2843139"/>
                  <a:ext cx="3278661" cy="453049"/>
                </a:xfrm>
                <a:prstGeom prst="rect">
                  <a:avLst/>
                </a:prstGeom>
                <a:blipFill>
                  <a:blip r:embed="rId4"/>
                  <a:stretch>
                    <a:fillRect l="-186" t="-10000" r="-1487" b="-28571"/>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2009367-7411-1632-D868-D0ADF3274595}"/>
                    </a:ext>
                  </a:extLst>
                </p:cNvPr>
                <p:cNvSpPr txBox="1"/>
                <p:nvPr/>
              </p:nvSpPr>
              <p:spPr>
                <a:xfrm>
                  <a:off x="891719" y="2843979"/>
                  <a:ext cx="2105581" cy="430887"/>
                </a:xfrm>
                <a:prstGeom prst="rect">
                  <a:avLst/>
                </a:prstGeom>
                <a:noFill/>
                <a:ln>
                  <a:noFill/>
                </a:ln>
              </p:spPr>
              <p:txBody>
                <a:bodyPr wrap="square">
                  <a:spAutoFit/>
                </a:bodyPr>
                <a:lstStyle/>
                <a:p>
                  <a14:m>
                    <m:oMath xmlns:m="http://schemas.openxmlformats.org/officeDocument/2006/math">
                      <m:r>
                        <a:rPr lang="en-US" sz="2200" b="0" i="1" dirty="0" smtClean="0">
                          <a:solidFill>
                            <a:srgbClr val="7030A0"/>
                          </a:solidFill>
                          <a:latin typeface="Cambria Math" panose="02040503050406030204" pitchFamily="18" charset="0"/>
                        </a:rPr>
                        <m:t>𝐴</m:t>
                      </m:r>
                    </m:oMath>
                  </a14:m>
                  <a:r>
                    <a:rPr lang="en-US" sz="2200" dirty="0"/>
                    <a:t>: Set of actions</a:t>
                  </a:r>
                </a:p>
              </p:txBody>
            </p:sp>
          </mc:Choice>
          <mc:Fallback xmlns="">
            <p:sp>
              <p:nvSpPr>
                <p:cNvPr id="21" name="TextBox 20">
                  <a:extLst>
                    <a:ext uri="{FF2B5EF4-FFF2-40B4-BE49-F238E27FC236}">
                      <a16:creationId xmlns:a16="http://schemas.microsoft.com/office/drawing/2014/main" id="{12009367-7411-1632-D868-D0ADF3274595}"/>
                    </a:ext>
                  </a:extLst>
                </p:cNvPr>
                <p:cNvSpPr txBox="1">
                  <a:spLocks noRot="1" noChangeAspect="1" noMove="1" noResize="1" noEditPoints="1" noAdjustHandles="1" noChangeArrowheads="1" noChangeShapeType="1" noTextEdit="1"/>
                </p:cNvSpPr>
                <p:nvPr/>
              </p:nvSpPr>
              <p:spPr>
                <a:xfrm>
                  <a:off x="891719" y="2843979"/>
                  <a:ext cx="2105581" cy="430887"/>
                </a:xfrm>
                <a:prstGeom prst="rect">
                  <a:avLst/>
                </a:prstGeom>
                <a:blipFill>
                  <a:blip r:embed="rId5"/>
                  <a:stretch>
                    <a:fillRect l="-289" t="-8451" b="-28169"/>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51C72B2B-4DCB-5BF2-DD48-B7454AD53240}"/>
                    </a:ext>
                  </a:extLst>
                </p:cNvPr>
                <p:cNvSpPr txBox="1"/>
                <p:nvPr/>
              </p:nvSpPr>
              <p:spPr>
                <a:xfrm>
                  <a:off x="8140128" y="2316668"/>
                  <a:ext cx="3088161" cy="430887"/>
                </a:xfrm>
                <a:prstGeom prst="rect">
                  <a:avLst/>
                </a:prstGeom>
                <a:noFill/>
                <a:ln>
                  <a:noFill/>
                </a:ln>
              </p:spPr>
              <p:txBody>
                <a:bodyPr wrap="square">
                  <a:spAutoFit/>
                </a:bodyPr>
                <a:lstStyle/>
                <a:p>
                  <a14:m>
                    <m:oMath xmlns:m="http://schemas.openxmlformats.org/officeDocument/2006/math">
                      <m:r>
                        <a:rPr lang="en-US" sz="2200" b="0" i="1" dirty="0" smtClean="0">
                          <a:solidFill>
                            <a:srgbClr val="00B0F0"/>
                          </a:solidFill>
                          <a:latin typeface="Cambria Math" panose="02040503050406030204" pitchFamily="18" charset="0"/>
                        </a:rPr>
                        <m:t>𝛾</m:t>
                      </m:r>
                      <m:r>
                        <a:rPr lang="en-US" sz="2200" b="0" i="1" dirty="0" smtClean="0">
                          <a:solidFill>
                            <a:schemeClr val="tx1"/>
                          </a:solidFill>
                          <a:latin typeface="Cambria Math" panose="02040503050406030204" pitchFamily="18" charset="0"/>
                        </a:rPr>
                        <m:t>∈</m:t>
                      </m:r>
                      <m:d>
                        <m:dPr>
                          <m:begChr m:val="["/>
                          <m:endChr m:val="]"/>
                          <m:ctrlPr>
                            <a:rPr lang="en-US" sz="2200" b="0" i="1" dirty="0" smtClean="0">
                              <a:solidFill>
                                <a:schemeClr val="tx1"/>
                              </a:solidFill>
                              <a:latin typeface="Cambria Math" panose="02040503050406030204" pitchFamily="18" charset="0"/>
                            </a:rPr>
                          </m:ctrlPr>
                        </m:dPr>
                        <m:e>
                          <m:r>
                            <a:rPr lang="en-US" sz="2200" b="0" i="1" dirty="0" smtClean="0">
                              <a:solidFill>
                                <a:schemeClr val="tx1"/>
                              </a:solidFill>
                              <a:latin typeface="Cambria Math" panose="02040503050406030204" pitchFamily="18" charset="0"/>
                            </a:rPr>
                            <m:t>0,1</m:t>
                          </m:r>
                        </m:e>
                      </m:d>
                      <m:r>
                        <a:rPr lang="en-US" sz="2200" b="0" i="1" dirty="0" smtClean="0">
                          <a:latin typeface="Cambria Math" panose="02040503050406030204" pitchFamily="18" charset="0"/>
                        </a:rPr>
                        <m:t>:</m:t>
                      </m:r>
                    </m:oMath>
                  </a14:m>
                  <a:r>
                    <a:rPr lang="en-US" sz="2200" dirty="0"/>
                    <a:t> Discount factor</a:t>
                  </a:r>
                </a:p>
              </p:txBody>
            </p:sp>
          </mc:Choice>
          <mc:Fallback xmlns="">
            <p:sp>
              <p:nvSpPr>
                <p:cNvPr id="22" name="TextBox 21">
                  <a:extLst>
                    <a:ext uri="{FF2B5EF4-FFF2-40B4-BE49-F238E27FC236}">
                      <a16:creationId xmlns:a16="http://schemas.microsoft.com/office/drawing/2014/main" id="{51C72B2B-4DCB-5BF2-DD48-B7454AD53240}"/>
                    </a:ext>
                  </a:extLst>
                </p:cNvPr>
                <p:cNvSpPr txBox="1">
                  <a:spLocks noRot="1" noChangeAspect="1" noMove="1" noResize="1" noEditPoints="1" noAdjustHandles="1" noChangeArrowheads="1" noChangeShapeType="1" noTextEdit="1"/>
                </p:cNvSpPr>
                <p:nvPr/>
              </p:nvSpPr>
              <p:spPr>
                <a:xfrm>
                  <a:off x="8140128" y="2316668"/>
                  <a:ext cx="3088161" cy="430887"/>
                </a:xfrm>
                <a:prstGeom prst="rect">
                  <a:avLst/>
                </a:prstGeom>
                <a:blipFill>
                  <a:blip r:embed="rId6"/>
                  <a:stretch>
                    <a:fillRect l="-197" t="-10000" r="-2170" b="-28571"/>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DF0524FD-A7C9-5448-5983-D7D1CD366FDC}"/>
                    </a:ext>
                  </a:extLst>
                </p:cNvPr>
                <p:cNvSpPr txBox="1"/>
                <p:nvPr/>
              </p:nvSpPr>
              <p:spPr>
                <a:xfrm>
                  <a:off x="8633460" y="2773492"/>
                  <a:ext cx="2260129" cy="728789"/>
                </a:xfrm>
                <a:prstGeom prst="rect">
                  <a:avLst/>
                </a:prstGeom>
                <a:noFill/>
                <a:ln>
                  <a:noFill/>
                </a:ln>
              </p:spPr>
              <p:txBody>
                <a:bodyPr wrap="square">
                  <a:spAutoFit/>
                </a:bodyPr>
                <a:lstStyle/>
                <a:p>
                  <a:pPr/>
                  <a14:m>
                    <m:oMathPara xmlns:m="http://schemas.openxmlformats.org/officeDocument/2006/math">
                      <m:oMathParaPr>
                        <m:jc m:val="center"/>
                      </m:oMathParaPr>
                      <m:oMath xmlns:m="http://schemas.openxmlformats.org/officeDocument/2006/math">
                        <m:r>
                          <a:rPr lang="en-US" sz="1400" b="0" i="1" dirty="0" smtClean="0">
                            <a:solidFill>
                              <a:schemeClr val="tx1"/>
                            </a:solidFill>
                            <a:latin typeface="Cambria Math" panose="02040503050406030204" pitchFamily="18" charset="0"/>
                          </a:rPr>
                          <m:t>(</m:t>
                        </m:r>
                        <m:r>
                          <m:rPr>
                            <m:nor/>
                          </m:rPr>
                          <a:rPr lang="en-US" sz="1400" b="0" i="0" dirty="0" smtClean="0">
                            <a:solidFill>
                              <a:schemeClr val="tx1"/>
                            </a:solidFill>
                            <a:latin typeface="Cambria Math" panose="02040503050406030204" pitchFamily="18" charset="0"/>
                          </a:rPr>
                          <m:t>H</m:t>
                        </m:r>
                        <m:r>
                          <m:rPr>
                            <m:nor/>
                          </m:rPr>
                          <a:rPr lang="en-US" sz="1400">
                            <a:solidFill>
                              <a:schemeClr val="tx1"/>
                            </a:solidFill>
                          </a:rPr>
                          <m:t>ow</m:t>
                        </m:r>
                        <m:r>
                          <m:rPr>
                            <m:nor/>
                          </m:rPr>
                          <a:rPr lang="en-US" sz="1400">
                            <a:solidFill>
                              <a:schemeClr val="tx1"/>
                            </a:solidFill>
                          </a:rPr>
                          <m:t> </m:t>
                        </m:r>
                        <m:r>
                          <m:rPr>
                            <m:nor/>
                          </m:rPr>
                          <a:rPr lang="en-US" sz="1400">
                            <a:solidFill>
                              <a:schemeClr val="tx1"/>
                            </a:solidFill>
                          </a:rPr>
                          <m:t>much</m:t>
                        </m:r>
                        <m:r>
                          <m:rPr>
                            <m:nor/>
                          </m:rPr>
                          <a:rPr lang="en-US" sz="1400">
                            <a:solidFill>
                              <a:schemeClr val="tx1"/>
                            </a:solidFill>
                          </a:rPr>
                          <m:t> </m:t>
                        </m:r>
                        <m:r>
                          <m:rPr>
                            <m:nor/>
                          </m:rPr>
                          <a:rPr lang="en-US" sz="1400">
                            <a:solidFill>
                              <a:schemeClr val="tx1"/>
                            </a:solidFill>
                          </a:rPr>
                          <m:t>future</m:t>
                        </m:r>
                        <m:r>
                          <m:rPr>
                            <m:nor/>
                          </m:rPr>
                          <a:rPr lang="en-US" sz="1400">
                            <a:solidFill>
                              <a:schemeClr val="tx1"/>
                            </a:solidFill>
                          </a:rPr>
                          <m:t> </m:t>
                        </m:r>
                        <m:r>
                          <m:rPr>
                            <m:nor/>
                          </m:rPr>
                          <a:rPr lang="en-US" sz="1400">
                            <a:solidFill>
                              <a:schemeClr val="tx1"/>
                            </a:solidFill>
                          </a:rPr>
                          <m:t>rewards</m:t>
                        </m:r>
                        <m:r>
                          <m:rPr>
                            <m:nor/>
                          </m:rPr>
                          <a:rPr lang="en-US" sz="1400">
                            <a:solidFill>
                              <a:schemeClr val="tx1"/>
                            </a:solidFill>
                          </a:rPr>
                          <m:t> </m:t>
                        </m:r>
                        <m:r>
                          <m:rPr>
                            <m:nor/>
                          </m:rPr>
                          <a:rPr lang="en-US" sz="1400">
                            <a:solidFill>
                              <a:schemeClr val="tx1"/>
                            </a:solidFill>
                          </a:rPr>
                          <m:t>are</m:t>
                        </m:r>
                        <m:r>
                          <m:rPr>
                            <m:nor/>
                          </m:rPr>
                          <a:rPr lang="en-US" sz="1400">
                            <a:solidFill>
                              <a:schemeClr val="tx1"/>
                            </a:solidFill>
                          </a:rPr>
                          <m:t> </m:t>
                        </m:r>
                        <m:r>
                          <m:rPr>
                            <m:nor/>
                          </m:rPr>
                          <a:rPr lang="en-US" sz="1400">
                            <a:solidFill>
                              <a:schemeClr val="tx1"/>
                            </a:solidFill>
                          </a:rPr>
                          <m:t>valued</m:t>
                        </m:r>
                        <m:r>
                          <m:rPr>
                            <m:nor/>
                          </m:rPr>
                          <a:rPr lang="en-US" sz="1400">
                            <a:solidFill>
                              <a:schemeClr val="tx1"/>
                            </a:solidFill>
                          </a:rPr>
                          <m:t> </m:t>
                        </m:r>
                        <m:r>
                          <m:rPr>
                            <m:nor/>
                          </m:rPr>
                          <a:rPr lang="en-US" sz="1400">
                            <a:solidFill>
                              <a:schemeClr val="tx1"/>
                            </a:solidFill>
                          </a:rPr>
                          <m:t>relative</m:t>
                        </m:r>
                        <m:r>
                          <m:rPr>
                            <m:nor/>
                          </m:rPr>
                          <a:rPr lang="en-US" sz="1400">
                            <a:solidFill>
                              <a:schemeClr val="tx1"/>
                            </a:solidFill>
                          </a:rPr>
                          <m:t> </m:t>
                        </m:r>
                        <m:r>
                          <m:rPr>
                            <m:nor/>
                          </m:rPr>
                          <a:rPr lang="en-US" sz="1400">
                            <a:solidFill>
                              <a:schemeClr val="tx1"/>
                            </a:solidFill>
                          </a:rPr>
                          <m:t>to</m:t>
                        </m:r>
                        <m:r>
                          <m:rPr>
                            <m:nor/>
                          </m:rPr>
                          <a:rPr lang="en-US" sz="1400">
                            <a:solidFill>
                              <a:schemeClr val="tx1"/>
                            </a:solidFill>
                          </a:rPr>
                          <m:t> </m:t>
                        </m:r>
                        <m:r>
                          <m:rPr>
                            <m:nor/>
                          </m:rPr>
                          <a:rPr lang="en-US" sz="1400">
                            <a:solidFill>
                              <a:schemeClr val="tx1"/>
                            </a:solidFill>
                          </a:rPr>
                          <m:t>immediate</m:t>
                        </m:r>
                        <m:r>
                          <m:rPr>
                            <m:nor/>
                          </m:rPr>
                          <a:rPr lang="en-US" sz="1400">
                            <a:solidFill>
                              <a:schemeClr val="tx1"/>
                            </a:solidFill>
                          </a:rPr>
                          <m:t> </m:t>
                        </m:r>
                        <m:r>
                          <m:rPr>
                            <m:nor/>
                          </m:rPr>
                          <a:rPr lang="en-US" sz="1400">
                            <a:solidFill>
                              <a:schemeClr val="tx1"/>
                            </a:solidFill>
                          </a:rPr>
                          <m:t>rewards</m:t>
                        </m:r>
                        <m:r>
                          <m:rPr>
                            <m:nor/>
                          </m:rPr>
                          <a:rPr lang="en-US" sz="1400">
                            <a:solidFill>
                              <a:schemeClr val="tx1"/>
                            </a:solidFill>
                          </a:rPr>
                          <m:t>.</m:t>
                        </m:r>
                        <m:r>
                          <a:rPr lang="en-US" sz="1400" b="0" i="1" dirty="0" smtClean="0">
                            <a:solidFill>
                              <a:schemeClr val="tx1"/>
                            </a:solidFill>
                            <a:latin typeface="Cambria Math" panose="02040503050406030204" pitchFamily="18" charset="0"/>
                          </a:rPr>
                          <m:t>)</m:t>
                        </m:r>
                      </m:oMath>
                    </m:oMathPara>
                  </a14:m>
                  <a:endParaRPr lang="en-US" sz="1400" dirty="0">
                    <a:solidFill>
                      <a:schemeClr val="tx1"/>
                    </a:solidFill>
                  </a:endParaRPr>
                </a:p>
              </p:txBody>
            </p:sp>
          </mc:Choice>
          <mc:Fallback xmlns="">
            <p:sp>
              <p:nvSpPr>
                <p:cNvPr id="23" name="TextBox 22">
                  <a:extLst>
                    <a:ext uri="{FF2B5EF4-FFF2-40B4-BE49-F238E27FC236}">
                      <a16:creationId xmlns:a16="http://schemas.microsoft.com/office/drawing/2014/main" id="{DF0524FD-A7C9-5448-5983-D7D1CD366FDC}"/>
                    </a:ext>
                  </a:extLst>
                </p:cNvPr>
                <p:cNvSpPr txBox="1">
                  <a:spLocks noRot="1" noChangeAspect="1" noMove="1" noResize="1" noEditPoints="1" noAdjustHandles="1" noChangeArrowheads="1" noChangeShapeType="1" noTextEdit="1"/>
                </p:cNvSpPr>
                <p:nvPr/>
              </p:nvSpPr>
              <p:spPr>
                <a:xfrm>
                  <a:off x="8633460" y="2773492"/>
                  <a:ext cx="2260129" cy="728789"/>
                </a:xfrm>
                <a:prstGeom prst="rect">
                  <a:avLst/>
                </a:prstGeom>
                <a:blipFill>
                  <a:blip r:embed="rId7"/>
                  <a:stretch>
                    <a:fillRect b="-3361"/>
                  </a:stretch>
                </a:blipFill>
                <a:ln>
                  <a:noFill/>
                </a:ln>
              </p:spPr>
              <p:txBody>
                <a:bodyPr/>
                <a:lstStyle/>
                <a:p>
                  <a:r>
                    <a:rPr lang="en-US">
                      <a:noFill/>
                    </a:rPr>
                    <a:t> </a:t>
                  </a:r>
                </a:p>
              </p:txBody>
            </p:sp>
          </mc:Fallback>
        </mc:AlternateContent>
        <p:sp>
          <p:nvSpPr>
            <p:cNvPr id="24" name="TextBox 23">
              <a:extLst>
                <a:ext uri="{FF2B5EF4-FFF2-40B4-BE49-F238E27FC236}">
                  <a16:creationId xmlns:a16="http://schemas.microsoft.com/office/drawing/2014/main" id="{6FB5E43E-7A04-66EE-0367-2F0BAF02C129}"/>
                </a:ext>
              </a:extLst>
            </p:cNvPr>
            <p:cNvSpPr txBox="1"/>
            <p:nvPr/>
          </p:nvSpPr>
          <p:spPr>
            <a:xfrm>
              <a:off x="952500" y="3648388"/>
              <a:ext cx="10096500" cy="707886"/>
            </a:xfrm>
            <a:prstGeom prst="rect">
              <a:avLst/>
            </a:prstGeom>
            <a:noFill/>
            <a:ln>
              <a:noFill/>
            </a:ln>
          </p:spPr>
          <p:txBody>
            <a:bodyPr wrap="square">
              <a:spAutoFit/>
            </a:bodyPr>
            <a:lstStyle/>
            <a:p>
              <a:r>
                <a:rPr lang="en-US" sz="2000" dirty="0"/>
                <a:t>The Markov property. This is the key assumption—</a:t>
              </a:r>
              <a:r>
                <a:rPr lang="en-US" sz="2000" b="1" i="1" dirty="0"/>
                <a:t>the future depends only on the current state, not on how you got there</a:t>
              </a:r>
              <a:r>
                <a:rPr lang="en-US" sz="2000" dirty="0"/>
                <a:t>. Formally,</a:t>
              </a: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AA716AF1-3CB5-205A-F35D-3FADBFD93558}"/>
                    </a:ext>
                  </a:extLst>
                </p:cNvPr>
                <p:cNvSpPr txBox="1"/>
                <p:nvPr/>
              </p:nvSpPr>
              <p:spPr>
                <a:xfrm>
                  <a:off x="952500" y="4356274"/>
                  <a:ext cx="10096500" cy="453137"/>
                </a:xfrm>
                <a:prstGeom prst="rect">
                  <a:avLst/>
                </a:prstGeom>
                <a:noFill/>
                <a:ln>
                  <a:noFill/>
                </a:ln>
              </p:spPr>
              <p:txBody>
                <a:bodyPr wrap="square">
                  <a:spAutoFit/>
                </a:bodyPr>
                <a:lstStyle/>
                <a:p>
                  <a:pPr algn="ctr"/>
                  <a14:m>
                    <m:oMath xmlns:m="http://schemas.openxmlformats.org/officeDocument/2006/math">
                      <m:r>
                        <a:rPr lang="en-US" sz="2400" i="1" dirty="0" smtClean="0">
                          <a:solidFill>
                            <a:srgbClr val="FF0000"/>
                          </a:solidFill>
                          <a:latin typeface="Cambria Math" panose="02040503050406030204" pitchFamily="18" charset="0"/>
                        </a:rPr>
                        <m:t>𝑃</m:t>
                      </m:r>
                      <m:d>
                        <m:dPr>
                          <m:ctrlPr>
                            <a:rPr lang="en-US" sz="2400" i="1" dirty="0" smtClean="0">
                              <a:latin typeface="Cambria Math" panose="02040503050406030204" pitchFamily="18" charset="0"/>
                            </a:rPr>
                          </m:ctrlPr>
                        </m:dPr>
                        <m:e>
                          <m:sSub>
                            <m:sSubPr>
                              <m:ctrlPr>
                                <a:rPr lang="en-US" sz="2400" b="0" i="1" dirty="0" smtClean="0">
                                  <a:latin typeface="Cambria Math" panose="02040503050406030204" pitchFamily="18" charset="0"/>
                                </a:rPr>
                              </m:ctrlPr>
                            </m:sSubPr>
                            <m:e>
                              <m:r>
                                <a:rPr lang="en-US" sz="2400" i="1" dirty="0">
                                  <a:solidFill>
                                    <a:srgbClr val="00B050"/>
                                  </a:solidFill>
                                  <a:latin typeface="Cambria Math" panose="02040503050406030204" pitchFamily="18" charset="0"/>
                                </a:rPr>
                                <m:t>𝑠</m:t>
                              </m:r>
                            </m:e>
                            <m:sub>
                              <m:r>
                                <a:rPr lang="en-US" sz="2400" b="0" i="1" dirty="0" smtClean="0">
                                  <a:latin typeface="Cambria Math" panose="02040503050406030204" pitchFamily="18" charset="0"/>
                                </a:rPr>
                                <m:t>𝑡</m:t>
                              </m:r>
                              <m:r>
                                <a:rPr lang="en-US" sz="2400" b="0" i="1" dirty="0" smtClean="0">
                                  <a:latin typeface="Cambria Math" panose="02040503050406030204" pitchFamily="18" charset="0"/>
                                </a:rPr>
                                <m:t>+1</m:t>
                              </m:r>
                            </m:sub>
                          </m:sSub>
                          <m:r>
                            <a:rPr lang="en-US" sz="2400" b="0" i="1" dirty="0" smtClean="0">
                              <a:latin typeface="Cambria Math" panose="02040503050406030204" pitchFamily="18" charset="0"/>
                            </a:rPr>
                            <m:t>∣</m:t>
                          </m:r>
                          <m:sSub>
                            <m:sSubPr>
                              <m:ctrlPr>
                                <a:rPr lang="en-US" sz="2400" b="0" i="1" dirty="0" smtClean="0">
                                  <a:latin typeface="Cambria Math" panose="02040503050406030204" pitchFamily="18" charset="0"/>
                                </a:rPr>
                              </m:ctrlPr>
                            </m:sSubPr>
                            <m:e>
                              <m:r>
                                <a:rPr lang="en-US" sz="2400" i="1" dirty="0">
                                  <a:solidFill>
                                    <a:srgbClr val="00B050"/>
                                  </a:solidFill>
                                  <a:latin typeface="Cambria Math" panose="02040503050406030204" pitchFamily="18" charset="0"/>
                                </a:rPr>
                                <m:t>𝑠</m:t>
                              </m:r>
                            </m:e>
                            <m:sub>
                              <m:r>
                                <a:rPr lang="en-US" sz="2400" b="0" i="1" dirty="0" smtClean="0">
                                  <a:latin typeface="Cambria Math" panose="02040503050406030204" pitchFamily="18" charset="0"/>
                                </a:rPr>
                                <m:t>𝑡</m:t>
                              </m:r>
                            </m:sub>
                          </m:sSub>
                          <m:r>
                            <a:rPr lang="en-US" sz="2400" b="0" i="1" dirty="0" smtClean="0">
                              <a:latin typeface="Cambria Math" panose="02040503050406030204" pitchFamily="18" charset="0"/>
                            </a:rPr>
                            <m:t>, </m:t>
                          </m:r>
                          <m:sSub>
                            <m:sSubPr>
                              <m:ctrlPr>
                                <a:rPr lang="en-US" sz="2400" b="0" i="1" dirty="0" smtClean="0">
                                  <a:latin typeface="Cambria Math" panose="02040503050406030204" pitchFamily="18" charset="0"/>
                                </a:rPr>
                              </m:ctrlPr>
                            </m:sSubPr>
                            <m:e>
                              <m:r>
                                <a:rPr lang="en-US" sz="2400" i="1" dirty="0">
                                  <a:solidFill>
                                    <a:srgbClr val="7030A0"/>
                                  </a:solidFill>
                                  <a:latin typeface="Cambria Math" panose="02040503050406030204" pitchFamily="18" charset="0"/>
                                </a:rPr>
                                <m:t>𝑎</m:t>
                              </m:r>
                            </m:e>
                            <m:sub>
                              <m:r>
                                <a:rPr lang="en-US" sz="2400" b="0" i="1" dirty="0" smtClean="0">
                                  <a:latin typeface="Cambria Math" panose="02040503050406030204" pitchFamily="18" charset="0"/>
                                </a:rPr>
                                <m:t>𝑡</m:t>
                              </m:r>
                            </m:sub>
                          </m:sSub>
                          <m:r>
                            <a:rPr lang="en-US" sz="2400" b="0" i="1" dirty="0" smtClean="0">
                              <a:latin typeface="Cambria Math" panose="02040503050406030204" pitchFamily="18" charset="0"/>
                            </a:rPr>
                            <m:t>, </m:t>
                          </m:r>
                          <m:sSub>
                            <m:sSubPr>
                              <m:ctrlPr>
                                <a:rPr lang="en-US" sz="2400" b="0" i="1" dirty="0" smtClean="0">
                                  <a:latin typeface="Cambria Math" panose="02040503050406030204" pitchFamily="18" charset="0"/>
                                </a:rPr>
                              </m:ctrlPr>
                            </m:sSubPr>
                            <m:e>
                              <m:r>
                                <a:rPr lang="en-US" sz="2400" i="1" dirty="0">
                                  <a:solidFill>
                                    <a:srgbClr val="00B050"/>
                                  </a:solidFill>
                                  <a:latin typeface="Cambria Math" panose="02040503050406030204" pitchFamily="18" charset="0"/>
                                </a:rPr>
                                <m:t>𝑠</m:t>
                              </m:r>
                            </m:e>
                            <m:sub>
                              <m:r>
                                <a:rPr lang="en-US" sz="2400" b="0" i="1" dirty="0" smtClean="0">
                                  <a:latin typeface="Cambria Math" panose="02040503050406030204" pitchFamily="18" charset="0"/>
                                </a:rPr>
                                <m:t>𝑡</m:t>
                              </m:r>
                              <m:r>
                                <a:rPr lang="en-US" sz="2400" b="0" i="1" dirty="0" smtClean="0">
                                  <a:latin typeface="Cambria Math" panose="02040503050406030204" pitchFamily="18" charset="0"/>
                                </a:rPr>
                                <m:t>−1</m:t>
                              </m:r>
                            </m:sub>
                          </m:sSub>
                          <m:r>
                            <a:rPr lang="en-US" sz="2400" b="0" i="1" dirty="0" smtClean="0">
                              <a:latin typeface="Cambria Math" panose="02040503050406030204" pitchFamily="18" charset="0"/>
                            </a:rPr>
                            <m:t>, </m:t>
                          </m:r>
                          <m:sSub>
                            <m:sSubPr>
                              <m:ctrlPr>
                                <a:rPr lang="en-US" sz="2400" b="0" i="1" dirty="0" smtClean="0">
                                  <a:latin typeface="Cambria Math" panose="02040503050406030204" pitchFamily="18" charset="0"/>
                                </a:rPr>
                              </m:ctrlPr>
                            </m:sSubPr>
                            <m:e>
                              <m:r>
                                <a:rPr lang="en-US" sz="2400" i="1" dirty="0">
                                  <a:solidFill>
                                    <a:srgbClr val="7030A0"/>
                                  </a:solidFill>
                                  <a:latin typeface="Cambria Math" panose="02040503050406030204" pitchFamily="18" charset="0"/>
                                </a:rPr>
                                <m:t>𝑎</m:t>
                              </m:r>
                            </m:e>
                            <m:sub>
                              <m:r>
                                <a:rPr lang="en-US" sz="2400" b="0" i="1" dirty="0" smtClean="0">
                                  <a:latin typeface="Cambria Math" panose="02040503050406030204" pitchFamily="18" charset="0"/>
                                </a:rPr>
                                <m:t>𝑡</m:t>
                              </m:r>
                              <m:r>
                                <a:rPr lang="en-US" sz="2400" b="0" i="1" dirty="0" smtClean="0">
                                  <a:latin typeface="Cambria Math" panose="02040503050406030204" pitchFamily="18" charset="0"/>
                                </a:rPr>
                                <m:t>−1</m:t>
                              </m:r>
                            </m:sub>
                          </m:sSub>
                          <m:r>
                            <a:rPr lang="en-US" sz="2400" b="0" i="1" dirty="0" smtClean="0">
                              <a:latin typeface="Cambria Math" panose="02040503050406030204" pitchFamily="18" charset="0"/>
                            </a:rPr>
                            <m:t>, …</m:t>
                          </m:r>
                        </m:e>
                      </m:d>
                      <m:r>
                        <a:rPr lang="en-US" sz="2400" b="0" i="1" dirty="0" smtClean="0">
                          <a:latin typeface="Cambria Math" panose="02040503050406030204" pitchFamily="18" charset="0"/>
                        </a:rPr>
                        <m:t>=</m:t>
                      </m:r>
                      <m:r>
                        <a:rPr lang="en-US" sz="2400" i="1" dirty="0">
                          <a:solidFill>
                            <a:srgbClr val="FF0000"/>
                          </a:solidFill>
                          <a:latin typeface="Cambria Math" panose="02040503050406030204" pitchFamily="18" charset="0"/>
                        </a:rPr>
                        <m:t>𝑃</m:t>
                      </m:r>
                      <m:d>
                        <m:dPr>
                          <m:ctrlPr>
                            <a:rPr lang="en-US" sz="2400" b="0" i="1" dirty="0" smtClean="0">
                              <a:latin typeface="Cambria Math" panose="02040503050406030204" pitchFamily="18" charset="0"/>
                            </a:rPr>
                          </m:ctrlPr>
                        </m:dPr>
                        <m:e>
                          <m:sSub>
                            <m:sSubPr>
                              <m:ctrlPr>
                                <a:rPr lang="en-US" sz="2400" b="0" i="1" dirty="0" smtClean="0">
                                  <a:latin typeface="Cambria Math" panose="02040503050406030204" pitchFamily="18" charset="0"/>
                                </a:rPr>
                              </m:ctrlPr>
                            </m:sSubPr>
                            <m:e>
                              <m:r>
                                <a:rPr lang="en-US" sz="2400" b="0" i="1" dirty="0" smtClean="0">
                                  <a:solidFill>
                                    <a:srgbClr val="00B050"/>
                                  </a:solidFill>
                                  <a:latin typeface="Cambria Math" panose="02040503050406030204" pitchFamily="18" charset="0"/>
                                </a:rPr>
                                <m:t>𝑠</m:t>
                              </m:r>
                            </m:e>
                            <m:sub>
                              <m:r>
                                <a:rPr lang="en-US" sz="2400" b="0" i="1" dirty="0" smtClean="0">
                                  <a:latin typeface="Cambria Math" panose="02040503050406030204" pitchFamily="18" charset="0"/>
                                </a:rPr>
                                <m:t>𝑡</m:t>
                              </m:r>
                              <m:r>
                                <a:rPr lang="en-US" sz="2400" b="0" i="1" dirty="0" smtClean="0">
                                  <a:latin typeface="Cambria Math" panose="02040503050406030204" pitchFamily="18" charset="0"/>
                                </a:rPr>
                                <m:t>+1</m:t>
                              </m:r>
                            </m:sub>
                          </m:sSub>
                          <m:r>
                            <a:rPr lang="en-US" sz="2400" b="0" i="1" dirty="0" smtClean="0">
                              <a:latin typeface="Cambria Math" panose="02040503050406030204" pitchFamily="18" charset="0"/>
                            </a:rPr>
                            <m:t>∣</m:t>
                          </m:r>
                          <m:sSub>
                            <m:sSubPr>
                              <m:ctrlPr>
                                <a:rPr lang="en-US" sz="2400" b="0" i="1" dirty="0" smtClean="0">
                                  <a:latin typeface="Cambria Math" panose="02040503050406030204" pitchFamily="18" charset="0"/>
                                </a:rPr>
                              </m:ctrlPr>
                            </m:sSubPr>
                            <m:e>
                              <m:r>
                                <a:rPr lang="en-US" sz="2400" i="1" dirty="0">
                                  <a:solidFill>
                                    <a:srgbClr val="00B050"/>
                                  </a:solidFill>
                                  <a:latin typeface="Cambria Math" panose="02040503050406030204" pitchFamily="18" charset="0"/>
                                </a:rPr>
                                <m:t>𝑠</m:t>
                              </m:r>
                            </m:e>
                            <m:sub>
                              <m:r>
                                <a:rPr lang="en-US" sz="2400" b="0" i="1" dirty="0" smtClean="0">
                                  <a:latin typeface="Cambria Math" panose="02040503050406030204" pitchFamily="18" charset="0"/>
                                </a:rPr>
                                <m:t>𝑡</m:t>
                              </m:r>
                            </m:sub>
                          </m:sSub>
                          <m:r>
                            <a:rPr lang="en-US" sz="2400" b="0" i="1" dirty="0" smtClean="0">
                              <a:latin typeface="Cambria Math" panose="02040503050406030204" pitchFamily="18" charset="0"/>
                            </a:rPr>
                            <m:t>, </m:t>
                          </m:r>
                          <m:sSub>
                            <m:sSubPr>
                              <m:ctrlPr>
                                <a:rPr lang="en-US" sz="2400" b="0" i="1" dirty="0" smtClean="0">
                                  <a:latin typeface="Cambria Math" panose="02040503050406030204" pitchFamily="18" charset="0"/>
                                </a:rPr>
                              </m:ctrlPr>
                            </m:sSubPr>
                            <m:e>
                              <m:r>
                                <a:rPr lang="en-US" sz="2400" b="0" i="1" dirty="0" smtClean="0">
                                  <a:solidFill>
                                    <a:srgbClr val="7030A0"/>
                                  </a:solidFill>
                                  <a:latin typeface="Cambria Math" panose="02040503050406030204" pitchFamily="18" charset="0"/>
                                </a:rPr>
                                <m:t>𝑎</m:t>
                              </m:r>
                            </m:e>
                            <m:sub>
                              <m:r>
                                <a:rPr lang="en-US" sz="2400" b="0" i="1" dirty="0" smtClean="0">
                                  <a:latin typeface="Cambria Math" panose="02040503050406030204" pitchFamily="18" charset="0"/>
                                </a:rPr>
                                <m:t>𝑡</m:t>
                              </m:r>
                            </m:sub>
                          </m:sSub>
                        </m:e>
                      </m:d>
                    </m:oMath>
                  </a14:m>
                  <a:r>
                    <a:rPr lang="en-US" sz="2000" dirty="0"/>
                    <a:t>.</a:t>
                  </a:r>
                </a:p>
              </p:txBody>
            </p:sp>
          </mc:Choice>
          <mc:Fallback xmlns="">
            <p:sp>
              <p:nvSpPr>
                <p:cNvPr id="28" name="TextBox 27">
                  <a:extLst>
                    <a:ext uri="{FF2B5EF4-FFF2-40B4-BE49-F238E27FC236}">
                      <a16:creationId xmlns:a16="http://schemas.microsoft.com/office/drawing/2014/main" id="{AA716AF1-3CB5-205A-F35D-3FADBFD93558}"/>
                    </a:ext>
                  </a:extLst>
                </p:cNvPr>
                <p:cNvSpPr txBox="1">
                  <a:spLocks noRot="1" noChangeAspect="1" noMove="1" noResize="1" noEditPoints="1" noAdjustHandles="1" noChangeArrowheads="1" noChangeShapeType="1" noTextEdit="1"/>
                </p:cNvSpPr>
                <p:nvPr/>
              </p:nvSpPr>
              <p:spPr>
                <a:xfrm>
                  <a:off x="952500" y="4356274"/>
                  <a:ext cx="10096500" cy="453137"/>
                </a:xfrm>
                <a:prstGeom prst="rect">
                  <a:avLst/>
                </a:prstGeom>
                <a:blipFill>
                  <a:blip r:embed="rId8"/>
                  <a:stretch>
                    <a:fillRect b="-22667"/>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21B3494F-E1F5-4C1C-4F2A-9859381FE19C}"/>
                    </a:ext>
                  </a:extLst>
                </p:cNvPr>
                <p:cNvSpPr txBox="1"/>
                <p:nvPr/>
              </p:nvSpPr>
              <p:spPr>
                <a:xfrm>
                  <a:off x="990599" y="5231152"/>
                  <a:ext cx="9959342" cy="646331"/>
                </a:xfrm>
                <a:prstGeom prst="rect">
                  <a:avLst/>
                </a:prstGeom>
                <a:noFill/>
                <a:ln>
                  <a:noFill/>
                </a:ln>
              </p:spPr>
              <p:txBody>
                <a:bodyPr wrap="square">
                  <a:spAutoFit/>
                </a:bodyPr>
                <a:lstStyle/>
                <a:p>
                  <a:r>
                    <a:rPr lang="en-US" b="1" dirty="0"/>
                    <a:t>Goal</a:t>
                  </a:r>
                  <a:r>
                    <a:rPr lang="en-US" dirty="0"/>
                    <a:t>: Find an optimal policy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𝜋</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oMath>
                  </a14:m>
                  <a:r>
                    <a:rPr lang="en-US" dirty="0"/>
                    <a:t> that tells you which action to take in each state to maximize expected cumulative discounted reward over time.</a:t>
                  </a:r>
                </a:p>
              </p:txBody>
            </p:sp>
          </mc:Choice>
          <mc:Fallback xmlns="">
            <p:sp>
              <p:nvSpPr>
                <p:cNvPr id="34" name="TextBox 33">
                  <a:extLst>
                    <a:ext uri="{FF2B5EF4-FFF2-40B4-BE49-F238E27FC236}">
                      <a16:creationId xmlns:a16="http://schemas.microsoft.com/office/drawing/2014/main" id="{21B3494F-E1F5-4C1C-4F2A-9859381FE19C}"/>
                    </a:ext>
                  </a:extLst>
                </p:cNvPr>
                <p:cNvSpPr txBox="1">
                  <a:spLocks noRot="1" noChangeAspect="1" noMove="1" noResize="1" noEditPoints="1" noAdjustHandles="1" noChangeArrowheads="1" noChangeShapeType="1" noTextEdit="1"/>
                </p:cNvSpPr>
                <p:nvPr/>
              </p:nvSpPr>
              <p:spPr>
                <a:xfrm>
                  <a:off x="990599" y="5231152"/>
                  <a:ext cx="9959342" cy="646331"/>
                </a:xfrm>
                <a:prstGeom prst="rect">
                  <a:avLst/>
                </a:prstGeom>
                <a:blipFill>
                  <a:blip r:embed="rId9"/>
                  <a:stretch>
                    <a:fillRect l="-490" t="-4950" r="-61" b="-19802"/>
                  </a:stretch>
                </a:blipFill>
                <a:ln>
                  <a:noFill/>
                </a:ln>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237C3B92-0167-00E2-0060-BFECC6E1F46D}"/>
                  </a:ext>
                </a:extLst>
              </p:cNvPr>
              <p:cNvSpPr txBox="1"/>
              <p:nvPr/>
            </p:nvSpPr>
            <p:spPr>
              <a:xfrm>
                <a:off x="4487438" y="1876179"/>
                <a:ext cx="326157" cy="369332"/>
              </a:xfrm>
              <a:prstGeom prst="rect">
                <a:avLst/>
              </a:prstGeom>
              <a:noFill/>
              <a:ln>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D15FC1"/>
                              </a:solidFill>
                              <a:latin typeface="Cambria Math" panose="02040503050406030204" pitchFamily="18" charset="0"/>
                            </a:rPr>
                          </m:ctrlPr>
                        </m:sSubPr>
                        <m:e>
                          <m:r>
                            <a:rPr lang="en-US" i="1" smtClean="0">
                              <a:solidFill>
                                <a:srgbClr val="00B050"/>
                              </a:solidFill>
                              <a:latin typeface="Cambria Math" panose="02040503050406030204" pitchFamily="18" charset="0"/>
                            </a:rPr>
                            <m:t>𝑠</m:t>
                          </m:r>
                        </m:e>
                        <m:sub>
                          <m:r>
                            <a:rPr lang="en-US" b="0" i="1" smtClean="0">
                              <a:solidFill>
                                <a:schemeClr val="tx1"/>
                              </a:solidFill>
                              <a:latin typeface="Cambria Math" panose="02040503050406030204" pitchFamily="18" charset="0"/>
                            </a:rPr>
                            <m:t>0</m:t>
                          </m:r>
                        </m:sub>
                      </m:sSub>
                    </m:oMath>
                  </m:oMathPara>
                </a14:m>
                <a:endParaRPr lang="en-US" dirty="0"/>
              </a:p>
            </p:txBody>
          </p:sp>
        </mc:Choice>
        <mc:Fallback xmlns="">
          <p:sp>
            <p:nvSpPr>
              <p:cNvPr id="40" name="TextBox 39">
                <a:extLst>
                  <a:ext uri="{FF2B5EF4-FFF2-40B4-BE49-F238E27FC236}">
                    <a16:creationId xmlns:a16="http://schemas.microsoft.com/office/drawing/2014/main" id="{237C3B92-0167-00E2-0060-BFECC6E1F46D}"/>
                  </a:ext>
                </a:extLst>
              </p:cNvPr>
              <p:cNvSpPr txBox="1">
                <a:spLocks noRot="1" noChangeAspect="1" noMove="1" noResize="1" noEditPoints="1" noAdjustHandles="1" noChangeArrowheads="1" noChangeShapeType="1" noTextEdit="1"/>
              </p:cNvSpPr>
              <p:nvPr/>
            </p:nvSpPr>
            <p:spPr>
              <a:xfrm>
                <a:off x="4487438" y="1876179"/>
                <a:ext cx="326157" cy="369332"/>
              </a:xfrm>
              <a:prstGeom prst="rect">
                <a:avLst/>
              </a:prstGeom>
              <a:blipFill>
                <a:blip r:embed="rId10"/>
                <a:stretch>
                  <a:fillRect r="-5556"/>
                </a:stretch>
              </a:blipFill>
              <a:ln>
                <a:noFill/>
              </a:ln>
            </p:spPr>
            <p:txBody>
              <a:bodyPr/>
              <a:lstStyle/>
              <a:p>
                <a:r>
                  <a:rPr lang="en-US">
                    <a:noFill/>
                  </a:rPr>
                  <a:t> </a:t>
                </a:r>
              </a:p>
            </p:txBody>
          </p:sp>
        </mc:Fallback>
      </mc:AlternateContent>
      <p:cxnSp>
        <p:nvCxnSpPr>
          <p:cNvPr id="42" name="Straight Arrow Connector 41">
            <a:extLst>
              <a:ext uri="{FF2B5EF4-FFF2-40B4-BE49-F238E27FC236}">
                <a16:creationId xmlns:a16="http://schemas.microsoft.com/office/drawing/2014/main" id="{0D73ED7B-B1AB-6FF7-5F66-C34B85DF192E}"/>
              </a:ext>
            </a:extLst>
          </p:cNvPr>
          <p:cNvCxnSpPr>
            <a:cxnSpLocks/>
            <a:stCxn id="40" idx="3"/>
          </p:cNvCxnSpPr>
          <p:nvPr/>
        </p:nvCxnSpPr>
        <p:spPr>
          <a:xfrm>
            <a:off x="4813595" y="2060845"/>
            <a:ext cx="448226" cy="0"/>
          </a:xfrm>
          <a:prstGeom prst="straightConnector1">
            <a:avLst/>
          </a:prstGeom>
          <a:ln cap="flat">
            <a:solidFill>
              <a:schemeClr val="tx1"/>
            </a:solidFill>
            <a:tailEnd type="arrow" w="lg" len="sm"/>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C44501C4-645E-568A-14CC-B155FF22CFAF}"/>
                  </a:ext>
                </a:extLst>
              </p:cNvPr>
              <p:cNvSpPr txBox="1"/>
              <p:nvPr/>
            </p:nvSpPr>
            <p:spPr>
              <a:xfrm>
                <a:off x="4795043" y="1720949"/>
                <a:ext cx="459656" cy="369332"/>
              </a:xfrm>
              <a:prstGeom prst="rect">
                <a:avLst/>
              </a:prstGeom>
              <a:noFill/>
              <a:ln>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D15FC1"/>
                              </a:solidFill>
                              <a:latin typeface="Cambria Math" panose="02040503050406030204" pitchFamily="18" charset="0"/>
                            </a:rPr>
                          </m:ctrlPr>
                        </m:sSubPr>
                        <m:e>
                          <m:r>
                            <a:rPr lang="en-US" b="0" i="1" smtClean="0">
                              <a:solidFill>
                                <a:srgbClr val="7030A0"/>
                              </a:solidFill>
                              <a:latin typeface="Cambria Math" panose="02040503050406030204" pitchFamily="18" charset="0"/>
                            </a:rPr>
                            <m:t>𝑎</m:t>
                          </m:r>
                        </m:e>
                        <m:sub>
                          <m:r>
                            <a:rPr lang="en-US" b="0" i="1" smtClean="0">
                              <a:solidFill>
                                <a:schemeClr val="tx1"/>
                              </a:solidFill>
                              <a:latin typeface="Cambria Math" panose="02040503050406030204" pitchFamily="18" charset="0"/>
                            </a:rPr>
                            <m:t>0</m:t>
                          </m:r>
                        </m:sub>
                      </m:sSub>
                    </m:oMath>
                  </m:oMathPara>
                </a14:m>
                <a:endParaRPr lang="en-US" dirty="0"/>
              </a:p>
            </p:txBody>
          </p:sp>
        </mc:Choice>
        <mc:Fallback xmlns="">
          <p:sp>
            <p:nvSpPr>
              <p:cNvPr id="44" name="TextBox 43">
                <a:extLst>
                  <a:ext uri="{FF2B5EF4-FFF2-40B4-BE49-F238E27FC236}">
                    <a16:creationId xmlns:a16="http://schemas.microsoft.com/office/drawing/2014/main" id="{C44501C4-645E-568A-14CC-B155FF22CFAF}"/>
                  </a:ext>
                </a:extLst>
              </p:cNvPr>
              <p:cNvSpPr txBox="1">
                <a:spLocks noRot="1" noChangeAspect="1" noMove="1" noResize="1" noEditPoints="1" noAdjustHandles="1" noChangeArrowheads="1" noChangeShapeType="1" noTextEdit="1"/>
              </p:cNvSpPr>
              <p:nvPr/>
            </p:nvSpPr>
            <p:spPr>
              <a:xfrm>
                <a:off x="4795043" y="1720949"/>
                <a:ext cx="459656" cy="369332"/>
              </a:xfrm>
              <a:prstGeom prst="rect">
                <a:avLst/>
              </a:prstGeom>
              <a:blipFill>
                <a:blip r:embed="rId11"/>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FAD46CC7-672A-2488-D9A0-F56CFD5330C4}"/>
                  </a:ext>
                </a:extLst>
              </p:cNvPr>
              <p:cNvSpPr txBox="1"/>
              <p:nvPr/>
            </p:nvSpPr>
            <p:spPr>
              <a:xfrm>
                <a:off x="5228461" y="1876179"/>
                <a:ext cx="326157" cy="369332"/>
              </a:xfrm>
              <a:prstGeom prst="rect">
                <a:avLst/>
              </a:prstGeom>
              <a:noFill/>
              <a:ln>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D15FC1"/>
                              </a:solidFill>
                              <a:latin typeface="Cambria Math" panose="02040503050406030204" pitchFamily="18" charset="0"/>
                            </a:rPr>
                          </m:ctrlPr>
                        </m:sSubPr>
                        <m:e>
                          <m:r>
                            <a:rPr lang="en-US" i="1" smtClean="0">
                              <a:solidFill>
                                <a:srgbClr val="00B050"/>
                              </a:solidFill>
                              <a:latin typeface="Cambria Math" panose="02040503050406030204" pitchFamily="18" charset="0"/>
                            </a:rPr>
                            <m:t>𝑠</m:t>
                          </m:r>
                        </m:e>
                        <m:sub>
                          <m:r>
                            <a:rPr lang="en-US" b="0" i="1" smtClean="0">
                              <a:solidFill>
                                <a:schemeClr val="tx1"/>
                              </a:solidFill>
                              <a:latin typeface="Cambria Math" panose="02040503050406030204" pitchFamily="18" charset="0"/>
                            </a:rPr>
                            <m:t>1</m:t>
                          </m:r>
                        </m:sub>
                      </m:sSub>
                    </m:oMath>
                  </m:oMathPara>
                </a14:m>
                <a:endParaRPr lang="en-US" dirty="0"/>
              </a:p>
            </p:txBody>
          </p:sp>
        </mc:Choice>
        <mc:Fallback xmlns="">
          <p:sp>
            <p:nvSpPr>
              <p:cNvPr id="46" name="TextBox 45">
                <a:extLst>
                  <a:ext uri="{FF2B5EF4-FFF2-40B4-BE49-F238E27FC236}">
                    <a16:creationId xmlns:a16="http://schemas.microsoft.com/office/drawing/2014/main" id="{FAD46CC7-672A-2488-D9A0-F56CFD5330C4}"/>
                  </a:ext>
                </a:extLst>
              </p:cNvPr>
              <p:cNvSpPr txBox="1">
                <a:spLocks noRot="1" noChangeAspect="1" noMove="1" noResize="1" noEditPoints="1" noAdjustHandles="1" noChangeArrowheads="1" noChangeShapeType="1" noTextEdit="1"/>
              </p:cNvSpPr>
              <p:nvPr/>
            </p:nvSpPr>
            <p:spPr>
              <a:xfrm>
                <a:off x="5228461" y="1876179"/>
                <a:ext cx="326157" cy="369332"/>
              </a:xfrm>
              <a:prstGeom prst="rect">
                <a:avLst/>
              </a:prstGeom>
              <a:blipFill>
                <a:blip r:embed="rId12"/>
                <a:stretch>
                  <a:fillRect r="-5660"/>
                </a:stretch>
              </a:blipFill>
              <a:ln>
                <a:noFill/>
              </a:ln>
            </p:spPr>
            <p:txBody>
              <a:bodyPr/>
              <a:lstStyle/>
              <a:p>
                <a:r>
                  <a:rPr lang="en-US">
                    <a:noFill/>
                  </a:rPr>
                  <a:t> </a:t>
                </a:r>
              </a:p>
            </p:txBody>
          </p:sp>
        </mc:Fallback>
      </mc:AlternateContent>
      <p:cxnSp>
        <p:nvCxnSpPr>
          <p:cNvPr id="47" name="Straight Arrow Connector 46">
            <a:extLst>
              <a:ext uri="{FF2B5EF4-FFF2-40B4-BE49-F238E27FC236}">
                <a16:creationId xmlns:a16="http://schemas.microsoft.com/office/drawing/2014/main" id="{0518CF51-68B2-82BC-8737-2D692BF589EA}"/>
              </a:ext>
            </a:extLst>
          </p:cNvPr>
          <p:cNvCxnSpPr>
            <a:cxnSpLocks/>
            <a:stCxn id="46" idx="3"/>
          </p:cNvCxnSpPr>
          <p:nvPr/>
        </p:nvCxnSpPr>
        <p:spPr>
          <a:xfrm>
            <a:off x="5554618" y="2060845"/>
            <a:ext cx="448226" cy="0"/>
          </a:xfrm>
          <a:prstGeom prst="straightConnector1">
            <a:avLst/>
          </a:prstGeom>
          <a:ln cap="flat">
            <a:solidFill>
              <a:schemeClr val="tx1"/>
            </a:solidFill>
            <a:tailEnd type="arrow" w="lg" len="sm"/>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F498089C-B53D-5D33-EE0B-4A886A4E0DFA}"/>
                  </a:ext>
                </a:extLst>
              </p:cNvPr>
              <p:cNvSpPr txBox="1"/>
              <p:nvPr/>
            </p:nvSpPr>
            <p:spPr>
              <a:xfrm>
                <a:off x="5536066" y="1720949"/>
                <a:ext cx="459656" cy="369332"/>
              </a:xfrm>
              <a:prstGeom prst="rect">
                <a:avLst/>
              </a:prstGeom>
              <a:noFill/>
              <a:ln>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D15FC1"/>
                              </a:solidFill>
                              <a:latin typeface="Cambria Math" panose="02040503050406030204" pitchFamily="18" charset="0"/>
                            </a:rPr>
                          </m:ctrlPr>
                        </m:sSubPr>
                        <m:e>
                          <m:r>
                            <a:rPr lang="en-US" b="0" i="1" smtClean="0">
                              <a:solidFill>
                                <a:srgbClr val="7030A0"/>
                              </a:solidFill>
                              <a:latin typeface="Cambria Math" panose="02040503050406030204" pitchFamily="18" charset="0"/>
                            </a:rPr>
                            <m:t>𝑎</m:t>
                          </m:r>
                        </m:e>
                        <m:sub>
                          <m:r>
                            <a:rPr lang="en-US" b="0" i="1" smtClean="0">
                              <a:solidFill>
                                <a:schemeClr val="tx1"/>
                              </a:solidFill>
                              <a:latin typeface="Cambria Math" panose="02040503050406030204" pitchFamily="18" charset="0"/>
                            </a:rPr>
                            <m:t>1</m:t>
                          </m:r>
                        </m:sub>
                      </m:sSub>
                    </m:oMath>
                  </m:oMathPara>
                </a14:m>
                <a:endParaRPr lang="en-US" dirty="0"/>
              </a:p>
            </p:txBody>
          </p:sp>
        </mc:Choice>
        <mc:Fallback xmlns="">
          <p:sp>
            <p:nvSpPr>
              <p:cNvPr id="48" name="TextBox 47">
                <a:extLst>
                  <a:ext uri="{FF2B5EF4-FFF2-40B4-BE49-F238E27FC236}">
                    <a16:creationId xmlns:a16="http://schemas.microsoft.com/office/drawing/2014/main" id="{F498089C-B53D-5D33-EE0B-4A886A4E0DFA}"/>
                  </a:ext>
                </a:extLst>
              </p:cNvPr>
              <p:cNvSpPr txBox="1">
                <a:spLocks noRot="1" noChangeAspect="1" noMove="1" noResize="1" noEditPoints="1" noAdjustHandles="1" noChangeArrowheads="1" noChangeShapeType="1" noTextEdit="1"/>
              </p:cNvSpPr>
              <p:nvPr/>
            </p:nvSpPr>
            <p:spPr>
              <a:xfrm>
                <a:off x="5536066" y="1720949"/>
                <a:ext cx="459656" cy="369332"/>
              </a:xfrm>
              <a:prstGeom prst="rect">
                <a:avLst/>
              </a:prstGeom>
              <a:blipFill>
                <a:blip r:embed="rId13"/>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BEE6C2C4-2B0D-6D0E-94AA-F238F65E24A4}"/>
                  </a:ext>
                </a:extLst>
              </p:cNvPr>
              <p:cNvSpPr txBox="1"/>
              <p:nvPr/>
            </p:nvSpPr>
            <p:spPr>
              <a:xfrm>
                <a:off x="5952414" y="1876179"/>
                <a:ext cx="326157" cy="369332"/>
              </a:xfrm>
              <a:prstGeom prst="rect">
                <a:avLst/>
              </a:prstGeom>
              <a:noFill/>
              <a:ln>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D15FC1"/>
                              </a:solidFill>
                              <a:latin typeface="Cambria Math" panose="02040503050406030204" pitchFamily="18" charset="0"/>
                            </a:rPr>
                          </m:ctrlPr>
                        </m:sSubPr>
                        <m:e>
                          <m:r>
                            <a:rPr lang="en-US" i="1" smtClean="0">
                              <a:solidFill>
                                <a:srgbClr val="00B050"/>
                              </a:solidFill>
                              <a:latin typeface="Cambria Math" panose="02040503050406030204" pitchFamily="18" charset="0"/>
                            </a:rPr>
                            <m:t>𝑠</m:t>
                          </m:r>
                        </m:e>
                        <m:sub>
                          <m:r>
                            <a:rPr lang="en-US" b="0" i="1" smtClean="0">
                              <a:solidFill>
                                <a:schemeClr val="tx1"/>
                              </a:solidFill>
                              <a:latin typeface="Cambria Math" panose="02040503050406030204" pitchFamily="18" charset="0"/>
                            </a:rPr>
                            <m:t>2</m:t>
                          </m:r>
                        </m:sub>
                      </m:sSub>
                    </m:oMath>
                  </m:oMathPara>
                </a14:m>
                <a:endParaRPr lang="en-US" dirty="0"/>
              </a:p>
            </p:txBody>
          </p:sp>
        </mc:Choice>
        <mc:Fallback xmlns="">
          <p:sp>
            <p:nvSpPr>
              <p:cNvPr id="49" name="TextBox 48">
                <a:extLst>
                  <a:ext uri="{FF2B5EF4-FFF2-40B4-BE49-F238E27FC236}">
                    <a16:creationId xmlns:a16="http://schemas.microsoft.com/office/drawing/2014/main" id="{BEE6C2C4-2B0D-6D0E-94AA-F238F65E24A4}"/>
                  </a:ext>
                </a:extLst>
              </p:cNvPr>
              <p:cNvSpPr txBox="1">
                <a:spLocks noRot="1" noChangeAspect="1" noMove="1" noResize="1" noEditPoints="1" noAdjustHandles="1" noChangeArrowheads="1" noChangeShapeType="1" noTextEdit="1"/>
              </p:cNvSpPr>
              <p:nvPr/>
            </p:nvSpPr>
            <p:spPr>
              <a:xfrm>
                <a:off x="5952414" y="1876179"/>
                <a:ext cx="326157" cy="369332"/>
              </a:xfrm>
              <a:prstGeom prst="rect">
                <a:avLst/>
              </a:prstGeom>
              <a:blipFill>
                <a:blip r:embed="rId14"/>
                <a:stretch>
                  <a:fillRect r="-5556"/>
                </a:stretch>
              </a:blipFill>
              <a:ln>
                <a:noFill/>
              </a:ln>
            </p:spPr>
            <p:txBody>
              <a:bodyPr/>
              <a:lstStyle/>
              <a:p>
                <a:r>
                  <a:rPr lang="en-US">
                    <a:noFill/>
                  </a:rPr>
                  <a:t> </a:t>
                </a:r>
              </a:p>
            </p:txBody>
          </p:sp>
        </mc:Fallback>
      </mc:AlternateContent>
      <p:cxnSp>
        <p:nvCxnSpPr>
          <p:cNvPr id="50" name="Straight Arrow Connector 49">
            <a:extLst>
              <a:ext uri="{FF2B5EF4-FFF2-40B4-BE49-F238E27FC236}">
                <a16:creationId xmlns:a16="http://schemas.microsoft.com/office/drawing/2014/main" id="{DCA8C572-DEA4-8D87-485C-B2BF7B9C5BEE}"/>
              </a:ext>
            </a:extLst>
          </p:cNvPr>
          <p:cNvCxnSpPr>
            <a:cxnSpLocks/>
            <a:stCxn id="49" idx="3"/>
          </p:cNvCxnSpPr>
          <p:nvPr/>
        </p:nvCxnSpPr>
        <p:spPr>
          <a:xfrm>
            <a:off x="6278571" y="2060845"/>
            <a:ext cx="448226" cy="0"/>
          </a:xfrm>
          <a:prstGeom prst="straightConnector1">
            <a:avLst/>
          </a:prstGeom>
          <a:ln cap="flat">
            <a:solidFill>
              <a:schemeClr val="tx1"/>
            </a:solidFill>
            <a:tailEnd type="arrow" w="lg" len="sm"/>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73407BFE-FB8D-1324-B30A-37310639A68B}"/>
                  </a:ext>
                </a:extLst>
              </p:cNvPr>
              <p:cNvSpPr txBox="1"/>
              <p:nvPr/>
            </p:nvSpPr>
            <p:spPr>
              <a:xfrm>
                <a:off x="6260019" y="1720949"/>
                <a:ext cx="459656" cy="369332"/>
              </a:xfrm>
              <a:prstGeom prst="rect">
                <a:avLst/>
              </a:prstGeom>
              <a:noFill/>
              <a:ln>
                <a:no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D15FC1"/>
                              </a:solidFill>
                              <a:latin typeface="Cambria Math" panose="02040503050406030204" pitchFamily="18" charset="0"/>
                            </a:rPr>
                          </m:ctrlPr>
                        </m:sSubPr>
                        <m:e>
                          <m:r>
                            <a:rPr lang="en-US" b="0" i="1" smtClean="0">
                              <a:solidFill>
                                <a:srgbClr val="7030A0"/>
                              </a:solidFill>
                              <a:latin typeface="Cambria Math" panose="02040503050406030204" pitchFamily="18" charset="0"/>
                            </a:rPr>
                            <m:t>𝑎</m:t>
                          </m:r>
                        </m:e>
                        <m:sub>
                          <m:r>
                            <a:rPr lang="en-US" b="0" i="1" smtClean="0">
                              <a:solidFill>
                                <a:schemeClr val="tx1"/>
                              </a:solidFill>
                              <a:latin typeface="Cambria Math" panose="02040503050406030204" pitchFamily="18" charset="0"/>
                            </a:rPr>
                            <m:t>2</m:t>
                          </m:r>
                        </m:sub>
                      </m:sSub>
                    </m:oMath>
                  </m:oMathPara>
                </a14:m>
                <a:endParaRPr lang="en-US" dirty="0"/>
              </a:p>
            </p:txBody>
          </p:sp>
        </mc:Choice>
        <mc:Fallback xmlns="">
          <p:sp>
            <p:nvSpPr>
              <p:cNvPr id="51" name="TextBox 50">
                <a:extLst>
                  <a:ext uri="{FF2B5EF4-FFF2-40B4-BE49-F238E27FC236}">
                    <a16:creationId xmlns:a16="http://schemas.microsoft.com/office/drawing/2014/main" id="{73407BFE-FB8D-1324-B30A-37310639A68B}"/>
                  </a:ext>
                </a:extLst>
              </p:cNvPr>
              <p:cNvSpPr txBox="1">
                <a:spLocks noRot="1" noChangeAspect="1" noMove="1" noResize="1" noEditPoints="1" noAdjustHandles="1" noChangeArrowheads="1" noChangeShapeType="1" noTextEdit="1"/>
              </p:cNvSpPr>
              <p:nvPr/>
            </p:nvSpPr>
            <p:spPr>
              <a:xfrm>
                <a:off x="6260019" y="1720949"/>
                <a:ext cx="459656" cy="369332"/>
              </a:xfrm>
              <a:prstGeom prst="rect">
                <a:avLst/>
              </a:prstGeom>
              <a:blipFill>
                <a:blip r:embed="rId15"/>
                <a:stretch>
                  <a:fillRect/>
                </a:stretch>
              </a:blipFill>
              <a:ln>
                <a:noFill/>
              </a:ln>
            </p:spPr>
            <p:txBody>
              <a:bodyPr/>
              <a:lstStyle/>
              <a:p>
                <a:r>
                  <a:rPr lang="en-US">
                    <a:noFill/>
                  </a:rPr>
                  <a:t> </a:t>
                </a:r>
              </a:p>
            </p:txBody>
          </p:sp>
        </mc:Fallback>
      </mc:AlternateContent>
      <p:sp>
        <p:nvSpPr>
          <p:cNvPr id="52" name="TextBox 51">
            <a:extLst>
              <a:ext uri="{FF2B5EF4-FFF2-40B4-BE49-F238E27FC236}">
                <a16:creationId xmlns:a16="http://schemas.microsoft.com/office/drawing/2014/main" id="{7686EF1E-09FE-1AFB-B316-D3940266C154}"/>
              </a:ext>
            </a:extLst>
          </p:cNvPr>
          <p:cNvSpPr txBox="1"/>
          <p:nvPr/>
        </p:nvSpPr>
        <p:spPr>
          <a:xfrm>
            <a:off x="6761889" y="1846248"/>
            <a:ext cx="459656" cy="369332"/>
          </a:xfrm>
          <a:prstGeom prst="rect">
            <a:avLst/>
          </a:prstGeom>
          <a:noFill/>
          <a:ln>
            <a:noFill/>
          </a:ln>
        </p:spPr>
        <p:txBody>
          <a:bodyPr wrap="square">
            <a:spAutoFit/>
          </a:bodyPr>
          <a:lstStyle/>
          <a:p>
            <a:r>
              <a:rPr lang="en-US" dirty="0"/>
              <a:t>. . .</a:t>
            </a:r>
          </a:p>
        </p:txBody>
      </p:sp>
    </p:spTree>
    <p:extLst>
      <p:ext uri="{BB962C8B-B14F-4D97-AF65-F5344CB8AC3E}">
        <p14:creationId xmlns:p14="http://schemas.microsoft.com/office/powerpoint/2010/main" val="2492912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FF756-C1F5-6A50-5BF1-4483DA8F2C99}"/>
            </a:ext>
          </a:extLst>
        </p:cNvPr>
        <p:cNvGrpSpPr/>
        <p:nvPr/>
      </p:nvGrpSpPr>
      <p:grpSpPr>
        <a:xfrm>
          <a:off x="0" y="0"/>
          <a:ext cx="0" cy="0"/>
          <a:chOff x="0" y="0"/>
          <a:chExt cx="0" cy="0"/>
        </a:xfrm>
      </p:grpSpPr>
      <p:sp>
        <p:nvSpPr>
          <p:cNvPr id="4" name="Title 12">
            <a:extLst>
              <a:ext uri="{FF2B5EF4-FFF2-40B4-BE49-F238E27FC236}">
                <a16:creationId xmlns:a16="http://schemas.microsoft.com/office/drawing/2014/main" id="{F46C3132-CB6A-62FA-3368-0ABF37D34BF0}"/>
              </a:ext>
            </a:extLst>
          </p:cNvPr>
          <p:cNvSpPr txBox="1">
            <a:spLocks/>
          </p:cNvSpPr>
          <p:nvPr/>
        </p:nvSpPr>
        <p:spPr>
          <a:xfrm>
            <a:off x="471489" y="69597"/>
            <a:ext cx="11153622" cy="565671"/>
          </a:xfrm>
          <a:prstGeom prst="rect">
            <a:avLst/>
          </a:prstGeom>
          <a:ln>
            <a:noFill/>
          </a:ln>
        </p:spPr>
        <p:txBody>
          <a:bodyPr vert="horz" lIns="91440" tIns="45720" rIns="91440" bIns="45720" rtlCol="0" anchor="ctr">
            <a:noAutofit/>
          </a:bodyPr>
          <a:lst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a:lstStyle>
          <a:p>
            <a:pPr algn="ctr"/>
            <a:r>
              <a:rPr lang="en-US" sz="3600" dirty="0"/>
              <a:t>MDP Example I</a:t>
            </a:r>
          </a:p>
        </p:txBody>
      </p:sp>
      <p:sp>
        <p:nvSpPr>
          <p:cNvPr id="5" name="TextBox 4">
            <a:extLst>
              <a:ext uri="{FF2B5EF4-FFF2-40B4-BE49-F238E27FC236}">
                <a16:creationId xmlns:a16="http://schemas.microsoft.com/office/drawing/2014/main" id="{143749C2-CA2F-7402-98C7-210A384027E3}"/>
              </a:ext>
            </a:extLst>
          </p:cNvPr>
          <p:cNvSpPr txBox="1"/>
          <p:nvPr/>
        </p:nvSpPr>
        <p:spPr>
          <a:xfrm>
            <a:off x="711566" y="1086000"/>
            <a:ext cx="10673467" cy="646331"/>
          </a:xfrm>
          <a:prstGeom prst="rect">
            <a:avLst/>
          </a:prstGeom>
          <a:noFill/>
          <a:ln>
            <a:noFill/>
          </a:ln>
        </p:spPr>
        <p:txBody>
          <a:bodyPr wrap="square">
            <a:spAutoFit/>
          </a:bodyPr>
          <a:lstStyle/>
          <a:p>
            <a:pPr>
              <a:buNone/>
            </a:pPr>
            <a:r>
              <a:rPr lang="en-US" b="1" dirty="0"/>
              <a:t>Agent</a:t>
            </a:r>
            <a:r>
              <a:rPr lang="en-US" dirty="0"/>
              <a:t>: a bot deciding whether to buy, sell, or hold a stock each day based on current inventory and market conditions.</a:t>
            </a:r>
          </a:p>
        </p:txBody>
      </p:sp>
      <p:sp>
        <p:nvSpPr>
          <p:cNvPr id="7" name="TextBox 6">
            <a:extLst>
              <a:ext uri="{FF2B5EF4-FFF2-40B4-BE49-F238E27FC236}">
                <a16:creationId xmlns:a16="http://schemas.microsoft.com/office/drawing/2014/main" id="{C3AD3537-A79F-0F33-5F3A-C3AE5A3EB645}"/>
              </a:ext>
            </a:extLst>
          </p:cNvPr>
          <p:cNvSpPr txBox="1"/>
          <p:nvPr/>
        </p:nvSpPr>
        <p:spPr>
          <a:xfrm>
            <a:off x="711566" y="4111124"/>
            <a:ext cx="4597400" cy="1754326"/>
          </a:xfrm>
          <a:prstGeom prst="rect">
            <a:avLst/>
          </a:prstGeom>
          <a:noFill/>
          <a:ln>
            <a:noFill/>
          </a:ln>
        </p:spPr>
        <p:txBody>
          <a:bodyPr wrap="square">
            <a:spAutoFit/>
          </a:bodyPr>
          <a:lstStyle/>
          <a:p>
            <a:pPr>
              <a:buNone/>
            </a:pPr>
            <a:r>
              <a:rPr lang="en-US" b="1" dirty="0"/>
              <a:t>Rewards</a:t>
            </a:r>
            <a:r>
              <a:rPr lang="en-US" dirty="0"/>
              <a:t>:</a:t>
            </a:r>
          </a:p>
          <a:p>
            <a:pPr marL="515938" lvl="1" indent="-285750">
              <a:buFont typeface="Arial" panose="020B0604020202020204" pitchFamily="34" charset="0"/>
              <a:buChar char="•"/>
            </a:pPr>
            <a:r>
              <a:rPr lang="en-US" dirty="0"/>
              <a:t>Sell during Bullish market: +$10</a:t>
            </a:r>
          </a:p>
          <a:p>
            <a:pPr marL="515938" lvl="1" indent="-285750">
              <a:buFont typeface="Arial" panose="020B0604020202020204" pitchFamily="34" charset="0"/>
              <a:buChar char="•"/>
            </a:pPr>
            <a:r>
              <a:rPr lang="en-US" dirty="0"/>
              <a:t>Sell during Neutral market: +$5</a:t>
            </a:r>
          </a:p>
          <a:p>
            <a:pPr marL="515938" lvl="1" indent="-285750">
              <a:buFont typeface="Arial" panose="020B0604020202020204" pitchFamily="34" charset="0"/>
              <a:buChar char="•"/>
            </a:pPr>
            <a:r>
              <a:rPr lang="en-US" dirty="0"/>
              <a:t>Sell during Bearish market: -$2</a:t>
            </a:r>
          </a:p>
          <a:p>
            <a:pPr marL="515938" lvl="1" indent="-285750">
              <a:buFont typeface="Arial" panose="020B0604020202020204" pitchFamily="34" charset="0"/>
              <a:buChar char="•"/>
            </a:pPr>
            <a:r>
              <a:rPr lang="en-US" dirty="0"/>
              <a:t>Buy: -$3 (transaction cost)</a:t>
            </a:r>
          </a:p>
          <a:p>
            <a:pPr marL="515938" lvl="1" indent="-285750">
              <a:buFont typeface="Arial" panose="020B0604020202020204" pitchFamily="34" charset="0"/>
              <a:buChar char="•"/>
            </a:pPr>
            <a:r>
              <a:rPr lang="en-US" dirty="0"/>
              <a:t>Hold: $0</a:t>
            </a:r>
            <a:endParaRPr lang="en-US" b="1" dirty="0"/>
          </a:p>
        </p:txBody>
      </p:sp>
      <p:graphicFrame>
        <p:nvGraphicFramePr>
          <p:cNvPr id="11" name="Table 10">
            <a:extLst>
              <a:ext uri="{FF2B5EF4-FFF2-40B4-BE49-F238E27FC236}">
                <a16:creationId xmlns:a16="http://schemas.microsoft.com/office/drawing/2014/main" id="{D75FFD71-B8DD-CCD6-61BA-C55C2FA81706}"/>
              </a:ext>
            </a:extLst>
          </p:cNvPr>
          <p:cNvGraphicFramePr>
            <a:graphicFrameLocks noGrp="1"/>
          </p:cNvGraphicFramePr>
          <p:nvPr>
            <p:extLst>
              <p:ext uri="{D42A27DB-BD31-4B8C-83A1-F6EECF244321}">
                <p14:modId xmlns:p14="http://schemas.microsoft.com/office/powerpoint/2010/main" val="820057895"/>
              </p:ext>
            </p:extLst>
          </p:nvPr>
        </p:nvGraphicFramePr>
        <p:xfrm>
          <a:off x="6644640" y="4111123"/>
          <a:ext cx="4077782" cy="1754327"/>
        </p:xfrm>
        <a:graphic>
          <a:graphicData uri="http://schemas.openxmlformats.org/drawingml/2006/table">
            <a:tbl>
              <a:tblPr firstRow="1" bandRow="1">
                <a:tableStyleId>{9D7B26C5-4107-4FEC-AEDC-1716B250A1EF}</a:tableStyleId>
              </a:tblPr>
              <a:tblGrid>
                <a:gridCol w="1328256">
                  <a:extLst>
                    <a:ext uri="{9D8B030D-6E8A-4147-A177-3AD203B41FA5}">
                      <a16:colId xmlns:a16="http://schemas.microsoft.com/office/drawing/2014/main" val="3611588105"/>
                    </a:ext>
                  </a:extLst>
                </a:gridCol>
                <a:gridCol w="826284">
                  <a:extLst>
                    <a:ext uri="{9D8B030D-6E8A-4147-A177-3AD203B41FA5}">
                      <a16:colId xmlns:a16="http://schemas.microsoft.com/office/drawing/2014/main" val="3869765145"/>
                    </a:ext>
                  </a:extLst>
                </a:gridCol>
                <a:gridCol w="977028">
                  <a:extLst>
                    <a:ext uri="{9D8B030D-6E8A-4147-A177-3AD203B41FA5}">
                      <a16:colId xmlns:a16="http://schemas.microsoft.com/office/drawing/2014/main" val="2872567631"/>
                    </a:ext>
                  </a:extLst>
                </a:gridCol>
                <a:gridCol w="946214">
                  <a:extLst>
                    <a:ext uri="{9D8B030D-6E8A-4147-A177-3AD203B41FA5}">
                      <a16:colId xmlns:a16="http://schemas.microsoft.com/office/drawing/2014/main" val="1584093537"/>
                    </a:ext>
                  </a:extLst>
                </a:gridCol>
              </a:tblGrid>
              <a:tr h="613004">
                <a:tc>
                  <a:txBody>
                    <a:bodyPr/>
                    <a:lstStyle/>
                    <a:p>
                      <a:r>
                        <a:rPr lang="en-US" dirty="0"/>
                        <a:t>Transition→ </a:t>
                      </a:r>
                      <a:endParaRPr lang="en-US" b="0" dirty="0"/>
                    </a:p>
                  </a:txBody>
                  <a:tcPr/>
                </a:tc>
                <a:tc>
                  <a:txBody>
                    <a:bodyPr/>
                    <a:lstStyle/>
                    <a:p>
                      <a:pPr algn="ctr"/>
                      <a:r>
                        <a:rPr lang="en-US" dirty="0"/>
                        <a:t>Bullish</a:t>
                      </a:r>
                    </a:p>
                  </a:txBody>
                  <a:tcPr/>
                </a:tc>
                <a:tc>
                  <a:txBody>
                    <a:bodyPr/>
                    <a:lstStyle/>
                    <a:p>
                      <a:pPr algn="ctr"/>
                      <a:r>
                        <a:rPr lang="en-US" dirty="0"/>
                        <a:t>Bearish</a:t>
                      </a:r>
                    </a:p>
                  </a:txBody>
                  <a:tcPr/>
                </a:tc>
                <a:tc>
                  <a:txBody>
                    <a:bodyPr/>
                    <a:lstStyle/>
                    <a:p>
                      <a:pPr algn="ctr"/>
                      <a:r>
                        <a:rPr lang="en-US" dirty="0"/>
                        <a:t>Neutral</a:t>
                      </a:r>
                    </a:p>
                  </a:txBody>
                  <a:tcPr/>
                </a:tc>
                <a:extLst>
                  <a:ext uri="{0D108BD9-81ED-4DB2-BD59-A6C34878D82A}">
                    <a16:rowId xmlns:a16="http://schemas.microsoft.com/office/drawing/2014/main" val="2977409671"/>
                  </a:ext>
                </a:extLst>
              </a:tr>
              <a:tr h="380441">
                <a:tc>
                  <a:txBody>
                    <a:bodyPr/>
                    <a:lstStyle/>
                    <a:p>
                      <a:pPr algn="ctr"/>
                      <a:r>
                        <a:rPr lang="en-US" dirty="0"/>
                        <a:t>Bullish </a:t>
                      </a:r>
                    </a:p>
                  </a:txBody>
                  <a:tcPr/>
                </a:tc>
                <a:tc>
                  <a:txBody>
                    <a:bodyPr/>
                    <a:lstStyle/>
                    <a:p>
                      <a:pPr algn="ctr"/>
                      <a:r>
                        <a:rPr lang="en-US" dirty="0"/>
                        <a:t>0.6</a:t>
                      </a:r>
                    </a:p>
                  </a:txBody>
                  <a:tcPr/>
                </a:tc>
                <a:tc>
                  <a:txBody>
                    <a:bodyPr/>
                    <a:lstStyle/>
                    <a:p>
                      <a:pPr algn="ctr"/>
                      <a:r>
                        <a:rPr lang="en-US" dirty="0"/>
                        <a:t>0.3</a:t>
                      </a:r>
                    </a:p>
                  </a:txBody>
                  <a:tcPr/>
                </a:tc>
                <a:tc>
                  <a:txBody>
                    <a:bodyPr/>
                    <a:lstStyle/>
                    <a:p>
                      <a:pPr algn="ctr"/>
                      <a:r>
                        <a:rPr lang="en-US" dirty="0"/>
                        <a:t>0.1</a:t>
                      </a:r>
                    </a:p>
                  </a:txBody>
                  <a:tcPr/>
                </a:tc>
                <a:extLst>
                  <a:ext uri="{0D108BD9-81ED-4DB2-BD59-A6C34878D82A}">
                    <a16:rowId xmlns:a16="http://schemas.microsoft.com/office/drawing/2014/main" val="3949232994"/>
                  </a:ext>
                </a:extLst>
              </a:tr>
              <a:tr h="380441">
                <a:tc>
                  <a:txBody>
                    <a:bodyPr/>
                    <a:lstStyle/>
                    <a:p>
                      <a:pPr algn="ctr"/>
                      <a:r>
                        <a:rPr lang="en-US" dirty="0"/>
                        <a:t>Bearish</a:t>
                      </a:r>
                    </a:p>
                  </a:txBody>
                  <a:tcPr/>
                </a:tc>
                <a:tc>
                  <a:txBody>
                    <a:bodyPr/>
                    <a:lstStyle/>
                    <a:p>
                      <a:pPr algn="ctr"/>
                      <a:r>
                        <a:rPr lang="en-US" dirty="0"/>
                        <a:t>0.6</a:t>
                      </a:r>
                    </a:p>
                  </a:txBody>
                  <a:tcPr/>
                </a:tc>
                <a:tc>
                  <a:txBody>
                    <a:bodyPr/>
                    <a:lstStyle/>
                    <a:p>
                      <a:pPr algn="ctr"/>
                      <a:r>
                        <a:rPr lang="en-US" dirty="0"/>
                        <a:t>0.3</a:t>
                      </a:r>
                    </a:p>
                  </a:txBody>
                  <a:tcPr/>
                </a:tc>
                <a:tc>
                  <a:txBody>
                    <a:bodyPr/>
                    <a:lstStyle/>
                    <a:p>
                      <a:pPr algn="ctr"/>
                      <a:r>
                        <a:rPr lang="en-US" dirty="0"/>
                        <a:t>0.1</a:t>
                      </a:r>
                    </a:p>
                  </a:txBody>
                  <a:tcPr/>
                </a:tc>
                <a:extLst>
                  <a:ext uri="{0D108BD9-81ED-4DB2-BD59-A6C34878D82A}">
                    <a16:rowId xmlns:a16="http://schemas.microsoft.com/office/drawing/2014/main" val="2340767608"/>
                  </a:ext>
                </a:extLst>
              </a:tr>
              <a:tr h="380441">
                <a:tc>
                  <a:txBody>
                    <a:bodyPr/>
                    <a:lstStyle/>
                    <a:p>
                      <a:pPr algn="ctr"/>
                      <a:r>
                        <a:rPr lang="en-US" dirty="0"/>
                        <a:t>Neutral</a:t>
                      </a:r>
                    </a:p>
                  </a:txBody>
                  <a:tcPr/>
                </a:tc>
                <a:tc>
                  <a:txBody>
                    <a:bodyPr/>
                    <a:lstStyle/>
                    <a:p>
                      <a:pPr algn="ctr"/>
                      <a:r>
                        <a:rPr lang="en-US" dirty="0"/>
                        <a:t>0.4</a:t>
                      </a:r>
                    </a:p>
                  </a:txBody>
                  <a:tcPr/>
                </a:tc>
                <a:tc>
                  <a:txBody>
                    <a:bodyPr/>
                    <a:lstStyle/>
                    <a:p>
                      <a:pPr algn="ctr"/>
                      <a:r>
                        <a:rPr lang="en-US" dirty="0"/>
                        <a:t>0.3</a:t>
                      </a:r>
                    </a:p>
                  </a:txBody>
                  <a:tcPr/>
                </a:tc>
                <a:tc>
                  <a:txBody>
                    <a:bodyPr/>
                    <a:lstStyle/>
                    <a:p>
                      <a:pPr algn="ctr"/>
                      <a:r>
                        <a:rPr lang="en-US" dirty="0"/>
                        <a:t>0.3</a:t>
                      </a:r>
                    </a:p>
                  </a:txBody>
                  <a:tcPr/>
                </a:tc>
                <a:extLst>
                  <a:ext uri="{0D108BD9-81ED-4DB2-BD59-A6C34878D82A}">
                    <a16:rowId xmlns:a16="http://schemas.microsoft.com/office/drawing/2014/main" val="1467447685"/>
                  </a:ext>
                </a:extLst>
              </a:tr>
            </a:tbl>
          </a:graphicData>
        </a:graphic>
      </p:graphicFrame>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2A4EEE9-80FD-F235-F69C-D7109F6A8B0D}"/>
                  </a:ext>
                </a:extLst>
              </p:cNvPr>
              <p:cNvSpPr txBox="1"/>
              <p:nvPr/>
            </p:nvSpPr>
            <p:spPr>
              <a:xfrm>
                <a:off x="6033862" y="2183063"/>
                <a:ext cx="5591249" cy="1477328"/>
              </a:xfrm>
              <a:prstGeom prst="rect">
                <a:avLst/>
              </a:prstGeom>
              <a:noFill/>
              <a:ln>
                <a:noFill/>
              </a:ln>
            </p:spPr>
            <p:txBody>
              <a:bodyPr wrap="square">
                <a:spAutoFit/>
              </a:bodyPr>
              <a:lstStyle/>
              <a:p>
                <a:pPr>
                  <a:buNone/>
                </a:pPr>
                <a:r>
                  <a:rPr lang="en-US" b="1" dirty="0"/>
                  <a:t>States</a:t>
                </a:r>
                <a:r>
                  <a:rPr lang="en-US" dirty="0"/>
                  <a:t>: Tuple consisting of:</a:t>
                </a:r>
              </a:p>
              <a:p>
                <a:pPr algn="ctr">
                  <a:buNone/>
                </a:pPr>
                <a:r>
                  <a:rPr lang="en-US" dirty="0">
                    <a:latin typeface="Consolas" panose="020B0609020204030204" pitchFamily="49" charset="0"/>
                  </a:rPr>
                  <a:t>(current-inventory, market-condition)</a:t>
                </a:r>
              </a:p>
              <a:p>
                <a:pPr>
                  <a:buNone/>
                </a:pPr>
                <a:endParaRPr lang="en-US" dirty="0"/>
              </a:p>
              <a:p>
                <a:pPr>
                  <a:buNone/>
                </a:pPr>
                <a14:m>
                  <m:oMath xmlns:m="http://schemas.openxmlformats.org/officeDocument/2006/math">
                    <m:r>
                      <a:rPr lang="en-US" b="0" i="1" dirty="0" smtClean="0">
                        <a:latin typeface="Cambria Math" panose="02040503050406030204" pitchFamily="18" charset="0"/>
                      </a:rPr>
                      <m:t>3⋅3=9</m:t>
                    </m:r>
                  </m:oMath>
                </a14:m>
                <a:r>
                  <a:rPr lang="en-US" dirty="0"/>
                  <a:t> possible states when restricted to owning 2 shares maximally.</a:t>
                </a:r>
              </a:p>
            </p:txBody>
          </p:sp>
        </mc:Choice>
        <mc:Fallback xmlns="">
          <p:sp>
            <p:nvSpPr>
              <p:cNvPr id="12" name="TextBox 11">
                <a:extLst>
                  <a:ext uri="{FF2B5EF4-FFF2-40B4-BE49-F238E27FC236}">
                    <a16:creationId xmlns:a16="http://schemas.microsoft.com/office/drawing/2014/main" id="{B2A4EEE9-80FD-F235-F69C-D7109F6A8B0D}"/>
                  </a:ext>
                </a:extLst>
              </p:cNvPr>
              <p:cNvSpPr txBox="1">
                <a:spLocks noRot="1" noChangeAspect="1" noMove="1" noResize="1" noEditPoints="1" noAdjustHandles="1" noChangeArrowheads="1" noChangeShapeType="1" noTextEdit="1"/>
              </p:cNvSpPr>
              <p:nvPr/>
            </p:nvSpPr>
            <p:spPr>
              <a:xfrm>
                <a:off x="6033862" y="2183063"/>
                <a:ext cx="5591249" cy="1477328"/>
              </a:xfrm>
              <a:prstGeom prst="rect">
                <a:avLst/>
              </a:prstGeom>
              <a:blipFill>
                <a:blip r:embed="rId2"/>
                <a:stretch>
                  <a:fillRect l="-981" t="-2066" b="-5785"/>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5EDE087-20FE-1469-A340-5025281D1C50}"/>
                  </a:ext>
                </a:extLst>
              </p:cNvPr>
              <p:cNvSpPr txBox="1"/>
              <p:nvPr/>
            </p:nvSpPr>
            <p:spPr>
              <a:xfrm>
                <a:off x="711566" y="2183063"/>
                <a:ext cx="4597400" cy="1200329"/>
              </a:xfrm>
              <a:prstGeom prst="rect">
                <a:avLst/>
              </a:prstGeom>
              <a:noFill/>
              <a:ln>
                <a:noFill/>
              </a:ln>
            </p:spPr>
            <p:txBody>
              <a:bodyPr wrap="square">
                <a:spAutoFit/>
              </a:bodyPr>
              <a:lstStyle/>
              <a:p>
                <a:r>
                  <a:rPr lang="en-US" b="1" dirty="0"/>
                  <a:t>Action Types</a:t>
                </a:r>
                <a:r>
                  <a:rPr lang="en-US" dirty="0"/>
                  <a:t>: Three choices at each state</a:t>
                </a:r>
              </a:p>
              <a:p>
                <a:pPr marL="517525" lvl="1" indent="-285750">
                  <a:buFont typeface="Arial" panose="020B0604020202020204" pitchFamily="34" charset="0"/>
                  <a:buChar char="•"/>
                </a:pPr>
                <a:r>
                  <a:rPr lang="en-US" dirty="0"/>
                  <a:t>Buy (acquire 1 share, if inventory </a:t>
                </a:r>
                <a14:m>
                  <m:oMath xmlns:m="http://schemas.openxmlformats.org/officeDocument/2006/math">
                    <m:r>
                      <a:rPr lang="en-US" b="0" i="1" dirty="0" smtClean="0">
                        <a:latin typeface="Cambria Math" panose="02040503050406030204" pitchFamily="18" charset="0"/>
                      </a:rPr>
                      <m:t>&lt;</m:t>
                    </m:r>
                    <m:r>
                      <a:rPr lang="en-US" i="1" dirty="0" smtClean="0">
                        <a:latin typeface="Cambria Math" panose="02040503050406030204" pitchFamily="18" charset="0"/>
                      </a:rPr>
                      <m:t>2</m:t>
                    </m:r>
                  </m:oMath>
                </a14:m>
                <a:r>
                  <a:rPr lang="en-US" dirty="0"/>
                  <a:t>)</a:t>
                </a:r>
              </a:p>
              <a:p>
                <a:pPr marL="517525" lvl="1" indent="-285750">
                  <a:buFont typeface="Arial" panose="020B0604020202020204" pitchFamily="34" charset="0"/>
                  <a:buChar char="•"/>
                </a:pPr>
                <a:r>
                  <a:rPr lang="en-US" dirty="0"/>
                  <a:t>Sell (sell 1 share, if inventory </a:t>
                </a:r>
                <a14:m>
                  <m:oMath xmlns:m="http://schemas.openxmlformats.org/officeDocument/2006/math">
                    <m:r>
                      <a:rPr lang="en-US" b="0" i="1" smtClean="0">
                        <a:latin typeface="Cambria Math" panose="02040503050406030204" pitchFamily="18" charset="0"/>
                      </a:rPr>
                      <m:t>&gt;0</m:t>
                    </m:r>
                  </m:oMath>
                </a14:m>
                <a:r>
                  <a:rPr lang="en-US" dirty="0"/>
                  <a:t>)</a:t>
                </a:r>
              </a:p>
              <a:p>
                <a:pPr marL="517525" lvl="1" indent="-285750">
                  <a:buFont typeface="Arial" panose="020B0604020202020204" pitchFamily="34" charset="0"/>
                  <a:buChar char="•"/>
                </a:pPr>
                <a:r>
                  <a:rPr lang="en-US" dirty="0"/>
                  <a:t>Hold (do nothing)</a:t>
                </a:r>
              </a:p>
            </p:txBody>
          </p:sp>
        </mc:Choice>
        <mc:Fallback xmlns="">
          <p:sp>
            <p:nvSpPr>
              <p:cNvPr id="13" name="TextBox 12">
                <a:extLst>
                  <a:ext uri="{FF2B5EF4-FFF2-40B4-BE49-F238E27FC236}">
                    <a16:creationId xmlns:a16="http://schemas.microsoft.com/office/drawing/2014/main" id="{D5EDE087-20FE-1469-A340-5025281D1C50}"/>
                  </a:ext>
                </a:extLst>
              </p:cNvPr>
              <p:cNvSpPr txBox="1">
                <a:spLocks noRot="1" noChangeAspect="1" noMove="1" noResize="1" noEditPoints="1" noAdjustHandles="1" noChangeArrowheads="1" noChangeShapeType="1" noTextEdit="1"/>
              </p:cNvSpPr>
              <p:nvPr/>
            </p:nvSpPr>
            <p:spPr>
              <a:xfrm>
                <a:off x="711566" y="2183063"/>
                <a:ext cx="4597400" cy="1200329"/>
              </a:xfrm>
              <a:prstGeom prst="rect">
                <a:avLst/>
              </a:prstGeom>
              <a:blipFill>
                <a:blip r:embed="rId3"/>
                <a:stretch>
                  <a:fillRect l="-1194" t="-2538" b="-7107"/>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962675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6B09D-1D93-1C38-9A66-4FDCF1D893A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itle 12">
                <a:extLst>
                  <a:ext uri="{FF2B5EF4-FFF2-40B4-BE49-F238E27FC236}">
                    <a16:creationId xmlns:a16="http://schemas.microsoft.com/office/drawing/2014/main" id="{400D9FF7-9FD8-4F94-0407-478FB428FEEC}"/>
                  </a:ext>
                </a:extLst>
              </p:cNvPr>
              <p:cNvSpPr txBox="1">
                <a:spLocks/>
              </p:cNvSpPr>
              <p:nvPr/>
            </p:nvSpPr>
            <p:spPr>
              <a:xfrm>
                <a:off x="471489" y="69597"/>
                <a:ext cx="11153622" cy="565671"/>
              </a:xfrm>
              <a:prstGeom prst="rect">
                <a:avLst/>
              </a:prstGeom>
              <a:ln>
                <a:noFill/>
              </a:ln>
            </p:spPr>
            <p:txBody>
              <a:bodyPr vert="horz" lIns="91440" tIns="45720" rIns="91440" bIns="45720" rtlCol="0" anchor="ctr">
                <a:noAutofit/>
              </a:bodyPr>
              <a:lst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a:lstStyle>
              <a:p>
                <a:pPr algn="ctr"/>
                <a:r>
                  <a:rPr lang="en-US" sz="3600" dirty="0"/>
                  <a:t>MDP Example II: </a:t>
                </a:r>
                <a14:m>
                  <m:oMath xmlns:m="http://schemas.openxmlformats.org/officeDocument/2006/math">
                    <m:r>
                      <a:rPr lang="en-US" sz="3600" b="0" i="1" smtClean="0">
                        <a:latin typeface="Cambria Math" panose="02040503050406030204" pitchFamily="18" charset="0"/>
                      </a:rPr>
                      <m:t>𝜋</m:t>
                    </m:r>
                  </m:oMath>
                </a14:m>
                <a:endParaRPr lang="en-US" sz="3600" dirty="0"/>
              </a:p>
            </p:txBody>
          </p:sp>
        </mc:Choice>
        <mc:Fallback xmlns="">
          <p:sp>
            <p:nvSpPr>
              <p:cNvPr id="4" name="Title 12">
                <a:extLst>
                  <a:ext uri="{FF2B5EF4-FFF2-40B4-BE49-F238E27FC236}">
                    <a16:creationId xmlns:a16="http://schemas.microsoft.com/office/drawing/2014/main" id="{400D9FF7-9FD8-4F94-0407-478FB428FEEC}"/>
                  </a:ext>
                </a:extLst>
              </p:cNvPr>
              <p:cNvSpPr txBox="1">
                <a:spLocks noRot="1" noChangeAspect="1" noMove="1" noResize="1" noEditPoints="1" noAdjustHandles="1" noChangeArrowheads="1" noChangeShapeType="1" noTextEdit="1"/>
              </p:cNvSpPr>
              <p:nvPr/>
            </p:nvSpPr>
            <p:spPr>
              <a:xfrm>
                <a:off x="471489" y="69597"/>
                <a:ext cx="11153622" cy="565671"/>
              </a:xfrm>
              <a:prstGeom prst="rect">
                <a:avLst/>
              </a:prstGeom>
              <a:blipFill>
                <a:blip r:embed="rId2"/>
                <a:stretch>
                  <a:fillRect t="-22581" b="-47312"/>
                </a:stretch>
              </a:blipFill>
              <a:ln>
                <a:noFill/>
              </a:ln>
            </p:spPr>
            <p:txBody>
              <a:bodyPr/>
              <a:lstStyle/>
              <a:p>
                <a:r>
                  <a:rPr lang="en-US">
                    <a:noFill/>
                  </a:rPr>
                  <a:t> </a:t>
                </a:r>
              </a:p>
            </p:txBody>
          </p:sp>
        </mc:Fallback>
      </mc:AlternateContent>
      <p:sp>
        <p:nvSpPr>
          <p:cNvPr id="2" name="Rectangle 1">
            <a:extLst>
              <a:ext uri="{FF2B5EF4-FFF2-40B4-BE49-F238E27FC236}">
                <a16:creationId xmlns:a16="http://schemas.microsoft.com/office/drawing/2014/main" id="{0C1C842D-A80D-09B5-A8A1-B8A6BF848D86}"/>
              </a:ext>
            </a:extLst>
          </p:cNvPr>
          <p:cNvSpPr/>
          <p:nvPr/>
        </p:nvSpPr>
        <p:spPr>
          <a:xfrm>
            <a:off x="367114" y="1187033"/>
            <a:ext cx="2902227" cy="1733968"/>
          </a:xfrm>
          <a:prstGeom prst="rect">
            <a:avLst/>
          </a:prstGeom>
          <a:noFill/>
          <a:ln w="12700">
            <a:solidFill>
              <a:schemeClr val="tx1"/>
            </a:solidFill>
          </a:ln>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600" dirty="0"/>
          </a:p>
        </p:txBody>
      </p:sp>
      <p:sp>
        <p:nvSpPr>
          <p:cNvPr id="3" name="TextBox 2">
            <a:extLst>
              <a:ext uri="{FF2B5EF4-FFF2-40B4-BE49-F238E27FC236}">
                <a16:creationId xmlns:a16="http://schemas.microsoft.com/office/drawing/2014/main" id="{04985BD4-3489-872F-1262-289EE63C5858}"/>
              </a:ext>
            </a:extLst>
          </p:cNvPr>
          <p:cNvSpPr txBox="1"/>
          <p:nvPr/>
        </p:nvSpPr>
        <p:spPr>
          <a:xfrm>
            <a:off x="1261442" y="769402"/>
            <a:ext cx="1001864" cy="369332"/>
          </a:xfrm>
          <a:prstGeom prst="rect">
            <a:avLst/>
          </a:prstGeom>
          <a:noFill/>
          <a:ln>
            <a:noFill/>
          </a:ln>
        </p:spPr>
        <p:txBody>
          <a:bodyPr wrap="square" rtlCol="0" anchor="ctr" anchorCtr="1">
            <a:spAutoFit/>
          </a:bodyPr>
          <a:lstStyle/>
          <a:p>
            <a:r>
              <a:rPr lang="en-US" dirty="0"/>
              <a:t>0 shares</a:t>
            </a:r>
          </a:p>
        </p:txBody>
      </p:sp>
      <p:sp>
        <p:nvSpPr>
          <p:cNvPr id="6" name="TextBox 5">
            <a:extLst>
              <a:ext uri="{FF2B5EF4-FFF2-40B4-BE49-F238E27FC236}">
                <a16:creationId xmlns:a16="http://schemas.microsoft.com/office/drawing/2014/main" id="{8CA7702E-2403-D49A-4C99-EBE938C9EBD6}"/>
              </a:ext>
            </a:extLst>
          </p:cNvPr>
          <p:cNvSpPr txBox="1"/>
          <p:nvPr/>
        </p:nvSpPr>
        <p:spPr>
          <a:xfrm>
            <a:off x="4471118" y="769402"/>
            <a:ext cx="1001864" cy="369332"/>
          </a:xfrm>
          <a:prstGeom prst="rect">
            <a:avLst/>
          </a:prstGeom>
          <a:noFill/>
          <a:ln>
            <a:noFill/>
          </a:ln>
        </p:spPr>
        <p:txBody>
          <a:bodyPr wrap="square" rtlCol="0" anchor="ctr" anchorCtr="1">
            <a:spAutoFit/>
          </a:bodyPr>
          <a:lstStyle/>
          <a:p>
            <a:r>
              <a:rPr lang="en-US" dirty="0"/>
              <a:t>1 share</a:t>
            </a:r>
          </a:p>
        </p:txBody>
      </p:sp>
      <p:sp>
        <p:nvSpPr>
          <p:cNvPr id="8" name="TextBox 7">
            <a:extLst>
              <a:ext uri="{FF2B5EF4-FFF2-40B4-BE49-F238E27FC236}">
                <a16:creationId xmlns:a16="http://schemas.microsoft.com/office/drawing/2014/main" id="{6875E995-BC5A-7BAD-AE2E-D9576E322AD4}"/>
              </a:ext>
            </a:extLst>
          </p:cNvPr>
          <p:cNvSpPr txBox="1"/>
          <p:nvPr/>
        </p:nvSpPr>
        <p:spPr>
          <a:xfrm>
            <a:off x="7495265" y="769402"/>
            <a:ext cx="1001864" cy="369332"/>
          </a:xfrm>
          <a:prstGeom prst="rect">
            <a:avLst/>
          </a:prstGeom>
          <a:noFill/>
          <a:ln>
            <a:noFill/>
          </a:ln>
        </p:spPr>
        <p:txBody>
          <a:bodyPr wrap="square" rtlCol="0" anchor="ctr" anchorCtr="1">
            <a:spAutoFit/>
          </a:bodyPr>
          <a:lstStyle/>
          <a:p>
            <a:r>
              <a:rPr lang="en-US" dirty="0"/>
              <a:t>2 shares</a:t>
            </a:r>
          </a:p>
        </p:txBody>
      </p:sp>
      <p:sp>
        <p:nvSpPr>
          <p:cNvPr id="9" name="TextBox 8">
            <a:extLst>
              <a:ext uri="{FF2B5EF4-FFF2-40B4-BE49-F238E27FC236}">
                <a16:creationId xmlns:a16="http://schemas.microsoft.com/office/drawing/2014/main" id="{C2A843D7-E5A9-E076-92A0-C06CA0513F45}"/>
              </a:ext>
            </a:extLst>
          </p:cNvPr>
          <p:cNvSpPr txBox="1"/>
          <p:nvPr/>
        </p:nvSpPr>
        <p:spPr>
          <a:xfrm>
            <a:off x="434700" y="1197097"/>
            <a:ext cx="1053548" cy="338554"/>
          </a:xfrm>
          <a:prstGeom prst="rect">
            <a:avLst/>
          </a:prstGeom>
          <a:noFill/>
          <a:ln>
            <a:noFill/>
          </a:ln>
        </p:spPr>
        <p:txBody>
          <a:bodyPr wrap="square" rtlCol="0" anchor="ctr" anchorCtr="1">
            <a:spAutoFit/>
          </a:bodyPr>
          <a:lstStyle/>
          <a:p>
            <a:r>
              <a:rPr lang="en-US" sz="1600" dirty="0"/>
              <a:t>(0, Bullish)</a:t>
            </a:r>
          </a:p>
        </p:txBody>
      </p:sp>
      <p:sp>
        <p:nvSpPr>
          <p:cNvPr id="10" name="TextBox 9">
            <a:extLst>
              <a:ext uri="{FF2B5EF4-FFF2-40B4-BE49-F238E27FC236}">
                <a16:creationId xmlns:a16="http://schemas.microsoft.com/office/drawing/2014/main" id="{1EB725EC-FA83-8218-6E4C-BC9D0E69D310}"/>
              </a:ext>
            </a:extLst>
          </p:cNvPr>
          <p:cNvSpPr txBox="1"/>
          <p:nvPr/>
        </p:nvSpPr>
        <p:spPr>
          <a:xfrm>
            <a:off x="2518281" y="1108220"/>
            <a:ext cx="749410" cy="338554"/>
          </a:xfrm>
          <a:prstGeom prst="rect">
            <a:avLst/>
          </a:prstGeom>
          <a:noFill/>
          <a:ln>
            <a:noFill/>
          </a:ln>
        </p:spPr>
        <p:txBody>
          <a:bodyPr wrap="square" rtlCol="0" anchor="ctr" anchorCtr="1">
            <a:spAutoFit/>
          </a:bodyPr>
          <a:lstStyle/>
          <a:p>
            <a:r>
              <a:rPr lang="en-US" sz="1600" dirty="0">
                <a:highlight>
                  <a:srgbClr val="00FF00"/>
                </a:highlight>
              </a:rPr>
              <a:t>Bullish</a:t>
            </a:r>
          </a:p>
        </p:txBody>
      </p:sp>
      <p:sp>
        <p:nvSpPr>
          <p:cNvPr id="14" name="TextBox 13">
            <a:extLst>
              <a:ext uri="{FF2B5EF4-FFF2-40B4-BE49-F238E27FC236}">
                <a16:creationId xmlns:a16="http://schemas.microsoft.com/office/drawing/2014/main" id="{31375EDD-F624-F804-350C-D0BDF46242A7}"/>
              </a:ext>
            </a:extLst>
          </p:cNvPr>
          <p:cNvSpPr txBox="1"/>
          <p:nvPr/>
        </p:nvSpPr>
        <p:spPr>
          <a:xfrm>
            <a:off x="1418102" y="1385447"/>
            <a:ext cx="802916" cy="338554"/>
          </a:xfrm>
          <a:prstGeom prst="rect">
            <a:avLst/>
          </a:prstGeom>
          <a:noFill/>
          <a:ln>
            <a:noFill/>
          </a:ln>
        </p:spPr>
        <p:txBody>
          <a:bodyPr wrap="square" rtlCol="0" anchor="ctr" anchorCtr="1">
            <a:spAutoFit/>
          </a:bodyPr>
          <a:lstStyle/>
          <a:p>
            <a:r>
              <a:rPr lang="en-US" sz="1600" dirty="0"/>
              <a:t>Actions</a:t>
            </a:r>
          </a:p>
        </p:txBody>
      </p:sp>
      <p:sp>
        <p:nvSpPr>
          <p:cNvPr id="15" name="Rectangle: Rounded Corners 14">
            <a:extLst>
              <a:ext uri="{FF2B5EF4-FFF2-40B4-BE49-F238E27FC236}">
                <a16:creationId xmlns:a16="http://schemas.microsoft.com/office/drawing/2014/main" id="{7865306C-E73A-6F84-BE2D-D4D3E52E8459}"/>
              </a:ext>
            </a:extLst>
          </p:cNvPr>
          <p:cNvSpPr/>
          <p:nvPr/>
        </p:nvSpPr>
        <p:spPr>
          <a:xfrm>
            <a:off x="726256" y="1724001"/>
            <a:ext cx="2186608" cy="369332"/>
          </a:xfrm>
          <a:prstGeom prst="roundRect">
            <a:avLst/>
          </a:prstGeom>
          <a:solidFill>
            <a:srgbClr val="00B050">
              <a:alpha val="25000"/>
            </a:srgb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600" dirty="0"/>
          </a:p>
        </p:txBody>
      </p:sp>
      <p:sp>
        <p:nvSpPr>
          <p:cNvPr id="16" name="TextBox 15">
            <a:extLst>
              <a:ext uri="{FF2B5EF4-FFF2-40B4-BE49-F238E27FC236}">
                <a16:creationId xmlns:a16="http://schemas.microsoft.com/office/drawing/2014/main" id="{43CC53D1-D744-BE97-8DDA-66D1542C3922}"/>
              </a:ext>
            </a:extLst>
          </p:cNvPr>
          <p:cNvSpPr txBox="1"/>
          <p:nvPr/>
        </p:nvSpPr>
        <p:spPr>
          <a:xfrm>
            <a:off x="726256" y="1739390"/>
            <a:ext cx="1144988" cy="338554"/>
          </a:xfrm>
          <a:prstGeom prst="rect">
            <a:avLst/>
          </a:prstGeom>
          <a:noFill/>
          <a:ln>
            <a:noFill/>
          </a:ln>
        </p:spPr>
        <p:txBody>
          <a:bodyPr wrap="square" rtlCol="0" anchor="ctr" anchorCtr="1">
            <a:spAutoFit/>
          </a:bodyPr>
          <a:lstStyle/>
          <a:p>
            <a:r>
              <a:rPr lang="en-US" sz="1600" dirty="0"/>
              <a:t>Buy Share</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4ACCE80-5B10-8C2C-471D-17970BECC452}"/>
                  </a:ext>
                </a:extLst>
              </p:cNvPr>
              <p:cNvSpPr txBox="1"/>
              <p:nvPr/>
            </p:nvSpPr>
            <p:spPr>
              <a:xfrm>
                <a:off x="2296638" y="1739390"/>
                <a:ext cx="596348" cy="338554"/>
              </a:xfrm>
              <a:prstGeom prst="rect">
                <a:avLst/>
              </a:prstGeom>
              <a:noFill/>
              <a:ln>
                <a:noFill/>
              </a:ln>
            </p:spPr>
            <p:txBody>
              <a:bodyPr wrap="square" rtlCol="0" anchor="ctr" anchorCtr="1">
                <a:spAutoFit/>
              </a:bodyPr>
              <a:lstStyle/>
              <a:p>
                <a:pPr/>
                <a14:m>
                  <m:oMathPara xmlns:m="http://schemas.openxmlformats.org/officeDocument/2006/math">
                    <m:oMathParaPr>
                      <m:jc m:val="centerGroup"/>
                    </m:oMathParaPr>
                    <m:oMath xmlns:m="http://schemas.openxmlformats.org/officeDocument/2006/math">
                      <m:r>
                        <a:rPr lang="en-US" sz="1600" i="1" dirty="0" smtClean="0">
                          <a:solidFill>
                            <a:srgbClr val="FF0000"/>
                          </a:solidFill>
                          <a:latin typeface="Cambria Math" panose="02040503050406030204" pitchFamily="18" charset="0"/>
                        </a:rPr>
                        <m:t>−$3</m:t>
                      </m:r>
                    </m:oMath>
                  </m:oMathPara>
                </a14:m>
                <a:endParaRPr lang="en-US" sz="1600" dirty="0"/>
              </a:p>
            </p:txBody>
          </p:sp>
        </mc:Choice>
        <mc:Fallback xmlns="">
          <p:sp>
            <p:nvSpPr>
              <p:cNvPr id="17" name="TextBox 16">
                <a:extLst>
                  <a:ext uri="{FF2B5EF4-FFF2-40B4-BE49-F238E27FC236}">
                    <a16:creationId xmlns:a16="http://schemas.microsoft.com/office/drawing/2014/main" id="{64ACCE80-5B10-8C2C-471D-17970BECC452}"/>
                  </a:ext>
                </a:extLst>
              </p:cNvPr>
              <p:cNvSpPr txBox="1">
                <a:spLocks noRot="1" noChangeAspect="1" noMove="1" noResize="1" noEditPoints="1" noAdjustHandles="1" noChangeArrowheads="1" noChangeShapeType="1" noTextEdit="1"/>
              </p:cNvSpPr>
              <p:nvPr/>
            </p:nvSpPr>
            <p:spPr>
              <a:xfrm>
                <a:off x="2296638" y="1739390"/>
                <a:ext cx="596348" cy="338554"/>
              </a:xfrm>
              <a:prstGeom prst="rect">
                <a:avLst/>
              </a:prstGeom>
              <a:blipFill>
                <a:blip r:embed="rId3"/>
                <a:stretch>
                  <a:fillRect b="-1786"/>
                </a:stretch>
              </a:blipFill>
              <a:ln>
                <a:noFill/>
              </a:ln>
            </p:spPr>
            <p:txBody>
              <a:bodyPr/>
              <a:lstStyle/>
              <a:p>
                <a:r>
                  <a:rPr lang="en-US">
                    <a:noFill/>
                  </a:rPr>
                  <a:t> </a:t>
                </a:r>
              </a:p>
            </p:txBody>
          </p:sp>
        </mc:Fallback>
      </mc:AlternateContent>
      <p:sp>
        <p:nvSpPr>
          <p:cNvPr id="18" name="Rectangle: Rounded Corners 17">
            <a:extLst>
              <a:ext uri="{FF2B5EF4-FFF2-40B4-BE49-F238E27FC236}">
                <a16:creationId xmlns:a16="http://schemas.microsoft.com/office/drawing/2014/main" id="{A1F1AAEB-2D4A-6CA3-34AD-18DE508E6098}"/>
              </a:ext>
            </a:extLst>
          </p:cNvPr>
          <p:cNvSpPr/>
          <p:nvPr/>
        </p:nvSpPr>
        <p:spPr>
          <a:xfrm>
            <a:off x="726256" y="2092561"/>
            <a:ext cx="2186608" cy="376601"/>
          </a:xfrm>
          <a:prstGeom prst="roundRect">
            <a:avLst/>
          </a:prstGeom>
          <a:solidFill>
            <a:srgbClr val="FF0000">
              <a:alpha val="25000"/>
            </a:srgb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600" dirty="0"/>
          </a:p>
        </p:txBody>
      </p:sp>
      <p:sp>
        <p:nvSpPr>
          <p:cNvPr id="19" name="TextBox 18">
            <a:extLst>
              <a:ext uri="{FF2B5EF4-FFF2-40B4-BE49-F238E27FC236}">
                <a16:creationId xmlns:a16="http://schemas.microsoft.com/office/drawing/2014/main" id="{189DB0C7-84C5-1F1A-6EA3-8D9F660D0628}"/>
              </a:ext>
            </a:extLst>
          </p:cNvPr>
          <p:cNvSpPr txBox="1"/>
          <p:nvPr/>
        </p:nvSpPr>
        <p:spPr>
          <a:xfrm>
            <a:off x="885006" y="2113986"/>
            <a:ext cx="702503" cy="338554"/>
          </a:xfrm>
          <a:prstGeom prst="rect">
            <a:avLst/>
          </a:prstGeom>
          <a:noFill/>
          <a:ln>
            <a:noFill/>
          </a:ln>
        </p:spPr>
        <p:txBody>
          <a:bodyPr wrap="square" rtlCol="0" anchor="ctr" anchorCtr="1">
            <a:spAutoFit/>
          </a:bodyPr>
          <a:lstStyle/>
          <a:p>
            <a:r>
              <a:rPr lang="en-US" sz="1600" dirty="0">
                <a:solidFill>
                  <a:schemeClr val="tx1">
                    <a:lumMod val="50000"/>
                    <a:lumOff val="50000"/>
                  </a:schemeClr>
                </a:solidFill>
              </a:rPr>
              <a:t>Sell</a:t>
            </a:r>
          </a:p>
        </p:txBody>
      </p:sp>
      <p:sp>
        <p:nvSpPr>
          <p:cNvPr id="20" name="TextBox 19">
            <a:extLst>
              <a:ext uri="{FF2B5EF4-FFF2-40B4-BE49-F238E27FC236}">
                <a16:creationId xmlns:a16="http://schemas.microsoft.com/office/drawing/2014/main" id="{5A097388-0499-EB63-E5D0-89D670FF3F5E}"/>
              </a:ext>
            </a:extLst>
          </p:cNvPr>
          <p:cNvSpPr txBox="1"/>
          <p:nvPr/>
        </p:nvSpPr>
        <p:spPr>
          <a:xfrm>
            <a:off x="2161466" y="2092561"/>
            <a:ext cx="795130" cy="338554"/>
          </a:xfrm>
          <a:prstGeom prst="rect">
            <a:avLst/>
          </a:prstGeom>
          <a:noFill/>
          <a:ln>
            <a:noFill/>
          </a:ln>
        </p:spPr>
        <p:txBody>
          <a:bodyPr wrap="square" rtlCol="0" anchor="ctr" anchorCtr="1">
            <a:spAutoFit/>
          </a:bodyPr>
          <a:lstStyle/>
          <a:p>
            <a:r>
              <a:rPr lang="en-US" sz="1600" dirty="0">
                <a:solidFill>
                  <a:schemeClr val="tx1">
                    <a:lumMod val="50000"/>
                    <a:lumOff val="50000"/>
                  </a:schemeClr>
                </a:solidFill>
              </a:rPr>
              <a:t>N/A</a:t>
            </a:r>
          </a:p>
        </p:txBody>
      </p:sp>
      <p:sp>
        <p:nvSpPr>
          <p:cNvPr id="21" name="Rectangle: Rounded Corners 20">
            <a:extLst>
              <a:ext uri="{FF2B5EF4-FFF2-40B4-BE49-F238E27FC236}">
                <a16:creationId xmlns:a16="http://schemas.microsoft.com/office/drawing/2014/main" id="{AC1F4325-6DAE-F579-A901-BEED721CB4A8}"/>
              </a:ext>
            </a:extLst>
          </p:cNvPr>
          <p:cNvSpPr/>
          <p:nvPr/>
        </p:nvSpPr>
        <p:spPr>
          <a:xfrm>
            <a:off x="726256" y="2475130"/>
            <a:ext cx="2186608" cy="369332"/>
          </a:xfrm>
          <a:prstGeom prst="roundRect">
            <a:avLst/>
          </a:prstGeom>
          <a:solidFill>
            <a:schemeClr val="tx1">
              <a:lumMod val="50000"/>
              <a:lumOff val="50000"/>
              <a:alpha val="25000"/>
            </a:scheme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600" dirty="0"/>
          </a:p>
        </p:txBody>
      </p:sp>
      <p:sp>
        <p:nvSpPr>
          <p:cNvPr id="22" name="TextBox 21">
            <a:extLst>
              <a:ext uri="{FF2B5EF4-FFF2-40B4-BE49-F238E27FC236}">
                <a16:creationId xmlns:a16="http://schemas.microsoft.com/office/drawing/2014/main" id="{0585DD7E-8A6E-62B4-DD8F-0FC881DF086C}"/>
              </a:ext>
            </a:extLst>
          </p:cNvPr>
          <p:cNvSpPr txBox="1"/>
          <p:nvPr/>
        </p:nvSpPr>
        <p:spPr>
          <a:xfrm>
            <a:off x="918343" y="2499168"/>
            <a:ext cx="635828" cy="338554"/>
          </a:xfrm>
          <a:prstGeom prst="rect">
            <a:avLst/>
          </a:prstGeom>
          <a:noFill/>
          <a:ln>
            <a:noFill/>
          </a:ln>
        </p:spPr>
        <p:txBody>
          <a:bodyPr wrap="square" rtlCol="0" anchor="ctr" anchorCtr="1">
            <a:spAutoFit/>
          </a:bodyPr>
          <a:lstStyle/>
          <a:p>
            <a:r>
              <a:rPr lang="en-US" sz="1600" dirty="0"/>
              <a:t>Hold</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F670C1CB-DD19-C8CC-B176-89673355E100}"/>
                  </a:ext>
                </a:extLst>
              </p:cNvPr>
              <p:cNvSpPr txBox="1"/>
              <p:nvPr/>
            </p:nvSpPr>
            <p:spPr>
              <a:xfrm>
                <a:off x="2398403" y="2499168"/>
                <a:ext cx="392817" cy="338554"/>
              </a:xfrm>
              <a:prstGeom prst="rect">
                <a:avLst/>
              </a:prstGeom>
              <a:noFill/>
              <a:ln>
                <a:noFill/>
              </a:ln>
            </p:spPr>
            <p:txBody>
              <a:bodyPr wrap="square" rtlCol="0" anchor="ctr" anchorCtr="1">
                <a:spAutoFit/>
              </a:bodyPr>
              <a:lstStyle/>
              <a:p>
                <a:pPr/>
                <a14:m>
                  <m:oMathPara xmlns:m="http://schemas.openxmlformats.org/officeDocument/2006/math">
                    <m:oMathParaPr>
                      <m:jc m:val="centerGroup"/>
                    </m:oMathParaPr>
                    <m:oMath xmlns:m="http://schemas.openxmlformats.org/officeDocument/2006/math">
                      <m:r>
                        <a:rPr lang="en-US" sz="1600" i="1" dirty="0" smtClean="0">
                          <a:solidFill>
                            <a:schemeClr val="tx1"/>
                          </a:solidFill>
                          <a:latin typeface="Cambria Math" panose="02040503050406030204" pitchFamily="18" charset="0"/>
                        </a:rPr>
                        <m:t>$</m:t>
                      </m:r>
                      <m:r>
                        <a:rPr lang="en-US" sz="1600" b="0" i="1" dirty="0" smtClean="0">
                          <a:solidFill>
                            <a:schemeClr val="tx1"/>
                          </a:solidFill>
                          <a:latin typeface="Cambria Math" panose="02040503050406030204" pitchFamily="18" charset="0"/>
                        </a:rPr>
                        <m:t>0</m:t>
                      </m:r>
                    </m:oMath>
                  </m:oMathPara>
                </a14:m>
                <a:endParaRPr lang="en-US" sz="1600" dirty="0"/>
              </a:p>
            </p:txBody>
          </p:sp>
        </mc:Choice>
        <mc:Fallback xmlns="">
          <p:sp>
            <p:nvSpPr>
              <p:cNvPr id="23" name="TextBox 22">
                <a:extLst>
                  <a:ext uri="{FF2B5EF4-FFF2-40B4-BE49-F238E27FC236}">
                    <a16:creationId xmlns:a16="http://schemas.microsoft.com/office/drawing/2014/main" id="{F670C1CB-DD19-C8CC-B176-89673355E100}"/>
                  </a:ext>
                </a:extLst>
              </p:cNvPr>
              <p:cNvSpPr txBox="1">
                <a:spLocks noRot="1" noChangeAspect="1" noMove="1" noResize="1" noEditPoints="1" noAdjustHandles="1" noChangeArrowheads="1" noChangeShapeType="1" noTextEdit="1"/>
              </p:cNvSpPr>
              <p:nvPr/>
            </p:nvSpPr>
            <p:spPr>
              <a:xfrm>
                <a:off x="2398403" y="2499168"/>
                <a:ext cx="392817" cy="338554"/>
              </a:xfrm>
              <a:prstGeom prst="rect">
                <a:avLst/>
              </a:prstGeom>
              <a:blipFill>
                <a:blip r:embed="rId4"/>
                <a:stretch>
                  <a:fillRect l="-4615"/>
                </a:stretch>
              </a:blipFill>
              <a:ln>
                <a:noFill/>
              </a:ln>
            </p:spPr>
            <p:txBody>
              <a:bodyPr/>
              <a:lstStyle/>
              <a:p>
                <a:r>
                  <a:rPr lang="en-US">
                    <a:noFill/>
                  </a:rPr>
                  <a:t> </a:t>
                </a:r>
              </a:p>
            </p:txBody>
          </p:sp>
        </mc:Fallback>
      </mc:AlternateContent>
      <p:sp>
        <p:nvSpPr>
          <p:cNvPr id="24" name="Rectangle 23">
            <a:extLst>
              <a:ext uri="{FF2B5EF4-FFF2-40B4-BE49-F238E27FC236}">
                <a16:creationId xmlns:a16="http://schemas.microsoft.com/office/drawing/2014/main" id="{9EA3776D-968E-EA2A-BCB5-EFFE0D034A7E}"/>
              </a:ext>
            </a:extLst>
          </p:cNvPr>
          <p:cNvSpPr/>
          <p:nvPr/>
        </p:nvSpPr>
        <p:spPr>
          <a:xfrm>
            <a:off x="3520936" y="1187033"/>
            <a:ext cx="2902227" cy="1733968"/>
          </a:xfrm>
          <a:prstGeom prst="rect">
            <a:avLst/>
          </a:prstGeom>
          <a:noFill/>
          <a:ln w="12700">
            <a:solidFill>
              <a:schemeClr val="tx1"/>
            </a:solidFill>
          </a:ln>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600" dirty="0"/>
          </a:p>
        </p:txBody>
      </p:sp>
      <p:sp>
        <p:nvSpPr>
          <p:cNvPr id="25" name="TextBox 24">
            <a:extLst>
              <a:ext uri="{FF2B5EF4-FFF2-40B4-BE49-F238E27FC236}">
                <a16:creationId xmlns:a16="http://schemas.microsoft.com/office/drawing/2014/main" id="{AD1C496C-1917-34AF-39AD-F6B3A716A0B8}"/>
              </a:ext>
            </a:extLst>
          </p:cNvPr>
          <p:cNvSpPr txBox="1"/>
          <p:nvPr/>
        </p:nvSpPr>
        <p:spPr>
          <a:xfrm>
            <a:off x="3588522" y="1197097"/>
            <a:ext cx="1053548" cy="338554"/>
          </a:xfrm>
          <a:prstGeom prst="rect">
            <a:avLst/>
          </a:prstGeom>
          <a:noFill/>
          <a:ln>
            <a:noFill/>
          </a:ln>
        </p:spPr>
        <p:txBody>
          <a:bodyPr wrap="square" rtlCol="0" anchor="ctr" anchorCtr="1">
            <a:spAutoFit/>
          </a:bodyPr>
          <a:lstStyle/>
          <a:p>
            <a:r>
              <a:rPr lang="en-US" sz="1600" dirty="0"/>
              <a:t>(1, Bullish)</a:t>
            </a:r>
          </a:p>
        </p:txBody>
      </p:sp>
      <p:sp>
        <p:nvSpPr>
          <p:cNvPr id="26" name="TextBox 25">
            <a:extLst>
              <a:ext uri="{FF2B5EF4-FFF2-40B4-BE49-F238E27FC236}">
                <a16:creationId xmlns:a16="http://schemas.microsoft.com/office/drawing/2014/main" id="{4AD2E903-84FF-F7EC-B32F-FEEC0431060F}"/>
              </a:ext>
            </a:extLst>
          </p:cNvPr>
          <p:cNvSpPr txBox="1"/>
          <p:nvPr/>
        </p:nvSpPr>
        <p:spPr>
          <a:xfrm>
            <a:off x="5672103" y="1216170"/>
            <a:ext cx="749410" cy="338554"/>
          </a:xfrm>
          <a:prstGeom prst="rect">
            <a:avLst/>
          </a:prstGeom>
          <a:noFill/>
          <a:ln>
            <a:noFill/>
          </a:ln>
        </p:spPr>
        <p:txBody>
          <a:bodyPr wrap="square" rtlCol="0" anchor="ctr" anchorCtr="1">
            <a:spAutoFit/>
          </a:bodyPr>
          <a:lstStyle/>
          <a:p>
            <a:r>
              <a:rPr lang="en-US" sz="1600" dirty="0">
                <a:highlight>
                  <a:srgbClr val="00FF00"/>
                </a:highlight>
              </a:rPr>
              <a:t>Bullish</a:t>
            </a:r>
          </a:p>
        </p:txBody>
      </p:sp>
      <p:sp>
        <p:nvSpPr>
          <p:cNvPr id="27" name="TextBox 26">
            <a:extLst>
              <a:ext uri="{FF2B5EF4-FFF2-40B4-BE49-F238E27FC236}">
                <a16:creationId xmlns:a16="http://schemas.microsoft.com/office/drawing/2014/main" id="{CC375430-495E-4166-BC43-B4698A85E4DD}"/>
              </a:ext>
            </a:extLst>
          </p:cNvPr>
          <p:cNvSpPr txBox="1"/>
          <p:nvPr/>
        </p:nvSpPr>
        <p:spPr>
          <a:xfrm>
            <a:off x="4571924" y="1385447"/>
            <a:ext cx="802916" cy="338554"/>
          </a:xfrm>
          <a:prstGeom prst="rect">
            <a:avLst/>
          </a:prstGeom>
          <a:noFill/>
          <a:ln>
            <a:noFill/>
          </a:ln>
        </p:spPr>
        <p:txBody>
          <a:bodyPr wrap="square" rtlCol="0" anchor="ctr" anchorCtr="1">
            <a:spAutoFit/>
          </a:bodyPr>
          <a:lstStyle/>
          <a:p>
            <a:r>
              <a:rPr lang="en-US" sz="1600" dirty="0"/>
              <a:t>Actions</a:t>
            </a:r>
          </a:p>
        </p:txBody>
      </p:sp>
      <p:sp>
        <p:nvSpPr>
          <p:cNvPr id="28" name="Rectangle: Rounded Corners 27">
            <a:extLst>
              <a:ext uri="{FF2B5EF4-FFF2-40B4-BE49-F238E27FC236}">
                <a16:creationId xmlns:a16="http://schemas.microsoft.com/office/drawing/2014/main" id="{72F5FE59-13AD-3CD4-8440-8FFBEB6DCEEC}"/>
              </a:ext>
            </a:extLst>
          </p:cNvPr>
          <p:cNvSpPr/>
          <p:nvPr/>
        </p:nvSpPr>
        <p:spPr>
          <a:xfrm>
            <a:off x="3880078" y="1724001"/>
            <a:ext cx="2186608" cy="369332"/>
          </a:xfrm>
          <a:prstGeom prst="roundRect">
            <a:avLst/>
          </a:prstGeom>
          <a:solidFill>
            <a:srgbClr val="00B050">
              <a:alpha val="25000"/>
            </a:srgb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600" dirty="0"/>
          </a:p>
        </p:txBody>
      </p:sp>
      <p:sp>
        <p:nvSpPr>
          <p:cNvPr id="29" name="TextBox 28">
            <a:extLst>
              <a:ext uri="{FF2B5EF4-FFF2-40B4-BE49-F238E27FC236}">
                <a16:creationId xmlns:a16="http://schemas.microsoft.com/office/drawing/2014/main" id="{89470128-ACED-49C7-28CF-140E3835AF33}"/>
              </a:ext>
            </a:extLst>
          </p:cNvPr>
          <p:cNvSpPr txBox="1"/>
          <p:nvPr/>
        </p:nvSpPr>
        <p:spPr>
          <a:xfrm>
            <a:off x="3880078" y="1739390"/>
            <a:ext cx="1144988" cy="338554"/>
          </a:xfrm>
          <a:prstGeom prst="rect">
            <a:avLst/>
          </a:prstGeom>
          <a:noFill/>
          <a:ln>
            <a:noFill/>
          </a:ln>
        </p:spPr>
        <p:txBody>
          <a:bodyPr wrap="square" rtlCol="0" anchor="ctr" anchorCtr="1">
            <a:spAutoFit/>
          </a:bodyPr>
          <a:lstStyle/>
          <a:p>
            <a:r>
              <a:rPr lang="en-US" sz="1600" dirty="0"/>
              <a:t>Buy Share</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2F8DF47D-585B-81EE-283F-3DE28915295C}"/>
                  </a:ext>
                </a:extLst>
              </p:cNvPr>
              <p:cNvSpPr txBox="1"/>
              <p:nvPr/>
            </p:nvSpPr>
            <p:spPr>
              <a:xfrm>
                <a:off x="5450460" y="1739390"/>
                <a:ext cx="596348" cy="338554"/>
              </a:xfrm>
              <a:prstGeom prst="rect">
                <a:avLst/>
              </a:prstGeom>
              <a:noFill/>
              <a:ln>
                <a:noFill/>
              </a:ln>
            </p:spPr>
            <p:txBody>
              <a:bodyPr wrap="square" rtlCol="0" anchor="ctr" anchorCtr="1">
                <a:spAutoFit/>
              </a:bodyPr>
              <a:lstStyle/>
              <a:p>
                <a:pPr/>
                <a14:m>
                  <m:oMathPara xmlns:m="http://schemas.openxmlformats.org/officeDocument/2006/math">
                    <m:oMathParaPr>
                      <m:jc m:val="centerGroup"/>
                    </m:oMathParaPr>
                    <m:oMath xmlns:m="http://schemas.openxmlformats.org/officeDocument/2006/math">
                      <m:r>
                        <a:rPr lang="en-US" sz="1600" i="1" dirty="0" smtClean="0">
                          <a:solidFill>
                            <a:srgbClr val="FF0000"/>
                          </a:solidFill>
                          <a:latin typeface="Cambria Math" panose="02040503050406030204" pitchFamily="18" charset="0"/>
                        </a:rPr>
                        <m:t>−$3</m:t>
                      </m:r>
                    </m:oMath>
                  </m:oMathPara>
                </a14:m>
                <a:endParaRPr lang="en-US" sz="1600" dirty="0"/>
              </a:p>
            </p:txBody>
          </p:sp>
        </mc:Choice>
        <mc:Fallback xmlns="">
          <p:sp>
            <p:nvSpPr>
              <p:cNvPr id="30" name="TextBox 29">
                <a:extLst>
                  <a:ext uri="{FF2B5EF4-FFF2-40B4-BE49-F238E27FC236}">
                    <a16:creationId xmlns:a16="http://schemas.microsoft.com/office/drawing/2014/main" id="{2F8DF47D-585B-81EE-283F-3DE28915295C}"/>
                  </a:ext>
                </a:extLst>
              </p:cNvPr>
              <p:cNvSpPr txBox="1">
                <a:spLocks noRot="1" noChangeAspect="1" noMove="1" noResize="1" noEditPoints="1" noAdjustHandles="1" noChangeArrowheads="1" noChangeShapeType="1" noTextEdit="1"/>
              </p:cNvSpPr>
              <p:nvPr/>
            </p:nvSpPr>
            <p:spPr>
              <a:xfrm>
                <a:off x="5450460" y="1739390"/>
                <a:ext cx="596348" cy="338554"/>
              </a:xfrm>
              <a:prstGeom prst="rect">
                <a:avLst/>
              </a:prstGeom>
              <a:blipFill>
                <a:blip r:embed="rId5"/>
                <a:stretch>
                  <a:fillRect b="-1786"/>
                </a:stretch>
              </a:blipFill>
              <a:ln>
                <a:noFill/>
              </a:ln>
            </p:spPr>
            <p:txBody>
              <a:bodyPr/>
              <a:lstStyle/>
              <a:p>
                <a:r>
                  <a:rPr lang="en-US">
                    <a:noFill/>
                  </a:rPr>
                  <a:t> </a:t>
                </a:r>
              </a:p>
            </p:txBody>
          </p:sp>
        </mc:Fallback>
      </mc:AlternateContent>
      <p:sp>
        <p:nvSpPr>
          <p:cNvPr id="31" name="Rectangle: Rounded Corners 30">
            <a:extLst>
              <a:ext uri="{FF2B5EF4-FFF2-40B4-BE49-F238E27FC236}">
                <a16:creationId xmlns:a16="http://schemas.microsoft.com/office/drawing/2014/main" id="{02DE7201-68EC-05BA-5B2A-B348D8DE9FC0}"/>
              </a:ext>
            </a:extLst>
          </p:cNvPr>
          <p:cNvSpPr/>
          <p:nvPr/>
        </p:nvSpPr>
        <p:spPr>
          <a:xfrm>
            <a:off x="3880078" y="2092561"/>
            <a:ext cx="2186608" cy="376601"/>
          </a:xfrm>
          <a:prstGeom prst="roundRect">
            <a:avLst/>
          </a:prstGeom>
          <a:solidFill>
            <a:srgbClr val="FF0000">
              <a:alpha val="25000"/>
            </a:srgb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600" dirty="0"/>
          </a:p>
        </p:txBody>
      </p:sp>
      <p:sp>
        <p:nvSpPr>
          <p:cNvPr id="32" name="TextBox 31">
            <a:extLst>
              <a:ext uri="{FF2B5EF4-FFF2-40B4-BE49-F238E27FC236}">
                <a16:creationId xmlns:a16="http://schemas.microsoft.com/office/drawing/2014/main" id="{B56C821E-6515-D141-E735-A0CAA5E6482F}"/>
              </a:ext>
            </a:extLst>
          </p:cNvPr>
          <p:cNvSpPr txBox="1"/>
          <p:nvPr/>
        </p:nvSpPr>
        <p:spPr>
          <a:xfrm>
            <a:off x="4038828" y="2113986"/>
            <a:ext cx="702503" cy="338554"/>
          </a:xfrm>
          <a:prstGeom prst="rect">
            <a:avLst/>
          </a:prstGeom>
          <a:noFill/>
          <a:ln>
            <a:noFill/>
          </a:ln>
        </p:spPr>
        <p:txBody>
          <a:bodyPr wrap="square" rtlCol="0" anchor="ctr" anchorCtr="1">
            <a:spAutoFit/>
          </a:bodyPr>
          <a:lstStyle/>
          <a:p>
            <a:r>
              <a:rPr lang="en-US" sz="1600" dirty="0"/>
              <a:t>Sell</a:t>
            </a: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A85E7FA1-B05A-F357-D158-E412D8B6025A}"/>
                  </a:ext>
                </a:extLst>
              </p:cNvPr>
              <p:cNvSpPr txBox="1"/>
              <p:nvPr/>
            </p:nvSpPr>
            <p:spPr>
              <a:xfrm>
                <a:off x="5315288" y="2111584"/>
                <a:ext cx="795130" cy="338554"/>
              </a:xfrm>
              <a:prstGeom prst="rect">
                <a:avLst/>
              </a:prstGeom>
              <a:noFill/>
              <a:ln>
                <a:noFill/>
              </a:ln>
            </p:spPr>
            <p:txBody>
              <a:bodyPr wrap="square" rtlCol="0" anchor="ctr" anchorCtr="1">
                <a:spAutoFit/>
              </a:bodyPr>
              <a:lstStyle/>
              <a:p>
                <a:pPr/>
                <a14:m>
                  <m:oMathPara xmlns:m="http://schemas.openxmlformats.org/officeDocument/2006/math">
                    <m:oMathParaPr>
                      <m:jc m:val="centerGroup"/>
                    </m:oMathParaPr>
                    <m:oMath xmlns:m="http://schemas.openxmlformats.org/officeDocument/2006/math">
                      <m:r>
                        <a:rPr lang="en-US" sz="1600" b="1" i="1" dirty="0" smtClean="0">
                          <a:solidFill>
                            <a:srgbClr val="008000"/>
                          </a:solidFill>
                          <a:latin typeface="Cambria Math" panose="02040503050406030204" pitchFamily="18" charset="0"/>
                        </a:rPr>
                        <m:t>+$</m:t>
                      </m:r>
                      <m:r>
                        <a:rPr lang="en-US" sz="1600" b="1" i="1" dirty="0" smtClean="0">
                          <a:solidFill>
                            <a:srgbClr val="008000"/>
                          </a:solidFill>
                          <a:latin typeface="Cambria Math" panose="02040503050406030204" pitchFamily="18" charset="0"/>
                        </a:rPr>
                        <m:t>𝟏𝟎</m:t>
                      </m:r>
                    </m:oMath>
                  </m:oMathPara>
                </a14:m>
                <a:endParaRPr lang="en-US" sz="1600" b="1" dirty="0">
                  <a:solidFill>
                    <a:srgbClr val="008000"/>
                  </a:solidFill>
                </a:endParaRPr>
              </a:p>
            </p:txBody>
          </p:sp>
        </mc:Choice>
        <mc:Fallback xmlns="">
          <p:sp>
            <p:nvSpPr>
              <p:cNvPr id="33" name="TextBox 32">
                <a:extLst>
                  <a:ext uri="{FF2B5EF4-FFF2-40B4-BE49-F238E27FC236}">
                    <a16:creationId xmlns:a16="http://schemas.microsoft.com/office/drawing/2014/main" id="{A85E7FA1-B05A-F357-D158-E412D8B6025A}"/>
                  </a:ext>
                </a:extLst>
              </p:cNvPr>
              <p:cNvSpPr txBox="1">
                <a:spLocks noRot="1" noChangeAspect="1" noMove="1" noResize="1" noEditPoints="1" noAdjustHandles="1" noChangeArrowheads="1" noChangeShapeType="1" noTextEdit="1"/>
              </p:cNvSpPr>
              <p:nvPr/>
            </p:nvSpPr>
            <p:spPr>
              <a:xfrm>
                <a:off x="5315288" y="2111584"/>
                <a:ext cx="795130" cy="338554"/>
              </a:xfrm>
              <a:prstGeom prst="rect">
                <a:avLst/>
              </a:prstGeom>
              <a:blipFill>
                <a:blip r:embed="rId6"/>
                <a:stretch>
                  <a:fillRect b="-1786"/>
                </a:stretch>
              </a:blipFill>
              <a:ln>
                <a:noFill/>
              </a:ln>
            </p:spPr>
            <p:txBody>
              <a:bodyPr/>
              <a:lstStyle/>
              <a:p>
                <a:r>
                  <a:rPr lang="en-US">
                    <a:noFill/>
                  </a:rPr>
                  <a:t> </a:t>
                </a:r>
              </a:p>
            </p:txBody>
          </p:sp>
        </mc:Fallback>
      </mc:AlternateContent>
      <p:sp>
        <p:nvSpPr>
          <p:cNvPr id="34" name="Rectangle: Rounded Corners 33">
            <a:extLst>
              <a:ext uri="{FF2B5EF4-FFF2-40B4-BE49-F238E27FC236}">
                <a16:creationId xmlns:a16="http://schemas.microsoft.com/office/drawing/2014/main" id="{98BCED9C-C889-0154-CFAE-29F745749CBB}"/>
              </a:ext>
            </a:extLst>
          </p:cNvPr>
          <p:cNvSpPr/>
          <p:nvPr/>
        </p:nvSpPr>
        <p:spPr>
          <a:xfrm>
            <a:off x="3880078" y="2475130"/>
            <a:ext cx="2186608" cy="369332"/>
          </a:xfrm>
          <a:prstGeom prst="roundRect">
            <a:avLst/>
          </a:prstGeom>
          <a:solidFill>
            <a:schemeClr val="tx1">
              <a:lumMod val="50000"/>
              <a:lumOff val="50000"/>
              <a:alpha val="25000"/>
            </a:scheme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600" dirty="0"/>
          </a:p>
        </p:txBody>
      </p:sp>
      <p:sp>
        <p:nvSpPr>
          <p:cNvPr id="35" name="TextBox 34">
            <a:extLst>
              <a:ext uri="{FF2B5EF4-FFF2-40B4-BE49-F238E27FC236}">
                <a16:creationId xmlns:a16="http://schemas.microsoft.com/office/drawing/2014/main" id="{9A690B91-354C-B095-0148-4F8810AF5668}"/>
              </a:ext>
            </a:extLst>
          </p:cNvPr>
          <p:cNvSpPr txBox="1"/>
          <p:nvPr/>
        </p:nvSpPr>
        <p:spPr>
          <a:xfrm>
            <a:off x="4072165" y="2499168"/>
            <a:ext cx="635828" cy="338554"/>
          </a:xfrm>
          <a:prstGeom prst="rect">
            <a:avLst/>
          </a:prstGeom>
          <a:noFill/>
          <a:ln>
            <a:noFill/>
          </a:ln>
        </p:spPr>
        <p:txBody>
          <a:bodyPr wrap="square" rtlCol="0" anchor="ctr" anchorCtr="1">
            <a:spAutoFit/>
          </a:bodyPr>
          <a:lstStyle/>
          <a:p>
            <a:r>
              <a:rPr lang="en-US" sz="1600" dirty="0"/>
              <a:t>Hold</a:t>
            </a: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56FFCD69-D39F-7654-FCFC-50E266EC4DD0}"/>
                  </a:ext>
                </a:extLst>
              </p:cNvPr>
              <p:cNvSpPr txBox="1"/>
              <p:nvPr/>
            </p:nvSpPr>
            <p:spPr>
              <a:xfrm>
                <a:off x="5552225" y="2499168"/>
                <a:ext cx="392817" cy="338554"/>
              </a:xfrm>
              <a:prstGeom prst="rect">
                <a:avLst/>
              </a:prstGeom>
              <a:noFill/>
              <a:ln>
                <a:noFill/>
              </a:ln>
            </p:spPr>
            <p:txBody>
              <a:bodyPr wrap="square" rtlCol="0" anchor="ctr" anchorCtr="1">
                <a:spAutoFit/>
              </a:bodyPr>
              <a:lstStyle/>
              <a:p>
                <a:pPr/>
                <a14:m>
                  <m:oMathPara xmlns:m="http://schemas.openxmlformats.org/officeDocument/2006/math">
                    <m:oMathParaPr>
                      <m:jc m:val="centerGroup"/>
                    </m:oMathParaPr>
                    <m:oMath xmlns:m="http://schemas.openxmlformats.org/officeDocument/2006/math">
                      <m:r>
                        <a:rPr lang="en-US" sz="1600" i="1" dirty="0" smtClean="0">
                          <a:solidFill>
                            <a:schemeClr val="tx1"/>
                          </a:solidFill>
                          <a:latin typeface="Cambria Math" panose="02040503050406030204" pitchFamily="18" charset="0"/>
                        </a:rPr>
                        <m:t>$</m:t>
                      </m:r>
                      <m:r>
                        <a:rPr lang="en-US" sz="1600" b="0" i="1" dirty="0" smtClean="0">
                          <a:solidFill>
                            <a:schemeClr val="tx1"/>
                          </a:solidFill>
                          <a:latin typeface="Cambria Math" panose="02040503050406030204" pitchFamily="18" charset="0"/>
                        </a:rPr>
                        <m:t>0</m:t>
                      </m:r>
                    </m:oMath>
                  </m:oMathPara>
                </a14:m>
                <a:endParaRPr lang="en-US" sz="1600" dirty="0"/>
              </a:p>
            </p:txBody>
          </p:sp>
        </mc:Choice>
        <mc:Fallback xmlns="">
          <p:sp>
            <p:nvSpPr>
              <p:cNvPr id="36" name="TextBox 35">
                <a:extLst>
                  <a:ext uri="{FF2B5EF4-FFF2-40B4-BE49-F238E27FC236}">
                    <a16:creationId xmlns:a16="http://schemas.microsoft.com/office/drawing/2014/main" id="{56FFCD69-D39F-7654-FCFC-50E266EC4DD0}"/>
                  </a:ext>
                </a:extLst>
              </p:cNvPr>
              <p:cNvSpPr txBox="1">
                <a:spLocks noRot="1" noChangeAspect="1" noMove="1" noResize="1" noEditPoints="1" noAdjustHandles="1" noChangeArrowheads="1" noChangeShapeType="1" noTextEdit="1"/>
              </p:cNvSpPr>
              <p:nvPr/>
            </p:nvSpPr>
            <p:spPr>
              <a:xfrm>
                <a:off x="5552225" y="2499168"/>
                <a:ext cx="392817" cy="338554"/>
              </a:xfrm>
              <a:prstGeom prst="rect">
                <a:avLst/>
              </a:prstGeom>
              <a:blipFill>
                <a:blip r:embed="rId7"/>
                <a:stretch>
                  <a:fillRect l="-6250"/>
                </a:stretch>
              </a:blipFill>
              <a:ln>
                <a:noFill/>
              </a:ln>
            </p:spPr>
            <p:txBody>
              <a:bodyPr/>
              <a:lstStyle/>
              <a:p>
                <a:r>
                  <a:rPr lang="en-US">
                    <a:noFill/>
                  </a:rPr>
                  <a:t> </a:t>
                </a:r>
              </a:p>
            </p:txBody>
          </p:sp>
        </mc:Fallback>
      </mc:AlternateContent>
      <p:sp>
        <p:nvSpPr>
          <p:cNvPr id="37" name="Rectangle 36">
            <a:extLst>
              <a:ext uri="{FF2B5EF4-FFF2-40B4-BE49-F238E27FC236}">
                <a16:creationId xmlns:a16="http://schemas.microsoft.com/office/drawing/2014/main" id="{5496E35F-BE83-CEEE-D648-7AFD46582340}"/>
              </a:ext>
            </a:extLst>
          </p:cNvPr>
          <p:cNvSpPr/>
          <p:nvPr/>
        </p:nvSpPr>
        <p:spPr>
          <a:xfrm>
            <a:off x="6674758" y="1187033"/>
            <a:ext cx="2902227" cy="1733968"/>
          </a:xfrm>
          <a:prstGeom prst="rect">
            <a:avLst/>
          </a:prstGeom>
          <a:noFill/>
          <a:ln w="12700">
            <a:solidFill>
              <a:schemeClr val="tx1"/>
            </a:solidFill>
          </a:ln>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600" dirty="0"/>
          </a:p>
        </p:txBody>
      </p:sp>
      <p:sp>
        <p:nvSpPr>
          <p:cNvPr id="38" name="TextBox 37">
            <a:extLst>
              <a:ext uri="{FF2B5EF4-FFF2-40B4-BE49-F238E27FC236}">
                <a16:creationId xmlns:a16="http://schemas.microsoft.com/office/drawing/2014/main" id="{5C388890-F427-2D58-6D20-CE789E64E10A}"/>
              </a:ext>
            </a:extLst>
          </p:cNvPr>
          <p:cNvSpPr txBox="1"/>
          <p:nvPr/>
        </p:nvSpPr>
        <p:spPr>
          <a:xfrm>
            <a:off x="6742344" y="1197097"/>
            <a:ext cx="1053548" cy="338554"/>
          </a:xfrm>
          <a:prstGeom prst="rect">
            <a:avLst/>
          </a:prstGeom>
          <a:noFill/>
          <a:ln>
            <a:noFill/>
          </a:ln>
        </p:spPr>
        <p:txBody>
          <a:bodyPr wrap="square" rtlCol="0" anchor="ctr" anchorCtr="1">
            <a:spAutoFit/>
          </a:bodyPr>
          <a:lstStyle/>
          <a:p>
            <a:r>
              <a:rPr lang="en-US" sz="1600" dirty="0"/>
              <a:t>(2, Bullish)</a:t>
            </a:r>
          </a:p>
        </p:txBody>
      </p:sp>
      <p:sp>
        <p:nvSpPr>
          <p:cNvPr id="39" name="TextBox 38">
            <a:extLst>
              <a:ext uri="{FF2B5EF4-FFF2-40B4-BE49-F238E27FC236}">
                <a16:creationId xmlns:a16="http://schemas.microsoft.com/office/drawing/2014/main" id="{EAEFF99D-7064-348C-7400-A973D66A4BFD}"/>
              </a:ext>
            </a:extLst>
          </p:cNvPr>
          <p:cNvSpPr txBox="1"/>
          <p:nvPr/>
        </p:nvSpPr>
        <p:spPr>
          <a:xfrm>
            <a:off x="8825925" y="1216170"/>
            <a:ext cx="749410" cy="338554"/>
          </a:xfrm>
          <a:prstGeom prst="rect">
            <a:avLst/>
          </a:prstGeom>
          <a:noFill/>
          <a:ln>
            <a:noFill/>
          </a:ln>
        </p:spPr>
        <p:txBody>
          <a:bodyPr wrap="square" rtlCol="0" anchor="ctr" anchorCtr="1">
            <a:spAutoFit/>
          </a:bodyPr>
          <a:lstStyle/>
          <a:p>
            <a:r>
              <a:rPr lang="en-US" sz="1600" dirty="0">
                <a:highlight>
                  <a:srgbClr val="00FF00"/>
                </a:highlight>
              </a:rPr>
              <a:t>Bullish</a:t>
            </a:r>
          </a:p>
        </p:txBody>
      </p:sp>
      <p:sp>
        <p:nvSpPr>
          <p:cNvPr id="40" name="TextBox 39">
            <a:extLst>
              <a:ext uri="{FF2B5EF4-FFF2-40B4-BE49-F238E27FC236}">
                <a16:creationId xmlns:a16="http://schemas.microsoft.com/office/drawing/2014/main" id="{8C1DA664-4812-2DF5-F0F0-9B24E0900C6D}"/>
              </a:ext>
            </a:extLst>
          </p:cNvPr>
          <p:cNvSpPr txBox="1"/>
          <p:nvPr/>
        </p:nvSpPr>
        <p:spPr>
          <a:xfrm>
            <a:off x="7725746" y="1385447"/>
            <a:ext cx="802916" cy="338554"/>
          </a:xfrm>
          <a:prstGeom prst="rect">
            <a:avLst/>
          </a:prstGeom>
          <a:noFill/>
          <a:ln>
            <a:noFill/>
          </a:ln>
        </p:spPr>
        <p:txBody>
          <a:bodyPr wrap="square" rtlCol="0" anchor="ctr" anchorCtr="1">
            <a:spAutoFit/>
          </a:bodyPr>
          <a:lstStyle/>
          <a:p>
            <a:r>
              <a:rPr lang="en-US" sz="1600" dirty="0"/>
              <a:t>Actions</a:t>
            </a:r>
          </a:p>
        </p:txBody>
      </p:sp>
      <p:sp>
        <p:nvSpPr>
          <p:cNvPr id="41" name="Rectangle: Rounded Corners 40">
            <a:extLst>
              <a:ext uri="{FF2B5EF4-FFF2-40B4-BE49-F238E27FC236}">
                <a16:creationId xmlns:a16="http://schemas.microsoft.com/office/drawing/2014/main" id="{FEDF34DA-F130-4428-3C8F-D848A773751F}"/>
              </a:ext>
            </a:extLst>
          </p:cNvPr>
          <p:cNvSpPr/>
          <p:nvPr/>
        </p:nvSpPr>
        <p:spPr>
          <a:xfrm>
            <a:off x="7033900" y="1724001"/>
            <a:ext cx="2186608" cy="369332"/>
          </a:xfrm>
          <a:prstGeom prst="roundRect">
            <a:avLst/>
          </a:prstGeom>
          <a:solidFill>
            <a:srgbClr val="00B050">
              <a:alpha val="25000"/>
            </a:srgb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600" dirty="0"/>
          </a:p>
        </p:txBody>
      </p:sp>
      <p:sp>
        <p:nvSpPr>
          <p:cNvPr id="42" name="TextBox 41">
            <a:extLst>
              <a:ext uri="{FF2B5EF4-FFF2-40B4-BE49-F238E27FC236}">
                <a16:creationId xmlns:a16="http://schemas.microsoft.com/office/drawing/2014/main" id="{F41A2D37-0F16-0F24-F304-B32FC64D835A}"/>
              </a:ext>
            </a:extLst>
          </p:cNvPr>
          <p:cNvSpPr txBox="1"/>
          <p:nvPr/>
        </p:nvSpPr>
        <p:spPr>
          <a:xfrm>
            <a:off x="7033900" y="1739390"/>
            <a:ext cx="1144988" cy="338554"/>
          </a:xfrm>
          <a:prstGeom prst="rect">
            <a:avLst/>
          </a:prstGeom>
          <a:noFill/>
          <a:ln>
            <a:noFill/>
          </a:ln>
        </p:spPr>
        <p:txBody>
          <a:bodyPr wrap="square" rtlCol="0" anchor="ctr" anchorCtr="1">
            <a:spAutoFit/>
          </a:bodyPr>
          <a:lstStyle/>
          <a:p>
            <a:r>
              <a:rPr lang="en-US" sz="1600" dirty="0">
                <a:solidFill>
                  <a:schemeClr val="tx1">
                    <a:lumMod val="50000"/>
                    <a:lumOff val="50000"/>
                  </a:schemeClr>
                </a:solidFill>
              </a:rPr>
              <a:t>Buy Share</a:t>
            </a:r>
          </a:p>
        </p:txBody>
      </p:sp>
      <p:sp>
        <p:nvSpPr>
          <p:cNvPr id="43" name="TextBox 42">
            <a:extLst>
              <a:ext uri="{FF2B5EF4-FFF2-40B4-BE49-F238E27FC236}">
                <a16:creationId xmlns:a16="http://schemas.microsoft.com/office/drawing/2014/main" id="{561E9C65-F4A2-AFE8-1EF4-F9E7E4477ACB}"/>
              </a:ext>
            </a:extLst>
          </p:cNvPr>
          <p:cNvSpPr txBox="1"/>
          <p:nvPr/>
        </p:nvSpPr>
        <p:spPr>
          <a:xfrm>
            <a:off x="8604282" y="1739390"/>
            <a:ext cx="596348" cy="338554"/>
          </a:xfrm>
          <a:prstGeom prst="rect">
            <a:avLst/>
          </a:prstGeom>
          <a:noFill/>
          <a:ln>
            <a:noFill/>
          </a:ln>
        </p:spPr>
        <p:txBody>
          <a:bodyPr wrap="square" rtlCol="0" anchor="ctr" anchorCtr="1">
            <a:spAutoFit/>
          </a:bodyPr>
          <a:lstStyle/>
          <a:p>
            <a:r>
              <a:rPr lang="en-US" sz="1600" dirty="0">
                <a:solidFill>
                  <a:schemeClr val="tx1">
                    <a:lumMod val="50000"/>
                    <a:lumOff val="50000"/>
                  </a:schemeClr>
                </a:solidFill>
              </a:rPr>
              <a:t>Max</a:t>
            </a:r>
          </a:p>
        </p:txBody>
      </p:sp>
      <p:sp>
        <p:nvSpPr>
          <p:cNvPr id="44" name="Rectangle: Rounded Corners 43">
            <a:extLst>
              <a:ext uri="{FF2B5EF4-FFF2-40B4-BE49-F238E27FC236}">
                <a16:creationId xmlns:a16="http://schemas.microsoft.com/office/drawing/2014/main" id="{9672D08F-F4A2-7994-5CD3-C0D80CA83498}"/>
              </a:ext>
            </a:extLst>
          </p:cNvPr>
          <p:cNvSpPr/>
          <p:nvPr/>
        </p:nvSpPr>
        <p:spPr>
          <a:xfrm>
            <a:off x="7033900" y="2092561"/>
            <a:ext cx="2186608" cy="376601"/>
          </a:xfrm>
          <a:prstGeom prst="roundRect">
            <a:avLst/>
          </a:prstGeom>
          <a:solidFill>
            <a:srgbClr val="FF0000">
              <a:alpha val="25000"/>
            </a:srgb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600" dirty="0"/>
          </a:p>
        </p:txBody>
      </p:sp>
      <p:sp>
        <p:nvSpPr>
          <p:cNvPr id="47" name="Rectangle: Rounded Corners 46">
            <a:extLst>
              <a:ext uri="{FF2B5EF4-FFF2-40B4-BE49-F238E27FC236}">
                <a16:creationId xmlns:a16="http://schemas.microsoft.com/office/drawing/2014/main" id="{921AE02A-B7C8-96B0-6528-C84B3A11DE8D}"/>
              </a:ext>
            </a:extLst>
          </p:cNvPr>
          <p:cNvSpPr/>
          <p:nvPr/>
        </p:nvSpPr>
        <p:spPr>
          <a:xfrm>
            <a:off x="7033900" y="2475130"/>
            <a:ext cx="2186608" cy="369332"/>
          </a:xfrm>
          <a:prstGeom prst="roundRect">
            <a:avLst/>
          </a:prstGeom>
          <a:solidFill>
            <a:schemeClr val="tx1">
              <a:lumMod val="50000"/>
              <a:lumOff val="50000"/>
              <a:alpha val="25000"/>
            </a:scheme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600" dirty="0"/>
          </a:p>
        </p:txBody>
      </p:sp>
      <p:sp>
        <p:nvSpPr>
          <p:cNvPr id="48" name="TextBox 47">
            <a:extLst>
              <a:ext uri="{FF2B5EF4-FFF2-40B4-BE49-F238E27FC236}">
                <a16:creationId xmlns:a16="http://schemas.microsoft.com/office/drawing/2014/main" id="{A2376D61-F338-535B-91B5-BEA21D4005EF}"/>
              </a:ext>
            </a:extLst>
          </p:cNvPr>
          <p:cNvSpPr txBox="1"/>
          <p:nvPr/>
        </p:nvSpPr>
        <p:spPr>
          <a:xfrm>
            <a:off x="7225987" y="2499168"/>
            <a:ext cx="635828" cy="338554"/>
          </a:xfrm>
          <a:prstGeom prst="rect">
            <a:avLst/>
          </a:prstGeom>
          <a:noFill/>
          <a:ln>
            <a:noFill/>
          </a:ln>
        </p:spPr>
        <p:txBody>
          <a:bodyPr wrap="square" rtlCol="0" anchor="ctr" anchorCtr="1">
            <a:spAutoFit/>
          </a:bodyPr>
          <a:lstStyle/>
          <a:p>
            <a:r>
              <a:rPr lang="en-US" sz="1600" dirty="0"/>
              <a:t>Hold</a:t>
            </a:r>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44755D33-1454-B309-5C6F-5FE182B83251}"/>
                  </a:ext>
                </a:extLst>
              </p:cNvPr>
              <p:cNvSpPr txBox="1"/>
              <p:nvPr/>
            </p:nvSpPr>
            <p:spPr>
              <a:xfrm>
                <a:off x="8706047" y="2499168"/>
                <a:ext cx="392817" cy="338554"/>
              </a:xfrm>
              <a:prstGeom prst="rect">
                <a:avLst/>
              </a:prstGeom>
              <a:noFill/>
              <a:ln>
                <a:noFill/>
              </a:ln>
            </p:spPr>
            <p:txBody>
              <a:bodyPr wrap="square" rtlCol="0" anchor="ctr" anchorCtr="1">
                <a:spAutoFit/>
              </a:bodyPr>
              <a:lstStyle/>
              <a:p>
                <a:pPr/>
                <a14:m>
                  <m:oMathPara xmlns:m="http://schemas.openxmlformats.org/officeDocument/2006/math">
                    <m:oMathParaPr>
                      <m:jc m:val="centerGroup"/>
                    </m:oMathParaPr>
                    <m:oMath xmlns:m="http://schemas.openxmlformats.org/officeDocument/2006/math">
                      <m:r>
                        <a:rPr lang="en-US" sz="1600" i="1" dirty="0" smtClean="0">
                          <a:solidFill>
                            <a:schemeClr val="tx1"/>
                          </a:solidFill>
                          <a:latin typeface="Cambria Math" panose="02040503050406030204" pitchFamily="18" charset="0"/>
                        </a:rPr>
                        <m:t>$</m:t>
                      </m:r>
                      <m:r>
                        <a:rPr lang="en-US" sz="1600" b="0" i="1" dirty="0" smtClean="0">
                          <a:solidFill>
                            <a:schemeClr val="tx1"/>
                          </a:solidFill>
                          <a:latin typeface="Cambria Math" panose="02040503050406030204" pitchFamily="18" charset="0"/>
                        </a:rPr>
                        <m:t>0</m:t>
                      </m:r>
                    </m:oMath>
                  </m:oMathPara>
                </a14:m>
                <a:endParaRPr lang="en-US" sz="1600" dirty="0"/>
              </a:p>
            </p:txBody>
          </p:sp>
        </mc:Choice>
        <mc:Fallback xmlns="">
          <p:sp>
            <p:nvSpPr>
              <p:cNvPr id="49" name="TextBox 48">
                <a:extLst>
                  <a:ext uri="{FF2B5EF4-FFF2-40B4-BE49-F238E27FC236}">
                    <a16:creationId xmlns:a16="http://schemas.microsoft.com/office/drawing/2014/main" id="{44755D33-1454-B309-5C6F-5FE182B83251}"/>
                  </a:ext>
                </a:extLst>
              </p:cNvPr>
              <p:cNvSpPr txBox="1">
                <a:spLocks noRot="1" noChangeAspect="1" noMove="1" noResize="1" noEditPoints="1" noAdjustHandles="1" noChangeArrowheads="1" noChangeShapeType="1" noTextEdit="1"/>
              </p:cNvSpPr>
              <p:nvPr/>
            </p:nvSpPr>
            <p:spPr>
              <a:xfrm>
                <a:off x="8706047" y="2499168"/>
                <a:ext cx="392817" cy="338554"/>
              </a:xfrm>
              <a:prstGeom prst="rect">
                <a:avLst/>
              </a:prstGeom>
              <a:blipFill>
                <a:blip r:embed="rId8"/>
                <a:stretch>
                  <a:fillRect l="-6154"/>
                </a:stretch>
              </a:blipFill>
              <a:ln>
                <a:noFill/>
              </a:ln>
            </p:spPr>
            <p:txBody>
              <a:bodyPr/>
              <a:lstStyle/>
              <a:p>
                <a:r>
                  <a:rPr lang="en-US">
                    <a:noFill/>
                  </a:rPr>
                  <a:t> </a:t>
                </a:r>
              </a:p>
            </p:txBody>
          </p:sp>
        </mc:Fallback>
      </mc:AlternateContent>
      <p:sp>
        <p:nvSpPr>
          <p:cNvPr id="50" name="TextBox 49">
            <a:extLst>
              <a:ext uri="{FF2B5EF4-FFF2-40B4-BE49-F238E27FC236}">
                <a16:creationId xmlns:a16="http://schemas.microsoft.com/office/drawing/2014/main" id="{9C8D2407-96E8-F13C-F432-1C37D16348D8}"/>
              </a:ext>
            </a:extLst>
          </p:cNvPr>
          <p:cNvSpPr txBox="1"/>
          <p:nvPr/>
        </p:nvSpPr>
        <p:spPr>
          <a:xfrm>
            <a:off x="7159312" y="2113986"/>
            <a:ext cx="702503" cy="338554"/>
          </a:xfrm>
          <a:prstGeom prst="rect">
            <a:avLst/>
          </a:prstGeom>
          <a:noFill/>
          <a:ln>
            <a:noFill/>
          </a:ln>
        </p:spPr>
        <p:txBody>
          <a:bodyPr wrap="square" rtlCol="0" anchor="ctr" anchorCtr="1">
            <a:spAutoFit/>
          </a:bodyPr>
          <a:lstStyle/>
          <a:p>
            <a:r>
              <a:rPr lang="en-US" sz="1600" dirty="0"/>
              <a:t>Sell</a:t>
            </a:r>
          </a:p>
        </p:txBody>
      </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812B3941-9283-14E2-20BE-AA26F3D22C3F}"/>
                  </a:ext>
                </a:extLst>
              </p:cNvPr>
              <p:cNvSpPr txBox="1"/>
              <p:nvPr/>
            </p:nvSpPr>
            <p:spPr>
              <a:xfrm>
                <a:off x="8435772" y="2111584"/>
                <a:ext cx="795130" cy="338554"/>
              </a:xfrm>
              <a:prstGeom prst="rect">
                <a:avLst/>
              </a:prstGeom>
              <a:noFill/>
              <a:ln>
                <a:noFill/>
              </a:ln>
            </p:spPr>
            <p:txBody>
              <a:bodyPr wrap="square" rtlCol="0" anchor="ctr" anchorCtr="1">
                <a:spAutoFit/>
              </a:bodyPr>
              <a:lstStyle/>
              <a:p>
                <a:pPr/>
                <a14:m>
                  <m:oMathPara xmlns:m="http://schemas.openxmlformats.org/officeDocument/2006/math">
                    <m:oMathParaPr>
                      <m:jc m:val="centerGroup"/>
                    </m:oMathParaPr>
                    <m:oMath xmlns:m="http://schemas.openxmlformats.org/officeDocument/2006/math">
                      <m:r>
                        <a:rPr lang="en-US" sz="1600" b="1" i="1" dirty="0" smtClean="0">
                          <a:solidFill>
                            <a:srgbClr val="008000"/>
                          </a:solidFill>
                          <a:latin typeface="Cambria Math" panose="02040503050406030204" pitchFamily="18" charset="0"/>
                        </a:rPr>
                        <m:t>+$</m:t>
                      </m:r>
                      <m:r>
                        <a:rPr lang="en-US" sz="1600" b="1" i="1" dirty="0" smtClean="0">
                          <a:solidFill>
                            <a:srgbClr val="008000"/>
                          </a:solidFill>
                          <a:latin typeface="Cambria Math" panose="02040503050406030204" pitchFamily="18" charset="0"/>
                        </a:rPr>
                        <m:t>𝟏𝟎</m:t>
                      </m:r>
                    </m:oMath>
                  </m:oMathPara>
                </a14:m>
                <a:endParaRPr lang="en-US" sz="1600" b="1" dirty="0">
                  <a:solidFill>
                    <a:srgbClr val="008000"/>
                  </a:solidFill>
                </a:endParaRPr>
              </a:p>
            </p:txBody>
          </p:sp>
        </mc:Choice>
        <mc:Fallback xmlns="">
          <p:sp>
            <p:nvSpPr>
              <p:cNvPr id="51" name="TextBox 50">
                <a:extLst>
                  <a:ext uri="{FF2B5EF4-FFF2-40B4-BE49-F238E27FC236}">
                    <a16:creationId xmlns:a16="http://schemas.microsoft.com/office/drawing/2014/main" id="{812B3941-9283-14E2-20BE-AA26F3D22C3F}"/>
                  </a:ext>
                </a:extLst>
              </p:cNvPr>
              <p:cNvSpPr txBox="1">
                <a:spLocks noRot="1" noChangeAspect="1" noMove="1" noResize="1" noEditPoints="1" noAdjustHandles="1" noChangeArrowheads="1" noChangeShapeType="1" noTextEdit="1"/>
              </p:cNvSpPr>
              <p:nvPr/>
            </p:nvSpPr>
            <p:spPr>
              <a:xfrm>
                <a:off x="8435772" y="2111584"/>
                <a:ext cx="795130" cy="338554"/>
              </a:xfrm>
              <a:prstGeom prst="rect">
                <a:avLst/>
              </a:prstGeom>
              <a:blipFill>
                <a:blip r:embed="rId9"/>
                <a:stretch>
                  <a:fillRect b="-1786"/>
                </a:stretch>
              </a:blipFill>
              <a:ln>
                <a:noFill/>
              </a:ln>
            </p:spPr>
            <p:txBody>
              <a:bodyPr/>
              <a:lstStyle/>
              <a:p>
                <a:r>
                  <a:rPr lang="en-US">
                    <a:noFill/>
                  </a:rPr>
                  <a:t> </a:t>
                </a:r>
              </a:p>
            </p:txBody>
          </p:sp>
        </mc:Fallback>
      </mc:AlternateContent>
      <p:sp>
        <p:nvSpPr>
          <p:cNvPr id="91" name="Rectangle 90">
            <a:extLst>
              <a:ext uri="{FF2B5EF4-FFF2-40B4-BE49-F238E27FC236}">
                <a16:creationId xmlns:a16="http://schemas.microsoft.com/office/drawing/2014/main" id="{940AC404-BA33-019D-BDBF-1D84B0AD5269}"/>
              </a:ext>
            </a:extLst>
          </p:cNvPr>
          <p:cNvSpPr/>
          <p:nvPr/>
        </p:nvSpPr>
        <p:spPr>
          <a:xfrm>
            <a:off x="367114" y="3045095"/>
            <a:ext cx="2902227" cy="1733968"/>
          </a:xfrm>
          <a:prstGeom prst="rect">
            <a:avLst/>
          </a:prstGeom>
          <a:noFill/>
          <a:ln w="12700">
            <a:solidFill>
              <a:schemeClr val="tx1"/>
            </a:solidFill>
          </a:ln>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600" dirty="0"/>
          </a:p>
        </p:txBody>
      </p:sp>
      <p:sp>
        <p:nvSpPr>
          <p:cNvPr id="92" name="TextBox 91">
            <a:extLst>
              <a:ext uri="{FF2B5EF4-FFF2-40B4-BE49-F238E27FC236}">
                <a16:creationId xmlns:a16="http://schemas.microsoft.com/office/drawing/2014/main" id="{73D8D658-2CC6-9C94-4C3D-B58B8A75A36E}"/>
              </a:ext>
            </a:extLst>
          </p:cNvPr>
          <p:cNvSpPr txBox="1"/>
          <p:nvPr/>
        </p:nvSpPr>
        <p:spPr>
          <a:xfrm>
            <a:off x="434699" y="3055159"/>
            <a:ext cx="1152809" cy="338554"/>
          </a:xfrm>
          <a:prstGeom prst="rect">
            <a:avLst/>
          </a:prstGeom>
          <a:noFill/>
          <a:ln>
            <a:noFill/>
          </a:ln>
        </p:spPr>
        <p:txBody>
          <a:bodyPr wrap="square" rtlCol="0" anchor="ctr" anchorCtr="1">
            <a:spAutoFit/>
          </a:bodyPr>
          <a:lstStyle/>
          <a:p>
            <a:r>
              <a:rPr lang="en-US" sz="1600" dirty="0"/>
              <a:t>(0, Neutral)</a:t>
            </a:r>
          </a:p>
        </p:txBody>
      </p:sp>
      <p:sp>
        <p:nvSpPr>
          <p:cNvPr id="93" name="TextBox 92">
            <a:extLst>
              <a:ext uri="{FF2B5EF4-FFF2-40B4-BE49-F238E27FC236}">
                <a16:creationId xmlns:a16="http://schemas.microsoft.com/office/drawing/2014/main" id="{9EE920EE-CE9E-F84E-6E80-0EC796A90597}"/>
              </a:ext>
            </a:extLst>
          </p:cNvPr>
          <p:cNvSpPr txBox="1"/>
          <p:nvPr/>
        </p:nvSpPr>
        <p:spPr>
          <a:xfrm>
            <a:off x="2431352" y="3055159"/>
            <a:ext cx="802916" cy="338554"/>
          </a:xfrm>
          <a:prstGeom prst="rect">
            <a:avLst/>
          </a:prstGeom>
          <a:noFill/>
          <a:ln>
            <a:noFill/>
          </a:ln>
        </p:spPr>
        <p:txBody>
          <a:bodyPr wrap="square" rtlCol="0" anchor="ctr" anchorCtr="1">
            <a:spAutoFit/>
          </a:bodyPr>
          <a:lstStyle/>
          <a:p>
            <a:r>
              <a:rPr lang="en-US" sz="1600" dirty="0">
                <a:highlight>
                  <a:srgbClr val="FFFF00"/>
                </a:highlight>
              </a:rPr>
              <a:t>Neutral</a:t>
            </a:r>
          </a:p>
        </p:txBody>
      </p:sp>
      <p:sp>
        <p:nvSpPr>
          <p:cNvPr id="94" name="TextBox 93">
            <a:extLst>
              <a:ext uri="{FF2B5EF4-FFF2-40B4-BE49-F238E27FC236}">
                <a16:creationId xmlns:a16="http://schemas.microsoft.com/office/drawing/2014/main" id="{44F2A13B-01DB-69C8-3B30-F505E7025BC1}"/>
              </a:ext>
            </a:extLst>
          </p:cNvPr>
          <p:cNvSpPr txBox="1"/>
          <p:nvPr/>
        </p:nvSpPr>
        <p:spPr>
          <a:xfrm>
            <a:off x="1418102" y="3243509"/>
            <a:ext cx="802916" cy="338554"/>
          </a:xfrm>
          <a:prstGeom prst="rect">
            <a:avLst/>
          </a:prstGeom>
          <a:noFill/>
          <a:ln>
            <a:noFill/>
          </a:ln>
        </p:spPr>
        <p:txBody>
          <a:bodyPr wrap="square" rtlCol="0" anchor="ctr" anchorCtr="1">
            <a:spAutoFit/>
          </a:bodyPr>
          <a:lstStyle/>
          <a:p>
            <a:r>
              <a:rPr lang="en-US" sz="1600" dirty="0"/>
              <a:t>Actions</a:t>
            </a:r>
          </a:p>
        </p:txBody>
      </p:sp>
      <p:sp>
        <p:nvSpPr>
          <p:cNvPr id="95" name="Rectangle: Rounded Corners 94">
            <a:extLst>
              <a:ext uri="{FF2B5EF4-FFF2-40B4-BE49-F238E27FC236}">
                <a16:creationId xmlns:a16="http://schemas.microsoft.com/office/drawing/2014/main" id="{AC23983A-BFC6-22B1-FA08-02BF435D2401}"/>
              </a:ext>
            </a:extLst>
          </p:cNvPr>
          <p:cNvSpPr/>
          <p:nvPr/>
        </p:nvSpPr>
        <p:spPr>
          <a:xfrm>
            <a:off x="726256" y="3582063"/>
            <a:ext cx="2186608" cy="369332"/>
          </a:xfrm>
          <a:prstGeom prst="roundRect">
            <a:avLst/>
          </a:prstGeom>
          <a:solidFill>
            <a:srgbClr val="00B050">
              <a:alpha val="25000"/>
            </a:srgb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600" dirty="0"/>
          </a:p>
        </p:txBody>
      </p:sp>
      <p:sp>
        <p:nvSpPr>
          <p:cNvPr id="96" name="TextBox 95">
            <a:extLst>
              <a:ext uri="{FF2B5EF4-FFF2-40B4-BE49-F238E27FC236}">
                <a16:creationId xmlns:a16="http://schemas.microsoft.com/office/drawing/2014/main" id="{643A10D3-D667-9C88-D633-1680DDD244A1}"/>
              </a:ext>
            </a:extLst>
          </p:cNvPr>
          <p:cNvSpPr txBox="1"/>
          <p:nvPr/>
        </p:nvSpPr>
        <p:spPr>
          <a:xfrm>
            <a:off x="726256" y="3597452"/>
            <a:ext cx="1144988" cy="338554"/>
          </a:xfrm>
          <a:prstGeom prst="rect">
            <a:avLst/>
          </a:prstGeom>
          <a:noFill/>
          <a:ln>
            <a:noFill/>
          </a:ln>
        </p:spPr>
        <p:txBody>
          <a:bodyPr wrap="square" rtlCol="0" anchor="ctr" anchorCtr="1">
            <a:spAutoFit/>
          </a:bodyPr>
          <a:lstStyle/>
          <a:p>
            <a:r>
              <a:rPr lang="en-US" sz="1600" dirty="0"/>
              <a:t>Buy Share</a:t>
            </a:r>
          </a:p>
        </p:txBody>
      </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B7F4BA4B-C6A4-7C70-743D-50D23F5169F3}"/>
                  </a:ext>
                </a:extLst>
              </p:cNvPr>
              <p:cNvSpPr txBox="1"/>
              <p:nvPr/>
            </p:nvSpPr>
            <p:spPr>
              <a:xfrm>
                <a:off x="2296638" y="3597452"/>
                <a:ext cx="596348" cy="338554"/>
              </a:xfrm>
              <a:prstGeom prst="rect">
                <a:avLst/>
              </a:prstGeom>
              <a:noFill/>
              <a:ln>
                <a:noFill/>
              </a:ln>
            </p:spPr>
            <p:txBody>
              <a:bodyPr wrap="square" rtlCol="0" anchor="ctr" anchorCtr="1">
                <a:spAutoFit/>
              </a:bodyPr>
              <a:lstStyle/>
              <a:p>
                <a:pPr/>
                <a14:m>
                  <m:oMathPara xmlns:m="http://schemas.openxmlformats.org/officeDocument/2006/math">
                    <m:oMathParaPr>
                      <m:jc m:val="centerGroup"/>
                    </m:oMathParaPr>
                    <m:oMath xmlns:m="http://schemas.openxmlformats.org/officeDocument/2006/math">
                      <m:r>
                        <a:rPr lang="en-US" sz="1600" i="1" dirty="0" smtClean="0">
                          <a:solidFill>
                            <a:srgbClr val="FF0000"/>
                          </a:solidFill>
                          <a:latin typeface="Cambria Math" panose="02040503050406030204" pitchFamily="18" charset="0"/>
                        </a:rPr>
                        <m:t>−$3</m:t>
                      </m:r>
                    </m:oMath>
                  </m:oMathPara>
                </a14:m>
                <a:endParaRPr lang="en-US" sz="1600" dirty="0"/>
              </a:p>
            </p:txBody>
          </p:sp>
        </mc:Choice>
        <mc:Fallback xmlns="">
          <p:sp>
            <p:nvSpPr>
              <p:cNvPr id="97" name="TextBox 96">
                <a:extLst>
                  <a:ext uri="{FF2B5EF4-FFF2-40B4-BE49-F238E27FC236}">
                    <a16:creationId xmlns:a16="http://schemas.microsoft.com/office/drawing/2014/main" id="{B7F4BA4B-C6A4-7C70-743D-50D23F5169F3}"/>
                  </a:ext>
                </a:extLst>
              </p:cNvPr>
              <p:cNvSpPr txBox="1">
                <a:spLocks noRot="1" noChangeAspect="1" noMove="1" noResize="1" noEditPoints="1" noAdjustHandles="1" noChangeArrowheads="1" noChangeShapeType="1" noTextEdit="1"/>
              </p:cNvSpPr>
              <p:nvPr/>
            </p:nvSpPr>
            <p:spPr>
              <a:xfrm>
                <a:off x="2296638" y="3597452"/>
                <a:ext cx="596348" cy="338554"/>
              </a:xfrm>
              <a:prstGeom prst="rect">
                <a:avLst/>
              </a:prstGeom>
              <a:blipFill>
                <a:blip r:embed="rId10"/>
                <a:stretch>
                  <a:fillRect/>
                </a:stretch>
              </a:blipFill>
              <a:ln>
                <a:noFill/>
              </a:ln>
            </p:spPr>
            <p:txBody>
              <a:bodyPr/>
              <a:lstStyle/>
              <a:p>
                <a:r>
                  <a:rPr lang="en-US">
                    <a:noFill/>
                  </a:rPr>
                  <a:t> </a:t>
                </a:r>
              </a:p>
            </p:txBody>
          </p:sp>
        </mc:Fallback>
      </mc:AlternateContent>
      <p:sp>
        <p:nvSpPr>
          <p:cNvPr id="98" name="Rectangle: Rounded Corners 97">
            <a:extLst>
              <a:ext uri="{FF2B5EF4-FFF2-40B4-BE49-F238E27FC236}">
                <a16:creationId xmlns:a16="http://schemas.microsoft.com/office/drawing/2014/main" id="{3CE4BA71-9595-BA1E-88D5-DF95DF7B1380}"/>
              </a:ext>
            </a:extLst>
          </p:cNvPr>
          <p:cNvSpPr/>
          <p:nvPr/>
        </p:nvSpPr>
        <p:spPr>
          <a:xfrm>
            <a:off x="726256" y="3950623"/>
            <a:ext cx="2186608" cy="376601"/>
          </a:xfrm>
          <a:prstGeom prst="roundRect">
            <a:avLst/>
          </a:prstGeom>
          <a:solidFill>
            <a:srgbClr val="FF0000">
              <a:alpha val="25000"/>
            </a:srgb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600" dirty="0"/>
          </a:p>
        </p:txBody>
      </p:sp>
      <p:sp>
        <p:nvSpPr>
          <p:cNvPr id="99" name="TextBox 98">
            <a:extLst>
              <a:ext uri="{FF2B5EF4-FFF2-40B4-BE49-F238E27FC236}">
                <a16:creationId xmlns:a16="http://schemas.microsoft.com/office/drawing/2014/main" id="{F4DA7B20-AB25-F7D6-39FB-E2AD441FBDAF}"/>
              </a:ext>
            </a:extLst>
          </p:cNvPr>
          <p:cNvSpPr txBox="1"/>
          <p:nvPr/>
        </p:nvSpPr>
        <p:spPr>
          <a:xfrm>
            <a:off x="885006" y="3972048"/>
            <a:ext cx="702503" cy="338554"/>
          </a:xfrm>
          <a:prstGeom prst="rect">
            <a:avLst/>
          </a:prstGeom>
          <a:noFill/>
          <a:ln>
            <a:noFill/>
          </a:ln>
        </p:spPr>
        <p:txBody>
          <a:bodyPr wrap="square" rtlCol="0" anchor="ctr" anchorCtr="1">
            <a:spAutoFit/>
          </a:bodyPr>
          <a:lstStyle/>
          <a:p>
            <a:r>
              <a:rPr lang="en-US" sz="1600" dirty="0">
                <a:solidFill>
                  <a:schemeClr val="tx1">
                    <a:lumMod val="50000"/>
                    <a:lumOff val="50000"/>
                  </a:schemeClr>
                </a:solidFill>
              </a:rPr>
              <a:t>Sell</a:t>
            </a:r>
          </a:p>
        </p:txBody>
      </p:sp>
      <p:sp>
        <p:nvSpPr>
          <p:cNvPr id="100" name="TextBox 99">
            <a:extLst>
              <a:ext uri="{FF2B5EF4-FFF2-40B4-BE49-F238E27FC236}">
                <a16:creationId xmlns:a16="http://schemas.microsoft.com/office/drawing/2014/main" id="{59C3FEF0-7EE5-AC6C-5023-64A54A3DB991}"/>
              </a:ext>
            </a:extLst>
          </p:cNvPr>
          <p:cNvSpPr txBox="1"/>
          <p:nvPr/>
        </p:nvSpPr>
        <p:spPr>
          <a:xfrm>
            <a:off x="2161466" y="3950623"/>
            <a:ext cx="795130" cy="338554"/>
          </a:xfrm>
          <a:prstGeom prst="rect">
            <a:avLst/>
          </a:prstGeom>
          <a:noFill/>
          <a:ln>
            <a:noFill/>
          </a:ln>
        </p:spPr>
        <p:txBody>
          <a:bodyPr wrap="square" rtlCol="0" anchor="ctr" anchorCtr="1">
            <a:spAutoFit/>
          </a:bodyPr>
          <a:lstStyle/>
          <a:p>
            <a:r>
              <a:rPr lang="en-US" sz="1600" dirty="0">
                <a:solidFill>
                  <a:schemeClr val="tx1">
                    <a:lumMod val="50000"/>
                    <a:lumOff val="50000"/>
                  </a:schemeClr>
                </a:solidFill>
              </a:rPr>
              <a:t>N/A</a:t>
            </a:r>
          </a:p>
        </p:txBody>
      </p:sp>
      <p:sp>
        <p:nvSpPr>
          <p:cNvPr id="101" name="Rectangle: Rounded Corners 100">
            <a:extLst>
              <a:ext uri="{FF2B5EF4-FFF2-40B4-BE49-F238E27FC236}">
                <a16:creationId xmlns:a16="http://schemas.microsoft.com/office/drawing/2014/main" id="{60A9F7F3-8669-8BAF-BC96-951125B3635D}"/>
              </a:ext>
            </a:extLst>
          </p:cNvPr>
          <p:cNvSpPr/>
          <p:nvPr/>
        </p:nvSpPr>
        <p:spPr>
          <a:xfrm>
            <a:off x="726256" y="4333192"/>
            <a:ext cx="2186608" cy="369332"/>
          </a:xfrm>
          <a:prstGeom prst="roundRect">
            <a:avLst/>
          </a:prstGeom>
          <a:solidFill>
            <a:schemeClr val="tx1">
              <a:lumMod val="50000"/>
              <a:lumOff val="50000"/>
              <a:alpha val="25000"/>
            </a:scheme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600" dirty="0"/>
          </a:p>
        </p:txBody>
      </p:sp>
      <p:sp>
        <p:nvSpPr>
          <p:cNvPr id="102" name="TextBox 101">
            <a:extLst>
              <a:ext uri="{FF2B5EF4-FFF2-40B4-BE49-F238E27FC236}">
                <a16:creationId xmlns:a16="http://schemas.microsoft.com/office/drawing/2014/main" id="{3722DCF3-6C2F-3F0E-E7AC-EEDBBB49FBB0}"/>
              </a:ext>
            </a:extLst>
          </p:cNvPr>
          <p:cNvSpPr txBox="1"/>
          <p:nvPr/>
        </p:nvSpPr>
        <p:spPr>
          <a:xfrm>
            <a:off x="918343" y="4357230"/>
            <a:ext cx="635828" cy="338554"/>
          </a:xfrm>
          <a:prstGeom prst="rect">
            <a:avLst/>
          </a:prstGeom>
          <a:noFill/>
          <a:ln>
            <a:noFill/>
          </a:ln>
        </p:spPr>
        <p:txBody>
          <a:bodyPr wrap="square" rtlCol="0" anchor="ctr" anchorCtr="1">
            <a:spAutoFit/>
          </a:bodyPr>
          <a:lstStyle/>
          <a:p>
            <a:r>
              <a:rPr lang="en-US" sz="1600" dirty="0"/>
              <a:t>Hold</a:t>
            </a:r>
          </a:p>
        </p:txBody>
      </p:sp>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F22C6744-D09B-18BD-F3D8-3299C1592BE1}"/>
                  </a:ext>
                </a:extLst>
              </p:cNvPr>
              <p:cNvSpPr txBox="1"/>
              <p:nvPr/>
            </p:nvSpPr>
            <p:spPr>
              <a:xfrm>
                <a:off x="2398403" y="4357230"/>
                <a:ext cx="392817" cy="338554"/>
              </a:xfrm>
              <a:prstGeom prst="rect">
                <a:avLst/>
              </a:prstGeom>
              <a:noFill/>
              <a:ln>
                <a:noFill/>
              </a:ln>
            </p:spPr>
            <p:txBody>
              <a:bodyPr wrap="square" rtlCol="0" anchor="ctr" anchorCtr="1">
                <a:spAutoFit/>
              </a:bodyPr>
              <a:lstStyle/>
              <a:p>
                <a:pPr/>
                <a14:m>
                  <m:oMathPara xmlns:m="http://schemas.openxmlformats.org/officeDocument/2006/math">
                    <m:oMathParaPr>
                      <m:jc m:val="centerGroup"/>
                    </m:oMathParaPr>
                    <m:oMath xmlns:m="http://schemas.openxmlformats.org/officeDocument/2006/math">
                      <m:r>
                        <a:rPr lang="en-US" sz="1600" i="1" dirty="0" smtClean="0">
                          <a:solidFill>
                            <a:schemeClr val="tx1"/>
                          </a:solidFill>
                          <a:latin typeface="Cambria Math" panose="02040503050406030204" pitchFamily="18" charset="0"/>
                        </a:rPr>
                        <m:t>$</m:t>
                      </m:r>
                      <m:r>
                        <a:rPr lang="en-US" sz="1600" b="0" i="1" dirty="0" smtClean="0">
                          <a:solidFill>
                            <a:schemeClr val="tx1"/>
                          </a:solidFill>
                          <a:latin typeface="Cambria Math" panose="02040503050406030204" pitchFamily="18" charset="0"/>
                        </a:rPr>
                        <m:t>0</m:t>
                      </m:r>
                    </m:oMath>
                  </m:oMathPara>
                </a14:m>
                <a:endParaRPr lang="en-US" sz="1600" dirty="0"/>
              </a:p>
            </p:txBody>
          </p:sp>
        </mc:Choice>
        <mc:Fallback xmlns="">
          <p:sp>
            <p:nvSpPr>
              <p:cNvPr id="103" name="TextBox 102">
                <a:extLst>
                  <a:ext uri="{FF2B5EF4-FFF2-40B4-BE49-F238E27FC236}">
                    <a16:creationId xmlns:a16="http://schemas.microsoft.com/office/drawing/2014/main" id="{F22C6744-D09B-18BD-F3D8-3299C1592BE1}"/>
                  </a:ext>
                </a:extLst>
              </p:cNvPr>
              <p:cNvSpPr txBox="1">
                <a:spLocks noRot="1" noChangeAspect="1" noMove="1" noResize="1" noEditPoints="1" noAdjustHandles="1" noChangeArrowheads="1" noChangeShapeType="1" noTextEdit="1"/>
              </p:cNvSpPr>
              <p:nvPr/>
            </p:nvSpPr>
            <p:spPr>
              <a:xfrm>
                <a:off x="2398403" y="4357230"/>
                <a:ext cx="392817" cy="338554"/>
              </a:xfrm>
              <a:prstGeom prst="rect">
                <a:avLst/>
              </a:prstGeom>
              <a:blipFill>
                <a:blip r:embed="rId11"/>
                <a:stretch>
                  <a:fillRect l="-4615" b="-1818"/>
                </a:stretch>
              </a:blipFill>
              <a:ln>
                <a:noFill/>
              </a:ln>
            </p:spPr>
            <p:txBody>
              <a:bodyPr/>
              <a:lstStyle/>
              <a:p>
                <a:r>
                  <a:rPr lang="en-US">
                    <a:noFill/>
                  </a:rPr>
                  <a:t> </a:t>
                </a:r>
              </a:p>
            </p:txBody>
          </p:sp>
        </mc:Fallback>
      </mc:AlternateContent>
      <p:sp>
        <p:nvSpPr>
          <p:cNvPr id="104" name="Rectangle 103">
            <a:extLst>
              <a:ext uri="{FF2B5EF4-FFF2-40B4-BE49-F238E27FC236}">
                <a16:creationId xmlns:a16="http://schemas.microsoft.com/office/drawing/2014/main" id="{27CBCB31-8913-B507-657D-5A791184CE36}"/>
              </a:ext>
            </a:extLst>
          </p:cNvPr>
          <p:cNvSpPr/>
          <p:nvPr/>
        </p:nvSpPr>
        <p:spPr>
          <a:xfrm>
            <a:off x="3520936" y="3045095"/>
            <a:ext cx="2902227" cy="1733968"/>
          </a:xfrm>
          <a:prstGeom prst="rect">
            <a:avLst/>
          </a:prstGeom>
          <a:noFill/>
          <a:ln w="12700">
            <a:solidFill>
              <a:schemeClr val="tx1"/>
            </a:solidFill>
          </a:ln>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600" dirty="0"/>
          </a:p>
        </p:txBody>
      </p:sp>
      <p:sp>
        <p:nvSpPr>
          <p:cNvPr id="105" name="TextBox 104">
            <a:extLst>
              <a:ext uri="{FF2B5EF4-FFF2-40B4-BE49-F238E27FC236}">
                <a16:creationId xmlns:a16="http://schemas.microsoft.com/office/drawing/2014/main" id="{8E06F8CF-DA8D-1F66-E6B3-F502A55F8611}"/>
              </a:ext>
            </a:extLst>
          </p:cNvPr>
          <p:cNvSpPr txBox="1"/>
          <p:nvPr/>
        </p:nvSpPr>
        <p:spPr>
          <a:xfrm>
            <a:off x="3588521" y="3055159"/>
            <a:ext cx="1152809" cy="338554"/>
          </a:xfrm>
          <a:prstGeom prst="rect">
            <a:avLst/>
          </a:prstGeom>
          <a:noFill/>
          <a:ln>
            <a:noFill/>
          </a:ln>
        </p:spPr>
        <p:txBody>
          <a:bodyPr wrap="square" rtlCol="0" anchor="ctr" anchorCtr="1">
            <a:spAutoFit/>
          </a:bodyPr>
          <a:lstStyle/>
          <a:p>
            <a:r>
              <a:rPr lang="en-US" sz="1600" dirty="0"/>
              <a:t>(1, Neutral)</a:t>
            </a:r>
          </a:p>
        </p:txBody>
      </p:sp>
      <p:sp>
        <p:nvSpPr>
          <p:cNvPr id="107" name="TextBox 106">
            <a:extLst>
              <a:ext uri="{FF2B5EF4-FFF2-40B4-BE49-F238E27FC236}">
                <a16:creationId xmlns:a16="http://schemas.microsoft.com/office/drawing/2014/main" id="{5761393C-AD81-863A-6A14-331F243A3216}"/>
              </a:ext>
            </a:extLst>
          </p:cNvPr>
          <p:cNvSpPr txBox="1"/>
          <p:nvPr/>
        </p:nvSpPr>
        <p:spPr>
          <a:xfrm>
            <a:off x="4571924" y="3243509"/>
            <a:ext cx="802916" cy="338554"/>
          </a:xfrm>
          <a:prstGeom prst="rect">
            <a:avLst/>
          </a:prstGeom>
          <a:noFill/>
          <a:ln>
            <a:noFill/>
          </a:ln>
        </p:spPr>
        <p:txBody>
          <a:bodyPr wrap="square" rtlCol="0" anchor="ctr" anchorCtr="1">
            <a:spAutoFit/>
          </a:bodyPr>
          <a:lstStyle/>
          <a:p>
            <a:r>
              <a:rPr lang="en-US" sz="1600" dirty="0"/>
              <a:t>Actions</a:t>
            </a:r>
          </a:p>
        </p:txBody>
      </p:sp>
      <p:sp>
        <p:nvSpPr>
          <p:cNvPr id="108" name="Rectangle: Rounded Corners 107">
            <a:extLst>
              <a:ext uri="{FF2B5EF4-FFF2-40B4-BE49-F238E27FC236}">
                <a16:creationId xmlns:a16="http://schemas.microsoft.com/office/drawing/2014/main" id="{DA3F9FC8-E2D9-AA52-6814-42D7D775C5FF}"/>
              </a:ext>
            </a:extLst>
          </p:cNvPr>
          <p:cNvSpPr/>
          <p:nvPr/>
        </p:nvSpPr>
        <p:spPr>
          <a:xfrm>
            <a:off x="3880078" y="3582063"/>
            <a:ext cx="2186608" cy="369332"/>
          </a:xfrm>
          <a:prstGeom prst="roundRect">
            <a:avLst/>
          </a:prstGeom>
          <a:solidFill>
            <a:srgbClr val="00B050">
              <a:alpha val="25000"/>
            </a:srgb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600" dirty="0"/>
          </a:p>
        </p:txBody>
      </p:sp>
      <p:sp>
        <p:nvSpPr>
          <p:cNvPr id="109" name="TextBox 108">
            <a:extLst>
              <a:ext uri="{FF2B5EF4-FFF2-40B4-BE49-F238E27FC236}">
                <a16:creationId xmlns:a16="http://schemas.microsoft.com/office/drawing/2014/main" id="{D322B60E-C1C2-B256-40E4-0F8CE9EEA38D}"/>
              </a:ext>
            </a:extLst>
          </p:cNvPr>
          <p:cNvSpPr txBox="1"/>
          <p:nvPr/>
        </p:nvSpPr>
        <p:spPr>
          <a:xfrm>
            <a:off x="3880078" y="3597452"/>
            <a:ext cx="1144988" cy="338554"/>
          </a:xfrm>
          <a:prstGeom prst="rect">
            <a:avLst/>
          </a:prstGeom>
          <a:noFill/>
          <a:ln>
            <a:noFill/>
          </a:ln>
        </p:spPr>
        <p:txBody>
          <a:bodyPr wrap="square" rtlCol="0" anchor="ctr" anchorCtr="1">
            <a:spAutoFit/>
          </a:bodyPr>
          <a:lstStyle/>
          <a:p>
            <a:r>
              <a:rPr lang="en-US" sz="1600" dirty="0"/>
              <a:t>Buy Share</a:t>
            </a:r>
          </a:p>
        </p:txBody>
      </p:sp>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1C8C957B-BFEB-ED14-0F95-E08CF8F9BB9C}"/>
                  </a:ext>
                </a:extLst>
              </p:cNvPr>
              <p:cNvSpPr txBox="1"/>
              <p:nvPr/>
            </p:nvSpPr>
            <p:spPr>
              <a:xfrm>
                <a:off x="5450460" y="3597452"/>
                <a:ext cx="596348" cy="338554"/>
              </a:xfrm>
              <a:prstGeom prst="rect">
                <a:avLst/>
              </a:prstGeom>
              <a:noFill/>
              <a:ln>
                <a:noFill/>
              </a:ln>
            </p:spPr>
            <p:txBody>
              <a:bodyPr wrap="square" rtlCol="0" anchor="ctr" anchorCtr="1">
                <a:spAutoFit/>
              </a:bodyPr>
              <a:lstStyle/>
              <a:p>
                <a:pPr/>
                <a14:m>
                  <m:oMathPara xmlns:m="http://schemas.openxmlformats.org/officeDocument/2006/math">
                    <m:oMathParaPr>
                      <m:jc m:val="centerGroup"/>
                    </m:oMathParaPr>
                    <m:oMath xmlns:m="http://schemas.openxmlformats.org/officeDocument/2006/math">
                      <m:r>
                        <a:rPr lang="en-US" sz="1600" i="1" dirty="0" smtClean="0">
                          <a:solidFill>
                            <a:srgbClr val="FF0000"/>
                          </a:solidFill>
                          <a:latin typeface="Cambria Math" panose="02040503050406030204" pitchFamily="18" charset="0"/>
                        </a:rPr>
                        <m:t>−$3</m:t>
                      </m:r>
                    </m:oMath>
                  </m:oMathPara>
                </a14:m>
                <a:endParaRPr lang="en-US" sz="1600" dirty="0"/>
              </a:p>
            </p:txBody>
          </p:sp>
        </mc:Choice>
        <mc:Fallback xmlns="">
          <p:sp>
            <p:nvSpPr>
              <p:cNvPr id="110" name="TextBox 109">
                <a:extLst>
                  <a:ext uri="{FF2B5EF4-FFF2-40B4-BE49-F238E27FC236}">
                    <a16:creationId xmlns:a16="http://schemas.microsoft.com/office/drawing/2014/main" id="{1C8C957B-BFEB-ED14-0F95-E08CF8F9BB9C}"/>
                  </a:ext>
                </a:extLst>
              </p:cNvPr>
              <p:cNvSpPr txBox="1">
                <a:spLocks noRot="1" noChangeAspect="1" noMove="1" noResize="1" noEditPoints="1" noAdjustHandles="1" noChangeArrowheads="1" noChangeShapeType="1" noTextEdit="1"/>
              </p:cNvSpPr>
              <p:nvPr/>
            </p:nvSpPr>
            <p:spPr>
              <a:xfrm>
                <a:off x="5450460" y="3597452"/>
                <a:ext cx="596348" cy="338554"/>
              </a:xfrm>
              <a:prstGeom prst="rect">
                <a:avLst/>
              </a:prstGeom>
              <a:blipFill>
                <a:blip r:embed="rId12"/>
                <a:stretch>
                  <a:fillRect/>
                </a:stretch>
              </a:blipFill>
              <a:ln>
                <a:noFill/>
              </a:ln>
            </p:spPr>
            <p:txBody>
              <a:bodyPr/>
              <a:lstStyle/>
              <a:p>
                <a:r>
                  <a:rPr lang="en-US">
                    <a:noFill/>
                  </a:rPr>
                  <a:t> </a:t>
                </a:r>
              </a:p>
            </p:txBody>
          </p:sp>
        </mc:Fallback>
      </mc:AlternateContent>
      <p:sp>
        <p:nvSpPr>
          <p:cNvPr id="111" name="Rectangle: Rounded Corners 110">
            <a:extLst>
              <a:ext uri="{FF2B5EF4-FFF2-40B4-BE49-F238E27FC236}">
                <a16:creationId xmlns:a16="http://schemas.microsoft.com/office/drawing/2014/main" id="{DCAB09AE-3D2F-7D82-C46A-C7788C4E1678}"/>
              </a:ext>
            </a:extLst>
          </p:cNvPr>
          <p:cNvSpPr/>
          <p:nvPr/>
        </p:nvSpPr>
        <p:spPr>
          <a:xfrm>
            <a:off x="3880078" y="3950623"/>
            <a:ext cx="2186608" cy="376601"/>
          </a:xfrm>
          <a:prstGeom prst="roundRect">
            <a:avLst/>
          </a:prstGeom>
          <a:solidFill>
            <a:srgbClr val="FF0000">
              <a:alpha val="25000"/>
            </a:srgb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600" dirty="0"/>
          </a:p>
        </p:txBody>
      </p:sp>
      <p:sp>
        <p:nvSpPr>
          <p:cNvPr id="112" name="TextBox 111">
            <a:extLst>
              <a:ext uri="{FF2B5EF4-FFF2-40B4-BE49-F238E27FC236}">
                <a16:creationId xmlns:a16="http://schemas.microsoft.com/office/drawing/2014/main" id="{D1543C57-6A31-3BEF-4BF4-B1B6D49EA263}"/>
              </a:ext>
            </a:extLst>
          </p:cNvPr>
          <p:cNvSpPr txBox="1"/>
          <p:nvPr/>
        </p:nvSpPr>
        <p:spPr>
          <a:xfrm>
            <a:off x="4038828" y="3972048"/>
            <a:ext cx="702503" cy="338554"/>
          </a:xfrm>
          <a:prstGeom prst="rect">
            <a:avLst/>
          </a:prstGeom>
          <a:noFill/>
          <a:ln>
            <a:noFill/>
          </a:ln>
        </p:spPr>
        <p:txBody>
          <a:bodyPr wrap="square" rtlCol="0" anchor="ctr" anchorCtr="1">
            <a:spAutoFit/>
          </a:bodyPr>
          <a:lstStyle/>
          <a:p>
            <a:r>
              <a:rPr lang="en-US" sz="1600" dirty="0"/>
              <a:t>Sell</a:t>
            </a:r>
          </a:p>
        </p:txBody>
      </p:sp>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03FB561B-30E2-F7F4-5F6C-6F443A1A6052}"/>
                  </a:ext>
                </a:extLst>
              </p:cNvPr>
              <p:cNvSpPr txBox="1"/>
              <p:nvPr/>
            </p:nvSpPr>
            <p:spPr>
              <a:xfrm>
                <a:off x="5374840" y="3969646"/>
                <a:ext cx="795130" cy="338554"/>
              </a:xfrm>
              <a:prstGeom prst="rect">
                <a:avLst/>
              </a:prstGeom>
              <a:noFill/>
              <a:ln>
                <a:noFill/>
              </a:ln>
            </p:spPr>
            <p:txBody>
              <a:bodyPr wrap="square" rtlCol="0" anchor="ctr" anchorCtr="1">
                <a:spAutoFit/>
              </a:bodyPr>
              <a:lstStyle/>
              <a:p>
                <a:pPr/>
                <a14:m>
                  <m:oMathPara xmlns:m="http://schemas.openxmlformats.org/officeDocument/2006/math">
                    <m:oMathParaPr>
                      <m:jc m:val="centerGroup"/>
                    </m:oMathParaPr>
                    <m:oMath xmlns:m="http://schemas.openxmlformats.org/officeDocument/2006/math">
                      <m:r>
                        <a:rPr lang="en-US" sz="1600" b="1" i="1" dirty="0" smtClean="0">
                          <a:solidFill>
                            <a:srgbClr val="008000"/>
                          </a:solidFill>
                          <a:latin typeface="Cambria Math" panose="02040503050406030204" pitchFamily="18" charset="0"/>
                        </a:rPr>
                        <m:t>+$</m:t>
                      </m:r>
                      <m:r>
                        <a:rPr lang="en-US" sz="1600" b="1" i="1" dirty="0" smtClean="0">
                          <a:solidFill>
                            <a:srgbClr val="008000"/>
                          </a:solidFill>
                          <a:latin typeface="Cambria Math" panose="02040503050406030204" pitchFamily="18" charset="0"/>
                        </a:rPr>
                        <m:t>𝟓</m:t>
                      </m:r>
                    </m:oMath>
                  </m:oMathPara>
                </a14:m>
                <a:endParaRPr lang="en-US" sz="1600" b="1" dirty="0">
                  <a:solidFill>
                    <a:srgbClr val="008000"/>
                  </a:solidFill>
                </a:endParaRPr>
              </a:p>
            </p:txBody>
          </p:sp>
        </mc:Choice>
        <mc:Fallback xmlns="">
          <p:sp>
            <p:nvSpPr>
              <p:cNvPr id="113" name="TextBox 112">
                <a:extLst>
                  <a:ext uri="{FF2B5EF4-FFF2-40B4-BE49-F238E27FC236}">
                    <a16:creationId xmlns:a16="http://schemas.microsoft.com/office/drawing/2014/main" id="{03FB561B-30E2-F7F4-5F6C-6F443A1A6052}"/>
                  </a:ext>
                </a:extLst>
              </p:cNvPr>
              <p:cNvSpPr txBox="1">
                <a:spLocks noRot="1" noChangeAspect="1" noMove="1" noResize="1" noEditPoints="1" noAdjustHandles="1" noChangeArrowheads="1" noChangeShapeType="1" noTextEdit="1"/>
              </p:cNvSpPr>
              <p:nvPr/>
            </p:nvSpPr>
            <p:spPr>
              <a:xfrm>
                <a:off x="5374840" y="3969646"/>
                <a:ext cx="795130" cy="338554"/>
              </a:xfrm>
              <a:prstGeom prst="rect">
                <a:avLst/>
              </a:prstGeom>
              <a:blipFill>
                <a:blip r:embed="rId13"/>
                <a:stretch>
                  <a:fillRect/>
                </a:stretch>
              </a:blipFill>
              <a:ln>
                <a:noFill/>
              </a:ln>
            </p:spPr>
            <p:txBody>
              <a:bodyPr/>
              <a:lstStyle/>
              <a:p>
                <a:r>
                  <a:rPr lang="en-US">
                    <a:noFill/>
                  </a:rPr>
                  <a:t> </a:t>
                </a:r>
              </a:p>
            </p:txBody>
          </p:sp>
        </mc:Fallback>
      </mc:AlternateContent>
      <p:sp>
        <p:nvSpPr>
          <p:cNvPr id="114" name="Rectangle: Rounded Corners 113">
            <a:extLst>
              <a:ext uri="{FF2B5EF4-FFF2-40B4-BE49-F238E27FC236}">
                <a16:creationId xmlns:a16="http://schemas.microsoft.com/office/drawing/2014/main" id="{68013B6A-4651-22CD-A169-C8C6EA892F56}"/>
              </a:ext>
            </a:extLst>
          </p:cNvPr>
          <p:cNvSpPr/>
          <p:nvPr/>
        </p:nvSpPr>
        <p:spPr>
          <a:xfrm>
            <a:off x="3880078" y="4333192"/>
            <a:ext cx="2186608" cy="369332"/>
          </a:xfrm>
          <a:prstGeom prst="roundRect">
            <a:avLst/>
          </a:prstGeom>
          <a:solidFill>
            <a:schemeClr val="tx1">
              <a:lumMod val="50000"/>
              <a:lumOff val="50000"/>
              <a:alpha val="25000"/>
            </a:scheme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600" dirty="0"/>
          </a:p>
        </p:txBody>
      </p:sp>
      <p:sp>
        <p:nvSpPr>
          <p:cNvPr id="115" name="TextBox 114">
            <a:extLst>
              <a:ext uri="{FF2B5EF4-FFF2-40B4-BE49-F238E27FC236}">
                <a16:creationId xmlns:a16="http://schemas.microsoft.com/office/drawing/2014/main" id="{E7710A54-4269-1392-CB39-FE5B07C1596F}"/>
              </a:ext>
            </a:extLst>
          </p:cNvPr>
          <p:cNvSpPr txBox="1"/>
          <p:nvPr/>
        </p:nvSpPr>
        <p:spPr>
          <a:xfrm>
            <a:off x="4072165" y="4357230"/>
            <a:ext cx="635828" cy="338554"/>
          </a:xfrm>
          <a:prstGeom prst="rect">
            <a:avLst/>
          </a:prstGeom>
          <a:noFill/>
          <a:ln>
            <a:noFill/>
          </a:ln>
        </p:spPr>
        <p:txBody>
          <a:bodyPr wrap="square" rtlCol="0" anchor="ctr" anchorCtr="1">
            <a:spAutoFit/>
          </a:bodyPr>
          <a:lstStyle/>
          <a:p>
            <a:r>
              <a:rPr lang="en-US" sz="1600" dirty="0"/>
              <a:t>Hold</a:t>
            </a:r>
          </a:p>
        </p:txBody>
      </p:sp>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3765D679-EEA4-E86C-D24E-D7479AC32BE0}"/>
                  </a:ext>
                </a:extLst>
              </p:cNvPr>
              <p:cNvSpPr txBox="1"/>
              <p:nvPr/>
            </p:nvSpPr>
            <p:spPr>
              <a:xfrm>
                <a:off x="5552225" y="4357230"/>
                <a:ext cx="392817" cy="338554"/>
              </a:xfrm>
              <a:prstGeom prst="rect">
                <a:avLst/>
              </a:prstGeom>
              <a:noFill/>
              <a:ln>
                <a:noFill/>
              </a:ln>
            </p:spPr>
            <p:txBody>
              <a:bodyPr wrap="square" rtlCol="0" anchor="ctr" anchorCtr="1">
                <a:spAutoFit/>
              </a:bodyPr>
              <a:lstStyle/>
              <a:p>
                <a:pPr/>
                <a14:m>
                  <m:oMathPara xmlns:m="http://schemas.openxmlformats.org/officeDocument/2006/math">
                    <m:oMathParaPr>
                      <m:jc m:val="centerGroup"/>
                    </m:oMathParaPr>
                    <m:oMath xmlns:m="http://schemas.openxmlformats.org/officeDocument/2006/math">
                      <m:r>
                        <a:rPr lang="en-US" sz="1600" i="1" dirty="0" smtClean="0">
                          <a:solidFill>
                            <a:schemeClr val="tx1"/>
                          </a:solidFill>
                          <a:latin typeface="Cambria Math" panose="02040503050406030204" pitchFamily="18" charset="0"/>
                        </a:rPr>
                        <m:t>$</m:t>
                      </m:r>
                      <m:r>
                        <a:rPr lang="en-US" sz="1600" b="0" i="1" dirty="0" smtClean="0">
                          <a:solidFill>
                            <a:schemeClr val="tx1"/>
                          </a:solidFill>
                          <a:latin typeface="Cambria Math" panose="02040503050406030204" pitchFamily="18" charset="0"/>
                        </a:rPr>
                        <m:t>0</m:t>
                      </m:r>
                    </m:oMath>
                  </m:oMathPara>
                </a14:m>
                <a:endParaRPr lang="en-US" sz="1600" dirty="0"/>
              </a:p>
            </p:txBody>
          </p:sp>
        </mc:Choice>
        <mc:Fallback xmlns="">
          <p:sp>
            <p:nvSpPr>
              <p:cNvPr id="116" name="TextBox 115">
                <a:extLst>
                  <a:ext uri="{FF2B5EF4-FFF2-40B4-BE49-F238E27FC236}">
                    <a16:creationId xmlns:a16="http://schemas.microsoft.com/office/drawing/2014/main" id="{3765D679-EEA4-E86C-D24E-D7479AC32BE0}"/>
                  </a:ext>
                </a:extLst>
              </p:cNvPr>
              <p:cNvSpPr txBox="1">
                <a:spLocks noRot="1" noChangeAspect="1" noMove="1" noResize="1" noEditPoints="1" noAdjustHandles="1" noChangeArrowheads="1" noChangeShapeType="1" noTextEdit="1"/>
              </p:cNvSpPr>
              <p:nvPr/>
            </p:nvSpPr>
            <p:spPr>
              <a:xfrm>
                <a:off x="5552225" y="4357230"/>
                <a:ext cx="392817" cy="338554"/>
              </a:xfrm>
              <a:prstGeom prst="rect">
                <a:avLst/>
              </a:prstGeom>
              <a:blipFill>
                <a:blip r:embed="rId14"/>
                <a:stretch>
                  <a:fillRect l="-6250" b="-1818"/>
                </a:stretch>
              </a:blipFill>
              <a:ln>
                <a:noFill/>
              </a:ln>
            </p:spPr>
            <p:txBody>
              <a:bodyPr/>
              <a:lstStyle/>
              <a:p>
                <a:r>
                  <a:rPr lang="en-US">
                    <a:noFill/>
                  </a:rPr>
                  <a:t> </a:t>
                </a:r>
              </a:p>
            </p:txBody>
          </p:sp>
        </mc:Fallback>
      </mc:AlternateContent>
      <p:sp>
        <p:nvSpPr>
          <p:cNvPr id="117" name="Rectangle 116">
            <a:extLst>
              <a:ext uri="{FF2B5EF4-FFF2-40B4-BE49-F238E27FC236}">
                <a16:creationId xmlns:a16="http://schemas.microsoft.com/office/drawing/2014/main" id="{0CB75038-FBC8-AA11-9BE3-4C26C9F3F090}"/>
              </a:ext>
            </a:extLst>
          </p:cNvPr>
          <p:cNvSpPr/>
          <p:nvPr/>
        </p:nvSpPr>
        <p:spPr>
          <a:xfrm>
            <a:off x="6674758" y="3045095"/>
            <a:ext cx="2902227" cy="1733968"/>
          </a:xfrm>
          <a:prstGeom prst="rect">
            <a:avLst/>
          </a:prstGeom>
          <a:noFill/>
          <a:ln w="12700">
            <a:solidFill>
              <a:schemeClr val="tx1"/>
            </a:solidFill>
          </a:ln>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600" dirty="0"/>
          </a:p>
        </p:txBody>
      </p:sp>
      <p:sp>
        <p:nvSpPr>
          <p:cNvPr id="118" name="TextBox 117">
            <a:extLst>
              <a:ext uri="{FF2B5EF4-FFF2-40B4-BE49-F238E27FC236}">
                <a16:creationId xmlns:a16="http://schemas.microsoft.com/office/drawing/2014/main" id="{E4742949-9C1B-4F7B-9A00-14E5F81307EE}"/>
              </a:ext>
            </a:extLst>
          </p:cNvPr>
          <p:cNvSpPr txBox="1"/>
          <p:nvPr/>
        </p:nvSpPr>
        <p:spPr>
          <a:xfrm>
            <a:off x="6742343" y="3055159"/>
            <a:ext cx="1144987" cy="338554"/>
          </a:xfrm>
          <a:prstGeom prst="rect">
            <a:avLst/>
          </a:prstGeom>
          <a:noFill/>
          <a:ln>
            <a:noFill/>
          </a:ln>
        </p:spPr>
        <p:txBody>
          <a:bodyPr wrap="square" rtlCol="0" anchor="ctr" anchorCtr="1">
            <a:spAutoFit/>
          </a:bodyPr>
          <a:lstStyle/>
          <a:p>
            <a:r>
              <a:rPr lang="en-US" sz="1600" dirty="0"/>
              <a:t>(2, Neutral)</a:t>
            </a:r>
          </a:p>
        </p:txBody>
      </p:sp>
      <p:sp>
        <p:nvSpPr>
          <p:cNvPr id="120" name="TextBox 119">
            <a:extLst>
              <a:ext uri="{FF2B5EF4-FFF2-40B4-BE49-F238E27FC236}">
                <a16:creationId xmlns:a16="http://schemas.microsoft.com/office/drawing/2014/main" id="{E5B16BB7-0FEE-D59A-2FD4-1B33F424296B}"/>
              </a:ext>
            </a:extLst>
          </p:cNvPr>
          <p:cNvSpPr txBox="1"/>
          <p:nvPr/>
        </p:nvSpPr>
        <p:spPr>
          <a:xfrm>
            <a:off x="7725746" y="3243509"/>
            <a:ext cx="802916" cy="338554"/>
          </a:xfrm>
          <a:prstGeom prst="rect">
            <a:avLst/>
          </a:prstGeom>
          <a:noFill/>
          <a:ln>
            <a:noFill/>
          </a:ln>
        </p:spPr>
        <p:txBody>
          <a:bodyPr wrap="square" rtlCol="0" anchor="ctr" anchorCtr="1">
            <a:spAutoFit/>
          </a:bodyPr>
          <a:lstStyle/>
          <a:p>
            <a:r>
              <a:rPr lang="en-US" sz="1600" dirty="0"/>
              <a:t>Actions</a:t>
            </a:r>
          </a:p>
        </p:txBody>
      </p:sp>
      <p:sp>
        <p:nvSpPr>
          <p:cNvPr id="121" name="Rectangle: Rounded Corners 120">
            <a:extLst>
              <a:ext uri="{FF2B5EF4-FFF2-40B4-BE49-F238E27FC236}">
                <a16:creationId xmlns:a16="http://schemas.microsoft.com/office/drawing/2014/main" id="{24E3A9D7-E092-CCEA-91CB-BD649F81504F}"/>
              </a:ext>
            </a:extLst>
          </p:cNvPr>
          <p:cNvSpPr/>
          <p:nvPr/>
        </p:nvSpPr>
        <p:spPr>
          <a:xfrm>
            <a:off x="7033900" y="3582063"/>
            <a:ext cx="2186608" cy="369332"/>
          </a:xfrm>
          <a:prstGeom prst="roundRect">
            <a:avLst/>
          </a:prstGeom>
          <a:solidFill>
            <a:srgbClr val="00B050">
              <a:alpha val="25000"/>
            </a:srgb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600" dirty="0"/>
          </a:p>
        </p:txBody>
      </p:sp>
      <p:sp>
        <p:nvSpPr>
          <p:cNvPr id="124" name="Rectangle: Rounded Corners 123">
            <a:extLst>
              <a:ext uri="{FF2B5EF4-FFF2-40B4-BE49-F238E27FC236}">
                <a16:creationId xmlns:a16="http://schemas.microsoft.com/office/drawing/2014/main" id="{D55513C0-3F64-9D5F-40D5-337C49467EA4}"/>
              </a:ext>
            </a:extLst>
          </p:cNvPr>
          <p:cNvSpPr/>
          <p:nvPr/>
        </p:nvSpPr>
        <p:spPr>
          <a:xfrm>
            <a:off x="7033900" y="3950623"/>
            <a:ext cx="2186608" cy="376601"/>
          </a:xfrm>
          <a:prstGeom prst="roundRect">
            <a:avLst/>
          </a:prstGeom>
          <a:solidFill>
            <a:srgbClr val="FF0000">
              <a:alpha val="25000"/>
            </a:srgb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600" dirty="0"/>
          </a:p>
        </p:txBody>
      </p:sp>
      <p:sp>
        <p:nvSpPr>
          <p:cNvPr id="125" name="Rectangle: Rounded Corners 124">
            <a:extLst>
              <a:ext uri="{FF2B5EF4-FFF2-40B4-BE49-F238E27FC236}">
                <a16:creationId xmlns:a16="http://schemas.microsoft.com/office/drawing/2014/main" id="{9862B656-3F4A-CFF4-FD39-E9196DDC6353}"/>
              </a:ext>
            </a:extLst>
          </p:cNvPr>
          <p:cNvSpPr/>
          <p:nvPr/>
        </p:nvSpPr>
        <p:spPr>
          <a:xfrm>
            <a:off x="7033900" y="4333192"/>
            <a:ext cx="2186608" cy="369332"/>
          </a:xfrm>
          <a:prstGeom prst="roundRect">
            <a:avLst/>
          </a:prstGeom>
          <a:solidFill>
            <a:schemeClr val="tx1">
              <a:lumMod val="50000"/>
              <a:lumOff val="50000"/>
              <a:alpha val="25000"/>
            </a:scheme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600" dirty="0"/>
          </a:p>
        </p:txBody>
      </p:sp>
      <p:sp>
        <p:nvSpPr>
          <p:cNvPr id="126" name="TextBox 125">
            <a:extLst>
              <a:ext uri="{FF2B5EF4-FFF2-40B4-BE49-F238E27FC236}">
                <a16:creationId xmlns:a16="http://schemas.microsoft.com/office/drawing/2014/main" id="{98934D63-AC22-7FA2-C7D4-96C75B958C7F}"/>
              </a:ext>
            </a:extLst>
          </p:cNvPr>
          <p:cNvSpPr txBox="1"/>
          <p:nvPr/>
        </p:nvSpPr>
        <p:spPr>
          <a:xfrm>
            <a:off x="7225987" y="4357230"/>
            <a:ext cx="635828" cy="338554"/>
          </a:xfrm>
          <a:prstGeom prst="rect">
            <a:avLst/>
          </a:prstGeom>
          <a:noFill/>
          <a:ln>
            <a:noFill/>
          </a:ln>
        </p:spPr>
        <p:txBody>
          <a:bodyPr wrap="square" rtlCol="0" anchor="ctr" anchorCtr="1">
            <a:spAutoFit/>
          </a:bodyPr>
          <a:lstStyle/>
          <a:p>
            <a:r>
              <a:rPr lang="en-US" sz="1600" dirty="0"/>
              <a:t>Hold</a:t>
            </a:r>
          </a:p>
        </p:txBody>
      </p:sp>
      <mc:AlternateContent xmlns:mc="http://schemas.openxmlformats.org/markup-compatibility/2006" xmlns:a14="http://schemas.microsoft.com/office/drawing/2010/main">
        <mc:Choice Requires="a14">
          <p:sp>
            <p:nvSpPr>
              <p:cNvPr id="127" name="TextBox 126">
                <a:extLst>
                  <a:ext uri="{FF2B5EF4-FFF2-40B4-BE49-F238E27FC236}">
                    <a16:creationId xmlns:a16="http://schemas.microsoft.com/office/drawing/2014/main" id="{9886EB06-FB0E-B2D6-78BE-4E41706C6B8D}"/>
                  </a:ext>
                </a:extLst>
              </p:cNvPr>
              <p:cNvSpPr txBox="1"/>
              <p:nvPr/>
            </p:nvSpPr>
            <p:spPr>
              <a:xfrm>
                <a:off x="8706047" y="4357230"/>
                <a:ext cx="392817" cy="338554"/>
              </a:xfrm>
              <a:prstGeom prst="rect">
                <a:avLst/>
              </a:prstGeom>
              <a:noFill/>
              <a:ln>
                <a:noFill/>
              </a:ln>
            </p:spPr>
            <p:txBody>
              <a:bodyPr wrap="square" rtlCol="0" anchor="ctr" anchorCtr="1">
                <a:spAutoFit/>
              </a:bodyPr>
              <a:lstStyle/>
              <a:p>
                <a:pPr/>
                <a14:m>
                  <m:oMathPara xmlns:m="http://schemas.openxmlformats.org/officeDocument/2006/math">
                    <m:oMathParaPr>
                      <m:jc m:val="centerGroup"/>
                    </m:oMathParaPr>
                    <m:oMath xmlns:m="http://schemas.openxmlformats.org/officeDocument/2006/math">
                      <m:r>
                        <a:rPr lang="en-US" sz="1600" i="1" dirty="0" smtClean="0">
                          <a:solidFill>
                            <a:schemeClr val="tx1"/>
                          </a:solidFill>
                          <a:latin typeface="Cambria Math" panose="02040503050406030204" pitchFamily="18" charset="0"/>
                        </a:rPr>
                        <m:t>$</m:t>
                      </m:r>
                      <m:r>
                        <a:rPr lang="en-US" sz="1600" b="0" i="1" dirty="0" smtClean="0">
                          <a:solidFill>
                            <a:schemeClr val="tx1"/>
                          </a:solidFill>
                          <a:latin typeface="Cambria Math" panose="02040503050406030204" pitchFamily="18" charset="0"/>
                        </a:rPr>
                        <m:t>0</m:t>
                      </m:r>
                    </m:oMath>
                  </m:oMathPara>
                </a14:m>
                <a:endParaRPr lang="en-US" sz="1600" dirty="0"/>
              </a:p>
            </p:txBody>
          </p:sp>
        </mc:Choice>
        <mc:Fallback xmlns="">
          <p:sp>
            <p:nvSpPr>
              <p:cNvPr id="127" name="TextBox 126">
                <a:extLst>
                  <a:ext uri="{FF2B5EF4-FFF2-40B4-BE49-F238E27FC236}">
                    <a16:creationId xmlns:a16="http://schemas.microsoft.com/office/drawing/2014/main" id="{9886EB06-FB0E-B2D6-78BE-4E41706C6B8D}"/>
                  </a:ext>
                </a:extLst>
              </p:cNvPr>
              <p:cNvSpPr txBox="1">
                <a:spLocks noRot="1" noChangeAspect="1" noMove="1" noResize="1" noEditPoints="1" noAdjustHandles="1" noChangeArrowheads="1" noChangeShapeType="1" noTextEdit="1"/>
              </p:cNvSpPr>
              <p:nvPr/>
            </p:nvSpPr>
            <p:spPr>
              <a:xfrm>
                <a:off x="8706047" y="4357230"/>
                <a:ext cx="392817" cy="338554"/>
              </a:xfrm>
              <a:prstGeom prst="rect">
                <a:avLst/>
              </a:prstGeom>
              <a:blipFill>
                <a:blip r:embed="rId15"/>
                <a:stretch>
                  <a:fillRect l="-6154" b="-1818"/>
                </a:stretch>
              </a:blipFill>
              <a:ln>
                <a:noFill/>
              </a:ln>
            </p:spPr>
            <p:txBody>
              <a:bodyPr/>
              <a:lstStyle/>
              <a:p>
                <a:r>
                  <a:rPr lang="en-US">
                    <a:noFill/>
                  </a:rPr>
                  <a:t> </a:t>
                </a:r>
              </a:p>
            </p:txBody>
          </p:sp>
        </mc:Fallback>
      </mc:AlternateContent>
      <p:sp>
        <p:nvSpPr>
          <p:cNvPr id="128" name="TextBox 127">
            <a:extLst>
              <a:ext uri="{FF2B5EF4-FFF2-40B4-BE49-F238E27FC236}">
                <a16:creationId xmlns:a16="http://schemas.microsoft.com/office/drawing/2014/main" id="{E40C7A45-219A-3236-578C-71BF8B26D321}"/>
              </a:ext>
            </a:extLst>
          </p:cNvPr>
          <p:cNvSpPr txBox="1"/>
          <p:nvPr/>
        </p:nvSpPr>
        <p:spPr>
          <a:xfrm>
            <a:off x="7159312" y="3972048"/>
            <a:ext cx="702503" cy="338554"/>
          </a:xfrm>
          <a:prstGeom prst="rect">
            <a:avLst/>
          </a:prstGeom>
          <a:noFill/>
          <a:ln>
            <a:noFill/>
          </a:ln>
        </p:spPr>
        <p:txBody>
          <a:bodyPr wrap="square" rtlCol="0" anchor="ctr" anchorCtr="1">
            <a:spAutoFit/>
          </a:bodyPr>
          <a:lstStyle/>
          <a:p>
            <a:r>
              <a:rPr lang="en-US" sz="1600" dirty="0"/>
              <a:t>Sell</a:t>
            </a:r>
          </a:p>
        </p:txBody>
      </p:sp>
      <mc:AlternateContent xmlns:mc="http://schemas.openxmlformats.org/markup-compatibility/2006" xmlns:a14="http://schemas.microsoft.com/office/drawing/2010/main">
        <mc:Choice Requires="a14">
          <p:sp>
            <p:nvSpPr>
              <p:cNvPr id="129" name="TextBox 128">
                <a:extLst>
                  <a:ext uri="{FF2B5EF4-FFF2-40B4-BE49-F238E27FC236}">
                    <a16:creationId xmlns:a16="http://schemas.microsoft.com/office/drawing/2014/main" id="{2372EB48-58F6-7306-7F1E-71B067E6D546}"/>
                  </a:ext>
                </a:extLst>
              </p:cNvPr>
              <p:cNvSpPr txBox="1"/>
              <p:nvPr/>
            </p:nvSpPr>
            <p:spPr>
              <a:xfrm>
                <a:off x="8495324" y="3969646"/>
                <a:ext cx="795130" cy="338554"/>
              </a:xfrm>
              <a:prstGeom prst="rect">
                <a:avLst/>
              </a:prstGeom>
              <a:noFill/>
              <a:ln>
                <a:noFill/>
              </a:ln>
            </p:spPr>
            <p:txBody>
              <a:bodyPr wrap="square" rtlCol="0" anchor="ctr" anchorCtr="1">
                <a:spAutoFit/>
              </a:bodyPr>
              <a:lstStyle/>
              <a:p>
                <a:pPr/>
                <a14:m>
                  <m:oMathPara xmlns:m="http://schemas.openxmlformats.org/officeDocument/2006/math">
                    <m:oMathParaPr>
                      <m:jc m:val="centerGroup"/>
                    </m:oMathParaPr>
                    <m:oMath xmlns:m="http://schemas.openxmlformats.org/officeDocument/2006/math">
                      <m:r>
                        <a:rPr lang="en-US" sz="1600" b="1" i="1" dirty="0" smtClean="0">
                          <a:solidFill>
                            <a:srgbClr val="008000"/>
                          </a:solidFill>
                          <a:latin typeface="Cambria Math" panose="02040503050406030204" pitchFamily="18" charset="0"/>
                        </a:rPr>
                        <m:t>+$</m:t>
                      </m:r>
                      <m:r>
                        <a:rPr lang="en-US" sz="1600" b="1" i="1" dirty="0" smtClean="0">
                          <a:solidFill>
                            <a:srgbClr val="008000"/>
                          </a:solidFill>
                          <a:latin typeface="Cambria Math" panose="02040503050406030204" pitchFamily="18" charset="0"/>
                        </a:rPr>
                        <m:t>𝟓</m:t>
                      </m:r>
                    </m:oMath>
                  </m:oMathPara>
                </a14:m>
                <a:endParaRPr lang="en-US" sz="1600" b="1" dirty="0">
                  <a:solidFill>
                    <a:srgbClr val="008000"/>
                  </a:solidFill>
                </a:endParaRPr>
              </a:p>
            </p:txBody>
          </p:sp>
        </mc:Choice>
        <mc:Fallback xmlns="">
          <p:sp>
            <p:nvSpPr>
              <p:cNvPr id="129" name="TextBox 128">
                <a:extLst>
                  <a:ext uri="{FF2B5EF4-FFF2-40B4-BE49-F238E27FC236}">
                    <a16:creationId xmlns:a16="http://schemas.microsoft.com/office/drawing/2014/main" id="{2372EB48-58F6-7306-7F1E-71B067E6D546}"/>
                  </a:ext>
                </a:extLst>
              </p:cNvPr>
              <p:cNvSpPr txBox="1">
                <a:spLocks noRot="1" noChangeAspect="1" noMove="1" noResize="1" noEditPoints="1" noAdjustHandles="1" noChangeArrowheads="1" noChangeShapeType="1" noTextEdit="1"/>
              </p:cNvSpPr>
              <p:nvPr/>
            </p:nvSpPr>
            <p:spPr>
              <a:xfrm>
                <a:off x="8495324" y="3969646"/>
                <a:ext cx="795130" cy="338554"/>
              </a:xfrm>
              <a:prstGeom prst="rect">
                <a:avLst/>
              </a:prstGeom>
              <a:blipFill>
                <a:blip r:embed="rId16"/>
                <a:stretch>
                  <a:fillRect/>
                </a:stretch>
              </a:blipFill>
              <a:ln>
                <a:noFill/>
              </a:ln>
            </p:spPr>
            <p:txBody>
              <a:bodyPr/>
              <a:lstStyle/>
              <a:p>
                <a:r>
                  <a:rPr lang="en-US">
                    <a:noFill/>
                  </a:rPr>
                  <a:t> </a:t>
                </a:r>
              </a:p>
            </p:txBody>
          </p:sp>
        </mc:Fallback>
      </mc:AlternateContent>
      <p:sp>
        <p:nvSpPr>
          <p:cNvPr id="130" name="Rectangle 129">
            <a:extLst>
              <a:ext uri="{FF2B5EF4-FFF2-40B4-BE49-F238E27FC236}">
                <a16:creationId xmlns:a16="http://schemas.microsoft.com/office/drawing/2014/main" id="{D87B6CCE-6BBC-A02C-7F28-25BDEA637F29}"/>
              </a:ext>
            </a:extLst>
          </p:cNvPr>
          <p:cNvSpPr/>
          <p:nvPr/>
        </p:nvSpPr>
        <p:spPr>
          <a:xfrm>
            <a:off x="367114" y="4919302"/>
            <a:ext cx="2902227" cy="1733968"/>
          </a:xfrm>
          <a:prstGeom prst="rect">
            <a:avLst/>
          </a:prstGeom>
          <a:noFill/>
          <a:ln w="12700">
            <a:solidFill>
              <a:schemeClr val="tx1"/>
            </a:solidFill>
          </a:ln>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600" dirty="0"/>
          </a:p>
        </p:txBody>
      </p:sp>
      <p:sp>
        <p:nvSpPr>
          <p:cNvPr id="131" name="TextBox 130">
            <a:extLst>
              <a:ext uri="{FF2B5EF4-FFF2-40B4-BE49-F238E27FC236}">
                <a16:creationId xmlns:a16="http://schemas.microsoft.com/office/drawing/2014/main" id="{01DA1A67-36A3-0F19-8FAB-DF5D286DA267}"/>
              </a:ext>
            </a:extLst>
          </p:cNvPr>
          <p:cNvSpPr txBox="1"/>
          <p:nvPr/>
        </p:nvSpPr>
        <p:spPr>
          <a:xfrm>
            <a:off x="434700" y="4929366"/>
            <a:ext cx="1152808" cy="338554"/>
          </a:xfrm>
          <a:prstGeom prst="rect">
            <a:avLst/>
          </a:prstGeom>
          <a:noFill/>
          <a:ln>
            <a:noFill/>
          </a:ln>
        </p:spPr>
        <p:txBody>
          <a:bodyPr wrap="square" rtlCol="0" anchor="ctr" anchorCtr="1">
            <a:spAutoFit/>
          </a:bodyPr>
          <a:lstStyle/>
          <a:p>
            <a:r>
              <a:rPr lang="en-US" sz="1600" dirty="0"/>
              <a:t>(0, Bearish)</a:t>
            </a:r>
          </a:p>
        </p:txBody>
      </p:sp>
      <p:sp>
        <p:nvSpPr>
          <p:cNvPr id="132" name="TextBox 131">
            <a:extLst>
              <a:ext uri="{FF2B5EF4-FFF2-40B4-BE49-F238E27FC236}">
                <a16:creationId xmlns:a16="http://schemas.microsoft.com/office/drawing/2014/main" id="{942C1FB3-F61A-25AD-3992-0AE5835ABFA4}"/>
              </a:ext>
            </a:extLst>
          </p:cNvPr>
          <p:cNvSpPr txBox="1"/>
          <p:nvPr/>
        </p:nvSpPr>
        <p:spPr>
          <a:xfrm>
            <a:off x="2410600" y="4913221"/>
            <a:ext cx="863372" cy="338554"/>
          </a:xfrm>
          <a:prstGeom prst="rect">
            <a:avLst/>
          </a:prstGeom>
          <a:noFill/>
          <a:ln>
            <a:noFill/>
          </a:ln>
        </p:spPr>
        <p:txBody>
          <a:bodyPr wrap="square" rtlCol="0" anchor="ctr" anchorCtr="1">
            <a:spAutoFit/>
          </a:bodyPr>
          <a:lstStyle/>
          <a:p>
            <a:r>
              <a:rPr lang="en-US" sz="1600" dirty="0">
                <a:highlight>
                  <a:srgbClr val="FF0000"/>
                </a:highlight>
              </a:rPr>
              <a:t>Bearish</a:t>
            </a:r>
          </a:p>
        </p:txBody>
      </p:sp>
      <p:sp>
        <p:nvSpPr>
          <p:cNvPr id="133" name="TextBox 132">
            <a:extLst>
              <a:ext uri="{FF2B5EF4-FFF2-40B4-BE49-F238E27FC236}">
                <a16:creationId xmlns:a16="http://schemas.microsoft.com/office/drawing/2014/main" id="{968E9B98-3207-41C0-6E7C-7122DC2936CF}"/>
              </a:ext>
            </a:extLst>
          </p:cNvPr>
          <p:cNvSpPr txBox="1"/>
          <p:nvPr/>
        </p:nvSpPr>
        <p:spPr>
          <a:xfrm>
            <a:off x="1418102" y="5117716"/>
            <a:ext cx="802916" cy="338554"/>
          </a:xfrm>
          <a:prstGeom prst="rect">
            <a:avLst/>
          </a:prstGeom>
          <a:noFill/>
          <a:ln>
            <a:noFill/>
          </a:ln>
        </p:spPr>
        <p:txBody>
          <a:bodyPr wrap="square" rtlCol="0" anchor="ctr" anchorCtr="1">
            <a:spAutoFit/>
          </a:bodyPr>
          <a:lstStyle/>
          <a:p>
            <a:r>
              <a:rPr lang="en-US" sz="1600" dirty="0"/>
              <a:t>Actions</a:t>
            </a:r>
          </a:p>
        </p:txBody>
      </p:sp>
      <p:sp>
        <p:nvSpPr>
          <p:cNvPr id="134" name="Rectangle: Rounded Corners 133">
            <a:extLst>
              <a:ext uri="{FF2B5EF4-FFF2-40B4-BE49-F238E27FC236}">
                <a16:creationId xmlns:a16="http://schemas.microsoft.com/office/drawing/2014/main" id="{E50F9307-9DD0-90AD-8675-2F1470F04040}"/>
              </a:ext>
            </a:extLst>
          </p:cNvPr>
          <p:cNvSpPr/>
          <p:nvPr/>
        </p:nvSpPr>
        <p:spPr>
          <a:xfrm>
            <a:off x="726256" y="5456270"/>
            <a:ext cx="2186608" cy="369332"/>
          </a:xfrm>
          <a:prstGeom prst="roundRect">
            <a:avLst/>
          </a:prstGeom>
          <a:solidFill>
            <a:srgbClr val="00B050">
              <a:alpha val="25000"/>
            </a:srgb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600" dirty="0"/>
          </a:p>
        </p:txBody>
      </p:sp>
      <p:sp>
        <p:nvSpPr>
          <p:cNvPr id="135" name="TextBox 134">
            <a:extLst>
              <a:ext uri="{FF2B5EF4-FFF2-40B4-BE49-F238E27FC236}">
                <a16:creationId xmlns:a16="http://schemas.microsoft.com/office/drawing/2014/main" id="{7843A576-12BE-3909-69F1-D376F8ECC5B5}"/>
              </a:ext>
            </a:extLst>
          </p:cNvPr>
          <p:cNvSpPr txBox="1"/>
          <p:nvPr/>
        </p:nvSpPr>
        <p:spPr>
          <a:xfrm>
            <a:off x="726256" y="5471659"/>
            <a:ext cx="1144988" cy="338554"/>
          </a:xfrm>
          <a:prstGeom prst="rect">
            <a:avLst/>
          </a:prstGeom>
          <a:noFill/>
          <a:ln>
            <a:noFill/>
          </a:ln>
        </p:spPr>
        <p:txBody>
          <a:bodyPr wrap="square" rtlCol="0" anchor="ctr" anchorCtr="1">
            <a:spAutoFit/>
          </a:bodyPr>
          <a:lstStyle/>
          <a:p>
            <a:r>
              <a:rPr lang="en-US" sz="1600" dirty="0"/>
              <a:t>Buy Share</a:t>
            </a:r>
          </a:p>
        </p:txBody>
      </p:sp>
      <mc:AlternateContent xmlns:mc="http://schemas.openxmlformats.org/markup-compatibility/2006" xmlns:a14="http://schemas.microsoft.com/office/drawing/2010/main">
        <mc:Choice Requires="a14">
          <p:sp>
            <p:nvSpPr>
              <p:cNvPr id="136" name="TextBox 135">
                <a:extLst>
                  <a:ext uri="{FF2B5EF4-FFF2-40B4-BE49-F238E27FC236}">
                    <a16:creationId xmlns:a16="http://schemas.microsoft.com/office/drawing/2014/main" id="{7ED2C4BF-FFDC-4D7C-B333-4A7542CC5CC8}"/>
                  </a:ext>
                </a:extLst>
              </p:cNvPr>
              <p:cNvSpPr txBox="1"/>
              <p:nvPr/>
            </p:nvSpPr>
            <p:spPr>
              <a:xfrm>
                <a:off x="2296638" y="5471659"/>
                <a:ext cx="596348" cy="338554"/>
              </a:xfrm>
              <a:prstGeom prst="rect">
                <a:avLst/>
              </a:prstGeom>
              <a:noFill/>
              <a:ln>
                <a:noFill/>
              </a:ln>
            </p:spPr>
            <p:txBody>
              <a:bodyPr wrap="square" rtlCol="0" anchor="ctr" anchorCtr="1">
                <a:spAutoFit/>
              </a:bodyPr>
              <a:lstStyle/>
              <a:p>
                <a:pPr/>
                <a14:m>
                  <m:oMathPara xmlns:m="http://schemas.openxmlformats.org/officeDocument/2006/math">
                    <m:oMathParaPr>
                      <m:jc m:val="centerGroup"/>
                    </m:oMathParaPr>
                    <m:oMath xmlns:m="http://schemas.openxmlformats.org/officeDocument/2006/math">
                      <m:r>
                        <a:rPr lang="en-US" sz="1600" i="1" dirty="0" smtClean="0">
                          <a:solidFill>
                            <a:srgbClr val="FF0000"/>
                          </a:solidFill>
                          <a:latin typeface="Cambria Math" panose="02040503050406030204" pitchFamily="18" charset="0"/>
                        </a:rPr>
                        <m:t>−$3</m:t>
                      </m:r>
                    </m:oMath>
                  </m:oMathPara>
                </a14:m>
                <a:endParaRPr lang="en-US" sz="1600" dirty="0"/>
              </a:p>
            </p:txBody>
          </p:sp>
        </mc:Choice>
        <mc:Fallback xmlns="">
          <p:sp>
            <p:nvSpPr>
              <p:cNvPr id="136" name="TextBox 135">
                <a:extLst>
                  <a:ext uri="{FF2B5EF4-FFF2-40B4-BE49-F238E27FC236}">
                    <a16:creationId xmlns:a16="http://schemas.microsoft.com/office/drawing/2014/main" id="{7ED2C4BF-FFDC-4D7C-B333-4A7542CC5CC8}"/>
                  </a:ext>
                </a:extLst>
              </p:cNvPr>
              <p:cNvSpPr txBox="1">
                <a:spLocks noRot="1" noChangeAspect="1" noMove="1" noResize="1" noEditPoints="1" noAdjustHandles="1" noChangeArrowheads="1" noChangeShapeType="1" noTextEdit="1"/>
              </p:cNvSpPr>
              <p:nvPr/>
            </p:nvSpPr>
            <p:spPr>
              <a:xfrm>
                <a:off x="2296638" y="5471659"/>
                <a:ext cx="596348" cy="338554"/>
              </a:xfrm>
              <a:prstGeom prst="rect">
                <a:avLst/>
              </a:prstGeom>
              <a:blipFill>
                <a:blip r:embed="rId17"/>
                <a:stretch>
                  <a:fillRect b="-1818"/>
                </a:stretch>
              </a:blipFill>
              <a:ln>
                <a:noFill/>
              </a:ln>
            </p:spPr>
            <p:txBody>
              <a:bodyPr/>
              <a:lstStyle/>
              <a:p>
                <a:r>
                  <a:rPr lang="en-US">
                    <a:noFill/>
                  </a:rPr>
                  <a:t> </a:t>
                </a:r>
              </a:p>
            </p:txBody>
          </p:sp>
        </mc:Fallback>
      </mc:AlternateContent>
      <p:sp>
        <p:nvSpPr>
          <p:cNvPr id="137" name="Rectangle: Rounded Corners 136">
            <a:extLst>
              <a:ext uri="{FF2B5EF4-FFF2-40B4-BE49-F238E27FC236}">
                <a16:creationId xmlns:a16="http://schemas.microsoft.com/office/drawing/2014/main" id="{32405E5B-9BCD-CDC3-AE70-ABF0A2D2D103}"/>
              </a:ext>
            </a:extLst>
          </p:cNvPr>
          <p:cNvSpPr/>
          <p:nvPr/>
        </p:nvSpPr>
        <p:spPr>
          <a:xfrm>
            <a:off x="726256" y="5824830"/>
            <a:ext cx="2186608" cy="376601"/>
          </a:xfrm>
          <a:prstGeom prst="roundRect">
            <a:avLst/>
          </a:prstGeom>
          <a:solidFill>
            <a:srgbClr val="FF0000">
              <a:alpha val="25000"/>
            </a:srgb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600" dirty="0"/>
          </a:p>
        </p:txBody>
      </p:sp>
      <p:sp>
        <p:nvSpPr>
          <p:cNvPr id="138" name="TextBox 137">
            <a:extLst>
              <a:ext uri="{FF2B5EF4-FFF2-40B4-BE49-F238E27FC236}">
                <a16:creationId xmlns:a16="http://schemas.microsoft.com/office/drawing/2014/main" id="{FBB13B0F-6DB0-A084-9A6D-339673267076}"/>
              </a:ext>
            </a:extLst>
          </p:cNvPr>
          <p:cNvSpPr txBox="1"/>
          <p:nvPr/>
        </p:nvSpPr>
        <p:spPr>
          <a:xfrm>
            <a:off x="885006" y="5846255"/>
            <a:ext cx="702503" cy="338554"/>
          </a:xfrm>
          <a:prstGeom prst="rect">
            <a:avLst/>
          </a:prstGeom>
          <a:noFill/>
          <a:ln>
            <a:noFill/>
          </a:ln>
        </p:spPr>
        <p:txBody>
          <a:bodyPr wrap="square" rtlCol="0" anchor="ctr" anchorCtr="1">
            <a:spAutoFit/>
          </a:bodyPr>
          <a:lstStyle/>
          <a:p>
            <a:r>
              <a:rPr lang="en-US" sz="1600" dirty="0">
                <a:solidFill>
                  <a:schemeClr val="tx1">
                    <a:lumMod val="50000"/>
                    <a:lumOff val="50000"/>
                  </a:schemeClr>
                </a:solidFill>
              </a:rPr>
              <a:t>Sell</a:t>
            </a:r>
          </a:p>
        </p:txBody>
      </p:sp>
      <p:sp>
        <p:nvSpPr>
          <p:cNvPr id="139" name="TextBox 138">
            <a:extLst>
              <a:ext uri="{FF2B5EF4-FFF2-40B4-BE49-F238E27FC236}">
                <a16:creationId xmlns:a16="http://schemas.microsoft.com/office/drawing/2014/main" id="{EBE3CA50-6180-5A4C-D424-931B94FBFDBB}"/>
              </a:ext>
            </a:extLst>
          </p:cNvPr>
          <p:cNvSpPr txBox="1"/>
          <p:nvPr/>
        </p:nvSpPr>
        <p:spPr>
          <a:xfrm>
            <a:off x="2161466" y="5824830"/>
            <a:ext cx="795130" cy="338554"/>
          </a:xfrm>
          <a:prstGeom prst="rect">
            <a:avLst/>
          </a:prstGeom>
          <a:noFill/>
          <a:ln>
            <a:noFill/>
          </a:ln>
        </p:spPr>
        <p:txBody>
          <a:bodyPr wrap="square" rtlCol="0" anchor="ctr" anchorCtr="1">
            <a:spAutoFit/>
          </a:bodyPr>
          <a:lstStyle/>
          <a:p>
            <a:r>
              <a:rPr lang="en-US" sz="1600" dirty="0">
                <a:solidFill>
                  <a:schemeClr val="tx1">
                    <a:lumMod val="50000"/>
                    <a:lumOff val="50000"/>
                  </a:schemeClr>
                </a:solidFill>
              </a:rPr>
              <a:t>N/A</a:t>
            </a:r>
          </a:p>
        </p:txBody>
      </p:sp>
      <p:sp>
        <p:nvSpPr>
          <p:cNvPr id="140" name="Rectangle: Rounded Corners 139">
            <a:extLst>
              <a:ext uri="{FF2B5EF4-FFF2-40B4-BE49-F238E27FC236}">
                <a16:creationId xmlns:a16="http://schemas.microsoft.com/office/drawing/2014/main" id="{595C7B42-29B4-BBFF-2DA7-3CD8CF999235}"/>
              </a:ext>
            </a:extLst>
          </p:cNvPr>
          <p:cNvSpPr/>
          <p:nvPr/>
        </p:nvSpPr>
        <p:spPr>
          <a:xfrm>
            <a:off x="726256" y="6207399"/>
            <a:ext cx="2186608" cy="369332"/>
          </a:xfrm>
          <a:prstGeom prst="roundRect">
            <a:avLst/>
          </a:prstGeom>
          <a:solidFill>
            <a:schemeClr val="tx1">
              <a:lumMod val="50000"/>
              <a:lumOff val="50000"/>
              <a:alpha val="25000"/>
            </a:scheme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600" dirty="0"/>
          </a:p>
        </p:txBody>
      </p:sp>
      <p:sp>
        <p:nvSpPr>
          <p:cNvPr id="141" name="TextBox 140">
            <a:extLst>
              <a:ext uri="{FF2B5EF4-FFF2-40B4-BE49-F238E27FC236}">
                <a16:creationId xmlns:a16="http://schemas.microsoft.com/office/drawing/2014/main" id="{8E04A4AB-0DB1-4F8F-C4BF-15C146D9E841}"/>
              </a:ext>
            </a:extLst>
          </p:cNvPr>
          <p:cNvSpPr txBox="1"/>
          <p:nvPr/>
        </p:nvSpPr>
        <p:spPr>
          <a:xfrm>
            <a:off x="918343" y="6231437"/>
            <a:ext cx="635828" cy="338554"/>
          </a:xfrm>
          <a:prstGeom prst="rect">
            <a:avLst/>
          </a:prstGeom>
          <a:noFill/>
          <a:ln>
            <a:noFill/>
          </a:ln>
        </p:spPr>
        <p:txBody>
          <a:bodyPr wrap="square" rtlCol="0" anchor="ctr" anchorCtr="1">
            <a:spAutoFit/>
          </a:bodyPr>
          <a:lstStyle/>
          <a:p>
            <a:r>
              <a:rPr lang="en-US" sz="1600" dirty="0"/>
              <a:t>Hold</a:t>
            </a:r>
          </a:p>
        </p:txBody>
      </p:sp>
      <mc:AlternateContent xmlns:mc="http://schemas.openxmlformats.org/markup-compatibility/2006" xmlns:a14="http://schemas.microsoft.com/office/drawing/2010/main">
        <mc:Choice Requires="a14">
          <p:sp>
            <p:nvSpPr>
              <p:cNvPr id="142" name="TextBox 141">
                <a:extLst>
                  <a:ext uri="{FF2B5EF4-FFF2-40B4-BE49-F238E27FC236}">
                    <a16:creationId xmlns:a16="http://schemas.microsoft.com/office/drawing/2014/main" id="{D0C3EDE0-004F-C31B-0404-385ACA02A6F4}"/>
                  </a:ext>
                </a:extLst>
              </p:cNvPr>
              <p:cNvSpPr txBox="1"/>
              <p:nvPr/>
            </p:nvSpPr>
            <p:spPr>
              <a:xfrm>
                <a:off x="2398403" y="6231437"/>
                <a:ext cx="392817" cy="338554"/>
              </a:xfrm>
              <a:prstGeom prst="rect">
                <a:avLst/>
              </a:prstGeom>
              <a:noFill/>
              <a:ln>
                <a:noFill/>
              </a:ln>
            </p:spPr>
            <p:txBody>
              <a:bodyPr wrap="square" rtlCol="0" anchor="ctr" anchorCtr="1">
                <a:spAutoFit/>
              </a:bodyPr>
              <a:lstStyle/>
              <a:p>
                <a:pPr/>
                <a14:m>
                  <m:oMathPara xmlns:m="http://schemas.openxmlformats.org/officeDocument/2006/math">
                    <m:oMathParaPr>
                      <m:jc m:val="centerGroup"/>
                    </m:oMathParaPr>
                    <m:oMath xmlns:m="http://schemas.openxmlformats.org/officeDocument/2006/math">
                      <m:r>
                        <a:rPr lang="en-US" sz="1600" i="1" dirty="0" smtClean="0">
                          <a:solidFill>
                            <a:schemeClr val="tx1"/>
                          </a:solidFill>
                          <a:latin typeface="Cambria Math" panose="02040503050406030204" pitchFamily="18" charset="0"/>
                        </a:rPr>
                        <m:t>$</m:t>
                      </m:r>
                      <m:r>
                        <a:rPr lang="en-US" sz="1600" b="0" i="1" dirty="0" smtClean="0">
                          <a:solidFill>
                            <a:schemeClr val="tx1"/>
                          </a:solidFill>
                          <a:latin typeface="Cambria Math" panose="02040503050406030204" pitchFamily="18" charset="0"/>
                        </a:rPr>
                        <m:t>0</m:t>
                      </m:r>
                    </m:oMath>
                  </m:oMathPara>
                </a14:m>
                <a:endParaRPr lang="en-US" sz="1600" dirty="0"/>
              </a:p>
            </p:txBody>
          </p:sp>
        </mc:Choice>
        <mc:Fallback xmlns="">
          <p:sp>
            <p:nvSpPr>
              <p:cNvPr id="142" name="TextBox 141">
                <a:extLst>
                  <a:ext uri="{FF2B5EF4-FFF2-40B4-BE49-F238E27FC236}">
                    <a16:creationId xmlns:a16="http://schemas.microsoft.com/office/drawing/2014/main" id="{D0C3EDE0-004F-C31B-0404-385ACA02A6F4}"/>
                  </a:ext>
                </a:extLst>
              </p:cNvPr>
              <p:cNvSpPr txBox="1">
                <a:spLocks noRot="1" noChangeAspect="1" noMove="1" noResize="1" noEditPoints="1" noAdjustHandles="1" noChangeArrowheads="1" noChangeShapeType="1" noTextEdit="1"/>
              </p:cNvSpPr>
              <p:nvPr/>
            </p:nvSpPr>
            <p:spPr>
              <a:xfrm>
                <a:off x="2398403" y="6231437"/>
                <a:ext cx="392817" cy="338554"/>
              </a:xfrm>
              <a:prstGeom prst="rect">
                <a:avLst/>
              </a:prstGeom>
              <a:blipFill>
                <a:blip r:embed="rId18"/>
                <a:stretch>
                  <a:fillRect l="-4615"/>
                </a:stretch>
              </a:blipFill>
              <a:ln>
                <a:noFill/>
              </a:ln>
            </p:spPr>
            <p:txBody>
              <a:bodyPr/>
              <a:lstStyle/>
              <a:p>
                <a:r>
                  <a:rPr lang="en-US">
                    <a:noFill/>
                  </a:rPr>
                  <a:t> </a:t>
                </a:r>
              </a:p>
            </p:txBody>
          </p:sp>
        </mc:Fallback>
      </mc:AlternateContent>
      <p:sp>
        <p:nvSpPr>
          <p:cNvPr id="143" name="Rectangle 142">
            <a:extLst>
              <a:ext uri="{FF2B5EF4-FFF2-40B4-BE49-F238E27FC236}">
                <a16:creationId xmlns:a16="http://schemas.microsoft.com/office/drawing/2014/main" id="{F643F5A2-239A-01DF-4AB4-8E2FCF80F75A}"/>
              </a:ext>
            </a:extLst>
          </p:cNvPr>
          <p:cNvSpPr/>
          <p:nvPr/>
        </p:nvSpPr>
        <p:spPr>
          <a:xfrm>
            <a:off x="3520936" y="4919302"/>
            <a:ext cx="2902227" cy="1733968"/>
          </a:xfrm>
          <a:prstGeom prst="rect">
            <a:avLst/>
          </a:prstGeom>
          <a:noFill/>
          <a:ln w="12700">
            <a:solidFill>
              <a:schemeClr val="tx1"/>
            </a:solidFill>
          </a:ln>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600" dirty="0"/>
          </a:p>
        </p:txBody>
      </p:sp>
      <p:sp>
        <p:nvSpPr>
          <p:cNvPr id="144" name="TextBox 143">
            <a:extLst>
              <a:ext uri="{FF2B5EF4-FFF2-40B4-BE49-F238E27FC236}">
                <a16:creationId xmlns:a16="http://schemas.microsoft.com/office/drawing/2014/main" id="{A5FACCB9-72A6-B0A4-E07B-6C5DD1A764A0}"/>
              </a:ext>
            </a:extLst>
          </p:cNvPr>
          <p:cNvSpPr txBox="1"/>
          <p:nvPr/>
        </p:nvSpPr>
        <p:spPr>
          <a:xfrm>
            <a:off x="3588522" y="4929366"/>
            <a:ext cx="1152808" cy="338554"/>
          </a:xfrm>
          <a:prstGeom prst="rect">
            <a:avLst/>
          </a:prstGeom>
          <a:noFill/>
          <a:ln>
            <a:noFill/>
          </a:ln>
        </p:spPr>
        <p:txBody>
          <a:bodyPr wrap="square" rtlCol="0" anchor="ctr" anchorCtr="1">
            <a:spAutoFit/>
          </a:bodyPr>
          <a:lstStyle/>
          <a:p>
            <a:r>
              <a:rPr lang="en-US" sz="1600" dirty="0"/>
              <a:t>(1, Bearish)</a:t>
            </a:r>
          </a:p>
        </p:txBody>
      </p:sp>
      <p:sp>
        <p:nvSpPr>
          <p:cNvPr id="146" name="TextBox 145">
            <a:extLst>
              <a:ext uri="{FF2B5EF4-FFF2-40B4-BE49-F238E27FC236}">
                <a16:creationId xmlns:a16="http://schemas.microsoft.com/office/drawing/2014/main" id="{9DAAF593-7D9B-949C-ED72-4A4F67874AC7}"/>
              </a:ext>
            </a:extLst>
          </p:cNvPr>
          <p:cNvSpPr txBox="1"/>
          <p:nvPr/>
        </p:nvSpPr>
        <p:spPr>
          <a:xfrm>
            <a:off x="4571924" y="5117716"/>
            <a:ext cx="802916" cy="338554"/>
          </a:xfrm>
          <a:prstGeom prst="rect">
            <a:avLst/>
          </a:prstGeom>
          <a:noFill/>
          <a:ln>
            <a:noFill/>
          </a:ln>
        </p:spPr>
        <p:txBody>
          <a:bodyPr wrap="square" rtlCol="0" anchor="ctr" anchorCtr="1">
            <a:spAutoFit/>
          </a:bodyPr>
          <a:lstStyle/>
          <a:p>
            <a:r>
              <a:rPr lang="en-US" sz="1600" dirty="0"/>
              <a:t>Actions</a:t>
            </a:r>
          </a:p>
        </p:txBody>
      </p:sp>
      <p:sp>
        <p:nvSpPr>
          <p:cNvPr id="147" name="Rectangle: Rounded Corners 146">
            <a:extLst>
              <a:ext uri="{FF2B5EF4-FFF2-40B4-BE49-F238E27FC236}">
                <a16:creationId xmlns:a16="http://schemas.microsoft.com/office/drawing/2014/main" id="{8CC3165C-C9B4-4208-0277-30C479C2506B}"/>
              </a:ext>
            </a:extLst>
          </p:cNvPr>
          <p:cNvSpPr/>
          <p:nvPr/>
        </p:nvSpPr>
        <p:spPr>
          <a:xfrm>
            <a:off x="3880078" y="5456270"/>
            <a:ext cx="2186608" cy="369332"/>
          </a:xfrm>
          <a:prstGeom prst="roundRect">
            <a:avLst/>
          </a:prstGeom>
          <a:solidFill>
            <a:srgbClr val="00B050">
              <a:alpha val="25000"/>
            </a:srgb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600" dirty="0"/>
          </a:p>
        </p:txBody>
      </p:sp>
      <p:sp>
        <p:nvSpPr>
          <p:cNvPr id="148" name="TextBox 147">
            <a:extLst>
              <a:ext uri="{FF2B5EF4-FFF2-40B4-BE49-F238E27FC236}">
                <a16:creationId xmlns:a16="http://schemas.microsoft.com/office/drawing/2014/main" id="{D0D07F68-450E-C64C-54C1-EB5204FE377A}"/>
              </a:ext>
            </a:extLst>
          </p:cNvPr>
          <p:cNvSpPr txBox="1"/>
          <p:nvPr/>
        </p:nvSpPr>
        <p:spPr>
          <a:xfrm>
            <a:off x="3880078" y="5471659"/>
            <a:ext cx="1144988" cy="338554"/>
          </a:xfrm>
          <a:prstGeom prst="rect">
            <a:avLst/>
          </a:prstGeom>
          <a:noFill/>
          <a:ln>
            <a:noFill/>
          </a:ln>
        </p:spPr>
        <p:txBody>
          <a:bodyPr wrap="square" rtlCol="0" anchor="ctr" anchorCtr="1">
            <a:spAutoFit/>
          </a:bodyPr>
          <a:lstStyle/>
          <a:p>
            <a:r>
              <a:rPr lang="en-US" sz="1600" dirty="0"/>
              <a:t>Buy Share</a:t>
            </a:r>
          </a:p>
        </p:txBody>
      </p:sp>
      <mc:AlternateContent xmlns:mc="http://schemas.openxmlformats.org/markup-compatibility/2006" xmlns:a14="http://schemas.microsoft.com/office/drawing/2010/main">
        <mc:Choice Requires="a14">
          <p:sp>
            <p:nvSpPr>
              <p:cNvPr id="149" name="TextBox 148">
                <a:extLst>
                  <a:ext uri="{FF2B5EF4-FFF2-40B4-BE49-F238E27FC236}">
                    <a16:creationId xmlns:a16="http://schemas.microsoft.com/office/drawing/2014/main" id="{82A1DC70-5C39-7E8D-2571-CAB5B2882C3D}"/>
                  </a:ext>
                </a:extLst>
              </p:cNvPr>
              <p:cNvSpPr txBox="1"/>
              <p:nvPr/>
            </p:nvSpPr>
            <p:spPr>
              <a:xfrm>
                <a:off x="5450460" y="5471659"/>
                <a:ext cx="596348" cy="338554"/>
              </a:xfrm>
              <a:prstGeom prst="rect">
                <a:avLst/>
              </a:prstGeom>
              <a:noFill/>
              <a:ln>
                <a:noFill/>
              </a:ln>
            </p:spPr>
            <p:txBody>
              <a:bodyPr wrap="square" rtlCol="0" anchor="ctr" anchorCtr="1">
                <a:spAutoFit/>
              </a:bodyPr>
              <a:lstStyle/>
              <a:p>
                <a:pPr/>
                <a14:m>
                  <m:oMathPara xmlns:m="http://schemas.openxmlformats.org/officeDocument/2006/math">
                    <m:oMathParaPr>
                      <m:jc m:val="centerGroup"/>
                    </m:oMathParaPr>
                    <m:oMath xmlns:m="http://schemas.openxmlformats.org/officeDocument/2006/math">
                      <m:r>
                        <a:rPr lang="en-US" sz="1600" i="1" dirty="0" smtClean="0">
                          <a:solidFill>
                            <a:srgbClr val="FF0000"/>
                          </a:solidFill>
                          <a:latin typeface="Cambria Math" panose="02040503050406030204" pitchFamily="18" charset="0"/>
                        </a:rPr>
                        <m:t>−$3</m:t>
                      </m:r>
                    </m:oMath>
                  </m:oMathPara>
                </a14:m>
                <a:endParaRPr lang="en-US" sz="1600" dirty="0"/>
              </a:p>
            </p:txBody>
          </p:sp>
        </mc:Choice>
        <mc:Fallback xmlns="">
          <p:sp>
            <p:nvSpPr>
              <p:cNvPr id="149" name="TextBox 148">
                <a:extLst>
                  <a:ext uri="{FF2B5EF4-FFF2-40B4-BE49-F238E27FC236}">
                    <a16:creationId xmlns:a16="http://schemas.microsoft.com/office/drawing/2014/main" id="{82A1DC70-5C39-7E8D-2571-CAB5B2882C3D}"/>
                  </a:ext>
                </a:extLst>
              </p:cNvPr>
              <p:cNvSpPr txBox="1">
                <a:spLocks noRot="1" noChangeAspect="1" noMove="1" noResize="1" noEditPoints="1" noAdjustHandles="1" noChangeArrowheads="1" noChangeShapeType="1" noTextEdit="1"/>
              </p:cNvSpPr>
              <p:nvPr/>
            </p:nvSpPr>
            <p:spPr>
              <a:xfrm>
                <a:off x="5450460" y="5471659"/>
                <a:ext cx="596348" cy="338554"/>
              </a:xfrm>
              <a:prstGeom prst="rect">
                <a:avLst/>
              </a:prstGeom>
              <a:blipFill>
                <a:blip r:embed="rId19"/>
                <a:stretch>
                  <a:fillRect b="-1818"/>
                </a:stretch>
              </a:blipFill>
              <a:ln>
                <a:noFill/>
              </a:ln>
            </p:spPr>
            <p:txBody>
              <a:bodyPr/>
              <a:lstStyle/>
              <a:p>
                <a:r>
                  <a:rPr lang="en-US">
                    <a:noFill/>
                  </a:rPr>
                  <a:t> </a:t>
                </a:r>
              </a:p>
            </p:txBody>
          </p:sp>
        </mc:Fallback>
      </mc:AlternateContent>
      <p:sp>
        <p:nvSpPr>
          <p:cNvPr id="150" name="Rectangle: Rounded Corners 149">
            <a:extLst>
              <a:ext uri="{FF2B5EF4-FFF2-40B4-BE49-F238E27FC236}">
                <a16:creationId xmlns:a16="http://schemas.microsoft.com/office/drawing/2014/main" id="{04DC770F-4C76-2200-CE7C-227D35C1949F}"/>
              </a:ext>
            </a:extLst>
          </p:cNvPr>
          <p:cNvSpPr/>
          <p:nvPr/>
        </p:nvSpPr>
        <p:spPr>
          <a:xfrm>
            <a:off x="3880078" y="5824830"/>
            <a:ext cx="2186608" cy="376601"/>
          </a:xfrm>
          <a:prstGeom prst="roundRect">
            <a:avLst/>
          </a:prstGeom>
          <a:solidFill>
            <a:srgbClr val="FF0000">
              <a:alpha val="25000"/>
            </a:srgb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600" dirty="0"/>
          </a:p>
        </p:txBody>
      </p:sp>
      <p:sp>
        <p:nvSpPr>
          <p:cNvPr id="151" name="TextBox 150">
            <a:extLst>
              <a:ext uri="{FF2B5EF4-FFF2-40B4-BE49-F238E27FC236}">
                <a16:creationId xmlns:a16="http://schemas.microsoft.com/office/drawing/2014/main" id="{BB436257-EF38-FB89-923E-AA6119E13D66}"/>
              </a:ext>
            </a:extLst>
          </p:cNvPr>
          <p:cNvSpPr txBox="1"/>
          <p:nvPr/>
        </p:nvSpPr>
        <p:spPr>
          <a:xfrm>
            <a:off x="4038828" y="5846255"/>
            <a:ext cx="702503" cy="338554"/>
          </a:xfrm>
          <a:prstGeom prst="rect">
            <a:avLst/>
          </a:prstGeom>
          <a:noFill/>
          <a:ln>
            <a:noFill/>
          </a:ln>
        </p:spPr>
        <p:txBody>
          <a:bodyPr wrap="square" rtlCol="0" anchor="ctr" anchorCtr="1">
            <a:spAutoFit/>
          </a:bodyPr>
          <a:lstStyle/>
          <a:p>
            <a:r>
              <a:rPr lang="en-US" sz="1600" dirty="0"/>
              <a:t>Sell</a:t>
            </a:r>
          </a:p>
        </p:txBody>
      </p:sp>
      <p:sp>
        <p:nvSpPr>
          <p:cNvPr id="153" name="Rectangle: Rounded Corners 152">
            <a:extLst>
              <a:ext uri="{FF2B5EF4-FFF2-40B4-BE49-F238E27FC236}">
                <a16:creationId xmlns:a16="http://schemas.microsoft.com/office/drawing/2014/main" id="{85D0FDC0-E586-280E-0ACC-0AFD4F166EF7}"/>
              </a:ext>
            </a:extLst>
          </p:cNvPr>
          <p:cNvSpPr/>
          <p:nvPr/>
        </p:nvSpPr>
        <p:spPr>
          <a:xfrm>
            <a:off x="3880078" y="6207399"/>
            <a:ext cx="2186608" cy="369332"/>
          </a:xfrm>
          <a:prstGeom prst="roundRect">
            <a:avLst/>
          </a:prstGeom>
          <a:solidFill>
            <a:schemeClr val="tx1">
              <a:lumMod val="50000"/>
              <a:lumOff val="50000"/>
              <a:alpha val="25000"/>
            </a:scheme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600" dirty="0"/>
          </a:p>
        </p:txBody>
      </p:sp>
      <p:sp>
        <p:nvSpPr>
          <p:cNvPr id="154" name="TextBox 153">
            <a:extLst>
              <a:ext uri="{FF2B5EF4-FFF2-40B4-BE49-F238E27FC236}">
                <a16:creationId xmlns:a16="http://schemas.microsoft.com/office/drawing/2014/main" id="{FA373D81-9129-9507-331A-02DE361830E5}"/>
              </a:ext>
            </a:extLst>
          </p:cNvPr>
          <p:cNvSpPr txBox="1"/>
          <p:nvPr/>
        </p:nvSpPr>
        <p:spPr>
          <a:xfrm>
            <a:off x="4072165" y="6231437"/>
            <a:ext cx="635828" cy="338554"/>
          </a:xfrm>
          <a:prstGeom prst="rect">
            <a:avLst/>
          </a:prstGeom>
          <a:noFill/>
          <a:ln>
            <a:noFill/>
          </a:ln>
        </p:spPr>
        <p:txBody>
          <a:bodyPr wrap="square" rtlCol="0" anchor="ctr" anchorCtr="1">
            <a:spAutoFit/>
          </a:bodyPr>
          <a:lstStyle/>
          <a:p>
            <a:r>
              <a:rPr lang="en-US" sz="1600" dirty="0"/>
              <a:t>Hold</a:t>
            </a:r>
          </a:p>
        </p:txBody>
      </p:sp>
      <mc:AlternateContent xmlns:mc="http://schemas.openxmlformats.org/markup-compatibility/2006" xmlns:a14="http://schemas.microsoft.com/office/drawing/2010/main">
        <mc:Choice Requires="a14">
          <p:sp>
            <p:nvSpPr>
              <p:cNvPr id="155" name="TextBox 154">
                <a:extLst>
                  <a:ext uri="{FF2B5EF4-FFF2-40B4-BE49-F238E27FC236}">
                    <a16:creationId xmlns:a16="http://schemas.microsoft.com/office/drawing/2014/main" id="{7E709687-E0DB-106C-2675-A9862DC93983}"/>
                  </a:ext>
                </a:extLst>
              </p:cNvPr>
              <p:cNvSpPr txBox="1"/>
              <p:nvPr/>
            </p:nvSpPr>
            <p:spPr>
              <a:xfrm>
                <a:off x="5552225" y="6231437"/>
                <a:ext cx="392817" cy="338554"/>
              </a:xfrm>
              <a:prstGeom prst="rect">
                <a:avLst/>
              </a:prstGeom>
              <a:noFill/>
              <a:ln>
                <a:noFill/>
              </a:ln>
            </p:spPr>
            <p:txBody>
              <a:bodyPr wrap="square" rtlCol="0" anchor="ctr" anchorCtr="1">
                <a:spAutoFit/>
              </a:bodyPr>
              <a:lstStyle/>
              <a:p>
                <a:pPr/>
                <a14:m>
                  <m:oMathPara xmlns:m="http://schemas.openxmlformats.org/officeDocument/2006/math">
                    <m:oMathParaPr>
                      <m:jc m:val="centerGroup"/>
                    </m:oMathParaPr>
                    <m:oMath xmlns:m="http://schemas.openxmlformats.org/officeDocument/2006/math">
                      <m:r>
                        <a:rPr lang="en-US" sz="1600" i="1" dirty="0" smtClean="0">
                          <a:solidFill>
                            <a:schemeClr val="tx1"/>
                          </a:solidFill>
                          <a:latin typeface="Cambria Math" panose="02040503050406030204" pitchFamily="18" charset="0"/>
                        </a:rPr>
                        <m:t>$</m:t>
                      </m:r>
                      <m:r>
                        <a:rPr lang="en-US" sz="1600" b="0" i="1" dirty="0" smtClean="0">
                          <a:solidFill>
                            <a:schemeClr val="tx1"/>
                          </a:solidFill>
                          <a:latin typeface="Cambria Math" panose="02040503050406030204" pitchFamily="18" charset="0"/>
                        </a:rPr>
                        <m:t>0</m:t>
                      </m:r>
                    </m:oMath>
                  </m:oMathPara>
                </a14:m>
                <a:endParaRPr lang="en-US" sz="1600" dirty="0"/>
              </a:p>
            </p:txBody>
          </p:sp>
        </mc:Choice>
        <mc:Fallback xmlns="">
          <p:sp>
            <p:nvSpPr>
              <p:cNvPr id="155" name="TextBox 154">
                <a:extLst>
                  <a:ext uri="{FF2B5EF4-FFF2-40B4-BE49-F238E27FC236}">
                    <a16:creationId xmlns:a16="http://schemas.microsoft.com/office/drawing/2014/main" id="{7E709687-E0DB-106C-2675-A9862DC93983}"/>
                  </a:ext>
                </a:extLst>
              </p:cNvPr>
              <p:cNvSpPr txBox="1">
                <a:spLocks noRot="1" noChangeAspect="1" noMove="1" noResize="1" noEditPoints="1" noAdjustHandles="1" noChangeArrowheads="1" noChangeShapeType="1" noTextEdit="1"/>
              </p:cNvSpPr>
              <p:nvPr/>
            </p:nvSpPr>
            <p:spPr>
              <a:xfrm>
                <a:off x="5552225" y="6231437"/>
                <a:ext cx="392817" cy="338554"/>
              </a:xfrm>
              <a:prstGeom prst="rect">
                <a:avLst/>
              </a:prstGeom>
              <a:blipFill>
                <a:blip r:embed="rId20"/>
                <a:stretch>
                  <a:fillRect l="-6250"/>
                </a:stretch>
              </a:blipFill>
              <a:ln>
                <a:noFill/>
              </a:ln>
            </p:spPr>
            <p:txBody>
              <a:bodyPr/>
              <a:lstStyle/>
              <a:p>
                <a:r>
                  <a:rPr lang="en-US">
                    <a:noFill/>
                  </a:rPr>
                  <a:t> </a:t>
                </a:r>
              </a:p>
            </p:txBody>
          </p:sp>
        </mc:Fallback>
      </mc:AlternateContent>
      <p:sp>
        <p:nvSpPr>
          <p:cNvPr id="156" name="Rectangle 155">
            <a:extLst>
              <a:ext uri="{FF2B5EF4-FFF2-40B4-BE49-F238E27FC236}">
                <a16:creationId xmlns:a16="http://schemas.microsoft.com/office/drawing/2014/main" id="{6415E0B6-39D0-DCDF-ADB1-9F9F22968D25}"/>
              </a:ext>
            </a:extLst>
          </p:cNvPr>
          <p:cNvSpPr/>
          <p:nvPr/>
        </p:nvSpPr>
        <p:spPr>
          <a:xfrm>
            <a:off x="6674758" y="4919302"/>
            <a:ext cx="2902227" cy="1733968"/>
          </a:xfrm>
          <a:prstGeom prst="rect">
            <a:avLst/>
          </a:prstGeom>
          <a:noFill/>
          <a:ln w="12700">
            <a:solidFill>
              <a:schemeClr val="tx1"/>
            </a:solidFill>
          </a:ln>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600" dirty="0"/>
          </a:p>
        </p:txBody>
      </p:sp>
      <p:sp>
        <p:nvSpPr>
          <p:cNvPr id="157" name="TextBox 156">
            <a:extLst>
              <a:ext uri="{FF2B5EF4-FFF2-40B4-BE49-F238E27FC236}">
                <a16:creationId xmlns:a16="http://schemas.microsoft.com/office/drawing/2014/main" id="{A6B8F8D9-5701-DC1F-CDB7-E621F6DDB2C5}"/>
              </a:ext>
            </a:extLst>
          </p:cNvPr>
          <p:cNvSpPr txBox="1"/>
          <p:nvPr/>
        </p:nvSpPr>
        <p:spPr>
          <a:xfrm>
            <a:off x="6742344" y="4929366"/>
            <a:ext cx="1144986" cy="338554"/>
          </a:xfrm>
          <a:prstGeom prst="rect">
            <a:avLst/>
          </a:prstGeom>
          <a:noFill/>
          <a:ln>
            <a:noFill/>
          </a:ln>
        </p:spPr>
        <p:txBody>
          <a:bodyPr wrap="square" rtlCol="0" anchor="ctr" anchorCtr="1">
            <a:spAutoFit/>
          </a:bodyPr>
          <a:lstStyle/>
          <a:p>
            <a:r>
              <a:rPr lang="en-US" sz="1600" dirty="0"/>
              <a:t>(2, Bearish)</a:t>
            </a:r>
          </a:p>
        </p:txBody>
      </p:sp>
      <p:sp>
        <p:nvSpPr>
          <p:cNvPr id="159" name="TextBox 158">
            <a:extLst>
              <a:ext uri="{FF2B5EF4-FFF2-40B4-BE49-F238E27FC236}">
                <a16:creationId xmlns:a16="http://schemas.microsoft.com/office/drawing/2014/main" id="{2B87CD3F-B3FE-D5DC-AC8A-9928A47C795E}"/>
              </a:ext>
            </a:extLst>
          </p:cNvPr>
          <p:cNvSpPr txBox="1"/>
          <p:nvPr/>
        </p:nvSpPr>
        <p:spPr>
          <a:xfrm>
            <a:off x="7725746" y="5117716"/>
            <a:ext cx="802916" cy="338554"/>
          </a:xfrm>
          <a:prstGeom prst="rect">
            <a:avLst/>
          </a:prstGeom>
          <a:noFill/>
          <a:ln>
            <a:noFill/>
          </a:ln>
        </p:spPr>
        <p:txBody>
          <a:bodyPr wrap="square" rtlCol="0" anchor="ctr" anchorCtr="1">
            <a:spAutoFit/>
          </a:bodyPr>
          <a:lstStyle/>
          <a:p>
            <a:r>
              <a:rPr lang="en-US" sz="1600" dirty="0"/>
              <a:t>Actions</a:t>
            </a:r>
          </a:p>
        </p:txBody>
      </p:sp>
      <p:sp>
        <p:nvSpPr>
          <p:cNvPr id="160" name="Rectangle: Rounded Corners 159">
            <a:extLst>
              <a:ext uri="{FF2B5EF4-FFF2-40B4-BE49-F238E27FC236}">
                <a16:creationId xmlns:a16="http://schemas.microsoft.com/office/drawing/2014/main" id="{2CC05BE2-BF2D-DEDF-1B80-786D9DD0BDC1}"/>
              </a:ext>
            </a:extLst>
          </p:cNvPr>
          <p:cNvSpPr/>
          <p:nvPr/>
        </p:nvSpPr>
        <p:spPr>
          <a:xfrm>
            <a:off x="7033900" y="5456270"/>
            <a:ext cx="2186608" cy="369332"/>
          </a:xfrm>
          <a:prstGeom prst="roundRect">
            <a:avLst/>
          </a:prstGeom>
          <a:solidFill>
            <a:srgbClr val="00B050">
              <a:alpha val="25000"/>
            </a:srgb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600" dirty="0"/>
          </a:p>
        </p:txBody>
      </p:sp>
      <p:sp>
        <p:nvSpPr>
          <p:cNvPr id="161" name="TextBox 160">
            <a:extLst>
              <a:ext uri="{FF2B5EF4-FFF2-40B4-BE49-F238E27FC236}">
                <a16:creationId xmlns:a16="http://schemas.microsoft.com/office/drawing/2014/main" id="{524A64C7-6B71-AC51-E41C-87521FAF4215}"/>
              </a:ext>
            </a:extLst>
          </p:cNvPr>
          <p:cNvSpPr txBox="1"/>
          <p:nvPr/>
        </p:nvSpPr>
        <p:spPr>
          <a:xfrm>
            <a:off x="7033900" y="5471659"/>
            <a:ext cx="1144988" cy="338554"/>
          </a:xfrm>
          <a:prstGeom prst="rect">
            <a:avLst/>
          </a:prstGeom>
          <a:noFill/>
          <a:ln>
            <a:noFill/>
          </a:ln>
        </p:spPr>
        <p:txBody>
          <a:bodyPr wrap="square" rtlCol="0" anchor="ctr" anchorCtr="1">
            <a:spAutoFit/>
          </a:bodyPr>
          <a:lstStyle/>
          <a:p>
            <a:r>
              <a:rPr lang="en-US" sz="1600" dirty="0">
                <a:solidFill>
                  <a:schemeClr val="tx1">
                    <a:lumMod val="50000"/>
                    <a:lumOff val="50000"/>
                  </a:schemeClr>
                </a:solidFill>
              </a:rPr>
              <a:t>Buy Share</a:t>
            </a:r>
          </a:p>
        </p:txBody>
      </p:sp>
      <p:sp>
        <p:nvSpPr>
          <p:cNvPr id="162" name="TextBox 161">
            <a:extLst>
              <a:ext uri="{FF2B5EF4-FFF2-40B4-BE49-F238E27FC236}">
                <a16:creationId xmlns:a16="http://schemas.microsoft.com/office/drawing/2014/main" id="{AA871C1B-343F-272B-4D70-AF71937FAC02}"/>
              </a:ext>
            </a:extLst>
          </p:cNvPr>
          <p:cNvSpPr txBox="1"/>
          <p:nvPr/>
        </p:nvSpPr>
        <p:spPr>
          <a:xfrm>
            <a:off x="8604282" y="5471659"/>
            <a:ext cx="596348" cy="338554"/>
          </a:xfrm>
          <a:prstGeom prst="rect">
            <a:avLst/>
          </a:prstGeom>
          <a:noFill/>
          <a:ln>
            <a:noFill/>
          </a:ln>
        </p:spPr>
        <p:txBody>
          <a:bodyPr wrap="square" rtlCol="0" anchor="ctr" anchorCtr="1">
            <a:spAutoFit/>
          </a:bodyPr>
          <a:lstStyle/>
          <a:p>
            <a:r>
              <a:rPr lang="en-US" sz="1600" dirty="0">
                <a:solidFill>
                  <a:schemeClr val="tx1">
                    <a:lumMod val="50000"/>
                    <a:lumOff val="50000"/>
                  </a:schemeClr>
                </a:solidFill>
              </a:rPr>
              <a:t>MAX</a:t>
            </a:r>
          </a:p>
        </p:txBody>
      </p:sp>
      <p:sp>
        <p:nvSpPr>
          <p:cNvPr id="163" name="Rectangle: Rounded Corners 162">
            <a:extLst>
              <a:ext uri="{FF2B5EF4-FFF2-40B4-BE49-F238E27FC236}">
                <a16:creationId xmlns:a16="http://schemas.microsoft.com/office/drawing/2014/main" id="{48DCFDF1-E397-D259-4E42-ADD887D42B37}"/>
              </a:ext>
            </a:extLst>
          </p:cNvPr>
          <p:cNvSpPr/>
          <p:nvPr/>
        </p:nvSpPr>
        <p:spPr>
          <a:xfrm>
            <a:off x="7033900" y="5824830"/>
            <a:ext cx="2186608" cy="376601"/>
          </a:xfrm>
          <a:prstGeom prst="roundRect">
            <a:avLst/>
          </a:prstGeom>
          <a:solidFill>
            <a:srgbClr val="FF0000">
              <a:alpha val="25000"/>
            </a:srgb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600" dirty="0"/>
          </a:p>
        </p:txBody>
      </p:sp>
      <p:sp>
        <p:nvSpPr>
          <p:cNvPr id="164" name="Rectangle: Rounded Corners 163">
            <a:extLst>
              <a:ext uri="{FF2B5EF4-FFF2-40B4-BE49-F238E27FC236}">
                <a16:creationId xmlns:a16="http://schemas.microsoft.com/office/drawing/2014/main" id="{18319595-0211-D0AE-776B-36B12B5C72C9}"/>
              </a:ext>
            </a:extLst>
          </p:cNvPr>
          <p:cNvSpPr/>
          <p:nvPr/>
        </p:nvSpPr>
        <p:spPr>
          <a:xfrm>
            <a:off x="7033900" y="6207399"/>
            <a:ext cx="2186608" cy="369332"/>
          </a:xfrm>
          <a:prstGeom prst="roundRect">
            <a:avLst/>
          </a:prstGeom>
          <a:solidFill>
            <a:schemeClr val="tx1">
              <a:lumMod val="50000"/>
              <a:lumOff val="50000"/>
              <a:alpha val="25000"/>
            </a:schemeClr>
          </a:soli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600" dirty="0"/>
          </a:p>
        </p:txBody>
      </p:sp>
      <p:sp>
        <p:nvSpPr>
          <p:cNvPr id="165" name="TextBox 164">
            <a:extLst>
              <a:ext uri="{FF2B5EF4-FFF2-40B4-BE49-F238E27FC236}">
                <a16:creationId xmlns:a16="http://schemas.microsoft.com/office/drawing/2014/main" id="{F7CB3DD6-2B0C-A077-FDDC-755F46B03B04}"/>
              </a:ext>
            </a:extLst>
          </p:cNvPr>
          <p:cNvSpPr txBox="1"/>
          <p:nvPr/>
        </p:nvSpPr>
        <p:spPr>
          <a:xfrm>
            <a:off x="7225987" y="6231437"/>
            <a:ext cx="635828" cy="338554"/>
          </a:xfrm>
          <a:prstGeom prst="rect">
            <a:avLst/>
          </a:prstGeom>
          <a:noFill/>
          <a:ln>
            <a:noFill/>
          </a:ln>
        </p:spPr>
        <p:txBody>
          <a:bodyPr wrap="square" rtlCol="0" anchor="ctr" anchorCtr="1">
            <a:spAutoFit/>
          </a:bodyPr>
          <a:lstStyle/>
          <a:p>
            <a:r>
              <a:rPr lang="en-US" sz="1600" dirty="0"/>
              <a:t>Hold</a:t>
            </a:r>
          </a:p>
        </p:txBody>
      </p:sp>
      <mc:AlternateContent xmlns:mc="http://schemas.openxmlformats.org/markup-compatibility/2006" xmlns:a14="http://schemas.microsoft.com/office/drawing/2010/main">
        <mc:Choice Requires="a14">
          <p:sp>
            <p:nvSpPr>
              <p:cNvPr id="166" name="TextBox 165">
                <a:extLst>
                  <a:ext uri="{FF2B5EF4-FFF2-40B4-BE49-F238E27FC236}">
                    <a16:creationId xmlns:a16="http://schemas.microsoft.com/office/drawing/2014/main" id="{02083FC5-56B9-88E7-789F-CFD0568E9943}"/>
                  </a:ext>
                </a:extLst>
              </p:cNvPr>
              <p:cNvSpPr txBox="1"/>
              <p:nvPr/>
            </p:nvSpPr>
            <p:spPr>
              <a:xfrm>
                <a:off x="8706047" y="6231437"/>
                <a:ext cx="392817" cy="338554"/>
              </a:xfrm>
              <a:prstGeom prst="rect">
                <a:avLst/>
              </a:prstGeom>
              <a:noFill/>
              <a:ln>
                <a:noFill/>
              </a:ln>
            </p:spPr>
            <p:txBody>
              <a:bodyPr wrap="square" rtlCol="0" anchor="ctr" anchorCtr="1">
                <a:spAutoFit/>
              </a:bodyPr>
              <a:lstStyle/>
              <a:p>
                <a:pPr/>
                <a14:m>
                  <m:oMathPara xmlns:m="http://schemas.openxmlformats.org/officeDocument/2006/math">
                    <m:oMathParaPr>
                      <m:jc m:val="centerGroup"/>
                    </m:oMathParaPr>
                    <m:oMath xmlns:m="http://schemas.openxmlformats.org/officeDocument/2006/math">
                      <m:r>
                        <a:rPr lang="en-US" sz="1600" i="1" dirty="0" smtClean="0">
                          <a:solidFill>
                            <a:schemeClr val="tx1"/>
                          </a:solidFill>
                          <a:latin typeface="Cambria Math" panose="02040503050406030204" pitchFamily="18" charset="0"/>
                        </a:rPr>
                        <m:t>$</m:t>
                      </m:r>
                      <m:r>
                        <a:rPr lang="en-US" sz="1600" b="0" i="1" dirty="0" smtClean="0">
                          <a:solidFill>
                            <a:schemeClr val="tx1"/>
                          </a:solidFill>
                          <a:latin typeface="Cambria Math" panose="02040503050406030204" pitchFamily="18" charset="0"/>
                        </a:rPr>
                        <m:t>0</m:t>
                      </m:r>
                    </m:oMath>
                  </m:oMathPara>
                </a14:m>
                <a:endParaRPr lang="en-US" sz="1600" dirty="0"/>
              </a:p>
            </p:txBody>
          </p:sp>
        </mc:Choice>
        <mc:Fallback xmlns="">
          <p:sp>
            <p:nvSpPr>
              <p:cNvPr id="166" name="TextBox 165">
                <a:extLst>
                  <a:ext uri="{FF2B5EF4-FFF2-40B4-BE49-F238E27FC236}">
                    <a16:creationId xmlns:a16="http://schemas.microsoft.com/office/drawing/2014/main" id="{02083FC5-56B9-88E7-789F-CFD0568E9943}"/>
                  </a:ext>
                </a:extLst>
              </p:cNvPr>
              <p:cNvSpPr txBox="1">
                <a:spLocks noRot="1" noChangeAspect="1" noMove="1" noResize="1" noEditPoints="1" noAdjustHandles="1" noChangeArrowheads="1" noChangeShapeType="1" noTextEdit="1"/>
              </p:cNvSpPr>
              <p:nvPr/>
            </p:nvSpPr>
            <p:spPr>
              <a:xfrm>
                <a:off x="8706047" y="6231437"/>
                <a:ext cx="392817" cy="338554"/>
              </a:xfrm>
              <a:prstGeom prst="rect">
                <a:avLst/>
              </a:prstGeom>
              <a:blipFill>
                <a:blip r:embed="rId21"/>
                <a:stretch>
                  <a:fillRect l="-6154"/>
                </a:stretch>
              </a:blipFill>
              <a:ln>
                <a:noFill/>
              </a:ln>
            </p:spPr>
            <p:txBody>
              <a:bodyPr/>
              <a:lstStyle/>
              <a:p>
                <a:r>
                  <a:rPr lang="en-US">
                    <a:noFill/>
                  </a:rPr>
                  <a:t> </a:t>
                </a:r>
              </a:p>
            </p:txBody>
          </p:sp>
        </mc:Fallback>
      </mc:AlternateContent>
      <p:sp>
        <p:nvSpPr>
          <p:cNvPr id="167" name="TextBox 166">
            <a:extLst>
              <a:ext uri="{FF2B5EF4-FFF2-40B4-BE49-F238E27FC236}">
                <a16:creationId xmlns:a16="http://schemas.microsoft.com/office/drawing/2014/main" id="{A6B81409-CE13-358B-5800-A5A533C23C42}"/>
              </a:ext>
            </a:extLst>
          </p:cNvPr>
          <p:cNvSpPr txBox="1"/>
          <p:nvPr/>
        </p:nvSpPr>
        <p:spPr>
          <a:xfrm>
            <a:off x="7159312" y="5846255"/>
            <a:ext cx="702503" cy="338554"/>
          </a:xfrm>
          <a:prstGeom prst="rect">
            <a:avLst/>
          </a:prstGeom>
          <a:noFill/>
          <a:ln>
            <a:noFill/>
          </a:ln>
        </p:spPr>
        <p:txBody>
          <a:bodyPr wrap="square" rtlCol="0" anchor="ctr" anchorCtr="1">
            <a:spAutoFit/>
          </a:bodyPr>
          <a:lstStyle/>
          <a:p>
            <a:r>
              <a:rPr lang="en-US" sz="1600" dirty="0"/>
              <a:t>Sell</a:t>
            </a:r>
          </a:p>
        </p:txBody>
      </p:sp>
      <mc:AlternateContent xmlns:mc="http://schemas.openxmlformats.org/markup-compatibility/2006" xmlns:a14="http://schemas.microsoft.com/office/drawing/2010/main">
        <mc:Choice Requires="a14">
          <p:sp>
            <p:nvSpPr>
              <p:cNvPr id="168" name="TextBox 167">
                <a:extLst>
                  <a:ext uri="{FF2B5EF4-FFF2-40B4-BE49-F238E27FC236}">
                    <a16:creationId xmlns:a16="http://schemas.microsoft.com/office/drawing/2014/main" id="{92FE33C3-2B8A-0910-55DD-D30ED79B7931}"/>
                  </a:ext>
                </a:extLst>
              </p:cNvPr>
              <p:cNvSpPr txBox="1"/>
              <p:nvPr/>
            </p:nvSpPr>
            <p:spPr>
              <a:xfrm>
                <a:off x="8479536" y="5843853"/>
                <a:ext cx="795130" cy="338554"/>
              </a:xfrm>
              <a:prstGeom prst="rect">
                <a:avLst/>
              </a:prstGeom>
              <a:noFill/>
              <a:ln>
                <a:noFill/>
              </a:ln>
            </p:spPr>
            <p:txBody>
              <a:bodyPr wrap="square" rtlCol="0" anchor="ctr" anchorCtr="1">
                <a:spAutoFit/>
              </a:bodyPr>
              <a:lstStyle/>
              <a:p>
                <a:pPr/>
                <a14:m>
                  <m:oMathPara xmlns:m="http://schemas.openxmlformats.org/officeDocument/2006/math">
                    <m:oMathParaPr>
                      <m:jc m:val="centerGroup"/>
                    </m:oMathParaPr>
                    <m:oMath xmlns:m="http://schemas.openxmlformats.org/officeDocument/2006/math">
                      <m:r>
                        <a:rPr lang="en-US" sz="1600" b="1" i="1" dirty="0" smtClean="0">
                          <a:solidFill>
                            <a:srgbClr val="FF0000"/>
                          </a:solidFill>
                          <a:latin typeface="Cambria Math" panose="02040503050406030204" pitchFamily="18" charset="0"/>
                        </a:rPr>
                        <m:t>−$</m:t>
                      </m:r>
                      <m:r>
                        <a:rPr lang="en-US" sz="1600" b="1" i="1" dirty="0" smtClean="0">
                          <a:solidFill>
                            <a:srgbClr val="FF0000"/>
                          </a:solidFill>
                          <a:latin typeface="Cambria Math" panose="02040503050406030204" pitchFamily="18" charset="0"/>
                        </a:rPr>
                        <m:t>𝟐</m:t>
                      </m:r>
                    </m:oMath>
                  </m:oMathPara>
                </a14:m>
                <a:endParaRPr lang="en-US" sz="1600" b="1" dirty="0">
                  <a:solidFill>
                    <a:srgbClr val="008000"/>
                  </a:solidFill>
                </a:endParaRPr>
              </a:p>
            </p:txBody>
          </p:sp>
        </mc:Choice>
        <mc:Fallback xmlns="">
          <p:sp>
            <p:nvSpPr>
              <p:cNvPr id="168" name="TextBox 167">
                <a:extLst>
                  <a:ext uri="{FF2B5EF4-FFF2-40B4-BE49-F238E27FC236}">
                    <a16:creationId xmlns:a16="http://schemas.microsoft.com/office/drawing/2014/main" id="{92FE33C3-2B8A-0910-55DD-D30ED79B7931}"/>
                  </a:ext>
                </a:extLst>
              </p:cNvPr>
              <p:cNvSpPr txBox="1">
                <a:spLocks noRot="1" noChangeAspect="1" noMove="1" noResize="1" noEditPoints="1" noAdjustHandles="1" noChangeArrowheads="1" noChangeShapeType="1" noTextEdit="1"/>
              </p:cNvSpPr>
              <p:nvPr/>
            </p:nvSpPr>
            <p:spPr>
              <a:xfrm>
                <a:off x="8479536" y="5843853"/>
                <a:ext cx="795130" cy="338554"/>
              </a:xfrm>
              <a:prstGeom prst="rect">
                <a:avLst/>
              </a:prstGeom>
              <a:blipFill>
                <a:blip r:embed="rId22"/>
                <a:stretch>
                  <a:fillRect b="-1818"/>
                </a:stretch>
              </a:blipFill>
              <a:ln>
                <a:noFill/>
              </a:ln>
            </p:spPr>
            <p:txBody>
              <a:bodyPr/>
              <a:lstStyle/>
              <a:p>
                <a:r>
                  <a:rPr lang="en-US">
                    <a:noFill/>
                  </a:rPr>
                  <a:t> </a:t>
                </a:r>
              </a:p>
            </p:txBody>
          </p:sp>
        </mc:Fallback>
      </mc:AlternateContent>
      <p:sp>
        <p:nvSpPr>
          <p:cNvPr id="169" name="TextBox 168">
            <a:extLst>
              <a:ext uri="{FF2B5EF4-FFF2-40B4-BE49-F238E27FC236}">
                <a16:creationId xmlns:a16="http://schemas.microsoft.com/office/drawing/2014/main" id="{07BE96B9-973A-B481-56DD-6476F7C1077A}"/>
              </a:ext>
            </a:extLst>
          </p:cNvPr>
          <p:cNvSpPr txBox="1"/>
          <p:nvPr/>
        </p:nvSpPr>
        <p:spPr>
          <a:xfrm>
            <a:off x="5608116" y="3055159"/>
            <a:ext cx="802916" cy="338554"/>
          </a:xfrm>
          <a:prstGeom prst="rect">
            <a:avLst/>
          </a:prstGeom>
          <a:noFill/>
          <a:ln>
            <a:noFill/>
          </a:ln>
        </p:spPr>
        <p:txBody>
          <a:bodyPr wrap="square" rtlCol="0" anchor="ctr" anchorCtr="1">
            <a:spAutoFit/>
          </a:bodyPr>
          <a:lstStyle/>
          <a:p>
            <a:r>
              <a:rPr lang="en-US" sz="1600" dirty="0">
                <a:highlight>
                  <a:srgbClr val="FFFF00"/>
                </a:highlight>
              </a:rPr>
              <a:t>Neutral</a:t>
            </a:r>
          </a:p>
        </p:txBody>
      </p:sp>
      <p:sp>
        <p:nvSpPr>
          <p:cNvPr id="170" name="TextBox 169">
            <a:extLst>
              <a:ext uri="{FF2B5EF4-FFF2-40B4-BE49-F238E27FC236}">
                <a16:creationId xmlns:a16="http://schemas.microsoft.com/office/drawing/2014/main" id="{41A6405E-8056-5C7D-FB57-9FF4B56E5811}"/>
              </a:ext>
            </a:extLst>
          </p:cNvPr>
          <p:cNvSpPr txBox="1"/>
          <p:nvPr/>
        </p:nvSpPr>
        <p:spPr>
          <a:xfrm>
            <a:off x="8779294" y="3055159"/>
            <a:ext cx="802916" cy="338554"/>
          </a:xfrm>
          <a:prstGeom prst="rect">
            <a:avLst/>
          </a:prstGeom>
          <a:noFill/>
          <a:ln>
            <a:noFill/>
          </a:ln>
        </p:spPr>
        <p:txBody>
          <a:bodyPr wrap="square" rtlCol="0" anchor="ctr" anchorCtr="1">
            <a:spAutoFit/>
          </a:bodyPr>
          <a:lstStyle/>
          <a:p>
            <a:r>
              <a:rPr lang="en-US" sz="1600" dirty="0">
                <a:highlight>
                  <a:srgbClr val="FFFF00"/>
                </a:highlight>
              </a:rPr>
              <a:t>Neutral</a:t>
            </a:r>
          </a:p>
        </p:txBody>
      </p:sp>
      <p:sp>
        <p:nvSpPr>
          <p:cNvPr id="174" name="TextBox 173">
            <a:extLst>
              <a:ext uri="{FF2B5EF4-FFF2-40B4-BE49-F238E27FC236}">
                <a16:creationId xmlns:a16="http://schemas.microsoft.com/office/drawing/2014/main" id="{D8C61BC2-8F8C-F7B6-48DA-76D4959886EC}"/>
              </a:ext>
            </a:extLst>
          </p:cNvPr>
          <p:cNvSpPr txBox="1"/>
          <p:nvPr/>
        </p:nvSpPr>
        <p:spPr>
          <a:xfrm>
            <a:off x="5552225" y="4913221"/>
            <a:ext cx="863372" cy="338554"/>
          </a:xfrm>
          <a:prstGeom prst="rect">
            <a:avLst/>
          </a:prstGeom>
          <a:noFill/>
          <a:ln>
            <a:noFill/>
          </a:ln>
        </p:spPr>
        <p:txBody>
          <a:bodyPr wrap="square" rtlCol="0" anchor="ctr" anchorCtr="1">
            <a:spAutoFit/>
          </a:bodyPr>
          <a:lstStyle/>
          <a:p>
            <a:r>
              <a:rPr lang="en-US" sz="1600" dirty="0">
                <a:highlight>
                  <a:srgbClr val="FF0000"/>
                </a:highlight>
              </a:rPr>
              <a:t>Bearish</a:t>
            </a:r>
          </a:p>
        </p:txBody>
      </p:sp>
      <p:sp>
        <p:nvSpPr>
          <p:cNvPr id="175" name="TextBox 174">
            <a:extLst>
              <a:ext uri="{FF2B5EF4-FFF2-40B4-BE49-F238E27FC236}">
                <a16:creationId xmlns:a16="http://schemas.microsoft.com/office/drawing/2014/main" id="{51A7CC83-EB50-220A-8EF7-FD1420F4A314}"/>
              </a:ext>
            </a:extLst>
          </p:cNvPr>
          <p:cNvSpPr txBox="1"/>
          <p:nvPr/>
        </p:nvSpPr>
        <p:spPr>
          <a:xfrm>
            <a:off x="8715331" y="4913221"/>
            <a:ext cx="863372" cy="338554"/>
          </a:xfrm>
          <a:prstGeom prst="rect">
            <a:avLst/>
          </a:prstGeom>
          <a:noFill/>
          <a:ln>
            <a:noFill/>
          </a:ln>
        </p:spPr>
        <p:txBody>
          <a:bodyPr wrap="square" rtlCol="0" anchor="ctr" anchorCtr="1">
            <a:spAutoFit/>
          </a:bodyPr>
          <a:lstStyle/>
          <a:p>
            <a:r>
              <a:rPr lang="en-US" sz="1600" dirty="0">
                <a:highlight>
                  <a:srgbClr val="FF0000"/>
                </a:highlight>
              </a:rPr>
              <a:t>Bearish</a:t>
            </a:r>
          </a:p>
        </p:txBody>
      </p:sp>
      <mc:AlternateContent xmlns:mc="http://schemas.openxmlformats.org/markup-compatibility/2006" xmlns:a14="http://schemas.microsoft.com/office/drawing/2010/main">
        <mc:Choice Requires="a14">
          <p:sp>
            <p:nvSpPr>
              <p:cNvPr id="176" name="TextBox 175">
                <a:extLst>
                  <a:ext uri="{FF2B5EF4-FFF2-40B4-BE49-F238E27FC236}">
                    <a16:creationId xmlns:a16="http://schemas.microsoft.com/office/drawing/2014/main" id="{4E9AE068-5398-D8CD-3F8F-93B27C07E7C0}"/>
                  </a:ext>
                </a:extLst>
              </p:cNvPr>
              <p:cNvSpPr txBox="1"/>
              <p:nvPr/>
            </p:nvSpPr>
            <p:spPr>
              <a:xfrm>
                <a:off x="5351068" y="5843853"/>
                <a:ext cx="795130" cy="338554"/>
              </a:xfrm>
              <a:prstGeom prst="rect">
                <a:avLst/>
              </a:prstGeom>
              <a:noFill/>
              <a:ln>
                <a:noFill/>
              </a:ln>
            </p:spPr>
            <p:txBody>
              <a:bodyPr wrap="square" rtlCol="0" anchor="ctr" anchorCtr="1">
                <a:spAutoFit/>
              </a:bodyPr>
              <a:lstStyle/>
              <a:p>
                <a:pPr/>
                <a14:m>
                  <m:oMathPara xmlns:m="http://schemas.openxmlformats.org/officeDocument/2006/math">
                    <m:oMathParaPr>
                      <m:jc m:val="centerGroup"/>
                    </m:oMathParaPr>
                    <m:oMath xmlns:m="http://schemas.openxmlformats.org/officeDocument/2006/math">
                      <m:r>
                        <a:rPr lang="en-US" sz="1600" b="1" i="1" dirty="0" smtClean="0">
                          <a:solidFill>
                            <a:srgbClr val="FF0000"/>
                          </a:solidFill>
                          <a:latin typeface="Cambria Math" panose="02040503050406030204" pitchFamily="18" charset="0"/>
                        </a:rPr>
                        <m:t>−$</m:t>
                      </m:r>
                      <m:r>
                        <a:rPr lang="en-US" sz="1600" b="1" i="1" dirty="0" smtClean="0">
                          <a:solidFill>
                            <a:srgbClr val="FF0000"/>
                          </a:solidFill>
                          <a:latin typeface="Cambria Math" panose="02040503050406030204" pitchFamily="18" charset="0"/>
                        </a:rPr>
                        <m:t>𝟐</m:t>
                      </m:r>
                    </m:oMath>
                  </m:oMathPara>
                </a14:m>
                <a:endParaRPr lang="en-US" sz="1600" b="1" dirty="0">
                  <a:solidFill>
                    <a:srgbClr val="008000"/>
                  </a:solidFill>
                </a:endParaRPr>
              </a:p>
            </p:txBody>
          </p:sp>
        </mc:Choice>
        <mc:Fallback xmlns="">
          <p:sp>
            <p:nvSpPr>
              <p:cNvPr id="176" name="TextBox 175">
                <a:extLst>
                  <a:ext uri="{FF2B5EF4-FFF2-40B4-BE49-F238E27FC236}">
                    <a16:creationId xmlns:a16="http://schemas.microsoft.com/office/drawing/2014/main" id="{4E9AE068-5398-D8CD-3F8F-93B27C07E7C0}"/>
                  </a:ext>
                </a:extLst>
              </p:cNvPr>
              <p:cNvSpPr txBox="1">
                <a:spLocks noRot="1" noChangeAspect="1" noMove="1" noResize="1" noEditPoints="1" noAdjustHandles="1" noChangeArrowheads="1" noChangeShapeType="1" noTextEdit="1"/>
              </p:cNvSpPr>
              <p:nvPr/>
            </p:nvSpPr>
            <p:spPr>
              <a:xfrm>
                <a:off x="5351068" y="5843853"/>
                <a:ext cx="795130" cy="338554"/>
              </a:xfrm>
              <a:prstGeom prst="rect">
                <a:avLst/>
              </a:prstGeom>
              <a:blipFill>
                <a:blip r:embed="rId23"/>
                <a:stretch>
                  <a:fillRect b="-1818"/>
                </a:stretch>
              </a:blipFill>
              <a:ln>
                <a:noFill/>
              </a:ln>
            </p:spPr>
            <p:txBody>
              <a:bodyPr/>
              <a:lstStyle/>
              <a:p>
                <a:r>
                  <a:rPr lang="en-US">
                    <a:noFill/>
                  </a:rPr>
                  <a:t> </a:t>
                </a:r>
              </a:p>
            </p:txBody>
          </p:sp>
        </mc:Fallback>
      </mc:AlternateContent>
      <p:sp>
        <p:nvSpPr>
          <p:cNvPr id="177" name="TextBox 176">
            <a:extLst>
              <a:ext uri="{FF2B5EF4-FFF2-40B4-BE49-F238E27FC236}">
                <a16:creationId xmlns:a16="http://schemas.microsoft.com/office/drawing/2014/main" id="{F7736C8E-D5F8-FA08-D30C-181D95BBE4CF}"/>
              </a:ext>
            </a:extLst>
          </p:cNvPr>
          <p:cNvSpPr txBox="1"/>
          <p:nvPr/>
        </p:nvSpPr>
        <p:spPr>
          <a:xfrm>
            <a:off x="7033900" y="3592127"/>
            <a:ext cx="1144988" cy="338554"/>
          </a:xfrm>
          <a:prstGeom prst="rect">
            <a:avLst/>
          </a:prstGeom>
          <a:noFill/>
          <a:ln>
            <a:noFill/>
          </a:ln>
        </p:spPr>
        <p:txBody>
          <a:bodyPr wrap="square" rtlCol="0" anchor="ctr" anchorCtr="1">
            <a:spAutoFit/>
          </a:bodyPr>
          <a:lstStyle/>
          <a:p>
            <a:r>
              <a:rPr lang="en-US" sz="1600" dirty="0">
                <a:solidFill>
                  <a:schemeClr val="tx1">
                    <a:lumMod val="50000"/>
                    <a:lumOff val="50000"/>
                  </a:schemeClr>
                </a:solidFill>
              </a:rPr>
              <a:t>Buy Share</a:t>
            </a:r>
          </a:p>
        </p:txBody>
      </p:sp>
      <p:sp>
        <p:nvSpPr>
          <p:cNvPr id="178" name="TextBox 177">
            <a:extLst>
              <a:ext uri="{FF2B5EF4-FFF2-40B4-BE49-F238E27FC236}">
                <a16:creationId xmlns:a16="http://schemas.microsoft.com/office/drawing/2014/main" id="{FE620F8C-E77C-F8E6-F3E4-FD8924A80590}"/>
              </a:ext>
            </a:extLst>
          </p:cNvPr>
          <p:cNvSpPr txBox="1"/>
          <p:nvPr/>
        </p:nvSpPr>
        <p:spPr>
          <a:xfrm>
            <a:off x="8604282" y="3592127"/>
            <a:ext cx="596348" cy="338554"/>
          </a:xfrm>
          <a:prstGeom prst="rect">
            <a:avLst/>
          </a:prstGeom>
          <a:noFill/>
          <a:ln>
            <a:noFill/>
          </a:ln>
        </p:spPr>
        <p:txBody>
          <a:bodyPr wrap="square" rtlCol="0" anchor="ctr" anchorCtr="1">
            <a:spAutoFit/>
          </a:bodyPr>
          <a:lstStyle/>
          <a:p>
            <a:r>
              <a:rPr lang="en-US" sz="1600" dirty="0">
                <a:solidFill>
                  <a:schemeClr val="tx1">
                    <a:lumMod val="50000"/>
                    <a:lumOff val="50000"/>
                  </a:schemeClr>
                </a:solidFill>
              </a:rPr>
              <a:t>MAX</a:t>
            </a:r>
          </a:p>
        </p:txBody>
      </p:sp>
      <mc:AlternateContent xmlns:mc="http://schemas.openxmlformats.org/markup-compatibility/2006" xmlns:a14="http://schemas.microsoft.com/office/drawing/2010/main">
        <mc:Choice Requires="a14">
          <p:sp>
            <p:nvSpPr>
              <p:cNvPr id="179" name="TextBox 178">
                <a:extLst>
                  <a:ext uri="{FF2B5EF4-FFF2-40B4-BE49-F238E27FC236}">
                    <a16:creationId xmlns:a16="http://schemas.microsoft.com/office/drawing/2014/main" id="{C214F4DB-39F5-90D8-5151-8EF4746C917F}"/>
                  </a:ext>
                </a:extLst>
              </p:cNvPr>
              <p:cNvSpPr txBox="1"/>
              <p:nvPr/>
            </p:nvSpPr>
            <p:spPr>
              <a:xfrm>
                <a:off x="9840004" y="1616279"/>
                <a:ext cx="1877335" cy="923330"/>
              </a:xfrm>
              <a:prstGeom prst="rect">
                <a:avLst/>
              </a:prstGeom>
              <a:noFill/>
              <a:ln>
                <a:noFill/>
              </a:ln>
            </p:spPr>
            <p:txBody>
              <a:bodyPr wrap="square" rtlCol="0" anchor="ctr" anchorCtr="1">
                <a:spAutoFit/>
              </a:bodyPr>
              <a:lstStyle/>
              <a:p>
                <a:r>
                  <a:rPr lang="en-US" dirty="0"/>
                  <a:t>This is the current policy </a:t>
                </a:r>
                <a14:m>
                  <m:oMath xmlns:m="http://schemas.openxmlformats.org/officeDocument/2006/math">
                    <m:r>
                      <a:rPr lang="en-US" b="0" i="1" smtClean="0">
                        <a:latin typeface="Cambria Math" panose="02040503050406030204" pitchFamily="18" charset="0"/>
                      </a:rPr>
                      <m:t>𝜋</m:t>
                    </m:r>
                  </m:oMath>
                </a14:m>
                <a:r>
                  <a:rPr lang="en-US" dirty="0"/>
                  <a:t>, but how do we learn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𝜋</m:t>
                        </m:r>
                      </m:e>
                      <m:sup>
                        <m:r>
                          <a:rPr lang="en-US" b="0" i="1" smtClean="0">
                            <a:latin typeface="Cambria Math" panose="02040503050406030204" pitchFamily="18" charset="0"/>
                          </a:rPr>
                          <m:t>∗</m:t>
                        </m:r>
                      </m:sup>
                    </m:sSup>
                  </m:oMath>
                </a14:m>
                <a:r>
                  <a:rPr lang="en-US" dirty="0"/>
                  <a:t>?</a:t>
                </a:r>
              </a:p>
            </p:txBody>
          </p:sp>
        </mc:Choice>
        <mc:Fallback xmlns="">
          <p:sp>
            <p:nvSpPr>
              <p:cNvPr id="179" name="TextBox 178">
                <a:extLst>
                  <a:ext uri="{FF2B5EF4-FFF2-40B4-BE49-F238E27FC236}">
                    <a16:creationId xmlns:a16="http://schemas.microsoft.com/office/drawing/2014/main" id="{C214F4DB-39F5-90D8-5151-8EF4746C917F}"/>
                  </a:ext>
                </a:extLst>
              </p:cNvPr>
              <p:cNvSpPr txBox="1">
                <a:spLocks noRot="1" noChangeAspect="1" noMove="1" noResize="1" noEditPoints="1" noAdjustHandles="1" noChangeArrowheads="1" noChangeShapeType="1" noTextEdit="1"/>
              </p:cNvSpPr>
              <p:nvPr/>
            </p:nvSpPr>
            <p:spPr>
              <a:xfrm>
                <a:off x="9840004" y="1616279"/>
                <a:ext cx="1877335" cy="923330"/>
              </a:xfrm>
              <a:prstGeom prst="rect">
                <a:avLst/>
              </a:prstGeom>
              <a:blipFill>
                <a:blip r:embed="rId24"/>
                <a:stretch>
                  <a:fillRect l="-1948" t="-3289" r="-4870" b="-9868"/>
                </a:stretch>
              </a:blipFill>
              <a:ln>
                <a:noFill/>
              </a:ln>
            </p:spPr>
            <p:txBody>
              <a:bodyPr/>
              <a:lstStyle/>
              <a:p>
                <a:r>
                  <a:rPr lang="en-US">
                    <a:noFill/>
                  </a:rPr>
                  <a:t> </a:t>
                </a:r>
              </a:p>
            </p:txBody>
          </p:sp>
        </mc:Fallback>
      </mc:AlternateContent>
      <p:sp>
        <p:nvSpPr>
          <p:cNvPr id="183" name="TextBox 182">
            <a:extLst>
              <a:ext uri="{FF2B5EF4-FFF2-40B4-BE49-F238E27FC236}">
                <a16:creationId xmlns:a16="http://schemas.microsoft.com/office/drawing/2014/main" id="{EAC148CE-9CD8-4A4F-78E7-72B95B95DA3A}"/>
              </a:ext>
            </a:extLst>
          </p:cNvPr>
          <p:cNvSpPr txBox="1"/>
          <p:nvPr/>
        </p:nvSpPr>
        <p:spPr>
          <a:xfrm>
            <a:off x="9828580" y="3156901"/>
            <a:ext cx="2090773" cy="1200329"/>
          </a:xfrm>
          <a:prstGeom prst="rect">
            <a:avLst/>
          </a:prstGeom>
          <a:noFill/>
          <a:ln>
            <a:noFill/>
          </a:ln>
        </p:spPr>
        <p:txBody>
          <a:bodyPr wrap="square">
            <a:spAutoFit/>
          </a:bodyPr>
          <a:lstStyle/>
          <a:p>
            <a:r>
              <a:rPr lang="en-US" dirty="0"/>
              <a:t>That is, we have our MDP formulation, but how do we find the best strategy? </a:t>
            </a:r>
          </a:p>
        </p:txBody>
      </p:sp>
      <p:sp>
        <p:nvSpPr>
          <p:cNvPr id="184" name="Content Placeholder 2">
            <a:extLst>
              <a:ext uri="{FF2B5EF4-FFF2-40B4-BE49-F238E27FC236}">
                <a16:creationId xmlns:a16="http://schemas.microsoft.com/office/drawing/2014/main" id="{7AF66537-B3F9-8E21-356A-19012E1CACFB}"/>
              </a:ext>
            </a:extLst>
          </p:cNvPr>
          <p:cNvSpPr txBox="1">
            <a:spLocks/>
          </p:cNvSpPr>
          <p:nvPr/>
        </p:nvSpPr>
        <p:spPr>
          <a:xfrm>
            <a:off x="9835549" y="5091508"/>
            <a:ext cx="2100397" cy="134739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t>First, we need to define how to measure the quality of different strategies.</a:t>
            </a:r>
          </a:p>
        </p:txBody>
      </p:sp>
    </p:spTree>
    <p:extLst>
      <p:ext uri="{BB962C8B-B14F-4D97-AF65-F5344CB8AC3E}">
        <p14:creationId xmlns:p14="http://schemas.microsoft.com/office/powerpoint/2010/main" val="1536887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2">
            <a:extLst>
              <a:ext uri="{FF2B5EF4-FFF2-40B4-BE49-F238E27FC236}">
                <a16:creationId xmlns:a16="http://schemas.microsoft.com/office/drawing/2014/main" id="{21EB5A27-067D-2737-BAA5-D998A32EA8B4}"/>
              </a:ext>
            </a:extLst>
          </p:cNvPr>
          <p:cNvSpPr txBox="1">
            <a:spLocks/>
          </p:cNvSpPr>
          <p:nvPr/>
        </p:nvSpPr>
        <p:spPr>
          <a:xfrm>
            <a:off x="471489" y="69597"/>
            <a:ext cx="11153622" cy="565671"/>
          </a:xfrm>
          <a:prstGeom prst="rect">
            <a:avLst/>
          </a:prstGeom>
          <a:ln>
            <a:noFill/>
          </a:ln>
        </p:spPr>
        <p:txBody>
          <a:bodyPr vert="horz" lIns="91440" tIns="45720" rIns="91440" bIns="45720" rtlCol="0" anchor="ctr">
            <a:noAutofit/>
          </a:bodyPr>
          <a:lst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a:lstStyle>
          <a:p>
            <a:pPr algn="ctr"/>
            <a:r>
              <a:rPr lang="en-US" sz="3600" dirty="0"/>
              <a:t>Value Functions</a:t>
            </a:r>
          </a:p>
        </p:txBody>
      </p:sp>
      <p:sp>
        <p:nvSpPr>
          <p:cNvPr id="10" name="TextBox 9">
            <a:extLst>
              <a:ext uri="{FF2B5EF4-FFF2-40B4-BE49-F238E27FC236}">
                <a16:creationId xmlns:a16="http://schemas.microsoft.com/office/drawing/2014/main" id="{5D9A7AAF-4C0F-AD15-4C25-A9E5C4ED2AD3}"/>
              </a:ext>
            </a:extLst>
          </p:cNvPr>
          <p:cNvSpPr txBox="1"/>
          <p:nvPr/>
        </p:nvSpPr>
        <p:spPr>
          <a:xfrm>
            <a:off x="943769" y="5547350"/>
            <a:ext cx="10725150" cy="646331"/>
          </a:xfrm>
          <a:prstGeom prst="rect">
            <a:avLst/>
          </a:prstGeom>
          <a:noFill/>
          <a:ln>
            <a:noFill/>
          </a:ln>
        </p:spPr>
        <p:txBody>
          <a:bodyPr wrap="square">
            <a:spAutoFit/>
          </a:bodyPr>
          <a:lstStyle/>
          <a:p>
            <a:r>
              <a:rPr lang="en-US" dirty="0"/>
              <a:t>“Value function” refers to a measure of </a:t>
            </a:r>
            <a:r>
              <a:rPr lang="en-US" b="1" i="1" dirty="0"/>
              <a:t>future reward</a:t>
            </a:r>
            <a:r>
              <a:rPr lang="en-US" dirty="0"/>
              <a:t> potential—it is a way of estimating how promising a situation is over time.</a:t>
            </a:r>
          </a:p>
        </p:txBody>
      </p:sp>
      <p:sp>
        <p:nvSpPr>
          <p:cNvPr id="12" name="TextBox 11">
            <a:extLst>
              <a:ext uri="{FF2B5EF4-FFF2-40B4-BE49-F238E27FC236}">
                <a16:creationId xmlns:a16="http://schemas.microsoft.com/office/drawing/2014/main" id="{29DBC2C9-B051-C633-24A9-5EA58959D3BE}"/>
              </a:ext>
            </a:extLst>
          </p:cNvPr>
          <p:cNvSpPr txBox="1"/>
          <p:nvPr/>
        </p:nvSpPr>
        <p:spPr>
          <a:xfrm>
            <a:off x="622300" y="1239937"/>
            <a:ext cx="10140950" cy="369332"/>
          </a:xfrm>
          <a:prstGeom prst="rect">
            <a:avLst/>
          </a:prstGeom>
          <a:noFill/>
          <a:ln>
            <a:noFill/>
          </a:ln>
        </p:spPr>
        <p:txBody>
          <a:bodyPr wrap="square">
            <a:spAutoFit/>
          </a:bodyPr>
          <a:lstStyle/>
          <a:p>
            <a:pPr>
              <a:buNone/>
            </a:pPr>
            <a:r>
              <a:rPr lang="en-US" dirty="0"/>
              <a:t>Imagine you are a financial advisor evaluating different investment portfolios:</a:t>
            </a:r>
          </a:p>
        </p:txBody>
      </p:sp>
      <p:sp>
        <p:nvSpPr>
          <p:cNvPr id="15" name="TextBox 14">
            <a:extLst>
              <a:ext uri="{FF2B5EF4-FFF2-40B4-BE49-F238E27FC236}">
                <a16:creationId xmlns:a16="http://schemas.microsoft.com/office/drawing/2014/main" id="{A7BA24EF-10FB-914A-9422-15BE270EEA93}"/>
              </a:ext>
            </a:extLst>
          </p:cNvPr>
          <p:cNvSpPr txBox="1"/>
          <p:nvPr/>
        </p:nvSpPr>
        <p:spPr>
          <a:xfrm>
            <a:off x="5873750" y="1869417"/>
            <a:ext cx="6096000" cy="1661993"/>
          </a:xfrm>
          <a:prstGeom prst="rect">
            <a:avLst/>
          </a:prstGeom>
          <a:noFill/>
          <a:ln>
            <a:noFill/>
          </a:ln>
        </p:spPr>
        <p:txBody>
          <a:bodyPr wrap="square">
            <a:spAutoFit/>
          </a:bodyPr>
          <a:lstStyle/>
          <a:p>
            <a:pPr>
              <a:spcAft>
                <a:spcPts val="1200"/>
              </a:spcAft>
              <a:buNone/>
            </a:pPr>
            <a:r>
              <a:rPr lang="en-US" dirty="0"/>
              <a:t>An experienced investor might say:</a:t>
            </a:r>
          </a:p>
          <a:p>
            <a:pPr marL="514350" lvl="1" indent="-285750">
              <a:spcAft>
                <a:spcPts val="1200"/>
              </a:spcAft>
              <a:buFont typeface="Arial" panose="020B0604020202020204" pitchFamily="34" charset="0"/>
              <a:buChar char="•"/>
            </a:pPr>
            <a:r>
              <a:rPr lang="en-US" dirty="0"/>
              <a:t>“Portfolio A has a value of $1.2M expected over 10 years”</a:t>
            </a:r>
          </a:p>
          <a:p>
            <a:pPr marL="514350" lvl="1" indent="-285750">
              <a:spcAft>
                <a:spcPts val="1200"/>
              </a:spcAft>
              <a:buFont typeface="Arial" panose="020B0604020202020204" pitchFamily="34" charset="0"/>
              <a:buChar char="•"/>
            </a:pPr>
            <a:r>
              <a:rPr lang="en-US" dirty="0"/>
              <a:t>“Portfolio B has a value of $800K expected over 10 years”</a:t>
            </a:r>
          </a:p>
          <a:p>
            <a:pPr marL="514350" lvl="1" indent="-285750">
              <a:spcAft>
                <a:spcPts val="1200"/>
              </a:spcAft>
              <a:buFont typeface="Arial" panose="020B0604020202020204" pitchFamily="34" charset="0"/>
              <a:buChar char="•"/>
            </a:pPr>
            <a:r>
              <a:rPr lang="en-US" dirty="0"/>
              <a:t>“Portfolio C has a value of $1.0M expected over 10 years”</a:t>
            </a:r>
          </a:p>
        </p:txBody>
      </p:sp>
      <p:sp>
        <p:nvSpPr>
          <p:cNvPr id="16" name="TextBox 15">
            <a:extLst>
              <a:ext uri="{FF2B5EF4-FFF2-40B4-BE49-F238E27FC236}">
                <a16:creationId xmlns:a16="http://schemas.microsoft.com/office/drawing/2014/main" id="{87A45491-B0D3-0ECD-70CC-4CB639B52610}"/>
              </a:ext>
            </a:extLst>
          </p:cNvPr>
          <p:cNvSpPr txBox="1"/>
          <p:nvPr/>
        </p:nvSpPr>
        <p:spPr>
          <a:xfrm>
            <a:off x="622300" y="2260312"/>
            <a:ext cx="5334000" cy="1231106"/>
          </a:xfrm>
          <a:prstGeom prst="rect">
            <a:avLst/>
          </a:prstGeom>
          <a:noFill/>
          <a:ln>
            <a:noFill/>
          </a:ln>
        </p:spPr>
        <p:txBody>
          <a:bodyPr wrap="square">
            <a:spAutoFit/>
          </a:bodyPr>
          <a:lstStyle/>
          <a:p>
            <a:pPr>
              <a:spcAft>
                <a:spcPts val="1200"/>
              </a:spcAft>
              <a:buNone/>
            </a:pPr>
            <a:r>
              <a:rPr lang="en-US" b="1" dirty="0"/>
              <a:t>Portfolio A</a:t>
            </a:r>
            <a:r>
              <a:rPr lang="en-US" dirty="0"/>
              <a:t>: Tech stocks, high growth potential</a:t>
            </a:r>
          </a:p>
          <a:p>
            <a:pPr>
              <a:spcAft>
                <a:spcPts val="1200"/>
              </a:spcAft>
              <a:buNone/>
            </a:pPr>
            <a:r>
              <a:rPr lang="en-US" b="1" dirty="0"/>
              <a:t>Portfolio B</a:t>
            </a:r>
            <a:r>
              <a:rPr lang="en-US" dirty="0"/>
              <a:t>: Government bonds, stable but low returns</a:t>
            </a:r>
          </a:p>
          <a:p>
            <a:pPr>
              <a:spcAft>
                <a:spcPts val="1200"/>
              </a:spcAft>
              <a:buNone/>
            </a:pPr>
            <a:r>
              <a:rPr lang="en-US" b="1" dirty="0"/>
              <a:t>Portfolio C</a:t>
            </a:r>
            <a:r>
              <a:rPr lang="en-US" dirty="0"/>
              <a:t>: Mixed portfolio with diversified holdings</a:t>
            </a:r>
          </a:p>
        </p:txBody>
      </p:sp>
      <p:sp>
        <p:nvSpPr>
          <p:cNvPr id="18" name="TextBox 17">
            <a:extLst>
              <a:ext uri="{FF2B5EF4-FFF2-40B4-BE49-F238E27FC236}">
                <a16:creationId xmlns:a16="http://schemas.microsoft.com/office/drawing/2014/main" id="{6345B077-A229-F429-6338-31407C7D861D}"/>
              </a:ext>
            </a:extLst>
          </p:cNvPr>
          <p:cNvSpPr txBox="1"/>
          <p:nvPr/>
        </p:nvSpPr>
        <p:spPr>
          <a:xfrm>
            <a:off x="1995488" y="4086800"/>
            <a:ext cx="8621712" cy="646331"/>
          </a:xfrm>
          <a:prstGeom prst="rect">
            <a:avLst/>
          </a:prstGeom>
          <a:noFill/>
          <a:ln>
            <a:noFill/>
          </a:ln>
        </p:spPr>
        <p:txBody>
          <a:bodyPr wrap="square">
            <a:spAutoFit/>
          </a:bodyPr>
          <a:lstStyle/>
          <a:p>
            <a:r>
              <a:rPr lang="en-US" dirty="0"/>
              <a:t>The investor is estimating the </a:t>
            </a:r>
            <a:r>
              <a:rPr lang="en-US" b="1" i="1" dirty="0"/>
              <a:t>expected future returns</a:t>
            </a:r>
            <a:r>
              <a:rPr lang="en-US" dirty="0"/>
              <a:t> from each starting position, considering all possible market scenarios and the investment strategy they will follow.</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8F700-9FEE-351D-6F58-37E7FE846E50}"/>
            </a:ext>
          </a:extLst>
        </p:cNvPr>
        <p:cNvGrpSpPr/>
        <p:nvPr/>
      </p:nvGrpSpPr>
      <p:grpSpPr>
        <a:xfrm>
          <a:off x="0" y="0"/>
          <a:ext cx="0" cy="0"/>
          <a:chOff x="0" y="0"/>
          <a:chExt cx="0" cy="0"/>
        </a:xfrm>
      </p:grpSpPr>
      <p:sp>
        <p:nvSpPr>
          <p:cNvPr id="4" name="Title 12">
            <a:extLst>
              <a:ext uri="{FF2B5EF4-FFF2-40B4-BE49-F238E27FC236}">
                <a16:creationId xmlns:a16="http://schemas.microsoft.com/office/drawing/2014/main" id="{A01172D8-1E4D-D81B-D30A-5E6910D03F19}"/>
              </a:ext>
            </a:extLst>
          </p:cNvPr>
          <p:cNvSpPr txBox="1">
            <a:spLocks/>
          </p:cNvSpPr>
          <p:nvPr/>
        </p:nvSpPr>
        <p:spPr>
          <a:xfrm>
            <a:off x="471489" y="69597"/>
            <a:ext cx="11153622" cy="565671"/>
          </a:xfrm>
          <a:prstGeom prst="rect">
            <a:avLst/>
          </a:prstGeom>
          <a:ln>
            <a:noFill/>
          </a:ln>
        </p:spPr>
        <p:txBody>
          <a:bodyPr vert="horz" lIns="91440" tIns="45720" rIns="91440" bIns="45720" rtlCol="0" anchor="ctr">
            <a:noAutofit/>
          </a:bodyPr>
          <a:lst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a:lstStyle>
          <a:p>
            <a:pPr algn="ctr"/>
            <a:r>
              <a:rPr lang="en-US" sz="3600" dirty="0"/>
              <a:t>Value Functions</a:t>
            </a:r>
          </a:p>
        </p:txBody>
      </p:sp>
      <p:sp>
        <p:nvSpPr>
          <p:cNvPr id="5" name="TextBox 4">
            <a:extLst>
              <a:ext uri="{FF2B5EF4-FFF2-40B4-BE49-F238E27FC236}">
                <a16:creationId xmlns:a16="http://schemas.microsoft.com/office/drawing/2014/main" id="{2FFA974D-100C-1685-7B39-1A45D50AE404}"/>
              </a:ext>
            </a:extLst>
          </p:cNvPr>
          <p:cNvSpPr txBox="1"/>
          <p:nvPr/>
        </p:nvSpPr>
        <p:spPr>
          <a:xfrm>
            <a:off x="929004" y="831740"/>
            <a:ext cx="9477376" cy="369332"/>
          </a:xfrm>
          <a:prstGeom prst="rect">
            <a:avLst/>
          </a:prstGeom>
          <a:noFill/>
          <a:ln>
            <a:noFill/>
          </a:ln>
        </p:spPr>
        <p:txBody>
          <a:bodyPr wrap="square">
            <a:spAutoFit/>
          </a:bodyPr>
          <a:lstStyle/>
          <a:p>
            <a:r>
              <a:rPr lang="en-US" dirty="0"/>
              <a:t>Similarly, in RL we want to know: “How good is this state for achieving high rewards in the future?”</a:t>
            </a:r>
          </a:p>
        </p:txBody>
      </p:sp>
      <p:pic>
        <p:nvPicPr>
          <p:cNvPr id="2052" name="Picture 4">
            <a:extLst>
              <a:ext uri="{FF2B5EF4-FFF2-40B4-BE49-F238E27FC236}">
                <a16:creationId xmlns:a16="http://schemas.microsoft.com/office/drawing/2014/main" id="{97C60C53-AD83-A195-8E0A-BBEAB12B68D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795" t="5806" r="3036" b="5580"/>
          <a:stretch>
            <a:fillRect/>
          </a:stretch>
        </p:blipFill>
        <p:spPr bwMode="auto">
          <a:xfrm>
            <a:off x="1173164" y="2228124"/>
            <a:ext cx="3741420" cy="284534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Table 8">
            <a:extLst>
              <a:ext uri="{FF2B5EF4-FFF2-40B4-BE49-F238E27FC236}">
                <a16:creationId xmlns:a16="http://schemas.microsoft.com/office/drawing/2014/main" id="{F8EFCF66-4D33-724F-0664-6917000B9541}"/>
              </a:ext>
            </a:extLst>
          </p:cNvPr>
          <p:cNvGraphicFramePr>
            <a:graphicFrameLocks noGrp="1"/>
          </p:cNvGraphicFramePr>
          <p:nvPr>
            <p:extLst>
              <p:ext uri="{D42A27DB-BD31-4B8C-83A1-F6EECF244321}">
                <p14:modId xmlns:p14="http://schemas.microsoft.com/office/powerpoint/2010/main" val="3304753580"/>
              </p:ext>
            </p:extLst>
          </p:nvPr>
        </p:nvGraphicFramePr>
        <p:xfrm>
          <a:off x="1249364" y="2300019"/>
          <a:ext cx="3573780" cy="2674620"/>
        </p:xfrm>
        <a:graphic>
          <a:graphicData uri="http://schemas.openxmlformats.org/drawingml/2006/table">
            <a:tbl>
              <a:tblPr firstRow="1" bandRow="1">
                <a:tableStyleId>{2D5ABB26-0587-4C30-8999-92F81FD0307C}</a:tableStyleId>
              </a:tblPr>
              <a:tblGrid>
                <a:gridCol w="893445">
                  <a:extLst>
                    <a:ext uri="{9D8B030D-6E8A-4147-A177-3AD203B41FA5}">
                      <a16:colId xmlns:a16="http://schemas.microsoft.com/office/drawing/2014/main" val="2768816516"/>
                    </a:ext>
                  </a:extLst>
                </a:gridCol>
                <a:gridCol w="893445">
                  <a:extLst>
                    <a:ext uri="{9D8B030D-6E8A-4147-A177-3AD203B41FA5}">
                      <a16:colId xmlns:a16="http://schemas.microsoft.com/office/drawing/2014/main" val="2604837755"/>
                    </a:ext>
                  </a:extLst>
                </a:gridCol>
                <a:gridCol w="893445">
                  <a:extLst>
                    <a:ext uri="{9D8B030D-6E8A-4147-A177-3AD203B41FA5}">
                      <a16:colId xmlns:a16="http://schemas.microsoft.com/office/drawing/2014/main" val="2893518011"/>
                    </a:ext>
                  </a:extLst>
                </a:gridCol>
                <a:gridCol w="893445">
                  <a:extLst>
                    <a:ext uri="{9D8B030D-6E8A-4147-A177-3AD203B41FA5}">
                      <a16:colId xmlns:a16="http://schemas.microsoft.com/office/drawing/2014/main" val="207340184"/>
                    </a:ext>
                  </a:extLst>
                </a:gridCol>
              </a:tblGrid>
              <a:tr h="891540">
                <a:tc>
                  <a:txBody>
                    <a:bodyPr/>
                    <a:lstStyle/>
                    <a:p>
                      <a:pPr algn="ctr"/>
                      <a:endParaRPr lang="en-US" b="1" dirty="0">
                        <a:latin typeface="Consolas" panose="020B0609020204030204" pitchFamily="49" charset="0"/>
                      </a:endParaRPr>
                    </a:p>
                    <a:p>
                      <a:pPr algn="ctr"/>
                      <a:r>
                        <a:rPr lang="en-US" b="1" dirty="0">
                          <a:latin typeface="Consolas" panose="020B0609020204030204" pitchFamily="49" charset="0"/>
                        </a:rPr>
                        <a:t>2.3</a:t>
                      </a:r>
                    </a:p>
                  </a:txBody>
                  <a:tcPr/>
                </a:tc>
                <a:tc>
                  <a:txBody>
                    <a:bodyPr/>
                    <a:lstStyle/>
                    <a:p>
                      <a:pPr algn="ctr"/>
                      <a:endParaRPr lang="en-US" b="1" dirty="0">
                        <a:latin typeface="Consolas" panose="020B0609020204030204" pitchFamily="49" charset="0"/>
                      </a:endParaRPr>
                    </a:p>
                    <a:p>
                      <a:pPr algn="ctr"/>
                      <a:r>
                        <a:rPr lang="en-US" b="1" dirty="0">
                          <a:latin typeface="Consolas" panose="020B0609020204030204" pitchFamily="49" charset="0"/>
                        </a:rPr>
                        <a:t>3.1</a:t>
                      </a:r>
                    </a:p>
                  </a:txBody>
                  <a:tcPr/>
                </a:tc>
                <a:tc>
                  <a:txBody>
                    <a:bodyPr/>
                    <a:lstStyle/>
                    <a:p>
                      <a:pPr algn="ctr"/>
                      <a:endParaRPr lang="en-US" b="1" dirty="0">
                        <a:latin typeface="Consolas" panose="020B0609020204030204" pitchFamily="49" charset="0"/>
                      </a:endParaRPr>
                    </a:p>
                    <a:p>
                      <a:pPr algn="ctr"/>
                      <a:r>
                        <a:rPr lang="en-US" b="1" dirty="0">
                          <a:latin typeface="Consolas" panose="020B0609020204030204" pitchFamily="49" charset="0"/>
                        </a:rPr>
                        <a:t>4.2</a:t>
                      </a:r>
                    </a:p>
                  </a:txBody>
                  <a:tcPr/>
                </a:tc>
                <a:tc>
                  <a:txBody>
                    <a:bodyPr/>
                    <a:lstStyle/>
                    <a:p>
                      <a:pPr algn="ctr"/>
                      <a:endParaRPr lang="en-US" b="1" dirty="0">
                        <a:latin typeface="Consolas" panose="020B0609020204030204" pitchFamily="49" charset="0"/>
                      </a:endParaRPr>
                    </a:p>
                    <a:p>
                      <a:pPr algn="ctr"/>
                      <a:r>
                        <a:rPr lang="en-US" b="1" dirty="0">
                          <a:latin typeface="Consolas" panose="020B0609020204030204" pitchFamily="49" charset="0"/>
                        </a:rPr>
                        <a:t>+1</a:t>
                      </a:r>
                    </a:p>
                    <a:p>
                      <a:pPr algn="ctr"/>
                      <a:r>
                        <a:rPr lang="en-US" sz="1200" b="0" dirty="0">
                          <a:latin typeface="+mn-lt"/>
                        </a:rPr>
                        <a:t>(terminal)</a:t>
                      </a:r>
                    </a:p>
                  </a:txBody>
                  <a:tcPr/>
                </a:tc>
                <a:extLst>
                  <a:ext uri="{0D108BD9-81ED-4DB2-BD59-A6C34878D82A}">
                    <a16:rowId xmlns:a16="http://schemas.microsoft.com/office/drawing/2014/main" val="468062442"/>
                  </a:ext>
                </a:extLst>
              </a:tr>
              <a:tr h="891540">
                <a:tc>
                  <a:txBody>
                    <a:bodyPr/>
                    <a:lstStyle/>
                    <a:p>
                      <a:pPr algn="ctr"/>
                      <a:endParaRPr lang="en-US" b="1" dirty="0">
                        <a:latin typeface="Consolas" panose="020B0609020204030204" pitchFamily="49" charset="0"/>
                      </a:endParaRPr>
                    </a:p>
                    <a:p>
                      <a:pPr algn="ctr"/>
                      <a:r>
                        <a:rPr lang="en-US" b="1" dirty="0">
                          <a:latin typeface="Consolas" panose="020B0609020204030204" pitchFamily="49" charset="0"/>
                        </a:rPr>
                        <a:t>1.8</a:t>
                      </a:r>
                    </a:p>
                  </a:txBody>
                  <a:tcPr/>
                </a:tc>
                <a:tc>
                  <a:txBody>
                    <a:bodyPr/>
                    <a:lstStyle/>
                    <a:p>
                      <a:pPr algn="ctr"/>
                      <a:endParaRPr lang="en-US" b="1" dirty="0">
                        <a:latin typeface="Consolas" panose="020B0609020204030204" pitchFamily="49" charset="0"/>
                      </a:endParaRPr>
                    </a:p>
                    <a:p>
                      <a:pPr algn="ctr"/>
                      <a:r>
                        <a:rPr lang="en-US" b="1" dirty="0">
                          <a:latin typeface="Consolas" panose="020B0609020204030204" pitchFamily="49" charset="0"/>
                        </a:rPr>
                        <a:t>X</a:t>
                      </a:r>
                    </a:p>
                    <a:p>
                      <a:pPr algn="ctr"/>
                      <a:r>
                        <a:rPr lang="en-US" sz="1200" b="0" dirty="0">
                          <a:latin typeface="+mn-lt"/>
                        </a:rPr>
                        <a:t>(barrier)</a:t>
                      </a:r>
                    </a:p>
                  </a:txBody>
                  <a:tcPr/>
                </a:tc>
                <a:tc>
                  <a:txBody>
                    <a:bodyPr/>
                    <a:lstStyle/>
                    <a:p>
                      <a:pPr algn="ctr"/>
                      <a:endParaRPr lang="en-US" b="1" dirty="0">
                        <a:latin typeface="Consolas" panose="020B0609020204030204" pitchFamily="49" charset="0"/>
                      </a:endParaRPr>
                    </a:p>
                    <a:p>
                      <a:pPr algn="ctr"/>
                      <a:r>
                        <a:rPr lang="en-US" b="1" dirty="0">
                          <a:latin typeface="Consolas" panose="020B0609020204030204" pitchFamily="49" charset="0"/>
                        </a:rPr>
                        <a:t>2.9</a:t>
                      </a:r>
                    </a:p>
                  </a:txBody>
                  <a:tcPr/>
                </a:tc>
                <a:tc>
                  <a:txBody>
                    <a:bodyPr/>
                    <a:lstStyle/>
                    <a:p>
                      <a:pPr algn="ctr"/>
                      <a:endParaRPr lang="en-US" b="1" dirty="0">
                        <a:latin typeface="Consolas" panose="020B0609020204030204" pitchFamily="49" charset="0"/>
                      </a:endParaRPr>
                    </a:p>
                    <a:p>
                      <a:pPr algn="ctr"/>
                      <a:r>
                        <a:rPr lang="en-US" b="1" dirty="0">
                          <a:latin typeface="Consolas" panose="020B0609020204030204" pitchFamily="49" charset="0"/>
                        </a:rPr>
                        <a:t>-1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dirty="0">
                          <a:latin typeface="+mn-lt"/>
                        </a:rPr>
                        <a:t>(terminal)</a:t>
                      </a:r>
                    </a:p>
                  </a:txBody>
                  <a:tcPr/>
                </a:tc>
                <a:extLst>
                  <a:ext uri="{0D108BD9-81ED-4DB2-BD59-A6C34878D82A}">
                    <a16:rowId xmlns:a16="http://schemas.microsoft.com/office/drawing/2014/main" val="3593124290"/>
                  </a:ext>
                </a:extLst>
              </a:tr>
              <a:tr h="891540">
                <a:tc>
                  <a:txBody>
                    <a:bodyPr/>
                    <a:lstStyle/>
                    <a:p>
                      <a:pPr algn="ctr"/>
                      <a:endParaRPr lang="en-US" b="1" dirty="0">
                        <a:latin typeface="Consolas" panose="020B0609020204030204" pitchFamily="49" charset="0"/>
                      </a:endParaRPr>
                    </a:p>
                    <a:p>
                      <a:pPr algn="ctr"/>
                      <a:r>
                        <a:rPr lang="en-US" b="1" dirty="0">
                          <a:latin typeface="Consolas" panose="020B0609020204030204" pitchFamily="49" charset="0"/>
                        </a:rPr>
                        <a:t>Start</a:t>
                      </a:r>
                    </a:p>
                  </a:txBody>
                  <a:tcPr/>
                </a:tc>
                <a:tc>
                  <a:txBody>
                    <a:bodyPr/>
                    <a:lstStyle/>
                    <a:p>
                      <a:pPr algn="ctr"/>
                      <a:endParaRPr lang="en-US" b="1" dirty="0">
                        <a:latin typeface="Consolas" panose="020B0609020204030204" pitchFamily="49" charset="0"/>
                      </a:endParaRPr>
                    </a:p>
                    <a:p>
                      <a:pPr algn="ctr"/>
                      <a:r>
                        <a:rPr lang="en-US" b="1" dirty="0">
                          <a:latin typeface="Consolas" panose="020B0609020204030204" pitchFamily="49" charset="0"/>
                        </a:rPr>
                        <a:t>1.2</a:t>
                      </a:r>
                    </a:p>
                  </a:txBody>
                  <a:tcPr/>
                </a:tc>
                <a:tc>
                  <a:txBody>
                    <a:bodyPr/>
                    <a:lstStyle/>
                    <a:p>
                      <a:pPr algn="ctr"/>
                      <a:endParaRPr lang="en-US" b="1" dirty="0">
                        <a:latin typeface="Consolas" panose="020B0609020204030204" pitchFamily="49" charset="0"/>
                      </a:endParaRPr>
                    </a:p>
                    <a:p>
                      <a:pPr algn="ctr"/>
                      <a:r>
                        <a:rPr lang="en-US" b="1" dirty="0">
                          <a:latin typeface="Consolas" panose="020B0609020204030204" pitchFamily="49" charset="0"/>
                        </a:rPr>
                        <a:t>2.1</a:t>
                      </a:r>
                    </a:p>
                  </a:txBody>
                  <a:tcPr/>
                </a:tc>
                <a:tc>
                  <a:txBody>
                    <a:bodyPr/>
                    <a:lstStyle/>
                    <a:p>
                      <a:pPr algn="ctr"/>
                      <a:endParaRPr lang="en-US" b="1" dirty="0">
                        <a:latin typeface="Consolas" panose="020B0609020204030204" pitchFamily="49" charset="0"/>
                      </a:endParaRPr>
                    </a:p>
                    <a:p>
                      <a:pPr algn="ctr"/>
                      <a:r>
                        <a:rPr lang="en-US" b="1" dirty="0">
                          <a:latin typeface="Consolas" panose="020B0609020204030204" pitchFamily="49" charset="0"/>
                        </a:rPr>
                        <a:t>2.5</a:t>
                      </a:r>
                    </a:p>
                  </a:txBody>
                  <a:tcPr/>
                </a:tc>
                <a:extLst>
                  <a:ext uri="{0D108BD9-81ED-4DB2-BD59-A6C34878D82A}">
                    <a16:rowId xmlns:a16="http://schemas.microsoft.com/office/drawing/2014/main" val="3285542050"/>
                  </a:ext>
                </a:extLst>
              </a:tr>
            </a:tbl>
          </a:graphicData>
        </a:graphic>
      </p:graphicFrame>
      <p:sp>
        <p:nvSpPr>
          <p:cNvPr id="14" name="Rectangle 13">
            <a:extLst>
              <a:ext uri="{FF2B5EF4-FFF2-40B4-BE49-F238E27FC236}">
                <a16:creationId xmlns:a16="http://schemas.microsoft.com/office/drawing/2014/main" id="{9BED1C40-1A4E-9782-175B-BE736C1F2648}"/>
              </a:ext>
            </a:extLst>
          </p:cNvPr>
          <p:cNvSpPr/>
          <p:nvPr/>
        </p:nvSpPr>
        <p:spPr>
          <a:xfrm>
            <a:off x="3938272" y="2292399"/>
            <a:ext cx="884872" cy="883920"/>
          </a:xfrm>
          <a:prstGeom prst="rect">
            <a:avLst/>
          </a:prstGeom>
          <a:noFill/>
          <a:ln w="38100">
            <a:solidFill>
              <a:srgbClr val="FF0000"/>
            </a:solidFill>
          </a:ln>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9BFB0D10-8933-5027-F627-D8F254871C01}"/>
              </a:ext>
            </a:extLst>
          </p:cNvPr>
          <p:cNvSpPr/>
          <p:nvPr/>
        </p:nvSpPr>
        <p:spPr>
          <a:xfrm>
            <a:off x="3938272" y="3208836"/>
            <a:ext cx="884872" cy="883920"/>
          </a:xfrm>
          <a:prstGeom prst="rect">
            <a:avLst/>
          </a:prstGeom>
          <a:noFill/>
          <a:ln w="38100">
            <a:solidFill>
              <a:srgbClr val="FF0000"/>
            </a:solidFill>
          </a:ln>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9CE3FCB-341A-F01F-985F-C51CDDCEC58D}"/>
              </a:ext>
            </a:extLst>
          </p:cNvPr>
          <p:cNvSpPr/>
          <p:nvPr/>
        </p:nvSpPr>
        <p:spPr>
          <a:xfrm>
            <a:off x="1266510" y="4090719"/>
            <a:ext cx="884872" cy="883920"/>
          </a:xfrm>
          <a:prstGeom prst="rect">
            <a:avLst/>
          </a:prstGeom>
          <a:noFill/>
          <a:ln w="38100">
            <a:solidFill>
              <a:srgbClr val="00B050"/>
            </a:solidFill>
          </a:ln>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E9387377-7687-0313-5093-45F0FA0BA5E9}"/>
              </a:ext>
            </a:extLst>
          </p:cNvPr>
          <p:cNvSpPr/>
          <p:nvPr/>
        </p:nvSpPr>
        <p:spPr>
          <a:xfrm>
            <a:off x="2172337" y="3208836"/>
            <a:ext cx="884872" cy="883920"/>
          </a:xfrm>
          <a:prstGeom prst="rect">
            <a:avLst/>
          </a:prstGeom>
          <a:noFill/>
          <a:ln w="38100">
            <a:solidFill>
              <a:schemeClr val="tx1"/>
            </a:solidFill>
          </a:ln>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21" name="TextBox 20">
            <a:extLst>
              <a:ext uri="{FF2B5EF4-FFF2-40B4-BE49-F238E27FC236}">
                <a16:creationId xmlns:a16="http://schemas.microsoft.com/office/drawing/2014/main" id="{3C53D142-CC4C-95AF-C1A8-001564FC793C}"/>
              </a:ext>
            </a:extLst>
          </p:cNvPr>
          <p:cNvSpPr txBox="1"/>
          <p:nvPr/>
        </p:nvSpPr>
        <p:spPr>
          <a:xfrm>
            <a:off x="5804380" y="2428151"/>
            <a:ext cx="3343275" cy="369332"/>
          </a:xfrm>
          <a:prstGeom prst="rect">
            <a:avLst/>
          </a:prstGeom>
          <a:noFill/>
          <a:ln>
            <a:noFill/>
          </a:ln>
        </p:spPr>
        <p:txBody>
          <a:bodyPr wrap="square">
            <a:spAutoFit/>
          </a:bodyPr>
          <a:lstStyle/>
          <a:p>
            <a:r>
              <a:rPr lang="en-US" dirty="0"/>
              <a:t>The other values are state values.</a:t>
            </a:r>
          </a:p>
        </p:txBody>
      </p:sp>
      <p:sp>
        <p:nvSpPr>
          <p:cNvPr id="23" name="TextBox 22">
            <a:extLst>
              <a:ext uri="{FF2B5EF4-FFF2-40B4-BE49-F238E27FC236}">
                <a16:creationId xmlns:a16="http://schemas.microsoft.com/office/drawing/2014/main" id="{7E78746E-D844-B3A0-B884-9082A365D8ED}"/>
              </a:ext>
            </a:extLst>
          </p:cNvPr>
          <p:cNvSpPr txBox="1"/>
          <p:nvPr/>
        </p:nvSpPr>
        <p:spPr>
          <a:xfrm>
            <a:off x="5804380" y="3932514"/>
            <a:ext cx="5436871" cy="1200329"/>
          </a:xfrm>
          <a:prstGeom prst="rect">
            <a:avLst/>
          </a:prstGeom>
          <a:noFill/>
          <a:ln>
            <a:noFill/>
          </a:ln>
        </p:spPr>
        <p:txBody>
          <a:bodyPr wrap="square">
            <a:spAutoFit/>
          </a:bodyPr>
          <a:lstStyle/>
          <a:p>
            <a:pPr>
              <a:buNone/>
            </a:pPr>
            <a:r>
              <a:rPr lang="en-US" b="1" dirty="0"/>
              <a:t>Observe higher numbers are better positions:</a:t>
            </a:r>
            <a:endParaRPr lang="en-US" dirty="0"/>
          </a:p>
          <a:p>
            <a:pPr marL="517525" indent="-285750">
              <a:buFont typeface="Arial" panose="020B0604020202020204" pitchFamily="34" charset="0"/>
              <a:buChar char="•"/>
            </a:pPr>
            <a:r>
              <a:rPr lang="en-US" dirty="0"/>
              <a:t>Closer to</a:t>
            </a:r>
            <a:r>
              <a:rPr lang="en-US" dirty="0">
                <a:latin typeface="Consolas" panose="020B0609020204030204" pitchFamily="49" charset="0"/>
              </a:rPr>
              <a:t> +1 </a:t>
            </a:r>
            <a:r>
              <a:rPr lang="en-US" dirty="0"/>
              <a:t>reward (goal)</a:t>
            </a:r>
          </a:p>
          <a:p>
            <a:pPr marL="517525" indent="-285750">
              <a:buFont typeface="Arial" panose="020B0604020202020204" pitchFamily="34" charset="0"/>
              <a:buChar char="•"/>
            </a:pPr>
            <a:r>
              <a:rPr lang="en-US" dirty="0"/>
              <a:t>Farther from</a:t>
            </a:r>
            <a:r>
              <a:rPr lang="en-US" dirty="0">
                <a:latin typeface="Consolas" panose="020B0609020204030204" pitchFamily="49" charset="0"/>
              </a:rPr>
              <a:t> -1 </a:t>
            </a:r>
            <a:r>
              <a:rPr lang="en-US" dirty="0"/>
              <a:t>penalty (trap)</a:t>
            </a:r>
          </a:p>
          <a:p>
            <a:pPr marL="517525" indent="-285750">
              <a:buFont typeface="Arial" panose="020B0604020202020204" pitchFamily="34" charset="0"/>
              <a:buChar char="•"/>
            </a:pPr>
            <a:r>
              <a:rPr lang="en-US" dirty="0"/>
              <a:t>Fewer steps needed (less accumulated step costs)</a:t>
            </a:r>
          </a:p>
        </p:txBody>
      </p:sp>
      <p:sp>
        <p:nvSpPr>
          <p:cNvPr id="24" name="TextBox 23">
            <a:extLst>
              <a:ext uri="{FF2B5EF4-FFF2-40B4-BE49-F238E27FC236}">
                <a16:creationId xmlns:a16="http://schemas.microsoft.com/office/drawing/2014/main" id="{93470CE0-81F2-54BC-DAD7-292FA5780CAC}"/>
              </a:ext>
            </a:extLst>
          </p:cNvPr>
          <p:cNvSpPr txBox="1"/>
          <p:nvPr/>
        </p:nvSpPr>
        <p:spPr>
          <a:xfrm>
            <a:off x="6236973" y="2848884"/>
            <a:ext cx="4306253" cy="923330"/>
          </a:xfrm>
          <a:prstGeom prst="rect">
            <a:avLst/>
          </a:prstGeom>
          <a:noFill/>
          <a:ln>
            <a:noFill/>
          </a:ln>
        </p:spPr>
        <p:txBody>
          <a:bodyPr wrap="square">
            <a:spAutoFit/>
          </a:bodyPr>
          <a:lstStyle/>
          <a:p>
            <a:r>
              <a:rPr lang="en-US" dirty="0"/>
              <a:t>Considering the top-left corner, </a:t>
            </a:r>
            <a:r>
              <a:rPr lang="en-US" i="1" dirty="0">
                <a:solidFill>
                  <a:srgbClr val="C00000"/>
                </a:solidFill>
              </a:rPr>
              <a:t>if we start in this state and follow the policy</a:t>
            </a:r>
            <a:r>
              <a:rPr lang="en-US" dirty="0">
                <a:solidFill>
                  <a:srgbClr val="C00000"/>
                </a:solidFill>
              </a:rPr>
              <a:t>, we expect to accumulate </a:t>
            </a:r>
            <a:r>
              <a:rPr lang="en-US" dirty="0"/>
              <a:t>2.3 total reward, </a:t>
            </a:r>
            <a:r>
              <a:rPr lang="en-US" i="1" dirty="0">
                <a:solidFill>
                  <a:srgbClr val="C00000"/>
                </a:solidFill>
              </a:rPr>
              <a:t>on average</a:t>
            </a:r>
            <a:r>
              <a:rPr lang="en-US" dirty="0"/>
              <a:t>. </a:t>
            </a:r>
          </a:p>
        </p:txBody>
      </p:sp>
      <p:sp>
        <p:nvSpPr>
          <p:cNvPr id="2" name="TextBox 1">
            <a:extLst>
              <a:ext uri="{FF2B5EF4-FFF2-40B4-BE49-F238E27FC236}">
                <a16:creationId xmlns:a16="http://schemas.microsoft.com/office/drawing/2014/main" id="{44C5446E-3247-6DCB-15A3-CBADAB85B380}"/>
              </a:ext>
            </a:extLst>
          </p:cNvPr>
          <p:cNvSpPr txBox="1"/>
          <p:nvPr/>
        </p:nvSpPr>
        <p:spPr>
          <a:xfrm>
            <a:off x="5425440" y="5797619"/>
            <a:ext cx="1760220" cy="369332"/>
          </a:xfrm>
          <a:prstGeom prst="rect">
            <a:avLst/>
          </a:prstGeom>
          <a:noFill/>
          <a:ln>
            <a:noFill/>
          </a:ln>
        </p:spPr>
        <p:txBody>
          <a:bodyPr wrap="square">
            <a:spAutoFit/>
          </a:bodyPr>
          <a:lstStyle/>
          <a:p>
            <a:r>
              <a:rPr lang="en-US" dirty="0"/>
              <a:t>TODO: complete</a:t>
            </a:r>
          </a:p>
        </p:txBody>
      </p:sp>
    </p:spTree>
    <p:extLst>
      <p:ext uri="{BB962C8B-B14F-4D97-AF65-F5344CB8AC3E}">
        <p14:creationId xmlns:p14="http://schemas.microsoft.com/office/powerpoint/2010/main" val="1418114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1544A-3924-8589-9788-36F5B7F6152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itle 12">
                <a:extLst>
                  <a:ext uri="{FF2B5EF4-FFF2-40B4-BE49-F238E27FC236}">
                    <a16:creationId xmlns:a16="http://schemas.microsoft.com/office/drawing/2014/main" id="{AEADC927-55C8-505B-724A-528C9A1B287F}"/>
                  </a:ext>
                </a:extLst>
              </p:cNvPr>
              <p:cNvSpPr txBox="1">
                <a:spLocks/>
              </p:cNvSpPr>
              <p:nvPr/>
            </p:nvSpPr>
            <p:spPr>
              <a:xfrm>
                <a:off x="471489" y="69597"/>
                <a:ext cx="11153622" cy="565671"/>
              </a:xfrm>
              <a:prstGeom prst="rect">
                <a:avLst/>
              </a:prstGeom>
              <a:ln>
                <a:noFill/>
              </a:ln>
            </p:spPr>
            <p:txBody>
              <a:bodyPr vert="horz" lIns="91440" tIns="45720" rIns="91440" bIns="45720" rtlCol="0" anchor="ctr">
                <a:noAutofit/>
              </a:bodyPr>
              <a:lst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a:lstStyle>
              <a:p>
                <a:pPr algn="ctr"/>
                <a:r>
                  <a:rPr lang="en-US" sz="3600" dirty="0"/>
                  <a:t>State Value Function: </a:t>
                </a:r>
                <a14:m>
                  <m:oMath xmlns:m="http://schemas.openxmlformats.org/officeDocument/2006/math">
                    <m:sSup>
                      <m:sSupPr>
                        <m:ctrlPr>
                          <a:rPr lang="en-US" sz="3600" i="1">
                            <a:latin typeface="Cambria Math" panose="02040503050406030204" pitchFamily="18" charset="0"/>
                          </a:rPr>
                        </m:ctrlPr>
                      </m:sSupPr>
                      <m:e>
                        <m:r>
                          <a:rPr lang="en-US" sz="3600" i="1">
                            <a:latin typeface="Cambria Math" panose="02040503050406030204" pitchFamily="18" charset="0"/>
                          </a:rPr>
                          <m:t>𝑉</m:t>
                        </m:r>
                      </m:e>
                      <m:sup>
                        <m:r>
                          <a:rPr lang="en-US" sz="3600" b="1" i="1">
                            <a:latin typeface="Cambria Math" panose="02040503050406030204" pitchFamily="18" charset="0"/>
                          </a:rPr>
                          <m:t>𝝅</m:t>
                        </m:r>
                        <m:r>
                          <a:rPr lang="en-US" sz="3600" i="1">
                            <a:latin typeface="Cambria Math" panose="02040503050406030204" pitchFamily="18" charset="0"/>
                          </a:rPr>
                          <m:t>(</m:t>
                        </m:r>
                        <m:r>
                          <a:rPr lang="en-US" sz="3600" i="1">
                            <a:solidFill>
                              <a:srgbClr val="00B050"/>
                            </a:solidFill>
                            <a:latin typeface="Cambria Math" panose="02040503050406030204" pitchFamily="18" charset="0"/>
                          </a:rPr>
                          <m:t>𝑠</m:t>
                        </m:r>
                        <m:r>
                          <a:rPr lang="en-US" sz="3600" i="1">
                            <a:latin typeface="Cambria Math" panose="02040503050406030204" pitchFamily="18" charset="0"/>
                          </a:rPr>
                          <m:t>)</m:t>
                        </m:r>
                      </m:sup>
                    </m:sSup>
                  </m:oMath>
                </a14:m>
                <a:r>
                  <a:rPr lang="en-US" sz="3600" dirty="0"/>
                  <a:t> </a:t>
                </a:r>
              </a:p>
            </p:txBody>
          </p:sp>
        </mc:Choice>
        <mc:Fallback xmlns="">
          <p:sp>
            <p:nvSpPr>
              <p:cNvPr id="4" name="Title 12">
                <a:extLst>
                  <a:ext uri="{FF2B5EF4-FFF2-40B4-BE49-F238E27FC236}">
                    <a16:creationId xmlns:a16="http://schemas.microsoft.com/office/drawing/2014/main" id="{AEADC927-55C8-505B-724A-528C9A1B287F}"/>
                  </a:ext>
                </a:extLst>
              </p:cNvPr>
              <p:cNvSpPr txBox="1">
                <a:spLocks noRot="1" noChangeAspect="1" noMove="1" noResize="1" noEditPoints="1" noAdjustHandles="1" noChangeArrowheads="1" noChangeShapeType="1" noTextEdit="1"/>
              </p:cNvSpPr>
              <p:nvPr/>
            </p:nvSpPr>
            <p:spPr>
              <a:xfrm>
                <a:off x="471489" y="69597"/>
                <a:ext cx="11153622" cy="565671"/>
              </a:xfrm>
              <a:prstGeom prst="rect">
                <a:avLst/>
              </a:prstGeom>
              <a:blipFill>
                <a:blip r:embed="rId2"/>
                <a:stretch>
                  <a:fillRect t="-20430" b="-49462"/>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3118F1E-2807-B3C2-437C-CD46B557AC06}"/>
                  </a:ext>
                </a:extLst>
              </p:cNvPr>
              <p:cNvSpPr txBox="1"/>
              <p:nvPr/>
            </p:nvSpPr>
            <p:spPr>
              <a:xfrm>
                <a:off x="929640" y="829311"/>
                <a:ext cx="8275319" cy="400110"/>
              </a:xfrm>
              <a:prstGeom prst="rect">
                <a:avLst/>
              </a:prstGeom>
              <a:noFill/>
              <a:ln>
                <a:noFill/>
              </a:ln>
            </p:spPr>
            <p:txBody>
              <a:bodyPr wrap="square">
                <a:spAutoFit/>
              </a:bodyPr>
              <a:lstStyle/>
              <a:p>
                <a:r>
                  <a:rPr lang="en-US" sz="2000" b="1" i="1" dirty="0"/>
                  <a:t>Definition.</a:t>
                </a:r>
                <a:r>
                  <a:rPr lang="en-US" sz="2000" dirty="0"/>
                  <a:t> The expected cumulative reward from state </a:t>
                </a:r>
                <a14:m>
                  <m:oMath xmlns:m="http://schemas.openxmlformats.org/officeDocument/2006/math">
                    <m:r>
                      <a:rPr lang="en-US" sz="2000" i="1" dirty="0" smtClean="0">
                        <a:solidFill>
                          <a:srgbClr val="00B050"/>
                        </a:solidFill>
                        <a:latin typeface="Cambria Math" panose="02040503050406030204" pitchFamily="18" charset="0"/>
                      </a:rPr>
                      <m:t>𝑠</m:t>
                    </m:r>
                  </m:oMath>
                </a14:m>
                <a:r>
                  <a:rPr lang="en-US" sz="2000" dirty="0"/>
                  <a:t> following policy </a:t>
                </a:r>
                <a14:m>
                  <m:oMath xmlns:m="http://schemas.openxmlformats.org/officeDocument/2006/math">
                    <m:r>
                      <a:rPr lang="en-US" sz="2000" b="1" i="1" dirty="0" smtClean="0">
                        <a:latin typeface="Cambria Math" panose="02040503050406030204" pitchFamily="18" charset="0"/>
                      </a:rPr>
                      <m:t>𝝅</m:t>
                    </m:r>
                  </m:oMath>
                </a14:m>
                <a:r>
                  <a:rPr lang="en-US" sz="2000" dirty="0"/>
                  <a:t>:</a:t>
                </a:r>
                <a:endParaRPr lang="en-US" sz="2000" b="1" i="1" dirty="0"/>
              </a:p>
            </p:txBody>
          </p:sp>
        </mc:Choice>
        <mc:Fallback xmlns="">
          <p:sp>
            <p:nvSpPr>
              <p:cNvPr id="10" name="TextBox 9">
                <a:extLst>
                  <a:ext uri="{FF2B5EF4-FFF2-40B4-BE49-F238E27FC236}">
                    <a16:creationId xmlns:a16="http://schemas.microsoft.com/office/drawing/2014/main" id="{B3118F1E-2807-B3C2-437C-CD46B557AC06}"/>
                  </a:ext>
                </a:extLst>
              </p:cNvPr>
              <p:cNvSpPr txBox="1">
                <a:spLocks noRot="1" noChangeAspect="1" noMove="1" noResize="1" noEditPoints="1" noAdjustHandles="1" noChangeArrowheads="1" noChangeShapeType="1" noTextEdit="1"/>
              </p:cNvSpPr>
              <p:nvPr/>
            </p:nvSpPr>
            <p:spPr>
              <a:xfrm>
                <a:off x="929640" y="829311"/>
                <a:ext cx="8275319" cy="400110"/>
              </a:xfrm>
              <a:prstGeom prst="rect">
                <a:avLst/>
              </a:prstGeom>
              <a:blipFill>
                <a:blip r:embed="rId3"/>
                <a:stretch>
                  <a:fillRect l="-811" t="-7576" b="-25758"/>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3BDB92ED-03AE-E4F7-54AC-BC36B2793B95}"/>
                  </a:ext>
                </a:extLst>
              </p:cNvPr>
              <p:cNvSpPr txBox="1"/>
              <p:nvPr/>
            </p:nvSpPr>
            <p:spPr>
              <a:xfrm>
                <a:off x="2818071" y="2651870"/>
                <a:ext cx="6487418" cy="476990"/>
              </a:xfrm>
              <a:prstGeom prst="rect">
                <a:avLst/>
              </a:prstGeom>
              <a:noFill/>
              <a:ln>
                <a:noFill/>
              </a:ln>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𝑉</m:t>
                          </m:r>
                        </m:e>
                        <m:sup>
                          <m:r>
                            <a:rPr lang="en-US" sz="2400" b="1" i="1" smtClean="0">
                              <a:latin typeface="Cambria Math" panose="02040503050406030204" pitchFamily="18" charset="0"/>
                            </a:rPr>
                            <m:t>𝝅</m:t>
                          </m:r>
                          <m:r>
                            <a:rPr lang="en-US" sz="2400" b="0" i="1" smtClean="0">
                              <a:latin typeface="Cambria Math" panose="02040503050406030204" pitchFamily="18" charset="0"/>
                            </a:rPr>
                            <m:t>(</m:t>
                          </m:r>
                          <m:r>
                            <a:rPr lang="en-US" sz="2400" b="0" i="1" smtClean="0">
                              <a:solidFill>
                                <a:srgbClr val="00B050"/>
                              </a:solidFill>
                              <a:latin typeface="Cambria Math" panose="02040503050406030204" pitchFamily="18" charset="0"/>
                            </a:rPr>
                            <m:t>𝑠</m:t>
                          </m:r>
                          <m:r>
                            <a:rPr lang="en-US" sz="2400" b="0" i="1" smtClean="0">
                              <a:latin typeface="Cambria Math" panose="02040503050406030204" pitchFamily="18" charset="0"/>
                            </a:rPr>
                            <m:t>)</m:t>
                          </m:r>
                        </m:sup>
                      </m:sSup>
                      <m:r>
                        <a:rPr lang="en-US" sz="2400" b="0" i="1" smtClean="0">
                          <a:latin typeface="Cambria Math" panose="02040503050406030204" pitchFamily="18" charset="0"/>
                        </a:rPr>
                        <m:t>=</m:t>
                      </m:r>
                      <m:r>
                        <a:rPr lang="en-US" sz="2400" b="0" i="1" smtClean="0">
                          <a:latin typeface="Cambria Math" panose="02040503050406030204" pitchFamily="18" charset="0"/>
                        </a:rPr>
                        <m:t>𝐸</m:t>
                      </m:r>
                      <m:d>
                        <m:dPr>
                          <m:begChr m:val="["/>
                          <m:endChr m:val="]"/>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solidFill>
                                    <a:srgbClr val="1306BA"/>
                                  </a:solidFill>
                                  <a:latin typeface="Cambria Math" panose="02040503050406030204" pitchFamily="18" charset="0"/>
                                </a:rPr>
                                <m:t>𝑅</m:t>
                              </m:r>
                            </m:e>
                            <m:sub>
                              <m:r>
                                <a:rPr lang="en-US" sz="2400" b="0" i="1" smtClean="0">
                                  <a:latin typeface="Cambria Math" panose="02040503050406030204" pitchFamily="18" charset="0"/>
                                </a:rPr>
                                <m:t>𝑡</m:t>
                              </m:r>
                            </m:sub>
                          </m:sSub>
                          <m:r>
                            <a:rPr lang="en-US" sz="2400" b="0" i="1" smtClean="0">
                              <a:latin typeface="Cambria Math" panose="02040503050406030204" pitchFamily="18" charset="0"/>
                            </a:rPr>
                            <m:t>+</m:t>
                          </m:r>
                          <m:r>
                            <a:rPr lang="en-US" sz="2400" b="0" i="1" smtClean="0">
                              <a:solidFill>
                                <a:srgbClr val="00B0F0"/>
                              </a:solidFill>
                              <a:latin typeface="Cambria Math" panose="02040503050406030204" pitchFamily="18" charset="0"/>
                            </a:rPr>
                            <m:t>𝛾</m:t>
                          </m:r>
                          <m:sSub>
                            <m:sSubPr>
                              <m:ctrlPr>
                                <a:rPr lang="en-US" sz="2400" b="0" i="1" smtClean="0">
                                  <a:latin typeface="Cambria Math" panose="02040503050406030204" pitchFamily="18" charset="0"/>
                                </a:rPr>
                              </m:ctrlPr>
                            </m:sSubPr>
                            <m:e>
                              <m:r>
                                <a:rPr lang="en-US" sz="2400" b="0" i="1" smtClean="0">
                                  <a:solidFill>
                                    <a:srgbClr val="1306BA"/>
                                  </a:solidFill>
                                  <a:latin typeface="Cambria Math" panose="02040503050406030204" pitchFamily="18" charset="0"/>
                                </a:rPr>
                                <m:t>𝑅</m:t>
                              </m:r>
                            </m:e>
                            <m:sub>
                              <m:r>
                                <a:rPr lang="en-US" sz="2400" b="0" i="1" smtClean="0">
                                  <a:latin typeface="Cambria Math" panose="02040503050406030204" pitchFamily="18" charset="0"/>
                                </a:rPr>
                                <m:t>𝑡</m:t>
                              </m:r>
                              <m:r>
                                <a:rPr lang="en-US" sz="2400" b="0" i="1" smtClean="0">
                                  <a:latin typeface="Cambria Math" panose="02040503050406030204" pitchFamily="18" charset="0"/>
                                </a:rPr>
                                <m:t>+1</m:t>
                              </m:r>
                            </m:sub>
                          </m:sSub>
                          <m:r>
                            <a:rPr lang="en-US" sz="2400" i="1">
                              <a:latin typeface="Cambria Math" panose="02040503050406030204" pitchFamily="18" charset="0"/>
                            </a:rPr>
                            <m:t>+</m:t>
                          </m:r>
                          <m:sSup>
                            <m:sSupPr>
                              <m:ctrlPr>
                                <a:rPr lang="en-US" sz="2400" b="0" i="1" smtClean="0">
                                  <a:latin typeface="Cambria Math" panose="02040503050406030204" pitchFamily="18" charset="0"/>
                                </a:rPr>
                              </m:ctrlPr>
                            </m:sSupPr>
                            <m:e>
                              <m:r>
                                <a:rPr lang="en-US" sz="2400" i="1">
                                  <a:solidFill>
                                    <a:srgbClr val="00B0F0"/>
                                  </a:solidFill>
                                  <a:latin typeface="Cambria Math" panose="02040503050406030204" pitchFamily="18" charset="0"/>
                                </a:rPr>
                                <m:t>𝛾</m:t>
                              </m:r>
                            </m:e>
                            <m:sup>
                              <m:r>
                                <a:rPr lang="en-US" sz="2400" b="0" i="1" smtClean="0">
                                  <a:latin typeface="Cambria Math" panose="02040503050406030204" pitchFamily="18" charset="0"/>
                                </a:rPr>
                                <m:t>2</m:t>
                              </m:r>
                            </m:sup>
                          </m:sSup>
                          <m:sSub>
                            <m:sSubPr>
                              <m:ctrlPr>
                                <a:rPr lang="en-US" sz="2400" i="1" smtClean="0">
                                  <a:latin typeface="Cambria Math" panose="02040503050406030204" pitchFamily="18" charset="0"/>
                                </a:rPr>
                              </m:ctrlPr>
                            </m:sSubPr>
                            <m:e>
                              <m:r>
                                <a:rPr lang="en-US" sz="2400" b="0" i="1" smtClean="0">
                                  <a:solidFill>
                                    <a:srgbClr val="1306BA"/>
                                  </a:solidFill>
                                  <a:latin typeface="Cambria Math" panose="02040503050406030204" pitchFamily="18" charset="0"/>
                                </a:rPr>
                                <m:t>𝑅</m:t>
                              </m:r>
                            </m:e>
                            <m:sub>
                              <m:r>
                                <a:rPr lang="en-US" sz="2400" i="1">
                                  <a:latin typeface="Cambria Math" panose="02040503050406030204" pitchFamily="18" charset="0"/>
                                </a:rPr>
                                <m:t>𝑡</m:t>
                              </m:r>
                              <m:r>
                                <a:rPr lang="en-US" sz="2400" i="1">
                                  <a:latin typeface="Cambria Math" panose="02040503050406030204" pitchFamily="18" charset="0"/>
                                </a:rPr>
                                <m:t>+2</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solidFill>
                                    <a:srgbClr val="00B050"/>
                                  </a:solidFill>
                                  <a:latin typeface="Cambria Math" panose="02040503050406030204" pitchFamily="18" charset="0"/>
                                </a:rPr>
                                <m:t>𝑠</m:t>
                              </m:r>
                            </m:e>
                            <m:sub>
                              <m:r>
                                <a:rPr lang="en-US" sz="2400" b="0" i="1" smtClean="0">
                                  <a:latin typeface="Cambria Math" panose="02040503050406030204" pitchFamily="18" charset="0"/>
                                </a:rPr>
                                <m:t>𝑡</m:t>
                              </m:r>
                            </m:sub>
                          </m:sSub>
                          <m:r>
                            <a:rPr lang="en-US" sz="2400" b="0" i="1" smtClean="0">
                              <a:latin typeface="Cambria Math" panose="02040503050406030204" pitchFamily="18" charset="0"/>
                            </a:rPr>
                            <m:t>=</m:t>
                          </m:r>
                          <m:r>
                            <a:rPr lang="en-US" sz="2400" b="0" i="1" smtClean="0">
                              <a:solidFill>
                                <a:srgbClr val="00B050"/>
                              </a:solidFill>
                              <a:latin typeface="Cambria Math" panose="02040503050406030204" pitchFamily="18" charset="0"/>
                            </a:rPr>
                            <m:t>𝑠</m:t>
                          </m:r>
                          <m:r>
                            <a:rPr lang="en-US" sz="2400" b="0" i="1" smtClean="0">
                              <a:latin typeface="Cambria Math" panose="02040503050406030204" pitchFamily="18" charset="0"/>
                            </a:rPr>
                            <m:t>, </m:t>
                          </m:r>
                          <m:r>
                            <a:rPr lang="en-US" sz="2400" b="1" i="1" smtClean="0">
                              <a:latin typeface="Cambria Math" panose="02040503050406030204" pitchFamily="18" charset="0"/>
                            </a:rPr>
                            <m:t>𝝅</m:t>
                          </m:r>
                        </m:e>
                      </m:d>
                    </m:oMath>
                  </m:oMathPara>
                </a14:m>
                <a:endParaRPr lang="en-US" sz="2400" dirty="0"/>
              </a:p>
            </p:txBody>
          </p:sp>
        </mc:Choice>
        <mc:Fallback xmlns="">
          <p:sp>
            <p:nvSpPr>
              <p:cNvPr id="26" name="TextBox 25">
                <a:extLst>
                  <a:ext uri="{FF2B5EF4-FFF2-40B4-BE49-F238E27FC236}">
                    <a16:creationId xmlns:a16="http://schemas.microsoft.com/office/drawing/2014/main" id="{3BDB92ED-03AE-E4F7-54AC-BC36B2793B95}"/>
                  </a:ext>
                </a:extLst>
              </p:cNvPr>
              <p:cNvSpPr txBox="1">
                <a:spLocks noRot="1" noChangeAspect="1" noMove="1" noResize="1" noEditPoints="1" noAdjustHandles="1" noChangeArrowheads="1" noChangeShapeType="1" noTextEdit="1"/>
              </p:cNvSpPr>
              <p:nvPr/>
            </p:nvSpPr>
            <p:spPr>
              <a:xfrm>
                <a:off x="2818071" y="2651870"/>
                <a:ext cx="6487418" cy="476990"/>
              </a:xfrm>
              <a:prstGeom prst="rect">
                <a:avLst/>
              </a:prstGeom>
              <a:blipFill>
                <a:blip r:embed="rId4"/>
                <a:stretch>
                  <a:fillRect b="-8974"/>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F97386C-4C75-BAA3-8F7F-B2860AF7E129}"/>
                  </a:ext>
                </a:extLst>
              </p:cNvPr>
              <p:cNvSpPr txBox="1"/>
              <p:nvPr/>
            </p:nvSpPr>
            <p:spPr>
              <a:xfrm>
                <a:off x="10836547" y="2558969"/>
                <a:ext cx="425812" cy="400110"/>
              </a:xfrm>
              <a:prstGeom prst="rect">
                <a:avLst/>
              </a:prstGeom>
              <a:noFill/>
              <a:ln>
                <a:noFill/>
              </a:ln>
            </p:spPr>
            <p:txBody>
              <a:bodyPr wrap="square">
                <a:spAutoFit/>
              </a:bodyPr>
              <a:lstStyle/>
              <a:p>
                <a14:m>
                  <m:oMath xmlns:m="http://schemas.openxmlformats.org/officeDocument/2006/math">
                    <m:r>
                      <a:rPr lang="en-US" sz="2000" b="0" i="1" dirty="0" smtClean="0">
                        <a:solidFill>
                          <a:srgbClr val="00B0F0"/>
                        </a:solidFill>
                        <a:latin typeface="Cambria Math" panose="02040503050406030204" pitchFamily="18" charset="0"/>
                      </a:rPr>
                      <m:t>𝛾</m:t>
                    </m:r>
                  </m:oMath>
                </a14:m>
                <a:r>
                  <a:rPr lang="en-US" sz="2000" dirty="0"/>
                  <a:t> </a:t>
                </a:r>
              </a:p>
            </p:txBody>
          </p:sp>
        </mc:Choice>
        <mc:Fallback xmlns="">
          <p:sp>
            <p:nvSpPr>
              <p:cNvPr id="29" name="TextBox 28">
                <a:extLst>
                  <a:ext uri="{FF2B5EF4-FFF2-40B4-BE49-F238E27FC236}">
                    <a16:creationId xmlns:a16="http://schemas.microsoft.com/office/drawing/2014/main" id="{1F97386C-4C75-BAA3-8F7F-B2860AF7E129}"/>
                  </a:ext>
                </a:extLst>
              </p:cNvPr>
              <p:cNvSpPr txBox="1">
                <a:spLocks noRot="1" noChangeAspect="1" noMove="1" noResize="1" noEditPoints="1" noAdjustHandles="1" noChangeArrowheads="1" noChangeShapeType="1" noTextEdit="1"/>
              </p:cNvSpPr>
              <p:nvPr/>
            </p:nvSpPr>
            <p:spPr>
              <a:xfrm>
                <a:off x="10836547" y="2558969"/>
                <a:ext cx="425812" cy="400110"/>
              </a:xfrm>
              <a:prstGeom prst="rect">
                <a:avLst/>
              </a:prstGeom>
              <a:blipFill>
                <a:blip r:embed="rId5"/>
                <a:stretch>
                  <a:fillRect b="-6154"/>
                </a:stretch>
              </a:blipFill>
              <a:ln>
                <a:noFill/>
              </a:ln>
            </p:spPr>
            <p:txBody>
              <a:bodyPr/>
              <a:lstStyle/>
              <a:p>
                <a:r>
                  <a:rPr lang="en-US">
                    <a:noFill/>
                  </a:rPr>
                  <a:t> </a:t>
                </a:r>
              </a:p>
            </p:txBody>
          </p:sp>
        </mc:Fallback>
      </mc:AlternateContent>
      <p:sp>
        <p:nvSpPr>
          <p:cNvPr id="32" name="TextBox 31">
            <a:extLst>
              <a:ext uri="{FF2B5EF4-FFF2-40B4-BE49-F238E27FC236}">
                <a16:creationId xmlns:a16="http://schemas.microsoft.com/office/drawing/2014/main" id="{C46A5DB0-9F58-62CE-B8E5-A0F645E189C4}"/>
              </a:ext>
            </a:extLst>
          </p:cNvPr>
          <p:cNvSpPr txBox="1"/>
          <p:nvPr/>
        </p:nvSpPr>
        <p:spPr>
          <a:xfrm>
            <a:off x="10076292" y="2890365"/>
            <a:ext cx="1807770" cy="400110"/>
          </a:xfrm>
          <a:prstGeom prst="rect">
            <a:avLst/>
          </a:prstGeom>
          <a:noFill/>
          <a:ln>
            <a:noFill/>
          </a:ln>
        </p:spPr>
        <p:txBody>
          <a:bodyPr wrap="square">
            <a:spAutoFit/>
          </a:bodyPr>
          <a:lstStyle/>
          <a:p>
            <a:r>
              <a:rPr lang="en-US" sz="2000" dirty="0"/>
              <a:t>Discount factor</a:t>
            </a:r>
          </a:p>
        </p:txBody>
      </p:sp>
      <p:cxnSp>
        <p:nvCxnSpPr>
          <p:cNvPr id="48" name="Straight Arrow Connector 47">
            <a:extLst>
              <a:ext uri="{FF2B5EF4-FFF2-40B4-BE49-F238E27FC236}">
                <a16:creationId xmlns:a16="http://schemas.microsoft.com/office/drawing/2014/main" id="{07F69784-B9D1-FAF2-0CAD-AB403B3799C0}"/>
              </a:ext>
            </a:extLst>
          </p:cNvPr>
          <p:cNvCxnSpPr>
            <a:cxnSpLocks/>
            <a:stCxn id="49" idx="3"/>
          </p:cNvCxnSpPr>
          <p:nvPr/>
        </p:nvCxnSpPr>
        <p:spPr>
          <a:xfrm>
            <a:off x="3705309" y="1983421"/>
            <a:ext cx="457199" cy="752159"/>
          </a:xfrm>
          <a:prstGeom prst="bentConnector2">
            <a:avLst/>
          </a:prstGeom>
          <a:ln w="25400">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49" name="TextBox 48">
            <a:extLst>
              <a:ext uri="{FF2B5EF4-FFF2-40B4-BE49-F238E27FC236}">
                <a16:creationId xmlns:a16="http://schemas.microsoft.com/office/drawing/2014/main" id="{D10D9971-42DA-F3DA-C00B-14560D62BA64}"/>
              </a:ext>
            </a:extLst>
          </p:cNvPr>
          <p:cNvSpPr txBox="1"/>
          <p:nvPr/>
        </p:nvSpPr>
        <p:spPr>
          <a:xfrm>
            <a:off x="2249887" y="1521756"/>
            <a:ext cx="1455422" cy="923330"/>
          </a:xfrm>
          <a:prstGeom prst="rect">
            <a:avLst/>
          </a:prstGeom>
          <a:noFill/>
          <a:ln>
            <a:noFill/>
          </a:ln>
        </p:spPr>
        <p:txBody>
          <a:bodyPr wrap="square" rtlCol="0" anchor="ctr" anchorCtr="1">
            <a:spAutoFit/>
          </a:bodyPr>
          <a:lstStyle/>
          <a:p>
            <a:pPr algn="ctr"/>
            <a:r>
              <a:rPr lang="en-US" dirty="0"/>
              <a:t>Discrete Probability Distribution</a:t>
            </a:r>
          </a:p>
        </p:txBody>
      </p:sp>
      <p:grpSp>
        <p:nvGrpSpPr>
          <p:cNvPr id="2055" name="Group 2054">
            <a:extLst>
              <a:ext uri="{FF2B5EF4-FFF2-40B4-BE49-F238E27FC236}">
                <a16:creationId xmlns:a16="http://schemas.microsoft.com/office/drawing/2014/main" id="{158D3C15-211A-E246-6445-D20D57AAA739}"/>
              </a:ext>
            </a:extLst>
          </p:cNvPr>
          <p:cNvGrpSpPr/>
          <p:nvPr/>
        </p:nvGrpSpPr>
        <p:grpSpPr>
          <a:xfrm>
            <a:off x="3856996" y="3128863"/>
            <a:ext cx="1287781" cy="1322260"/>
            <a:chOff x="3208018" y="3128863"/>
            <a:chExt cx="1287781" cy="1322260"/>
          </a:xfrm>
        </p:grpSpPr>
        <p:sp>
          <p:nvSpPr>
            <p:cNvPr id="52" name="TextBox 51">
              <a:extLst>
                <a:ext uri="{FF2B5EF4-FFF2-40B4-BE49-F238E27FC236}">
                  <a16:creationId xmlns:a16="http://schemas.microsoft.com/office/drawing/2014/main" id="{BE9AF5E2-63AA-4305-CD7B-C60A29331EC4}"/>
                </a:ext>
              </a:extLst>
            </p:cNvPr>
            <p:cNvSpPr txBox="1"/>
            <p:nvPr/>
          </p:nvSpPr>
          <p:spPr>
            <a:xfrm>
              <a:off x="3208018" y="3527793"/>
              <a:ext cx="1287781" cy="923330"/>
            </a:xfrm>
            <a:prstGeom prst="rect">
              <a:avLst/>
            </a:prstGeom>
            <a:noFill/>
            <a:ln w="19050">
              <a:solidFill>
                <a:srgbClr val="1306BA"/>
              </a:solidFill>
            </a:ln>
          </p:spPr>
          <p:txBody>
            <a:bodyPr wrap="square" rtlCol="0" anchor="ctr" anchorCtr="1">
              <a:spAutoFit/>
            </a:bodyPr>
            <a:lstStyle/>
            <a:p>
              <a:pPr algn="ctr"/>
              <a:r>
                <a:rPr lang="en-US" dirty="0"/>
                <a:t>Immediate reward; no discounting</a:t>
              </a:r>
            </a:p>
          </p:txBody>
        </p:sp>
        <p:cxnSp>
          <p:nvCxnSpPr>
            <p:cNvPr id="59" name="Straight Arrow Connector 47">
              <a:extLst>
                <a:ext uri="{FF2B5EF4-FFF2-40B4-BE49-F238E27FC236}">
                  <a16:creationId xmlns:a16="http://schemas.microsoft.com/office/drawing/2014/main" id="{7824264F-7C83-29D1-73B5-7D83B9829F82}"/>
                </a:ext>
              </a:extLst>
            </p:cNvPr>
            <p:cNvCxnSpPr>
              <a:cxnSpLocks/>
              <a:stCxn id="52" idx="0"/>
            </p:cNvCxnSpPr>
            <p:nvPr/>
          </p:nvCxnSpPr>
          <p:spPr>
            <a:xfrm flipV="1">
              <a:off x="3851909" y="3128863"/>
              <a:ext cx="2" cy="398930"/>
            </a:xfrm>
            <a:prstGeom prst="straightConnector1">
              <a:avLst/>
            </a:prstGeom>
            <a:ln w="25400">
              <a:solidFill>
                <a:schemeClr val="tx1"/>
              </a:solidFill>
              <a:tailEnd type="triangle"/>
            </a:ln>
          </p:spPr>
          <p:style>
            <a:lnRef idx="1">
              <a:schemeClr val="accent2"/>
            </a:lnRef>
            <a:fillRef idx="0">
              <a:schemeClr val="accent2"/>
            </a:fillRef>
            <a:effectRef idx="0">
              <a:schemeClr val="accent2"/>
            </a:effectRef>
            <a:fontRef idx="minor">
              <a:schemeClr val="tx1"/>
            </a:fontRef>
          </p:style>
        </p:cxnSp>
      </p:grpSp>
      <p:grpSp>
        <p:nvGrpSpPr>
          <p:cNvPr id="2054" name="Group 2053">
            <a:extLst>
              <a:ext uri="{FF2B5EF4-FFF2-40B4-BE49-F238E27FC236}">
                <a16:creationId xmlns:a16="http://schemas.microsoft.com/office/drawing/2014/main" id="{5356E92E-C732-9518-9212-6A0199327F3F}"/>
              </a:ext>
            </a:extLst>
          </p:cNvPr>
          <p:cNvGrpSpPr/>
          <p:nvPr/>
        </p:nvGrpSpPr>
        <p:grpSpPr>
          <a:xfrm>
            <a:off x="5707379" y="3128860"/>
            <a:ext cx="1807770" cy="1590979"/>
            <a:chOff x="4554623" y="2998644"/>
            <a:chExt cx="1807770" cy="1590979"/>
          </a:xfrm>
        </p:grpSpPr>
        <p:sp>
          <p:nvSpPr>
            <p:cNvPr id="57" name="TextBox 56">
              <a:extLst>
                <a:ext uri="{FF2B5EF4-FFF2-40B4-BE49-F238E27FC236}">
                  <a16:creationId xmlns:a16="http://schemas.microsoft.com/office/drawing/2014/main" id="{09DA0B49-4846-3818-DDA8-BC2F9230B19D}"/>
                </a:ext>
              </a:extLst>
            </p:cNvPr>
            <p:cNvSpPr txBox="1"/>
            <p:nvPr/>
          </p:nvSpPr>
          <p:spPr>
            <a:xfrm>
              <a:off x="4554623" y="3389294"/>
              <a:ext cx="1807770" cy="1200329"/>
            </a:xfrm>
            <a:prstGeom prst="rect">
              <a:avLst/>
            </a:prstGeom>
            <a:noFill/>
            <a:ln w="19050">
              <a:solidFill>
                <a:srgbClr val="1306BA"/>
              </a:solidFill>
            </a:ln>
          </p:spPr>
          <p:txBody>
            <a:bodyPr wrap="square" rtlCol="0" anchor="ctr" anchorCtr="1">
              <a:spAutoFit/>
            </a:bodyPr>
            <a:lstStyle/>
            <a:p>
              <a:pPr algn="ctr"/>
              <a:r>
                <a:rPr lang="en-US" dirty="0"/>
                <a:t>Reward two steps in the future; discounted twice</a:t>
              </a:r>
            </a:p>
          </p:txBody>
        </p:sp>
        <p:cxnSp>
          <p:nvCxnSpPr>
            <p:cNvPr id="62" name="Straight Arrow Connector 47">
              <a:extLst>
                <a:ext uri="{FF2B5EF4-FFF2-40B4-BE49-F238E27FC236}">
                  <a16:creationId xmlns:a16="http://schemas.microsoft.com/office/drawing/2014/main" id="{BF34A244-DF30-BB5B-7E72-BD9D289BDABF}"/>
                </a:ext>
              </a:extLst>
            </p:cNvPr>
            <p:cNvCxnSpPr>
              <a:cxnSpLocks/>
              <a:stCxn id="57" idx="0"/>
            </p:cNvCxnSpPr>
            <p:nvPr/>
          </p:nvCxnSpPr>
          <p:spPr>
            <a:xfrm flipV="1">
              <a:off x="5458508" y="2998644"/>
              <a:ext cx="0" cy="390650"/>
            </a:xfrm>
            <a:prstGeom prst="straightConnector1">
              <a:avLst/>
            </a:prstGeom>
            <a:ln w="25400">
              <a:solidFill>
                <a:schemeClr val="tx1"/>
              </a:solidFill>
              <a:tailEnd type="triangle"/>
            </a:ln>
          </p:spPr>
          <p:style>
            <a:lnRef idx="1">
              <a:schemeClr val="accent2"/>
            </a:lnRef>
            <a:fillRef idx="0">
              <a:schemeClr val="accent2"/>
            </a:fillRef>
            <a:effectRef idx="0">
              <a:schemeClr val="accent2"/>
            </a:effectRef>
            <a:fontRef idx="minor">
              <a:schemeClr val="tx1"/>
            </a:fontRef>
          </p:style>
        </p:cxnSp>
      </p:grpSp>
      <p:grpSp>
        <p:nvGrpSpPr>
          <p:cNvPr id="2056" name="Group 2055">
            <a:extLst>
              <a:ext uri="{FF2B5EF4-FFF2-40B4-BE49-F238E27FC236}">
                <a16:creationId xmlns:a16="http://schemas.microsoft.com/office/drawing/2014/main" id="{0AFFF7C3-A822-95A0-0FD9-F55E6AABBD51}"/>
              </a:ext>
            </a:extLst>
          </p:cNvPr>
          <p:cNvGrpSpPr/>
          <p:nvPr/>
        </p:nvGrpSpPr>
        <p:grpSpPr>
          <a:xfrm>
            <a:off x="4419598" y="1529074"/>
            <a:ext cx="1807770" cy="1211382"/>
            <a:chOff x="3293954" y="1679567"/>
            <a:chExt cx="1807770" cy="1211382"/>
          </a:xfrm>
        </p:grpSpPr>
        <p:sp>
          <p:nvSpPr>
            <p:cNvPr id="58" name="TextBox 57">
              <a:extLst>
                <a:ext uri="{FF2B5EF4-FFF2-40B4-BE49-F238E27FC236}">
                  <a16:creationId xmlns:a16="http://schemas.microsoft.com/office/drawing/2014/main" id="{9A4C7542-3B38-E16F-96FE-1956FA99DA4A}"/>
                </a:ext>
              </a:extLst>
            </p:cNvPr>
            <p:cNvSpPr txBox="1"/>
            <p:nvPr/>
          </p:nvSpPr>
          <p:spPr>
            <a:xfrm>
              <a:off x="3293954" y="1679567"/>
              <a:ext cx="1807770" cy="923330"/>
            </a:xfrm>
            <a:prstGeom prst="rect">
              <a:avLst/>
            </a:prstGeom>
            <a:noFill/>
            <a:ln w="19050">
              <a:solidFill>
                <a:srgbClr val="1306BA"/>
              </a:solidFill>
            </a:ln>
          </p:spPr>
          <p:txBody>
            <a:bodyPr wrap="square" rtlCol="0" anchor="ctr" anchorCtr="1">
              <a:spAutoFit/>
            </a:bodyPr>
            <a:lstStyle/>
            <a:p>
              <a:pPr algn="ctr"/>
              <a:r>
                <a:rPr lang="en-US" dirty="0"/>
                <a:t>Reward one step in the future; discounted once</a:t>
              </a:r>
            </a:p>
          </p:txBody>
        </p:sp>
        <p:cxnSp>
          <p:nvCxnSpPr>
            <p:cNvPr id="2048" name="Straight Arrow Connector 47">
              <a:extLst>
                <a:ext uri="{FF2B5EF4-FFF2-40B4-BE49-F238E27FC236}">
                  <a16:creationId xmlns:a16="http://schemas.microsoft.com/office/drawing/2014/main" id="{ED6FD541-B4FC-1BDB-1134-2574C5198881}"/>
                </a:ext>
              </a:extLst>
            </p:cNvPr>
            <p:cNvCxnSpPr>
              <a:cxnSpLocks/>
              <a:stCxn id="58" idx="2"/>
            </p:cNvCxnSpPr>
            <p:nvPr/>
          </p:nvCxnSpPr>
          <p:spPr>
            <a:xfrm>
              <a:off x="4197839" y="2602897"/>
              <a:ext cx="0" cy="288052"/>
            </a:xfrm>
            <a:prstGeom prst="straightConnector1">
              <a:avLst/>
            </a:prstGeom>
            <a:ln w="25400">
              <a:solidFill>
                <a:schemeClr val="tx1"/>
              </a:solidFill>
              <a:tailEnd type="triangle"/>
            </a:ln>
          </p:spPr>
          <p:style>
            <a:lnRef idx="1">
              <a:schemeClr val="accent2"/>
            </a:lnRef>
            <a:fillRef idx="0">
              <a:schemeClr val="accent2"/>
            </a:fillRef>
            <a:effectRef idx="0">
              <a:schemeClr val="accent2"/>
            </a:effectRef>
            <a:fontRef idx="minor">
              <a:schemeClr val="tx1"/>
            </a:fontRef>
          </p:style>
        </p:cxnSp>
      </p:grpSp>
      <p:grpSp>
        <p:nvGrpSpPr>
          <p:cNvPr id="2060" name="Group 2059">
            <a:extLst>
              <a:ext uri="{FF2B5EF4-FFF2-40B4-BE49-F238E27FC236}">
                <a16:creationId xmlns:a16="http://schemas.microsoft.com/office/drawing/2014/main" id="{305CCB71-A6EA-B616-A986-510CCDC80A51}"/>
              </a:ext>
            </a:extLst>
          </p:cNvPr>
          <p:cNvGrpSpPr/>
          <p:nvPr/>
        </p:nvGrpSpPr>
        <p:grpSpPr>
          <a:xfrm>
            <a:off x="7125609" y="1640777"/>
            <a:ext cx="1807770" cy="1101562"/>
            <a:chOff x="3743164" y="1810749"/>
            <a:chExt cx="1807770" cy="1101562"/>
          </a:xfrm>
        </p:grpSpPr>
        <mc:AlternateContent xmlns:mc="http://schemas.openxmlformats.org/markup-compatibility/2006" xmlns:a14="http://schemas.microsoft.com/office/drawing/2010/main">
          <mc:Choice Requires="a14">
            <p:sp>
              <p:nvSpPr>
                <p:cNvPr id="2061" name="TextBox 2060">
                  <a:extLst>
                    <a:ext uri="{FF2B5EF4-FFF2-40B4-BE49-F238E27FC236}">
                      <a16:creationId xmlns:a16="http://schemas.microsoft.com/office/drawing/2014/main" id="{7673FAB9-2B48-3C64-F942-91475A7FFD55}"/>
                    </a:ext>
                  </a:extLst>
                </p:cNvPr>
                <p:cNvSpPr txBox="1"/>
                <p:nvPr/>
              </p:nvSpPr>
              <p:spPr>
                <a:xfrm>
                  <a:off x="3743164" y="1810749"/>
                  <a:ext cx="1807770" cy="646331"/>
                </a:xfrm>
                <a:prstGeom prst="rect">
                  <a:avLst/>
                </a:prstGeom>
                <a:noFill/>
                <a:ln w="19050">
                  <a:solidFill>
                    <a:srgbClr val="00B050"/>
                  </a:solidFill>
                </a:ln>
              </p:spPr>
              <p:txBody>
                <a:bodyPr wrap="square" rtlCol="0" anchor="ctr" anchorCtr="1">
                  <a:spAutoFit/>
                </a:bodyPr>
                <a:lstStyle/>
                <a:p>
                  <a:pPr algn="ctr"/>
                  <a:r>
                    <a:rPr lang="en-US" dirty="0"/>
                    <a:t>Current state at time </a:t>
                  </a:r>
                  <a14:m>
                    <m:oMath xmlns:m="http://schemas.openxmlformats.org/officeDocument/2006/math">
                      <m:r>
                        <a:rPr lang="en-US" b="0" i="1" smtClean="0">
                          <a:latin typeface="Cambria Math" panose="02040503050406030204" pitchFamily="18" charset="0"/>
                        </a:rPr>
                        <m:t>𝑡</m:t>
                      </m:r>
                    </m:oMath>
                  </a14:m>
                  <a:r>
                    <a:rPr lang="en-US" dirty="0"/>
                    <a:t>.</a:t>
                  </a:r>
                </a:p>
              </p:txBody>
            </p:sp>
          </mc:Choice>
          <mc:Fallback xmlns="">
            <p:sp>
              <p:nvSpPr>
                <p:cNvPr id="2061" name="TextBox 2060">
                  <a:extLst>
                    <a:ext uri="{FF2B5EF4-FFF2-40B4-BE49-F238E27FC236}">
                      <a16:creationId xmlns:a16="http://schemas.microsoft.com/office/drawing/2014/main" id="{7673FAB9-2B48-3C64-F942-91475A7FFD55}"/>
                    </a:ext>
                  </a:extLst>
                </p:cNvPr>
                <p:cNvSpPr txBox="1">
                  <a:spLocks noRot="1" noChangeAspect="1" noMove="1" noResize="1" noEditPoints="1" noAdjustHandles="1" noChangeArrowheads="1" noChangeShapeType="1" noTextEdit="1"/>
                </p:cNvSpPr>
                <p:nvPr/>
              </p:nvSpPr>
              <p:spPr>
                <a:xfrm>
                  <a:off x="3743164" y="1810749"/>
                  <a:ext cx="1807770" cy="646331"/>
                </a:xfrm>
                <a:prstGeom prst="rect">
                  <a:avLst/>
                </a:prstGeom>
                <a:blipFill>
                  <a:blip r:embed="rId6"/>
                  <a:stretch>
                    <a:fillRect t="-3670" b="-12844"/>
                  </a:stretch>
                </a:blipFill>
                <a:ln w="19050">
                  <a:solidFill>
                    <a:srgbClr val="00B050"/>
                  </a:solidFill>
                </a:ln>
              </p:spPr>
              <p:txBody>
                <a:bodyPr/>
                <a:lstStyle/>
                <a:p>
                  <a:r>
                    <a:rPr lang="en-US">
                      <a:noFill/>
                    </a:rPr>
                    <a:t> </a:t>
                  </a:r>
                </a:p>
              </p:txBody>
            </p:sp>
          </mc:Fallback>
        </mc:AlternateContent>
        <p:cxnSp>
          <p:nvCxnSpPr>
            <p:cNvPr id="2062" name="Straight Arrow Connector 47">
              <a:extLst>
                <a:ext uri="{FF2B5EF4-FFF2-40B4-BE49-F238E27FC236}">
                  <a16:creationId xmlns:a16="http://schemas.microsoft.com/office/drawing/2014/main" id="{2DAD8E91-FEE6-680F-CB76-C84A433CF11D}"/>
                </a:ext>
              </a:extLst>
            </p:cNvPr>
            <p:cNvCxnSpPr>
              <a:cxnSpLocks/>
              <a:stCxn id="2061" idx="2"/>
            </p:cNvCxnSpPr>
            <p:nvPr/>
          </p:nvCxnSpPr>
          <p:spPr>
            <a:xfrm>
              <a:off x="4647049" y="2457080"/>
              <a:ext cx="0" cy="455231"/>
            </a:xfrm>
            <a:prstGeom prst="straightConnector1">
              <a:avLst/>
            </a:prstGeom>
            <a:ln w="25400">
              <a:solidFill>
                <a:schemeClr val="tx1"/>
              </a:solidFill>
              <a:tailEnd type="triangle"/>
            </a:ln>
          </p:spPr>
          <p:style>
            <a:lnRef idx="1">
              <a:schemeClr val="accent2"/>
            </a:lnRef>
            <a:fillRef idx="0">
              <a:schemeClr val="accent2"/>
            </a:fillRef>
            <a:effectRef idx="0">
              <a:schemeClr val="accent2"/>
            </a:effectRef>
            <a:fontRef idx="minor">
              <a:schemeClr val="tx1"/>
            </a:fontRef>
          </p:style>
        </p:cxnSp>
      </p:grpSp>
      <p:grpSp>
        <p:nvGrpSpPr>
          <p:cNvPr id="2068" name="Group 2067">
            <a:extLst>
              <a:ext uri="{FF2B5EF4-FFF2-40B4-BE49-F238E27FC236}">
                <a16:creationId xmlns:a16="http://schemas.microsoft.com/office/drawing/2014/main" id="{47CEE9E3-DAF1-9A92-3C48-75A8E889D590}"/>
              </a:ext>
            </a:extLst>
          </p:cNvPr>
          <p:cNvGrpSpPr/>
          <p:nvPr/>
        </p:nvGrpSpPr>
        <p:grpSpPr>
          <a:xfrm>
            <a:off x="8047203" y="3070860"/>
            <a:ext cx="1807770" cy="817982"/>
            <a:chOff x="4909024" y="2940644"/>
            <a:chExt cx="1807770" cy="817982"/>
          </a:xfrm>
        </p:grpSpPr>
        <p:sp>
          <p:nvSpPr>
            <p:cNvPr id="2069" name="TextBox 2068">
              <a:extLst>
                <a:ext uri="{FF2B5EF4-FFF2-40B4-BE49-F238E27FC236}">
                  <a16:creationId xmlns:a16="http://schemas.microsoft.com/office/drawing/2014/main" id="{1907C585-A1B8-90F5-F884-664E0C4E1CD0}"/>
                </a:ext>
              </a:extLst>
            </p:cNvPr>
            <p:cNvSpPr txBox="1"/>
            <p:nvPr/>
          </p:nvSpPr>
          <p:spPr>
            <a:xfrm>
              <a:off x="4909024" y="3389294"/>
              <a:ext cx="1807770" cy="369332"/>
            </a:xfrm>
            <a:prstGeom prst="rect">
              <a:avLst/>
            </a:prstGeom>
            <a:noFill/>
            <a:ln w="19050">
              <a:noFill/>
            </a:ln>
          </p:spPr>
          <p:txBody>
            <a:bodyPr wrap="square" rtlCol="0" anchor="ctr" anchorCtr="1">
              <a:spAutoFit/>
            </a:bodyPr>
            <a:lstStyle/>
            <a:p>
              <a:pPr algn="ctr"/>
              <a:r>
                <a:rPr lang="en-US" dirty="0"/>
                <a:t>policy</a:t>
              </a:r>
            </a:p>
          </p:txBody>
        </p:sp>
        <p:cxnSp>
          <p:nvCxnSpPr>
            <p:cNvPr id="2070" name="Straight Arrow Connector 47">
              <a:extLst>
                <a:ext uri="{FF2B5EF4-FFF2-40B4-BE49-F238E27FC236}">
                  <a16:creationId xmlns:a16="http://schemas.microsoft.com/office/drawing/2014/main" id="{4B587073-A0BB-3500-1190-DC4A419ADB81}"/>
                </a:ext>
              </a:extLst>
            </p:cNvPr>
            <p:cNvCxnSpPr>
              <a:cxnSpLocks/>
              <a:stCxn id="2069" idx="0"/>
            </p:cNvCxnSpPr>
            <p:nvPr/>
          </p:nvCxnSpPr>
          <p:spPr>
            <a:xfrm flipV="1">
              <a:off x="5812909" y="2940644"/>
              <a:ext cx="0" cy="448650"/>
            </a:xfrm>
            <a:prstGeom prst="straightConnector1">
              <a:avLst/>
            </a:prstGeom>
            <a:ln w="25400">
              <a:solidFill>
                <a:schemeClr val="tx1"/>
              </a:solidFill>
              <a:tailEnd type="triangle"/>
            </a:ln>
          </p:spPr>
          <p:style>
            <a:lnRef idx="1">
              <a:schemeClr val="accent2"/>
            </a:lnRef>
            <a:fillRef idx="0">
              <a:schemeClr val="accent2"/>
            </a:fillRef>
            <a:effectRef idx="0">
              <a:schemeClr val="accent2"/>
            </a:effectRef>
            <a:fontRef idx="minor">
              <a:schemeClr val="tx1"/>
            </a:fontRef>
          </p:style>
        </p:cxnSp>
      </p:grpSp>
      <p:sp>
        <p:nvSpPr>
          <p:cNvPr id="2072" name="Content Placeholder 2">
            <a:extLst>
              <a:ext uri="{FF2B5EF4-FFF2-40B4-BE49-F238E27FC236}">
                <a16:creationId xmlns:a16="http://schemas.microsoft.com/office/drawing/2014/main" id="{B4161357-273C-6A35-85A3-1EDCEE29DC70}"/>
              </a:ext>
            </a:extLst>
          </p:cNvPr>
          <p:cNvSpPr txBox="1">
            <a:spLocks/>
          </p:cNvSpPr>
          <p:nvPr/>
        </p:nvSpPr>
        <p:spPr>
          <a:xfrm>
            <a:off x="937260" y="5023227"/>
            <a:ext cx="1226820" cy="37338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i="1" dirty="0"/>
              <a:t>Example.</a:t>
            </a:r>
            <a:endParaRPr lang="en-US" sz="2000" i="1" dirty="0"/>
          </a:p>
        </p:txBody>
      </p:sp>
      <mc:AlternateContent xmlns:mc="http://schemas.openxmlformats.org/markup-compatibility/2006" xmlns:a14="http://schemas.microsoft.com/office/drawing/2010/main">
        <mc:Choice Requires="a14">
          <p:sp>
            <p:nvSpPr>
              <p:cNvPr id="2073" name="Content Placeholder 2">
                <a:extLst>
                  <a:ext uri="{FF2B5EF4-FFF2-40B4-BE49-F238E27FC236}">
                    <a16:creationId xmlns:a16="http://schemas.microsoft.com/office/drawing/2014/main" id="{5FA33123-6152-523C-B6AA-93788DF37F68}"/>
                  </a:ext>
                </a:extLst>
              </p:cNvPr>
              <p:cNvSpPr txBox="1">
                <a:spLocks/>
              </p:cNvSpPr>
              <p:nvPr/>
            </p:nvSpPr>
            <p:spPr>
              <a:xfrm>
                <a:off x="2400300" y="6060528"/>
                <a:ext cx="7581900" cy="37338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Total Return </a:t>
                </a:r>
                <a14:m>
                  <m:oMath xmlns:m="http://schemas.openxmlformats.org/officeDocument/2006/math">
                    <m:r>
                      <a:rPr lang="en-US" sz="2000" b="0" i="0" smtClean="0">
                        <a:latin typeface="Cambria Math" panose="02040503050406030204" pitchFamily="18" charset="0"/>
                      </a:rPr>
                      <m:t>=</m:t>
                    </m:r>
                    <m:r>
                      <a:rPr lang="en-US" sz="2000" b="0" i="1" smtClean="0">
                        <a:latin typeface="Cambria Math" panose="02040503050406030204" pitchFamily="18" charset="0"/>
                      </a:rPr>
                      <m:t>10+</m:t>
                    </m:r>
                    <m:r>
                      <a:rPr lang="en-US" sz="2000" b="0" i="1" smtClean="0">
                        <a:solidFill>
                          <a:srgbClr val="00B0F0"/>
                        </a:solidFill>
                        <a:latin typeface="Cambria Math" panose="02040503050406030204" pitchFamily="18" charset="0"/>
                      </a:rPr>
                      <m:t>𝛾</m:t>
                    </m:r>
                    <m:r>
                      <a:rPr lang="en-US" sz="2000" b="0" i="1" smtClean="0">
                        <a:latin typeface="Cambria Math" panose="02040503050406030204" pitchFamily="18" charset="0"/>
                      </a:rPr>
                      <m:t>⋅5+</m:t>
                    </m:r>
                    <m:sSup>
                      <m:sSupPr>
                        <m:ctrlPr>
                          <a:rPr lang="en-US" sz="2000" b="0" i="1" smtClean="0">
                            <a:solidFill>
                              <a:srgbClr val="00B0F0"/>
                            </a:solidFill>
                            <a:latin typeface="Cambria Math" panose="02040503050406030204" pitchFamily="18" charset="0"/>
                          </a:rPr>
                        </m:ctrlPr>
                      </m:sSupPr>
                      <m:e>
                        <m:r>
                          <a:rPr lang="en-US" sz="2000" i="1">
                            <a:solidFill>
                              <a:srgbClr val="00B0F0"/>
                            </a:solidFill>
                            <a:latin typeface="Cambria Math" panose="02040503050406030204" pitchFamily="18" charset="0"/>
                          </a:rPr>
                          <m:t>𝛾</m:t>
                        </m:r>
                      </m:e>
                      <m:sup>
                        <m:r>
                          <a:rPr lang="en-US" sz="2000" b="0" i="1" smtClean="0">
                            <a:solidFill>
                              <a:schemeClr val="tx1"/>
                            </a:solidFill>
                            <a:latin typeface="Cambria Math" panose="02040503050406030204" pitchFamily="18" charset="0"/>
                          </a:rPr>
                          <m:t>2</m:t>
                        </m:r>
                      </m:sup>
                    </m:sSup>
                    <m:r>
                      <a:rPr lang="en-US" sz="2000" i="1">
                        <a:latin typeface="Cambria Math" panose="02040503050406030204" pitchFamily="18" charset="0"/>
                      </a:rPr>
                      <m:t>⋅</m:t>
                    </m:r>
                    <m:r>
                      <a:rPr lang="en-US" sz="2000" b="0" i="1" smtClean="0">
                        <a:latin typeface="Cambria Math" panose="02040503050406030204" pitchFamily="18" charset="0"/>
                      </a:rPr>
                      <m:t>1</m:t>
                    </m:r>
                    <m:r>
                      <a:rPr lang="en-US" sz="2000">
                        <a:latin typeface="Cambria Math" panose="02040503050406030204" pitchFamily="18" charset="0"/>
                      </a:rPr>
                      <m:t>=</m:t>
                    </m:r>
                    <m:r>
                      <a:rPr lang="en-US" sz="2000" i="1">
                        <a:latin typeface="Cambria Math" panose="02040503050406030204" pitchFamily="18" charset="0"/>
                      </a:rPr>
                      <m:t>10+</m:t>
                    </m:r>
                    <m:r>
                      <a:rPr lang="en-US" sz="2000" b="0" i="1" smtClean="0">
                        <a:solidFill>
                          <a:srgbClr val="00B0F0"/>
                        </a:solidFill>
                        <a:latin typeface="Cambria Math" panose="02040503050406030204" pitchFamily="18" charset="0"/>
                      </a:rPr>
                      <m:t>0.9</m:t>
                    </m:r>
                    <m:r>
                      <a:rPr lang="en-US" sz="2000" i="1">
                        <a:latin typeface="Cambria Math" panose="02040503050406030204" pitchFamily="18" charset="0"/>
                      </a:rPr>
                      <m:t>⋅5+</m:t>
                    </m:r>
                    <m:sSup>
                      <m:sSupPr>
                        <m:ctrlPr>
                          <a:rPr lang="en-US" sz="2000" i="1">
                            <a:solidFill>
                              <a:srgbClr val="00B0F0"/>
                            </a:solidFill>
                            <a:latin typeface="Cambria Math" panose="02040503050406030204" pitchFamily="18" charset="0"/>
                          </a:rPr>
                        </m:ctrlPr>
                      </m:sSupPr>
                      <m:e>
                        <m:r>
                          <a:rPr lang="en-US" sz="2000" b="0" i="1" smtClean="0">
                            <a:solidFill>
                              <a:srgbClr val="00B0F0"/>
                            </a:solidFill>
                            <a:latin typeface="Cambria Math" panose="02040503050406030204" pitchFamily="18" charset="0"/>
                          </a:rPr>
                          <m:t>0.9</m:t>
                        </m:r>
                      </m:e>
                      <m:sup>
                        <m:r>
                          <a:rPr lang="en-US" sz="2000" i="1">
                            <a:latin typeface="Cambria Math" panose="02040503050406030204" pitchFamily="18" charset="0"/>
                          </a:rPr>
                          <m:t>2</m:t>
                        </m:r>
                      </m:sup>
                    </m:sSup>
                    <m:r>
                      <a:rPr lang="en-US" sz="2000" i="1">
                        <a:latin typeface="Cambria Math" panose="02040503050406030204" pitchFamily="18" charset="0"/>
                      </a:rPr>
                      <m:t>⋅1</m:t>
                    </m:r>
                    <m:r>
                      <a:rPr lang="en-US" sz="2000" b="0" i="1" smtClean="0">
                        <a:latin typeface="Cambria Math" panose="02040503050406030204" pitchFamily="18" charset="0"/>
                      </a:rPr>
                      <m:t>=15.31</m:t>
                    </m:r>
                  </m:oMath>
                </a14:m>
                <a:endParaRPr lang="en-US" sz="2000" dirty="0"/>
              </a:p>
            </p:txBody>
          </p:sp>
        </mc:Choice>
        <mc:Fallback xmlns="">
          <p:sp>
            <p:nvSpPr>
              <p:cNvPr id="2073" name="Content Placeholder 2">
                <a:extLst>
                  <a:ext uri="{FF2B5EF4-FFF2-40B4-BE49-F238E27FC236}">
                    <a16:creationId xmlns:a16="http://schemas.microsoft.com/office/drawing/2014/main" id="{5FA33123-6152-523C-B6AA-93788DF37F68}"/>
                  </a:ext>
                </a:extLst>
              </p:cNvPr>
              <p:cNvSpPr txBox="1">
                <a:spLocks noRot="1" noChangeAspect="1" noMove="1" noResize="1" noEditPoints="1" noAdjustHandles="1" noChangeArrowheads="1" noChangeShapeType="1" noTextEdit="1"/>
              </p:cNvSpPr>
              <p:nvPr/>
            </p:nvSpPr>
            <p:spPr>
              <a:xfrm>
                <a:off x="2400300" y="6060528"/>
                <a:ext cx="7581900" cy="373381"/>
              </a:xfrm>
              <a:prstGeom prst="rect">
                <a:avLst/>
              </a:prstGeom>
              <a:blipFill>
                <a:blip r:embed="rId7"/>
                <a:stretch>
                  <a:fillRect l="-884" t="-16393" b="-278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74" name="Content Placeholder 2">
                <a:extLst>
                  <a:ext uri="{FF2B5EF4-FFF2-40B4-BE49-F238E27FC236}">
                    <a16:creationId xmlns:a16="http://schemas.microsoft.com/office/drawing/2014/main" id="{8EADE73B-CCC8-B86D-820E-356EB411CD48}"/>
                  </a:ext>
                </a:extLst>
              </p:cNvPr>
              <p:cNvSpPr txBox="1">
                <a:spLocks/>
              </p:cNvSpPr>
              <p:nvPr/>
            </p:nvSpPr>
            <p:spPr>
              <a:xfrm>
                <a:off x="2400300" y="5023227"/>
                <a:ext cx="8854440" cy="7512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Suppose an agent experiences a sequence of rewards over 3 time steps:</a:t>
                </a:r>
              </a:p>
              <a:p>
                <a:pPr marL="0" indent="0">
                  <a:buNone/>
                </a:pPr>
                <a14:m>
                  <m:oMath xmlns:m="http://schemas.openxmlformats.org/officeDocument/2006/math">
                    <m:d>
                      <m:dPr>
                        <m:begChr m:val="["/>
                        <m:endChr m:val="]"/>
                        <m:ctrlPr>
                          <a:rPr lang="en-US" sz="200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solidFill>
                                  <a:srgbClr val="1306BA"/>
                                </a:solidFill>
                                <a:latin typeface="Cambria Math" panose="02040503050406030204" pitchFamily="18" charset="0"/>
                              </a:rPr>
                              <m:t>𝑅</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solidFill>
                                  <a:srgbClr val="1306BA"/>
                                </a:solidFill>
                                <a:latin typeface="Cambria Math" panose="02040503050406030204" pitchFamily="18" charset="0"/>
                              </a:rPr>
                              <m:t>𝑅</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solidFill>
                                  <a:srgbClr val="1306BA"/>
                                </a:solidFill>
                                <a:latin typeface="Cambria Math" panose="02040503050406030204" pitchFamily="18" charset="0"/>
                              </a:rPr>
                              <m:t>𝑅</m:t>
                            </m:r>
                          </m:e>
                          <m:sub>
                            <m:r>
                              <a:rPr lang="en-US" sz="2000" b="0" i="1" smtClean="0">
                                <a:latin typeface="Cambria Math" panose="02040503050406030204" pitchFamily="18" charset="0"/>
                              </a:rPr>
                              <m:t>2</m:t>
                            </m:r>
                          </m:sub>
                        </m:sSub>
                      </m:e>
                    </m:d>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10, 5, 1</m:t>
                        </m:r>
                      </m:e>
                    </m:d>
                  </m:oMath>
                </a14:m>
                <a:r>
                  <a:rPr lang="en-US" sz="2000" dirty="0"/>
                  <a:t> with </a:t>
                </a:r>
                <a14:m>
                  <m:oMath xmlns:m="http://schemas.openxmlformats.org/officeDocument/2006/math">
                    <m:r>
                      <a:rPr lang="en-US" sz="2000" b="0" i="1" smtClean="0">
                        <a:solidFill>
                          <a:srgbClr val="00B0F0"/>
                        </a:solidFill>
                        <a:latin typeface="Cambria Math" panose="02040503050406030204" pitchFamily="18" charset="0"/>
                      </a:rPr>
                      <m:t>𝛾</m:t>
                    </m:r>
                    <m:r>
                      <a:rPr lang="en-US" sz="2000" b="0" i="1" smtClean="0">
                        <a:latin typeface="Cambria Math" panose="02040503050406030204" pitchFamily="18" charset="0"/>
                      </a:rPr>
                      <m:t>=0.9</m:t>
                    </m:r>
                  </m:oMath>
                </a14:m>
                <a:r>
                  <a:rPr lang="en-US" sz="2000" dirty="0"/>
                  <a:t>. Compute total return if we are at time </a:t>
                </a:r>
                <a14:m>
                  <m:oMath xmlns:m="http://schemas.openxmlformats.org/officeDocument/2006/math">
                    <m:r>
                      <a:rPr lang="en-US" sz="2000" b="0" i="1" smtClean="0">
                        <a:latin typeface="Cambria Math" panose="02040503050406030204" pitchFamily="18" charset="0"/>
                      </a:rPr>
                      <m:t>𝑡</m:t>
                    </m:r>
                    <m:r>
                      <a:rPr lang="en-US" sz="2000" b="0" i="1" smtClean="0">
                        <a:latin typeface="Cambria Math" panose="02040503050406030204" pitchFamily="18" charset="0"/>
                      </a:rPr>
                      <m:t>=0</m:t>
                    </m:r>
                  </m:oMath>
                </a14:m>
                <a:r>
                  <a:rPr lang="en-US" sz="2000" dirty="0"/>
                  <a:t>.</a:t>
                </a:r>
              </a:p>
            </p:txBody>
          </p:sp>
        </mc:Choice>
        <mc:Fallback xmlns="">
          <p:sp>
            <p:nvSpPr>
              <p:cNvPr id="2074" name="Content Placeholder 2">
                <a:extLst>
                  <a:ext uri="{FF2B5EF4-FFF2-40B4-BE49-F238E27FC236}">
                    <a16:creationId xmlns:a16="http://schemas.microsoft.com/office/drawing/2014/main" id="{8EADE73B-CCC8-B86D-820E-356EB411CD48}"/>
                  </a:ext>
                </a:extLst>
              </p:cNvPr>
              <p:cNvSpPr txBox="1">
                <a:spLocks noRot="1" noChangeAspect="1" noMove="1" noResize="1" noEditPoints="1" noAdjustHandles="1" noChangeArrowheads="1" noChangeShapeType="1" noTextEdit="1"/>
              </p:cNvSpPr>
              <p:nvPr/>
            </p:nvSpPr>
            <p:spPr>
              <a:xfrm>
                <a:off x="2400300" y="5023227"/>
                <a:ext cx="8854440" cy="751253"/>
              </a:xfrm>
              <a:prstGeom prst="rect">
                <a:avLst/>
              </a:prstGeom>
              <a:blipFill>
                <a:blip r:embed="rId8"/>
                <a:stretch>
                  <a:fillRect l="-758" t="-8130" b="-12195"/>
                </a:stretch>
              </a:blipFill>
            </p:spPr>
            <p:txBody>
              <a:bodyPr/>
              <a:lstStyle/>
              <a:p>
                <a:r>
                  <a:rPr lang="en-US">
                    <a:noFill/>
                  </a:rPr>
                  <a:t> </a:t>
                </a:r>
              </a:p>
            </p:txBody>
          </p:sp>
        </mc:Fallback>
      </mc:AlternateContent>
      <p:sp>
        <p:nvSpPr>
          <p:cNvPr id="2075" name="Content Placeholder 2">
            <a:extLst>
              <a:ext uri="{FF2B5EF4-FFF2-40B4-BE49-F238E27FC236}">
                <a16:creationId xmlns:a16="http://schemas.microsoft.com/office/drawing/2014/main" id="{52F19105-E415-0A7D-6988-2CF8D9A9DA59}"/>
              </a:ext>
            </a:extLst>
          </p:cNvPr>
          <p:cNvSpPr txBox="1">
            <a:spLocks/>
          </p:cNvSpPr>
          <p:nvPr/>
        </p:nvSpPr>
        <p:spPr>
          <a:xfrm>
            <a:off x="937260" y="5707623"/>
            <a:ext cx="1226820" cy="37338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i="1" dirty="0"/>
              <a:t>Solution.</a:t>
            </a:r>
          </a:p>
        </p:txBody>
      </p:sp>
      <mc:AlternateContent xmlns:mc="http://schemas.openxmlformats.org/markup-compatibility/2006" xmlns:a14="http://schemas.microsoft.com/office/drawing/2010/main">
        <mc:Choice Requires="a14">
          <p:sp>
            <p:nvSpPr>
              <p:cNvPr id="2076" name="TextBox 2075">
                <a:extLst>
                  <a:ext uri="{FF2B5EF4-FFF2-40B4-BE49-F238E27FC236}">
                    <a16:creationId xmlns:a16="http://schemas.microsoft.com/office/drawing/2014/main" id="{10CABAAC-66A8-78EB-5BA9-8DF506C74AA2}"/>
                  </a:ext>
                </a:extLst>
              </p:cNvPr>
              <p:cNvSpPr txBox="1"/>
              <p:nvPr/>
            </p:nvSpPr>
            <p:spPr>
              <a:xfrm>
                <a:off x="1280160" y="3527793"/>
                <a:ext cx="1939453" cy="923330"/>
              </a:xfrm>
              <a:prstGeom prst="rect">
                <a:avLst/>
              </a:prstGeom>
              <a:noFill/>
              <a:ln>
                <a:noFill/>
              </a:ln>
            </p:spPr>
            <p:txBody>
              <a:bodyPr wrap="square" rtlCol="0" anchor="ctr" anchorCtr="1">
                <a:spAutoFit/>
              </a:bodyPr>
              <a:lstStyle/>
              <a:p>
                <a:pPr algn="ctr"/>
                <a14:m>
                  <m:oMath xmlns:m="http://schemas.openxmlformats.org/officeDocument/2006/math">
                    <m:r>
                      <a:rPr lang="en-US" i="1" dirty="0" smtClean="0">
                        <a:latin typeface="Cambria Math" panose="02040503050406030204" pitchFamily="18" charset="0"/>
                      </a:rPr>
                      <m:t>𝑉</m:t>
                    </m:r>
                  </m:oMath>
                </a14:m>
                <a:r>
                  <a:rPr lang="en-US" dirty="0"/>
                  <a:t>: Average reward starting in state </a:t>
                </a:r>
                <a14:m>
                  <m:oMath xmlns:m="http://schemas.openxmlformats.org/officeDocument/2006/math">
                    <m:r>
                      <a:rPr lang="en-US" b="0" i="1" smtClean="0">
                        <a:solidFill>
                          <a:srgbClr val="00B050"/>
                        </a:solidFill>
                        <a:latin typeface="Cambria Math" panose="02040503050406030204" pitchFamily="18" charset="0"/>
                      </a:rPr>
                      <m:t>𝑠</m:t>
                    </m:r>
                  </m:oMath>
                </a14:m>
                <a:r>
                  <a:rPr lang="en-US" dirty="0"/>
                  <a:t> following </a:t>
                </a:r>
                <a14:m>
                  <m:oMath xmlns:m="http://schemas.openxmlformats.org/officeDocument/2006/math">
                    <m:r>
                      <a:rPr lang="en-US" b="1" i="1" smtClean="0">
                        <a:latin typeface="Cambria Math" panose="02040503050406030204" pitchFamily="18" charset="0"/>
                      </a:rPr>
                      <m:t>𝝅</m:t>
                    </m:r>
                  </m:oMath>
                </a14:m>
                <a:endParaRPr lang="en-US" b="1" dirty="0"/>
              </a:p>
            </p:txBody>
          </p:sp>
        </mc:Choice>
        <mc:Fallback xmlns="">
          <p:sp>
            <p:nvSpPr>
              <p:cNvPr id="2076" name="TextBox 2075">
                <a:extLst>
                  <a:ext uri="{FF2B5EF4-FFF2-40B4-BE49-F238E27FC236}">
                    <a16:creationId xmlns:a16="http://schemas.microsoft.com/office/drawing/2014/main" id="{10CABAAC-66A8-78EB-5BA9-8DF506C74AA2}"/>
                  </a:ext>
                </a:extLst>
              </p:cNvPr>
              <p:cNvSpPr txBox="1">
                <a:spLocks noRot="1" noChangeAspect="1" noMove="1" noResize="1" noEditPoints="1" noAdjustHandles="1" noChangeArrowheads="1" noChangeShapeType="1" noTextEdit="1"/>
              </p:cNvSpPr>
              <p:nvPr/>
            </p:nvSpPr>
            <p:spPr>
              <a:xfrm>
                <a:off x="1280160" y="3527793"/>
                <a:ext cx="1939453" cy="923330"/>
              </a:xfrm>
              <a:prstGeom prst="rect">
                <a:avLst/>
              </a:prstGeom>
              <a:blipFill>
                <a:blip r:embed="rId9"/>
                <a:stretch>
                  <a:fillRect t="-3311" r="-4403" b="-9934"/>
                </a:stretch>
              </a:blipFill>
              <a:ln>
                <a:noFill/>
              </a:ln>
            </p:spPr>
            <p:txBody>
              <a:bodyPr/>
              <a:lstStyle/>
              <a:p>
                <a:r>
                  <a:rPr lang="en-US">
                    <a:noFill/>
                  </a:rPr>
                  <a:t> </a:t>
                </a:r>
              </a:p>
            </p:txBody>
          </p:sp>
        </mc:Fallback>
      </mc:AlternateContent>
      <p:cxnSp>
        <p:nvCxnSpPr>
          <p:cNvPr id="2077" name="Straight Arrow Connector 47">
            <a:extLst>
              <a:ext uri="{FF2B5EF4-FFF2-40B4-BE49-F238E27FC236}">
                <a16:creationId xmlns:a16="http://schemas.microsoft.com/office/drawing/2014/main" id="{5495C23C-7757-82FB-DEBC-08B555C2B912}"/>
              </a:ext>
            </a:extLst>
          </p:cNvPr>
          <p:cNvCxnSpPr>
            <a:cxnSpLocks/>
            <a:stCxn id="2076" idx="0"/>
            <a:endCxn id="26" idx="1"/>
          </p:cNvCxnSpPr>
          <p:nvPr/>
        </p:nvCxnSpPr>
        <p:spPr>
          <a:xfrm rot="5400000" flipH="1" flipV="1">
            <a:off x="2215265" y="2924987"/>
            <a:ext cx="637428" cy="568184"/>
          </a:xfrm>
          <a:prstGeom prst="bentConnector2">
            <a:avLst/>
          </a:prstGeom>
          <a:ln w="25400">
            <a:solidFill>
              <a:schemeClr val="tx1"/>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359184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37260" y="1391285"/>
            <a:ext cx="9791700" cy="1092835"/>
          </a:xfrm>
        </p:spPr>
        <p:txBody>
          <a:bodyPr>
            <a:noAutofit/>
          </a:bodyPr>
          <a:lstStyle/>
          <a:p>
            <a:pPr marL="0" indent="0" algn="ctr">
              <a:buNone/>
            </a:pPr>
            <a:r>
              <a:rPr lang="en-US" sz="2000" dirty="0"/>
              <a:t>W</a:t>
            </a:r>
            <a:r>
              <a:rPr sz="2000" dirty="0"/>
              <a:t>hy not just sum all rewards equally?</a:t>
            </a:r>
            <a:endParaRPr lang="en-US" sz="2000" dirty="0"/>
          </a:p>
          <a:p>
            <a:pPr marL="0" indent="0">
              <a:buNone/>
            </a:pPr>
            <a:r>
              <a:rPr sz="2000" dirty="0"/>
              <a:t>In many real problems, getting a reward now is better than getting the same reward later. </a:t>
            </a:r>
            <a:endParaRPr lang="en-US" sz="2000" dirty="0"/>
          </a:p>
          <a:p>
            <a:pPr marL="0" indent="0">
              <a:buNone/>
            </a:pPr>
            <a:r>
              <a:rPr sz="2000" dirty="0"/>
              <a:t>This is where discounting becomes crucia</a:t>
            </a:r>
            <a:r>
              <a:rPr lang="en-US" sz="2000" dirty="0"/>
              <a:t>l.</a:t>
            </a:r>
            <a:endParaRPr sz="2000" dirty="0"/>
          </a:p>
        </p:txBody>
      </p:sp>
      <p:sp>
        <p:nvSpPr>
          <p:cNvPr id="6" name="Title 12">
            <a:extLst>
              <a:ext uri="{FF2B5EF4-FFF2-40B4-BE49-F238E27FC236}">
                <a16:creationId xmlns:a16="http://schemas.microsoft.com/office/drawing/2014/main" id="{0E68D881-8D48-7E89-E1E5-7F8FF66235D4}"/>
              </a:ext>
            </a:extLst>
          </p:cNvPr>
          <p:cNvSpPr txBox="1">
            <a:spLocks/>
          </p:cNvSpPr>
          <p:nvPr/>
        </p:nvSpPr>
        <p:spPr>
          <a:xfrm>
            <a:off x="471489" y="69597"/>
            <a:ext cx="11153622" cy="565671"/>
          </a:xfrm>
          <a:prstGeom prst="rect">
            <a:avLst/>
          </a:prstGeom>
          <a:ln>
            <a:noFill/>
          </a:ln>
        </p:spPr>
        <p:txBody>
          <a:bodyPr vert="horz" lIns="91440" tIns="45720" rIns="91440" bIns="45720" rtlCol="0" anchor="ctr">
            <a:noAutofit/>
          </a:bodyPr>
          <a:lst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a:lstStyle>
          <a:p>
            <a:pPr algn="ctr"/>
            <a:r>
              <a:rPr lang="en-US" sz="3600" dirty="0"/>
              <a:t>Discounting Future Rewards</a:t>
            </a: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AA1E1A1B-EDA7-AF5D-AD8C-4D84A564D8DC}"/>
                  </a:ext>
                </a:extLst>
              </p:cNvPr>
              <p:cNvSpPr txBox="1">
                <a:spLocks/>
              </p:cNvSpPr>
              <p:nvPr/>
            </p:nvSpPr>
            <p:spPr>
              <a:xfrm>
                <a:off x="2164080" y="5466715"/>
                <a:ext cx="1318260" cy="37338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 xmlns:m="http://schemas.openxmlformats.org/officeDocument/2006/math">
                    <m:r>
                      <a:rPr lang="en-US" sz="2000" i="1">
                        <a:solidFill>
                          <a:srgbClr val="00B0F0"/>
                        </a:solidFill>
                        <a:latin typeface="Cambria Math" panose="02040503050406030204" pitchFamily="18" charset="0"/>
                      </a:rPr>
                      <m:t>𝛾</m:t>
                    </m:r>
                    <m:r>
                      <a:rPr lang="en-US" sz="2000" i="1">
                        <a:latin typeface="Cambria Math" panose="02040503050406030204" pitchFamily="18" charset="0"/>
                      </a:rPr>
                      <m:t>∈</m:t>
                    </m:r>
                    <m:d>
                      <m:dPr>
                        <m:begChr m:val="["/>
                        <m:endChr m:val="]"/>
                        <m:ctrlPr>
                          <a:rPr lang="en-US" sz="2000" i="1">
                            <a:latin typeface="Cambria Math" panose="02040503050406030204" pitchFamily="18" charset="0"/>
                          </a:rPr>
                        </m:ctrlPr>
                      </m:dPr>
                      <m:e>
                        <m:r>
                          <a:rPr lang="en-US" sz="2000" i="1">
                            <a:latin typeface="Cambria Math" panose="02040503050406030204" pitchFamily="18" charset="0"/>
                          </a:rPr>
                          <m:t>0,1</m:t>
                        </m:r>
                      </m:e>
                    </m:d>
                    <m:r>
                      <a:rPr lang="en-US" sz="2000" i="1">
                        <a:latin typeface="Cambria Math" panose="02040503050406030204" pitchFamily="18" charset="0"/>
                      </a:rPr>
                      <m:t> </m:t>
                    </m:r>
                  </m:oMath>
                </a14:m>
                <a:r>
                  <a:rPr lang="en-US" sz="2000" b="1" dirty="0"/>
                  <a:t>:</a:t>
                </a:r>
                <a:endParaRPr lang="en-US" sz="2000" dirty="0"/>
              </a:p>
            </p:txBody>
          </p:sp>
        </mc:Choice>
        <mc:Fallback xmlns="">
          <p:sp>
            <p:nvSpPr>
              <p:cNvPr id="7" name="Content Placeholder 2">
                <a:extLst>
                  <a:ext uri="{FF2B5EF4-FFF2-40B4-BE49-F238E27FC236}">
                    <a16:creationId xmlns:a16="http://schemas.microsoft.com/office/drawing/2014/main" id="{AA1E1A1B-EDA7-AF5D-AD8C-4D84A564D8DC}"/>
                  </a:ext>
                </a:extLst>
              </p:cNvPr>
              <p:cNvSpPr txBox="1">
                <a:spLocks noRot="1" noChangeAspect="1" noMove="1" noResize="1" noEditPoints="1" noAdjustHandles="1" noChangeArrowheads="1" noChangeShapeType="1" noTextEdit="1"/>
              </p:cNvSpPr>
              <p:nvPr/>
            </p:nvSpPr>
            <p:spPr>
              <a:xfrm>
                <a:off x="2164080" y="5466715"/>
                <a:ext cx="1318260" cy="373380"/>
              </a:xfrm>
              <a:prstGeom prst="rect">
                <a:avLst/>
              </a:prstGeom>
              <a:blipFill>
                <a:blip r:embed="rId2"/>
                <a:stretch>
                  <a:fillRect t="-18033" r="-463" b="-27869"/>
                </a:stretch>
              </a:blipFill>
            </p:spPr>
            <p:txBody>
              <a:bodyPr/>
              <a:lstStyle/>
              <a:p>
                <a:r>
                  <a:rPr lang="en-US">
                    <a:noFill/>
                  </a:rPr>
                  <a:t> </a:t>
                </a:r>
              </a:p>
            </p:txBody>
          </p:sp>
        </mc:Fallback>
      </mc:AlternateContent>
      <p:sp>
        <p:nvSpPr>
          <p:cNvPr id="8" name="Content Placeholder 2">
            <a:extLst>
              <a:ext uri="{FF2B5EF4-FFF2-40B4-BE49-F238E27FC236}">
                <a16:creationId xmlns:a16="http://schemas.microsoft.com/office/drawing/2014/main" id="{B9EBE0D1-7B1D-EA7B-6D06-EEACA056B196}"/>
              </a:ext>
            </a:extLst>
          </p:cNvPr>
          <p:cNvSpPr txBox="1">
            <a:spLocks/>
          </p:cNvSpPr>
          <p:nvPr/>
        </p:nvSpPr>
        <p:spPr>
          <a:xfrm>
            <a:off x="937260" y="3247757"/>
            <a:ext cx="1851660" cy="3733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t>Why discount?</a:t>
            </a:r>
          </a:p>
        </p:txBody>
      </p:sp>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767F7F38-BF33-9C63-65CA-EC618B39277D}"/>
                  </a:ext>
                </a:extLst>
              </p:cNvPr>
              <p:cNvSpPr txBox="1">
                <a:spLocks/>
              </p:cNvSpPr>
              <p:nvPr/>
            </p:nvSpPr>
            <p:spPr>
              <a:xfrm>
                <a:off x="3855720" y="3240137"/>
                <a:ext cx="7665719" cy="10928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The future is uncertain.</a:t>
                </a:r>
              </a:p>
              <a:p>
                <a:pPr marL="0" indent="0">
                  <a:buFont typeface="Arial" panose="020B0604020202020204" pitchFamily="34" charset="0"/>
                  <a:buNone/>
                </a:pPr>
                <a:r>
                  <a:rPr lang="en-US" sz="2000" dirty="0"/>
                  <a:t>Immediate rewards often more valuable</a:t>
                </a:r>
              </a:p>
              <a:p>
                <a:pPr marL="0" indent="0">
                  <a:buFont typeface="Arial" panose="020B0604020202020204" pitchFamily="34" charset="0"/>
                  <a:buNone/>
                </a:pPr>
                <a:r>
                  <a:rPr lang="en-US" sz="2000" dirty="0"/>
                  <a:t>Ensures convergence; it is also a mathematical convenience: </a:t>
                </a:r>
                <a14:m>
                  <m:oMath xmlns:m="http://schemas.openxmlformats.org/officeDocument/2006/math">
                    <m:r>
                      <a:rPr lang="en-US" sz="2000" b="0" i="1" smtClean="0">
                        <a:solidFill>
                          <a:srgbClr val="00B0F0"/>
                        </a:solidFill>
                        <a:latin typeface="Cambria Math" panose="02040503050406030204" pitchFamily="18" charset="0"/>
                      </a:rPr>
                      <m:t>𝛾</m:t>
                    </m:r>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0,1</m:t>
                        </m:r>
                      </m:e>
                    </m:d>
                  </m:oMath>
                </a14:m>
                <a:endParaRPr lang="en-US" sz="2000" dirty="0"/>
              </a:p>
            </p:txBody>
          </p:sp>
        </mc:Choice>
        <mc:Fallback xmlns="">
          <p:sp>
            <p:nvSpPr>
              <p:cNvPr id="9" name="Content Placeholder 2">
                <a:extLst>
                  <a:ext uri="{FF2B5EF4-FFF2-40B4-BE49-F238E27FC236}">
                    <a16:creationId xmlns:a16="http://schemas.microsoft.com/office/drawing/2014/main" id="{767F7F38-BF33-9C63-65CA-EC618B39277D}"/>
                  </a:ext>
                </a:extLst>
              </p:cNvPr>
              <p:cNvSpPr txBox="1">
                <a:spLocks noRot="1" noChangeAspect="1" noMove="1" noResize="1" noEditPoints="1" noAdjustHandles="1" noChangeArrowheads="1" noChangeShapeType="1" noTextEdit="1"/>
              </p:cNvSpPr>
              <p:nvPr/>
            </p:nvSpPr>
            <p:spPr>
              <a:xfrm>
                <a:off x="3855720" y="3240137"/>
                <a:ext cx="7665719" cy="1092835"/>
              </a:xfrm>
              <a:prstGeom prst="rect">
                <a:avLst/>
              </a:prstGeom>
              <a:blipFill>
                <a:blip r:embed="rId3"/>
                <a:stretch>
                  <a:fillRect l="-875" t="-6145" b="-106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Content Placeholder 2">
                <a:extLst>
                  <a:ext uri="{FF2B5EF4-FFF2-40B4-BE49-F238E27FC236}">
                    <a16:creationId xmlns:a16="http://schemas.microsoft.com/office/drawing/2014/main" id="{36126578-72D2-53AB-EA97-D3B107BC5215}"/>
                  </a:ext>
                </a:extLst>
              </p:cNvPr>
              <p:cNvSpPr txBox="1">
                <a:spLocks/>
              </p:cNvSpPr>
              <p:nvPr/>
            </p:nvSpPr>
            <p:spPr>
              <a:xfrm>
                <a:off x="3886200" y="5083919"/>
                <a:ext cx="5311140" cy="112378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 xmlns:m="http://schemas.openxmlformats.org/officeDocument/2006/math">
                    <m:r>
                      <a:rPr lang="en-US" sz="2000" b="0" i="1" dirty="0" smtClean="0">
                        <a:solidFill>
                          <a:srgbClr val="00B0F0"/>
                        </a:solidFill>
                        <a:latin typeface="Cambria Math" panose="02040503050406030204" pitchFamily="18" charset="0"/>
                      </a:rPr>
                      <m:t>𝛾</m:t>
                    </m:r>
                    <m:r>
                      <a:rPr lang="en-US" sz="2000" b="0" i="1" dirty="0" smtClean="0">
                        <a:solidFill>
                          <a:schemeClr val="tx1"/>
                        </a:solidFill>
                        <a:latin typeface="Cambria Math" panose="02040503050406030204" pitchFamily="18" charset="0"/>
                      </a:rPr>
                      <m:t>=0</m:t>
                    </m:r>
                  </m:oMath>
                </a14:m>
                <a:r>
                  <a:rPr lang="en-US" sz="2000" dirty="0"/>
                  <a:t>: Only immediate rewards matter</a:t>
                </a:r>
              </a:p>
              <a:p>
                <a:pPr marL="0" indent="0">
                  <a:buNone/>
                </a:pPr>
                <a14:m>
                  <m:oMath xmlns:m="http://schemas.openxmlformats.org/officeDocument/2006/math">
                    <m:r>
                      <a:rPr lang="en-US" sz="2000" i="1" dirty="0">
                        <a:solidFill>
                          <a:srgbClr val="00B0F0"/>
                        </a:solidFill>
                        <a:latin typeface="Cambria Math" panose="02040503050406030204" pitchFamily="18" charset="0"/>
                      </a:rPr>
                      <m:t>𝛾</m:t>
                    </m:r>
                    <m:r>
                      <a:rPr lang="en-US" sz="2000" b="0" i="1" dirty="0" smtClean="0">
                        <a:solidFill>
                          <a:schemeClr val="tx1"/>
                        </a:solidFill>
                        <a:latin typeface="Cambria Math" panose="02040503050406030204" pitchFamily="18" charset="0"/>
                      </a:rPr>
                      <m:t>=1</m:t>
                    </m:r>
                  </m:oMath>
                </a14:m>
                <a:r>
                  <a:rPr lang="en-US" sz="2000" dirty="0"/>
                  <a:t>: All rewards equally important</a:t>
                </a:r>
              </a:p>
              <a:p>
                <a:pPr marL="0" indent="0">
                  <a:buNone/>
                </a:pPr>
                <a14:m>
                  <m:oMath xmlns:m="http://schemas.openxmlformats.org/officeDocument/2006/math">
                    <m:r>
                      <a:rPr lang="en-US" sz="2000" b="0" i="1" dirty="0" smtClean="0">
                        <a:latin typeface="Cambria Math" panose="02040503050406030204" pitchFamily="18" charset="0"/>
                      </a:rPr>
                      <m:t>0&lt;</m:t>
                    </m:r>
                    <m:r>
                      <a:rPr lang="en-US" sz="2000" b="0" i="1" dirty="0" smtClean="0">
                        <a:solidFill>
                          <a:srgbClr val="00B0F0"/>
                        </a:solidFill>
                        <a:latin typeface="Cambria Math" panose="02040503050406030204" pitchFamily="18" charset="0"/>
                      </a:rPr>
                      <m:t>𝛾</m:t>
                    </m:r>
                    <m:r>
                      <a:rPr lang="en-US" sz="2000" b="0" i="1" dirty="0" smtClean="0">
                        <a:latin typeface="Cambria Math" panose="02040503050406030204" pitchFamily="18" charset="0"/>
                      </a:rPr>
                      <m:t>&lt;1</m:t>
                    </m:r>
                  </m:oMath>
                </a14:m>
                <a:r>
                  <a:rPr lang="en-US" sz="2000" dirty="0"/>
                  <a:t>: Exponentially decreasing importance</a:t>
                </a:r>
              </a:p>
            </p:txBody>
          </p:sp>
        </mc:Choice>
        <mc:Fallback xmlns="">
          <p:sp>
            <p:nvSpPr>
              <p:cNvPr id="11" name="Content Placeholder 2">
                <a:extLst>
                  <a:ext uri="{FF2B5EF4-FFF2-40B4-BE49-F238E27FC236}">
                    <a16:creationId xmlns:a16="http://schemas.microsoft.com/office/drawing/2014/main" id="{36126578-72D2-53AB-EA97-D3B107BC5215}"/>
                  </a:ext>
                </a:extLst>
              </p:cNvPr>
              <p:cNvSpPr txBox="1">
                <a:spLocks noRot="1" noChangeAspect="1" noMove="1" noResize="1" noEditPoints="1" noAdjustHandles="1" noChangeArrowheads="1" noChangeShapeType="1" noTextEdit="1"/>
              </p:cNvSpPr>
              <p:nvPr/>
            </p:nvSpPr>
            <p:spPr>
              <a:xfrm>
                <a:off x="3886200" y="5083919"/>
                <a:ext cx="5311140" cy="1123781"/>
              </a:xfrm>
              <a:prstGeom prst="rect">
                <a:avLst/>
              </a:prstGeom>
              <a:blipFill>
                <a:blip r:embed="rId4"/>
                <a:stretch>
                  <a:fillRect t="-5978" b="-7609"/>
                </a:stretch>
              </a:blipFill>
            </p:spPr>
            <p:txBody>
              <a:bodyPr/>
              <a:lstStyle/>
              <a:p>
                <a:r>
                  <a:rPr 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6BBD9-CEEF-3641-856A-1C2DCDAF121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itle 12">
                <a:extLst>
                  <a:ext uri="{FF2B5EF4-FFF2-40B4-BE49-F238E27FC236}">
                    <a16:creationId xmlns:a16="http://schemas.microsoft.com/office/drawing/2014/main" id="{9C3A9246-AC0F-9AEC-89D0-C42B96344D0A}"/>
                  </a:ext>
                </a:extLst>
              </p:cNvPr>
              <p:cNvSpPr txBox="1">
                <a:spLocks/>
              </p:cNvSpPr>
              <p:nvPr/>
            </p:nvSpPr>
            <p:spPr>
              <a:xfrm>
                <a:off x="484969" y="69597"/>
                <a:ext cx="11153622" cy="565671"/>
              </a:xfrm>
              <a:prstGeom prst="rect">
                <a:avLst/>
              </a:prstGeom>
              <a:ln>
                <a:noFill/>
              </a:ln>
            </p:spPr>
            <p:txBody>
              <a:bodyPr vert="horz" lIns="91440" tIns="45720" rIns="91440" bIns="45720" rtlCol="0" anchor="ctr">
                <a:noAutofit/>
              </a:bodyPr>
              <a:lst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a:lstStyle>
              <a:p>
                <a:pPr algn="ctr"/>
                <a:r>
                  <a:rPr lang="en-US" sz="3600" dirty="0"/>
                  <a:t>Action Value Function: </a:t>
                </a:r>
                <a14:m>
                  <m:oMath xmlns:m="http://schemas.openxmlformats.org/officeDocument/2006/math">
                    <m:sSup>
                      <m:sSupPr>
                        <m:ctrlPr>
                          <a:rPr lang="en-US" sz="3600" i="1">
                            <a:latin typeface="Cambria Math" panose="02040503050406030204" pitchFamily="18" charset="0"/>
                          </a:rPr>
                        </m:ctrlPr>
                      </m:sSupPr>
                      <m:e>
                        <m:r>
                          <a:rPr lang="en-US" sz="3600" b="0" i="1" smtClean="0">
                            <a:latin typeface="Cambria Math" panose="02040503050406030204" pitchFamily="18" charset="0"/>
                          </a:rPr>
                          <m:t>𝑄</m:t>
                        </m:r>
                      </m:e>
                      <m:sup>
                        <m:r>
                          <a:rPr lang="en-US" sz="3600" b="1" i="1">
                            <a:latin typeface="Cambria Math" panose="02040503050406030204" pitchFamily="18" charset="0"/>
                          </a:rPr>
                          <m:t>𝝅</m:t>
                        </m:r>
                        <m:r>
                          <a:rPr lang="en-US" sz="3600" i="1">
                            <a:latin typeface="Cambria Math" panose="02040503050406030204" pitchFamily="18" charset="0"/>
                          </a:rPr>
                          <m:t>(</m:t>
                        </m:r>
                        <m:r>
                          <a:rPr lang="en-US" sz="3600" i="1">
                            <a:solidFill>
                              <a:srgbClr val="00B050"/>
                            </a:solidFill>
                            <a:latin typeface="Cambria Math" panose="02040503050406030204" pitchFamily="18" charset="0"/>
                          </a:rPr>
                          <m:t>𝑠</m:t>
                        </m:r>
                        <m:r>
                          <a:rPr lang="en-US" sz="3600" i="1">
                            <a:latin typeface="Cambria Math" panose="02040503050406030204" pitchFamily="18" charset="0"/>
                          </a:rPr>
                          <m:t>)</m:t>
                        </m:r>
                      </m:sup>
                    </m:sSup>
                  </m:oMath>
                </a14:m>
                <a:r>
                  <a:rPr lang="en-US" sz="3600" dirty="0"/>
                  <a:t> </a:t>
                </a:r>
              </a:p>
            </p:txBody>
          </p:sp>
        </mc:Choice>
        <mc:Fallback xmlns="">
          <p:sp>
            <p:nvSpPr>
              <p:cNvPr id="4" name="Title 12">
                <a:extLst>
                  <a:ext uri="{FF2B5EF4-FFF2-40B4-BE49-F238E27FC236}">
                    <a16:creationId xmlns:a16="http://schemas.microsoft.com/office/drawing/2014/main" id="{9C3A9246-AC0F-9AEC-89D0-C42B96344D0A}"/>
                  </a:ext>
                </a:extLst>
              </p:cNvPr>
              <p:cNvSpPr txBox="1">
                <a:spLocks noRot="1" noChangeAspect="1" noMove="1" noResize="1" noEditPoints="1" noAdjustHandles="1" noChangeArrowheads="1" noChangeShapeType="1" noTextEdit="1"/>
              </p:cNvSpPr>
              <p:nvPr/>
            </p:nvSpPr>
            <p:spPr>
              <a:xfrm>
                <a:off x="484969" y="69597"/>
                <a:ext cx="11153622" cy="565671"/>
              </a:xfrm>
              <a:prstGeom prst="rect">
                <a:avLst/>
              </a:prstGeom>
              <a:blipFill>
                <a:blip r:embed="rId2"/>
                <a:stretch>
                  <a:fillRect t="-20430" b="-49462"/>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AB61AC6-7062-D092-0577-AEEE93504BB1}"/>
                  </a:ext>
                </a:extLst>
              </p:cNvPr>
              <p:cNvSpPr txBox="1"/>
              <p:nvPr/>
            </p:nvSpPr>
            <p:spPr>
              <a:xfrm>
                <a:off x="929640" y="829311"/>
                <a:ext cx="10484318" cy="400110"/>
              </a:xfrm>
              <a:prstGeom prst="rect">
                <a:avLst/>
              </a:prstGeom>
              <a:noFill/>
              <a:ln>
                <a:noFill/>
              </a:ln>
            </p:spPr>
            <p:txBody>
              <a:bodyPr wrap="square">
                <a:spAutoFit/>
              </a:bodyPr>
              <a:lstStyle/>
              <a:p>
                <a:r>
                  <a:rPr lang="en-US" sz="2000" b="1" i="1" dirty="0"/>
                  <a:t>Definition.</a:t>
                </a:r>
                <a:r>
                  <a:rPr lang="en-US" sz="2000" dirty="0"/>
                  <a:t> The expected cumulative reward from taking action </a:t>
                </a:r>
                <a14:m>
                  <m:oMath xmlns:m="http://schemas.openxmlformats.org/officeDocument/2006/math">
                    <m:r>
                      <a:rPr lang="en-US" sz="2000" i="1" dirty="0" smtClean="0">
                        <a:solidFill>
                          <a:srgbClr val="7030A0"/>
                        </a:solidFill>
                        <a:latin typeface="Cambria Math" panose="02040503050406030204" pitchFamily="18" charset="0"/>
                      </a:rPr>
                      <m:t>𝑎</m:t>
                    </m:r>
                  </m:oMath>
                </a14:m>
                <a:r>
                  <a:rPr lang="en-US" sz="2000" dirty="0"/>
                  <a:t> in state </a:t>
                </a:r>
                <a14:m>
                  <m:oMath xmlns:m="http://schemas.openxmlformats.org/officeDocument/2006/math">
                    <m:r>
                      <a:rPr lang="en-US" sz="2000" i="1" dirty="0" smtClean="0">
                        <a:solidFill>
                          <a:srgbClr val="00B050"/>
                        </a:solidFill>
                        <a:latin typeface="Cambria Math" panose="02040503050406030204" pitchFamily="18" charset="0"/>
                      </a:rPr>
                      <m:t>𝑠</m:t>
                    </m:r>
                  </m:oMath>
                </a14:m>
                <a:r>
                  <a:rPr lang="en-US" sz="2000" dirty="0"/>
                  <a:t>, then following policy </a:t>
                </a:r>
                <a14:m>
                  <m:oMath xmlns:m="http://schemas.openxmlformats.org/officeDocument/2006/math">
                    <m:r>
                      <a:rPr lang="en-US" sz="2000" b="1" i="1" dirty="0" smtClean="0">
                        <a:latin typeface="Cambria Math" panose="02040503050406030204" pitchFamily="18" charset="0"/>
                      </a:rPr>
                      <m:t>𝝅</m:t>
                    </m:r>
                  </m:oMath>
                </a14:m>
                <a:r>
                  <a:rPr lang="en-US" sz="2000" dirty="0"/>
                  <a:t>:</a:t>
                </a:r>
                <a:endParaRPr lang="en-US" sz="2000" b="1" i="1" dirty="0"/>
              </a:p>
            </p:txBody>
          </p:sp>
        </mc:Choice>
        <mc:Fallback xmlns="">
          <p:sp>
            <p:nvSpPr>
              <p:cNvPr id="10" name="TextBox 9">
                <a:extLst>
                  <a:ext uri="{FF2B5EF4-FFF2-40B4-BE49-F238E27FC236}">
                    <a16:creationId xmlns:a16="http://schemas.microsoft.com/office/drawing/2014/main" id="{FAB61AC6-7062-D092-0577-AEEE93504BB1}"/>
                  </a:ext>
                </a:extLst>
              </p:cNvPr>
              <p:cNvSpPr txBox="1">
                <a:spLocks noRot="1" noChangeAspect="1" noMove="1" noResize="1" noEditPoints="1" noAdjustHandles="1" noChangeArrowheads="1" noChangeShapeType="1" noTextEdit="1"/>
              </p:cNvSpPr>
              <p:nvPr/>
            </p:nvSpPr>
            <p:spPr>
              <a:xfrm>
                <a:off x="929640" y="829311"/>
                <a:ext cx="10484318" cy="400110"/>
              </a:xfrm>
              <a:prstGeom prst="rect">
                <a:avLst/>
              </a:prstGeom>
              <a:blipFill>
                <a:blip r:embed="rId3"/>
                <a:stretch>
                  <a:fillRect l="-640" t="-7576" r="-116" b="-25758"/>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8F1C0362-02ED-2964-C2CE-31AE24018E96}"/>
                  </a:ext>
                </a:extLst>
              </p:cNvPr>
              <p:cNvSpPr txBox="1"/>
              <p:nvPr/>
            </p:nvSpPr>
            <p:spPr>
              <a:xfrm>
                <a:off x="778041" y="2651870"/>
                <a:ext cx="10484317" cy="476990"/>
              </a:xfrm>
              <a:prstGeom prst="rect">
                <a:avLst/>
              </a:prstGeom>
              <a:noFill/>
              <a:ln>
                <a:noFill/>
              </a:ln>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𝑄</m:t>
                          </m:r>
                        </m:e>
                        <m:sup>
                          <m:r>
                            <a:rPr lang="en-US" sz="2400" b="1" i="1" smtClean="0">
                              <a:latin typeface="Cambria Math" panose="02040503050406030204" pitchFamily="18" charset="0"/>
                            </a:rPr>
                            <m:t>𝝅</m:t>
                          </m:r>
                          <m:r>
                            <a:rPr lang="en-US" sz="2400" b="0" i="1" smtClean="0">
                              <a:latin typeface="Cambria Math" panose="02040503050406030204" pitchFamily="18" charset="0"/>
                            </a:rPr>
                            <m:t>(</m:t>
                          </m:r>
                          <m:r>
                            <a:rPr lang="en-US" sz="2400" b="0" i="1" smtClean="0">
                              <a:solidFill>
                                <a:srgbClr val="00B050"/>
                              </a:solidFill>
                              <a:latin typeface="Cambria Math" panose="02040503050406030204" pitchFamily="18" charset="0"/>
                            </a:rPr>
                            <m:t>𝑠</m:t>
                          </m:r>
                          <m:r>
                            <a:rPr lang="en-US" sz="2400" b="0" i="1" smtClean="0">
                              <a:solidFill>
                                <a:schemeClr val="tx1"/>
                              </a:solidFill>
                              <a:latin typeface="Cambria Math" panose="02040503050406030204" pitchFamily="18" charset="0"/>
                            </a:rPr>
                            <m:t>,</m:t>
                          </m:r>
                          <m:r>
                            <a:rPr lang="en-US" sz="2400" b="0" i="1" smtClean="0">
                              <a:solidFill>
                                <a:srgbClr val="7030A0"/>
                              </a:solidFill>
                              <a:latin typeface="Cambria Math" panose="02040503050406030204" pitchFamily="18" charset="0"/>
                            </a:rPr>
                            <m:t>𝑎</m:t>
                          </m:r>
                          <m:r>
                            <a:rPr lang="en-US" sz="2400" b="0" i="1" smtClean="0">
                              <a:latin typeface="Cambria Math" panose="02040503050406030204" pitchFamily="18" charset="0"/>
                            </a:rPr>
                            <m:t>)</m:t>
                          </m:r>
                        </m:sup>
                      </m:sSup>
                      <m:r>
                        <a:rPr lang="en-US" sz="2400" b="0" i="1" smtClean="0">
                          <a:latin typeface="Cambria Math" panose="02040503050406030204" pitchFamily="18" charset="0"/>
                        </a:rPr>
                        <m:t>=</m:t>
                      </m:r>
                      <m:r>
                        <a:rPr lang="en-US" sz="2400" b="0" i="1" smtClean="0">
                          <a:latin typeface="Cambria Math" panose="02040503050406030204" pitchFamily="18" charset="0"/>
                        </a:rPr>
                        <m:t>𝐸</m:t>
                      </m:r>
                      <m:d>
                        <m:dPr>
                          <m:begChr m:val="["/>
                          <m:endChr m:val="]"/>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solidFill>
                                    <a:srgbClr val="1306BA"/>
                                  </a:solidFill>
                                  <a:latin typeface="Cambria Math" panose="02040503050406030204" pitchFamily="18" charset="0"/>
                                </a:rPr>
                                <m:t>𝑅</m:t>
                              </m:r>
                            </m:e>
                            <m:sub>
                              <m:r>
                                <a:rPr lang="en-US" sz="2400" b="0" i="1" smtClean="0">
                                  <a:latin typeface="Cambria Math" panose="02040503050406030204" pitchFamily="18" charset="0"/>
                                </a:rPr>
                                <m:t>𝑡</m:t>
                              </m:r>
                            </m:sub>
                          </m:sSub>
                          <m:r>
                            <a:rPr lang="en-US" sz="2400" b="0" i="1" smtClean="0">
                              <a:latin typeface="Cambria Math" panose="02040503050406030204" pitchFamily="18" charset="0"/>
                            </a:rPr>
                            <m:t>+</m:t>
                          </m:r>
                          <m:r>
                            <a:rPr lang="en-US" sz="2400" b="0" i="1" smtClean="0">
                              <a:solidFill>
                                <a:srgbClr val="00B0F0"/>
                              </a:solidFill>
                              <a:latin typeface="Cambria Math" panose="02040503050406030204" pitchFamily="18" charset="0"/>
                            </a:rPr>
                            <m:t>𝛾</m:t>
                          </m:r>
                          <m:sSub>
                            <m:sSubPr>
                              <m:ctrlPr>
                                <a:rPr lang="en-US" sz="2400" b="0" i="1" smtClean="0">
                                  <a:latin typeface="Cambria Math" panose="02040503050406030204" pitchFamily="18" charset="0"/>
                                </a:rPr>
                              </m:ctrlPr>
                            </m:sSubPr>
                            <m:e>
                              <m:r>
                                <a:rPr lang="en-US" sz="2400" b="0" i="1" smtClean="0">
                                  <a:solidFill>
                                    <a:srgbClr val="1306BA"/>
                                  </a:solidFill>
                                  <a:latin typeface="Cambria Math" panose="02040503050406030204" pitchFamily="18" charset="0"/>
                                </a:rPr>
                                <m:t>𝑅</m:t>
                              </m:r>
                            </m:e>
                            <m:sub>
                              <m:r>
                                <a:rPr lang="en-US" sz="2400" b="0" i="1" smtClean="0">
                                  <a:latin typeface="Cambria Math" panose="02040503050406030204" pitchFamily="18" charset="0"/>
                                </a:rPr>
                                <m:t>𝑡</m:t>
                              </m:r>
                              <m:r>
                                <a:rPr lang="en-US" sz="2400" b="0" i="1" smtClean="0">
                                  <a:latin typeface="Cambria Math" panose="02040503050406030204" pitchFamily="18" charset="0"/>
                                </a:rPr>
                                <m:t>+1</m:t>
                              </m:r>
                            </m:sub>
                          </m:sSub>
                          <m:r>
                            <a:rPr lang="en-US" sz="2400" i="1">
                              <a:latin typeface="Cambria Math" panose="02040503050406030204" pitchFamily="18" charset="0"/>
                            </a:rPr>
                            <m:t>+</m:t>
                          </m:r>
                          <m:sSup>
                            <m:sSupPr>
                              <m:ctrlPr>
                                <a:rPr lang="en-US" sz="2400" b="0" i="1" smtClean="0">
                                  <a:latin typeface="Cambria Math" panose="02040503050406030204" pitchFamily="18" charset="0"/>
                                </a:rPr>
                              </m:ctrlPr>
                            </m:sSupPr>
                            <m:e>
                              <m:r>
                                <a:rPr lang="en-US" sz="2400" i="1">
                                  <a:solidFill>
                                    <a:srgbClr val="00B0F0"/>
                                  </a:solidFill>
                                  <a:latin typeface="Cambria Math" panose="02040503050406030204" pitchFamily="18" charset="0"/>
                                </a:rPr>
                                <m:t>𝛾</m:t>
                              </m:r>
                            </m:e>
                            <m:sup>
                              <m:r>
                                <a:rPr lang="en-US" sz="2400" b="0" i="1" smtClean="0">
                                  <a:latin typeface="Cambria Math" panose="02040503050406030204" pitchFamily="18" charset="0"/>
                                </a:rPr>
                                <m:t>2</m:t>
                              </m:r>
                            </m:sup>
                          </m:sSup>
                          <m:sSub>
                            <m:sSubPr>
                              <m:ctrlPr>
                                <a:rPr lang="en-US" sz="2400" i="1">
                                  <a:latin typeface="Cambria Math" panose="02040503050406030204" pitchFamily="18" charset="0"/>
                                </a:rPr>
                              </m:ctrlPr>
                            </m:sSubPr>
                            <m:e>
                              <m:r>
                                <a:rPr lang="en-US" sz="2400" b="0" i="1" smtClean="0">
                                  <a:solidFill>
                                    <a:srgbClr val="1306BA"/>
                                  </a:solidFill>
                                  <a:latin typeface="Cambria Math" panose="02040503050406030204" pitchFamily="18" charset="0"/>
                                </a:rPr>
                                <m:t>𝑅</m:t>
                              </m:r>
                            </m:e>
                            <m:sub>
                              <m:r>
                                <a:rPr lang="en-US" sz="2400" i="1">
                                  <a:latin typeface="Cambria Math" panose="02040503050406030204" pitchFamily="18" charset="0"/>
                                </a:rPr>
                                <m:t>𝑡</m:t>
                              </m:r>
                              <m:r>
                                <a:rPr lang="en-US" sz="2400" i="1">
                                  <a:latin typeface="Cambria Math" panose="02040503050406030204" pitchFamily="18" charset="0"/>
                                </a:rPr>
                                <m:t>+2</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solidFill>
                                    <a:srgbClr val="00B050"/>
                                  </a:solidFill>
                                  <a:latin typeface="Cambria Math" panose="02040503050406030204" pitchFamily="18" charset="0"/>
                                </a:rPr>
                                <m:t>𝑠</m:t>
                              </m:r>
                            </m:e>
                            <m:sub>
                              <m:r>
                                <a:rPr lang="en-US" sz="2400" b="0" i="1" smtClean="0">
                                  <a:latin typeface="Cambria Math" panose="02040503050406030204" pitchFamily="18" charset="0"/>
                                </a:rPr>
                                <m:t>𝑡</m:t>
                              </m:r>
                            </m:sub>
                          </m:sSub>
                          <m:r>
                            <a:rPr lang="en-US" sz="2400" b="0" i="1" smtClean="0">
                              <a:latin typeface="Cambria Math" panose="02040503050406030204" pitchFamily="18" charset="0"/>
                            </a:rPr>
                            <m:t>=</m:t>
                          </m:r>
                          <m:r>
                            <a:rPr lang="en-US" sz="2400" b="0" i="1" smtClean="0">
                              <a:solidFill>
                                <a:srgbClr val="00B050"/>
                              </a:solidFill>
                              <a:latin typeface="Cambria Math" panose="02040503050406030204" pitchFamily="18" charset="0"/>
                            </a:rPr>
                            <m:t>𝑠</m:t>
                          </m:r>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solidFill>
                                    <a:srgbClr val="00B050"/>
                                  </a:solidFill>
                                  <a:latin typeface="Cambria Math" panose="02040503050406030204" pitchFamily="18" charset="0"/>
                                </a:rPr>
                                <m:t>𝑎</m:t>
                              </m:r>
                            </m:e>
                            <m:sub>
                              <m:r>
                                <a:rPr lang="en-US" sz="2400" i="1">
                                  <a:latin typeface="Cambria Math" panose="02040503050406030204" pitchFamily="18" charset="0"/>
                                </a:rPr>
                                <m:t>𝑡</m:t>
                              </m:r>
                            </m:sub>
                          </m:sSub>
                          <m:r>
                            <a:rPr lang="en-US" sz="2400" i="1">
                              <a:latin typeface="Cambria Math" panose="02040503050406030204" pitchFamily="18" charset="0"/>
                            </a:rPr>
                            <m:t>=</m:t>
                          </m:r>
                          <m:r>
                            <a:rPr lang="en-US" sz="2400" b="0" i="1" smtClean="0">
                              <a:solidFill>
                                <a:srgbClr val="00B050"/>
                              </a:solidFill>
                              <a:latin typeface="Cambria Math" panose="02040503050406030204" pitchFamily="18" charset="0"/>
                            </a:rPr>
                            <m:t>𝑎</m:t>
                          </m:r>
                          <m:r>
                            <a:rPr lang="en-US" sz="2400" i="1">
                              <a:latin typeface="Cambria Math" panose="02040503050406030204" pitchFamily="18" charset="0"/>
                            </a:rPr>
                            <m:t>,</m:t>
                          </m:r>
                          <m:r>
                            <a:rPr lang="en-US" sz="2400" b="1" i="1" smtClean="0">
                              <a:latin typeface="Cambria Math" panose="02040503050406030204" pitchFamily="18" charset="0"/>
                            </a:rPr>
                            <m:t>𝝅</m:t>
                          </m:r>
                        </m:e>
                      </m:d>
                    </m:oMath>
                  </m:oMathPara>
                </a14:m>
                <a:endParaRPr lang="en-US" sz="2400" dirty="0"/>
              </a:p>
            </p:txBody>
          </p:sp>
        </mc:Choice>
        <mc:Fallback xmlns="">
          <p:sp>
            <p:nvSpPr>
              <p:cNvPr id="26" name="TextBox 25">
                <a:extLst>
                  <a:ext uri="{FF2B5EF4-FFF2-40B4-BE49-F238E27FC236}">
                    <a16:creationId xmlns:a16="http://schemas.microsoft.com/office/drawing/2014/main" id="{8F1C0362-02ED-2964-C2CE-31AE24018E96}"/>
                  </a:ext>
                </a:extLst>
              </p:cNvPr>
              <p:cNvSpPr txBox="1">
                <a:spLocks noRot="1" noChangeAspect="1" noMove="1" noResize="1" noEditPoints="1" noAdjustHandles="1" noChangeArrowheads="1" noChangeShapeType="1" noTextEdit="1"/>
              </p:cNvSpPr>
              <p:nvPr/>
            </p:nvSpPr>
            <p:spPr>
              <a:xfrm>
                <a:off x="778041" y="2651870"/>
                <a:ext cx="10484317" cy="476990"/>
              </a:xfrm>
              <a:prstGeom prst="rect">
                <a:avLst/>
              </a:prstGeom>
              <a:blipFill>
                <a:blip r:embed="rId4"/>
                <a:stretch>
                  <a:fillRect b="-1410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C6199F06-FA4F-0C83-BDC8-409A9CC44F7D}"/>
                  </a:ext>
                </a:extLst>
              </p:cNvPr>
              <p:cNvSpPr txBox="1"/>
              <p:nvPr/>
            </p:nvSpPr>
            <p:spPr>
              <a:xfrm>
                <a:off x="10836547" y="2558969"/>
                <a:ext cx="425812" cy="400110"/>
              </a:xfrm>
              <a:prstGeom prst="rect">
                <a:avLst/>
              </a:prstGeom>
              <a:noFill/>
              <a:ln>
                <a:noFill/>
              </a:ln>
            </p:spPr>
            <p:txBody>
              <a:bodyPr wrap="square">
                <a:spAutoFit/>
              </a:bodyPr>
              <a:lstStyle/>
              <a:p>
                <a14:m>
                  <m:oMath xmlns:m="http://schemas.openxmlformats.org/officeDocument/2006/math">
                    <m:r>
                      <a:rPr lang="en-US" sz="2000" b="0" i="1" dirty="0" smtClean="0">
                        <a:solidFill>
                          <a:srgbClr val="00B0F0"/>
                        </a:solidFill>
                        <a:latin typeface="Cambria Math" panose="02040503050406030204" pitchFamily="18" charset="0"/>
                      </a:rPr>
                      <m:t>𝛾</m:t>
                    </m:r>
                  </m:oMath>
                </a14:m>
                <a:r>
                  <a:rPr lang="en-US" sz="2000" dirty="0"/>
                  <a:t> </a:t>
                </a:r>
              </a:p>
            </p:txBody>
          </p:sp>
        </mc:Choice>
        <mc:Fallback xmlns="">
          <p:sp>
            <p:nvSpPr>
              <p:cNvPr id="29" name="TextBox 28">
                <a:extLst>
                  <a:ext uri="{FF2B5EF4-FFF2-40B4-BE49-F238E27FC236}">
                    <a16:creationId xmlns:a16="http://schemas.microsoft.com/office/drawing/2014/main" id="{C6199F06-FA4F-0C83-BDC8-409A9CC44F7D}"/>
                  </a:ext>
                </a:extLst>
              </p:cNvPr>
              <p:cNvSpPr txBox="1">
                <a:spLocks noRot="1" noChangeAspect="1" noMove="1" noResize="1" noEditPoints="1" noAdjustHandles="1" noChangeArrowheads="1" noChangeShapeType="1" noTextEdit="1"/>
              </p:cNvSpPr>
              <p:nvPr/>
            </p:nvSpPr>
            <p:spPr>
              <a:xfrm>
                <a:off x="10836547" y="2558969"/>
                <a:ext cx="425812" cy="400110"/>
              </a:xfrm>
              <a:prstGeom prst="rect">
                <a:avLst/>
              </a:prstGeom>
              <a:blipFill>
                <a:blip r:embed="rId5"/>
                <a:stretch>
                  <a:fillRect b="-6154"/>
                </a:stretch>
              </a:blipFill>
              <a:ln>
                <a:noFill/>
              </a:ln>
            </p:spPr>
            <p:txBody>
              <a:bodyPr/>
              <a:lstStyle/>
              <a:p>
                <a:r>
                  <a:rPr lang="en-US">
                    <a:noFill/>
                  </a:rPr>
                  <a:t> </a:t>
                </a:r>
              </a:p>
            </p:txBody>
          </p:sp>
        </mc:Fallback>
      </mc:AlternateContent>
      <p:sp>
        <p:nvSpPr>
          <p:cNvPr id="32" name="TextBox 31">
            <a:extLst>
              <a:ext uri="{FF2B5EF4-FFF2-40B4-BE49-F238E27FC236}">
                <a16:creationId xmlns:a16="http://schemas.microsoft.com/office/drawing/2014/main" id="{1ABD6E87-681C-711F-FFF5-E6BF87DFED98}"/>
              </a:ext>
            </a:extLst>
          </p:cNvPr>
          <p:cNvSpPr txBox="1"/>
          <p:nvPr/>
        </p:nvSpPr>
        <p:spPr>
          <a:xfrm>
            <a:off x="10076292" y="2890365"/>
            <a:ext cx="1807770" cy="400110"/>
          </a:xfrm>
          <a:prstGeom prst="rect">
            <a:avLst/>
          </a:prstGeom>
          <a:noFill/>
          <a:ln>
            <a:noFill/>
          </a:ln>
        </p:spPr>
        <p:txBody>
          <a:bodyPr wrap="square">
            <a:spAutoFit/>
          </a:bodyPr>
          <a:lstStyle/>
          <a:p>
            <a:r>
              <a:rPr lang="en-US" sz="2000" dirty="0"/>
              <a:t>Discount factor</a:t>
            </a:r>
          </a:p>
        </p:txBody>
      </p:sp>
      <p:cxnSp>
        <p:nvCxnSpPr>
          <p:cNvPr id="48" name="Straight Arrow Connector 47">
            <a:extLst>
              <a:ext uri="{FF2B5EF4-FFF2-40B4-BE49-F238E27FC236}">
                <a16:creationId xmlns:a16="http://schemas.microsoft.com/office/drawing/2014/main" id="{6835F177-4A8C-6563-B1FE-F8F798A5C977}"/>
              </a:ext>
            </a:extLst>
          </p:cNvPr>
          <p:cNvCxnSpPr>
            <a:cxnSpLocks/>
            <a:stCxn id="49" idx="3"/>
          </p:cNvCxnSpPr>
          <p:nvPr/>
        </p:nvCxnSpPr>
        <p:spPr>
          <a:xfrm>
            <a:off x="4290061" y="1983421"/>
            <a:ext cx="457199" cy="752159"/>
          </a:xfrm>
          <a:prstGeom prst="bentConnector2">
            <a:avLst/>
          </a:prstGeom>
          <a:ln w="25400">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49" name="TextBox 48">
            <a:extLst>
              <a:ext uri="{FF2B5EF4-FFF2-40B4-BE49-F238E27FC236}">
                <a16:creationId xmlns:a16="http://schemas.microsoft.com/office/drawing/2014/main" id="{8E7DAA45-CA88-BD2B-9FB7-7B93F6D9D8C9}"/>
              </a:ext>
            </a:extLst>
          </p:cNvPr>
          <p:cNvSpPr txBox="1"/>
          <p:nvPr/>
        </p:nvSpPr>
        <p:spPr>
          <a:xfrm>
            <a:off x="2834639" y="1521756"/>
            <a:ext cx="1455422" cy="923330"/>
          </a:xfrm>
          <a:prstGeom prst="rect">
            <a:avLst/>
          </a:prstGeom>
          <a:noFill/>
          <a:ln>
            <a:noFill/>
          </a:ln>
        </p:spPr>
        <p:txBody>
          <a:bodyPr wrap="square" rtlCol="0" anchor="ctr" anchorCtr="1">
            <a:spAutoFit/>
          </a:bodyPr>
          <a:lstStyle/>
          <a:p>
            <a:pPr algn="ctr"/>
            <a:r>
              <a:rPr lang="en-US" dirty="0"/>
              <a:t>Discrete Probability Distribution</a:t>
            </a:r>
          </a:p>
        </p:txBody>
      </p:sp>
      <p:grpSp>
        <p:nvGrpSpPr>
          <p:cNvPr id="2055" name="Group 2054">
            <a:extLst>
              <a:ext uri="{FF2B5EF4-FFF2-40B4-BE49-F238E27FC236}">
                <a16:creationId xmlns:a16="http://schemas.microsoft.com/office/drawing/2014/main" id="{3763B105-2D19-B050-207A-9A33254C3170}"/>
              </a:ext>
            </a:extLst>
          </p:cNvPr>
          <p:cNvGrpSpPr/>
          <p:nvPr/>
        </p:nvGrpSpPr>
        <p:grpSpPr>
          <a:xfrm>
            <a:off x="4419598" y="3128863"/>
            <a:ext cx="1287781" cy="1322260"/>
            <a:chOff x="3208018" y="3128863"/>
            <a:chExt cx="1287781" cy="1322260"/>
          </a:xfrm>
        </p:grpSpPr>
        <p:sp>
          <p:nvSpPr>
            <p:cNvPr id="52" name="TextBox 51">
              <a:extLst>
                <a:ext uri="{FF2B5EF4-FFF2-40B4-BE49-F238E27FC236}">
                  <a16:creationId xmlns:a16="http://schemas.microsoft.com/office/drawing/2014/main" id="{D7191133-E0DA-8995-8AF6-69A664F23FED}"/>
                </a:ext>
              </a:extLst>
            </p:cNvPr>
            <p:cNvSpPr txBox="1"/>
            <p:nvPr/>
          </p:nvSpPr>
          <p:spPr>
            <a:xfrm>
              <a:off x="3208018" y="3527793"/>
              <a:ext cx="1287781" cy="923330"/>
            </a:xfrm>
            <a:prstGeom prst="rect">
              <a:avLst/>
            </a:prstGeom>
            <a:noFill/>
            <a:ln w="19050">
              <a:solidFill>
                <a:srgbClr val="1306BA"/>
              </a:solidFill>
            </a:ln>
          </p:spPr>
          <p:txBody>
            <a:bodyPr wrap="square" rtlCol="0" anchor="ctr" anchorCtr="1">
              <a:spAutoFit/>
            </a:bodyPr>
            <a:lstStyle/>
            <a:p>
              <a:pPr algn="ctr"/>
              <a:r>
                <a:rPr lang="en-US" dirty="0"/>
                <a:t>Immediate reward; no discounting</a:t>
              </a:r>
            </a:p>
          </p:txBody>
        </p:sp>
        <p:cxnSp>
          <p:nvCxnSpPr>
            <p:cNvPr id="59" name="Straight Arrow Connector 47">
              <a:extLst>
                <a:ext uri="{FF2B5EF4-FFF2-40B4-BE49-F238E27FC236}">
                  <a16:creationId xmlns:a16="http://schemas.microsoft.com/office/drawing/2014/main" id="{64CD2A66-2AD0-C2CD-C3F7-E4DC5FA4C99F}"/>
                </a:ext>
              </a:extLst>
            </p:cNvPr>
            <p:cNvCxnSpPr>
              <a:cxnSpLocks/>
              <a:stCxn id="52" idx="0"/>
            </p:cNvCxnSpPr>
            <p:nvPr/>
          </p:nvCxnSpPr>
          <p:spPr>
            <a:xfrm flipV="1">
              <a:off x="3851909" y="3128863"/>
              <a:ext cx="2" cy="398930"/>
            </a:xfrm>
            <a:prstGeom prst="straightConnector1">
              <a:avLst/>
            </a:prstGeom>
            <a:ln w="25400">
              <a:solidFill>
                <a:schemeClr val="tx1"/>
              </a:solidFill>
              <a:tailEnd type="triangle"/>
            </a:ln>
          </p:spPr>
          <p:style>
            <a:lnRef idx="1">
              <a:schemeClr val="accent2"/>
            </a:lnRef>
            <a:fillRef idx="0">
              <a:schemeClr val="accent2"/>
            </a:fillRef>
            <a:effectRef idx="0">
              <a:schemeClr val="accent2"/>
            </a:effectRef>
            <a:fontRef idx="minor">
              <a:schemeClr val="tx1"/>
            </a:fontRef>
          </p:style>
        </p:cxnSp>
      </p:grpSp>
      <p:grpSp>
        <p:nvGrpSpPr>
          <p:cNvPr id="2054" name="Group 2053">
            <a:extLst>
              <a:ext uri="{FF2B5EF4-FFF2-40B4-BE49-F238E27FC236}">
                <a16:creationId xmlns:a16="http://schemas.microsoft.com/office/drawing/2014/main" id="{E16A9E32-8894-FD18-57BC-608E36B0EA85}"/>
              </a:ext>
            </a:extLst>
          </p:cNvPr>
          <p:cNvGrpSpPr/>
          <p:nvPr/>
        </p:nvGrpSpPr>
        <p:grpSpPr>
          <a:xfrm>
            <a:off x="6061780" y="3128860"/>
            <a:ext cx="1807770" cy="1590979"/>
            <a:chOff x="4909024" y="2998644"/>
            <a:chExt cx="1807770" cy="1590979"/>
          </a:xfrm>
        </p:grpSpPr>
        <p:sp>
          <p:nvSpPr>
            <p:cNvPr id="57" name="TextBox 56">
              <a:extLst>
                <a:ext uri="{FF2B5EF4-FFF2-40B4-BE49-F238E27FC236}">
                  <a16:creationId xmlns:a16="http://schemas.microsoft.com/office/drawing/2014/main" id="{EA266B22-443C-1813-DA12-151CDC53E297}"/>
                </a:ext>
              </a:extLst>
            </p:cNvPr>
            <p:cNvSpPr txBox="1"/>
            <p:nvPr/>
          </p:nvSpPr>
          <p:spPr>
            <a:xfrm>
              <a:off x="4909024" y="3389294"/>
              <a:ext cx="1807770" cy="1200329"/>
            </a:xfrm>
            <a:prstGeom prst="rect">
              <a:avLst/>
            </a:prstGeom>
            <a:noFill/>
            <a:ln w="19050">
              <a:solidFill>
                <a:srgbClr val="1306BA"/>
              </a:solidFill>
            </a:ln>
          </p:spPr>
          <p:txBody>
            <a:bodyPr wrap="square" rtlCol="0" anchor="ctr" anchorCtr="1">
              <a:spAutoFit/>
            </a:bodyPr>
            <a:lstStyle/>
            <a:p>
              <a:pPr algn="ctr"/>
              <a:r>
                <a:rPr lang="en-US" dirty="0"/>
                <a:t>Reward two steps in the future; discounted twice</a:t>
              </a:r>
            </a:p>
          </p:txBody>
        </p:sp>
        <p:cxnSp>
          <p:nvCxnSpPr>
            <p:cNvPr id="62" name="Straight Arrow Connector 47">
              <a:extLst>
                <a:ext uri="{FF2B5EF4-FFF2-40B4-BE49-F238E27FC236}">
                  <a16:creationId xmlns:a16="http://schemas.microsoft.com/office/drawing/2014/main" id="{FD2FB8A0-1A30-9D52-EA3D-D84AFDC04EBC}"/>
                </a:ext>
              </a:extLst>
            </p:cNvPr>
            <p:cNvCxnSpPr>
              <a:cxnSpLocks/>
              <a:stCxn id="57" idx="0"/>
            </p:cNvCxnSpPr>
            <p:nvPr/>
          </p:nvCxnSpPr>
          <p:spPr>
            <a:xfrm flipV="1">
              <a:off x="5812909" y="2998644"/>
              <a:ext cx="0" cy="390650"/>
            </a:xfrm>
            <a:prstGeom prst="straightConnector1">
              <a:avLst/>
            </a:prstGeom>
            <a:ln w="25400">
              <a:solidFill>
                <a:schemeClr val="tx1"/>
              </a:solidFill>
              <a:tailEnd type="triangle"/>
            </a:ln>
          </p:spPr>
          <p:style>
            <a:lnRef idx="1">
              <a:schemeClr val="accent2"/>
            </a:lnRef>
            <a:fillRef idx="0">
              <a:schemeClr val="accent2"/>
            </a:fillRef>
            <a:effectRef idx="0">
              <a:schemeClr val="accent2"/>
            </a:effectRef>
            <a:fontRef idx="minor">
              <a:schemeClr val="tx1"/>
            </a:fontRef>
          </p:style>
        </p:cxnSp>
      </p:grpSp>
      <p:grpSp>
        <p:nvGrpSpPr>
          <p:cNvPr id="2056" name="Group 2055">
            <a:extLst>
              <a:ext uri="{FF2B5EF4-FFF2-40B4-BE49-F238E27FC236}">
                <a16:creationId xmlns:a16="http://schemas.microsoft.com/office/drawing/2014/main" id="{4BBED9AD-3D84-7259-DECB-774E0102C08F}"/>
              </a:ext>
            </a:extLst>
          </p:cNvPr>
          <p:cNvGrpSpPr/>
          <p:nvPr/>
        </p:nvGrpSpPr>
        <p:grpSpPr>
          <a:xfrm>
            <a:off x="4868808" y="1521756"/>
            <a:ext cx="1807770" cy="1211382"/>
            <a:chOff x="3743164" y="1672249"/>
            <a:chExt cx="1807770" cy="1211382"/>
          </a:xfrm>
        </p:grpSpPr>
        <p:sp>
          <p:nvSpPr>
            <p:cNvPr id="58" name="TextBox 57">
              <a:extLst>
                <a:ext uri="{FF2B5EF4-FFF2-40B4-BE49-F238E27FC236}">
                  <a16:creationId xmlns:a16="http://schemas.microsoft.com/office/drawing/2014/main" id="{147EAF53-5E94-03B0-9739-3C1CD113F1E9}"/>
                </a:ext>
              </a:extLst>
            </p:cNvPr>
            <p:cNvSpPr txBox="1"/>
            <p:nvPr/>
          </p:nvSpPr>
          <p:spPr>
            <a:xfrm>
              <a:off x="3743164" y="1672249"/>
              <a:ext cx="1807770" cy="923330"/>
            </a:xfrm>
            <a:prstGeom prst="rect">
              <a:avLst/>
            </a:prstGeom>
            <a:noFill/>
            <a:ln w="19050">
              <a:solidFill>
                <a:srgbClr val="1306BA"/>
              </a:solidFill>
            </a:ln>
          </p:spPr>
          <p:txBody>
            <a:bodyPr wrap="square" rtlCol="0" anchor="ctr" anchorCtr="1">
              <a:spAutoFit/>
            </a:bodyPr>
            <a:lstStyle/>
            <a:p>
              <a:pPr algn="ctr"/>
              <a:r>
                <a:rPr lang="en-US" dirty="0"/>
                <a:t>Reward one step in the future; discounted once</a:t>
              </a:r>
            </a:p>
          </p:txBody>
        </p:sp>
        <p:cxnSp>
          <p:nvCxnSpPr>
            <p:cNvPr id="2048" name="Straight Arrow Connector 47">
              <a:extLst>
                <a:ext uri="{FF2B5EF4-FFF2-40B4-BE49-F238E27FC236}">
                  <a16:creationId xmlns:a16="http://schemas.microsoft.com/office/drawing/2014/main" id="{431A2CE1-9EAB-865C-40D8-31E5D71B9CFB}"/>
                </a:ext>
              </a:extLst>
            </p:cNvPr>
            <p:cNvCxnSpPr>
              <a:cxnSpLocks/>
              <a:stCxn id="58" idx="2"/>
            </p:cNvCxnSpPr>
            <p:nvPr/>
          </p:nvCxnSpPr>
          <p:spPr>
            <a:xfrm>
              <a:off x="4647049" y="2595579"/>
              <a:ext cx="0" cy="288052"/>
            </a:xfrm>
            <a:prstGeom prst="straightConnector1">
              <a:avLst/>
            </a:prstGeom>
            <a:ln w="25400">
              <a:solidFill>
                <a:schemeClr val="tx1"/>
              </a:solidFill>
              <a:tailEnd type="triangle"/>
            </a:ln>
          </p:spPr>
          <p:style>
            <a:lnRef idx="1">
              <a:schemeClr val="accent2"/>
            </a:lnRef>
            <a:fillRef idx="0">
              <a:schemeClr val="accent2"/>
            </a:fillRef>
            <a:effectRef idx="0">
              <a:schemeClr val="accent2"/>
            </a:effectRef>
            <a:fontRef idx="minor">
              <a:schemeClr val="tx1"/>
            </a:fontRef>
          </p:style>
        </p:cxnSp>
      </p:grpSp>
      <p:grpSp>
        <p:nvGrpSpPr>
          <p:cNvPr id="2060" name="Group 2059">
            <a:extLst>
              <a:ext uri="{FF2B5EF4-FFF2-40B4-BE49-F238E27FC236}">
                <a16:creationId xmlns:a16="http://schemas.microsoft.com/office/drawing/2014/main" id="{FA92AB39-7F58-BE85-58B6-686F9F30C7B5}"/>
              </a:ext>
            </a:extLst>
          </p:cNvPr>
          <p:cNvGrpSpPr/>
          <p:nvPr/>
        </p:nvGrpSpPr>
        <p:grpSpPr>
          <a:xfrm>
            <a:off x="7565815" y="1660256"/>
            <a:ext cx="1807770" cy="1101562"/>
            <a:chOff x="3743164" y="1810749"/>
            <a:chExt cx="1807770" cy="1101562"/>
          </a:xfrm>
        </p:grpSpPr>
        <mc:AlternateContent xmlns:mc="http://schemas.openxmlformats.org/markup-compatibility/2006" xmlns:a14="http://schemas.microsoft.com/office/drawing/2010/main">
          <mc:Choice Requires="a14">
            <p:sp>
              <p:nvSpPr>
                <p:cNvPr id="2061" name="TextBox 2060">
                  <a:extLst>
                    <a:ext uri="{FF2B5EF4-FFF2-40B4-BE49-F238E27FC236}">
                      <a16:creationId xmlns:a16="http://schemas.microsoft.com/office/drawing/2014/main" id="{21C91F0D-D734-71D9-7AB6-EBD1088276AE}"/>
                    </a:ext>
                  </a:extLst>
                </p:cNvPr>
                <p:cNvSpPr txBox="1"/>
                <p:nvPr/>
              </p:nvSpPr>
              <p:spPr>
                <a:xfrm>
                  <a:off x="3743164" y="1810749"/>
                  <a:ext cx="1807770" cy="646331"/>
                </a:xfrm>
                <a:prstGeom prst="rect">
                  <a:avLst/>
                </a:prstGeom>
                <a:noFill/>
                <a:ln w="19050">
                  <a:solidFill>
                    <a:srgbClr val="00B050"/>
                  </a:solidFill>
                </a:ln>
              </p:spPr>
              <p:txBody>
                <a:bodyPr wrap="square" rtlCol="0" anchor="ctr" anchorCtr="1">
                  <a:spAutoFit/>
                </a:bodyPr>
                <a:lstStyle/>
                <a:p>
                  <a:pPr algn="ctr"/>
                  <a:r>
                    <a:rPr lang="en-US" dirty="0"/>
                    <a:t>Current state at time </a:t>
                  </a:r>
                  <a14:m>
                    <m:oMath xmlns:m="http://schemas.openxmlformats.org/officeDocument/2006/math">
                      <m:r>
                        <a:rPr lang="en-US" b="0" i="1" smtClean="0">
                          <a:latin typeface="Cambria Math" panose="02040503050406030204" pitchFamily="18" charset="0"/>
                        </a:rPr>
                        <m:t>𝑡</m:t>
                      </m:r>
                    </m:oMath>
                  </a14:m>
                  <a:r>
                    <a:rPr lang="en-US" dirty="0"/>
                    <a:t>.</a:t>
                  </a:r>
                </a:p>
              </p:txBody>
            </p:sp>
          </mc:Choice>
          <mc:Fallback xmlns="">
            <p:sp>
              <p:nvSpPr>
                <p:cNvPr id="2061" name="TextBox 2060">
                  <a:extLst>
                    <a:ext uri="{FF2B5EF4-FFF2-40B4-BE49-F238E27FC236}">
                      <a16:creationId xmlns:a16="http://schemas.microsoft.com/office/drawing/2014/main" id="{21C91F0D-D734-71D9-7AB6-EBD1088276AE}"/>
                    </a:ext>
                  </a:extLst>
                </p:cNvPr>
                <p:cNvSpPr txBox="1">
                  <a:spLocks noRot="1" noChangeAspect="1" noMove="1" noResize="1" noEditPoints="1" noAdjustHandles="1" noChangeArrowheads="1" noChangeShapeType="1" noTextEdit="1"/>
                </p:cNvSpPr>
                <p:nvPr/>
              </p:nvSpPr>
              <p:spPr>
                <a:xfrm>
                  <a:off x="3743164" y="1810749"/>
                  <a:ext cx="1807770" cy="646331"/>
                </a:xfrm>
                <a:prstGeom prst="rect">
                  <a:avLst/>
                </a:prstGeom>
                <a:blipFill>
                  <a:blip r:embed="rId6"/>
                  <a:stretch>
                    <a:fillRect t="-3670" b="-12844"/>
                  </a:stretch>
                </a:blipFill>
                <a:ln w="19050">
                  <a:solidFill>
                    <a:srgbClr val="00B050"/>
                  </a:solidFill>
                </a:ln>
              </p:spPr>
              <p:txBody>
                <a:bodyPr/>
                <a:lstStyle/>
                <a:p>
                  <a:r>
                    <a:rPr lang="en-US">
                      <a:noFill/>
                    </a:rPr>
                    <a:t> </a:t>
                  </a:r>
                </a:p>
              </p:txBody>
            </p:sp>
          </mc:Fallback>
        </mc:AlternateContent>
        <p:cxnSp>
          <p:nvCxnSpPr>
            <p:cNvPr id="2062" name="Straight Arrow Connector 47">
              <a:extLst>
                <a:ext uri="{FF2B5EF4-FFF2-40B4-BE49-F238E27FC236}">
                  <a16:creationId xmlns:a16="http://schemas.microsoft.com/office/drawing/2014/main" id="{AD8CBC31-C197-67FF-603D-FF7E2BDD339F}"/>
                </a:ext>
              </a:extLst>
            </p:cNvPr>
            <p:cNvCxnSpPr>
              <a:cxnSpLocks/>
              <a:stCxn id="2061" idx="2"/>
            </p:cNvCxnSpPr>
            <p:nvPr/>
          </p:nvCxnSpPr>
          <p:spPr>
            <a:xfrm>
              <a:off x="4647049" y="2457080"/>
              <a:ext cx="0" cy="455231"/>
            </a:xfrm>
            <a:prstGeom prst="straightConnector1">
              <a:avLst/>
            </a:prstGeom>
            <a:ln w="25400">
              <a:solidFill>
                <a:schemeClr val="tx1"/>
              </a:solidFill>
              <a:tailEnd type="triangle"/>
            </a:ln>
          </p:spPr>
          <p:style>
            <a:lnRef idx="1">
              <a:schemeClr val="accent2"/>
            </a:lnRef>
            <a:fillRef idx="0">
              <a:schemeClr val="accent2"/>
            </a:fillRef>
            <a:effectRef idx="0">
              <a:schemeClr val="accent2"/>
            </a:effectRef>
            <a:fontRef idx="minor">
              <a:schemeClr val="tx1"/>
            </a:fontRef>
          </p:style>
        </p:cxnSp>
      </p:grpSp>
      <p:grpSp>
        <p:nvGrpSpPr>
          <p:cNvPr id="2068" name="Group 2067">
            <a:extLst>
              <a:ext uri="{FF2B5EF4-FFF2-40B4-BE49-F238E27FC236}">
                <a16:creationId xmlns:a16="http://schemas.microsoft.com/office/drawing/2014/main" id="{F0CCBEC6-715E-478E-AEB5-559BAD808B3B}"/>
              </a:ext>
            </a:extLst>
          </p:cNvPr>
          <p:cNvGrpSpPr/>
          <p:nvPr/>
        </p:nvGrpSpPr>
        <p:grpSpPr>
          <a:xfrm>
            <a:off x="8415376" y="3070860"/>
            <a:ext cx="1807770" cy="817982"/>
            <a:chOff x="4909024" y="2940644"/>
            <a:chExt cx="1807770" cy="817982"/>
          </a:xfrm>
        </p:grpSpPr>
        <p:sp>
          <p:nvSpPr>
            <p:cNvPr id="2069" name="TextBox 2068">
              <a:extLst>
                <a:ext uri="{FF2B5EF4-FFF2-40B4-BE49-F238E27FC236}">
                  <a16:creationId xmlns:a16="http://schemas.microsoft.com/office/drawing/2014/main" id="{613E2A2B-CFA0-CE6F-55ED-F1BF05A4B43F}"/>
                </a:ext>
              </a:extLst>
            </p:cNvPr>
            <p:cNvSpPr txBox="1"/>
            <p:nvPr/>
          </p:nvSpPr>
          <p:spPr>
            <a:xfrm>
              <a:off x="4909024" y="3389294"/>
              <a:ext cx="1807770" cy="369332"/>
            </a:xfrm>
            <a:prstGeom prst="rect">
              <a:avLst/>
            </a:prstGeom>
            <a:noFill/>
            <a:ln w="19050">
              <a:noFill/>
            </a:ln>
          </p:spPr>
          <p:txBody>
            <a:bodyPr wrap="square" rtlCol="0" anchor="ctr" anchorCtr="1">
              <a:spAutoFit/>
            </a:bodyPr>
            <a:lstStyle/>
            <a:p>
              <a:pPr algn="ctr"/>
              <a:r>
                <a:rPr lang="en-US" dirty="0"/>
                <a:t>policy</a:t>
              </a:r>
            </a:p>
          </p:txBody>
        </p:sp>
        <p:cxnSp>
          <p:nvCxnSpPr>
            <p:cNvPr id="2070" name="Straight Arrow Connector 47">
              <a:extLst>
                <a:ext uri="{FF2B5EF4-FFF2-40B4-BE49-F238E27FC236}">
                  <a16:creationId xmlns:a16="http://schemas.microsoft.com/office/drawing/2014/main" id="{02E169FC-DCB2-95D9-03A2-84164F77FC35}"/>
                </a:ext>
              </a:extLst>
            </p:cNvPr>
            <p:cNvCxnSpPr>
              <a:cxnSpLocks/>
              <a:stCxn id="2069" idx="0"/>
            </p:cNvCxnSpPr>
            <p:nvPr/>
          </p:nvCxnSpPr>
          <p:spPr>
            <a:xfrm flipV="1">
              <a:off x="5812909" y="2940644"/>
              <a:ext cx="0" cy="448650"/>
            </a:xfrm>
            <a:prstGeom prst="straightConnector1">
              <a:avLst/>
            </a:prstGeom>
            <a:ln w="25400">
              <a:solidFill>
                <a:schemeClr val="tx1"/>
              </a:solidFill>
              <a:tailEnd type="triangle"/>
            </a:ln>
          </p:spPr>
          <p:style>
            <a:lnRef idx="1">
              <a:schemeClr val="accent2"/>
            </a:lnRef>
            <a:fillRef idx="0">
              <a:schemeClr val="accent2"/>
            </a:fillRef>
            <a:effectRef idx="0">
              <a:schemeClr val="accent2"/>
            </a:effectRef>
            <a:fontRef idx="minor">
              <a:schemeClr val="tx1"/>
            </a:fontRef>
          </p:style>
        </p:cxnSp>
      </p:grpSp>
      <mc:AlternateContent xmlns:mc="http://schemas.openxmlformats.org/markup-compatibility/2006" xmlns:a14="http://schemas.microsoft.com/office/drawing/2010/main">
        <mc:Choice Requires="a14">
          <p:sp>
            <p:nvSpPr>
              <p:cNvPr id="2076" name="TextBox 2075">
                <a:extLst>
                  <a:ext uri="{FF2B5EF4-FFF2-40B4-BE49-F238E27FC236}">
                    <a16:creationId xmlns:a16="http://schemas.microsoft.com/office/drawing/2014/main" id="{CF994F02-8EE2-DB11-00EF-563A856B3D7F}"/>
                  </a:ext>
                </a:extLst>
              </p:cNvPr>
              <p:cNvSpPr txBox="1"/>
              <p:nvPr/>
            </p:nvSpPr>
            <p:spPr>
              <a:xfrm>
                <a:off x="1280160" y="3527793"/>
                <a:ext cx="1939453" cy="923330"/>
              </a:xfrm>
              <a:prstGeom prst="rect">
                <a:avLst/>
              </a:prstGeom>
              <a:noFill/>
              <a:ln>
                <a:noFill/>
              </a:ln>
            </p:spPr>
            <p:txBody>
              <a:bodyPr wrap="square" rtlCol="0" anchor="ctr" anchorCtr="1">
                <a:spAutoFit/>
              </a:bodyPr>
              <a:lstStyle/>
              <a:p>
                <a:pPr algn="ctr"/>
                <a14:m>
                  <m:oMath xmlns:m="http://schemas.openxmlformats.org/officeDocument/2006/math">
                    <m:r>
                      <a:rPr lang="en-US" i="1" dirty="0" smtClean="0">
                        <a:latin typeface="Cambria Math" panose="02040503050406030204" pitchFamily="18" charset="0"/>
                      </a:rPr>
                      <m:t>𝑉</m:t>
                    </m:r>
                  </m:oMath>
                </a14:m>
                <a:r>
                  <a:rPr lang="en-US" dirty="0"/>
                  <a:t>: Average reward starting in state </a:t>
                </a:r>
                <a14:m>
                  <m:oMath xmlns:m="http://schemas.openxmlformats.org/officeDocument/2006/math">
                    <m:r>
                      <a:rPr lang="en-US" b="0" i="1" smtClean="0">
                        <a:solidFill>
                          <a:srgbClr val="00B050"/>
                        </a:solidFill>
                        <a:latin typeface="Cambria Math" panose="02040503050406030204" pitchFamily="18" charset="0"/>
                      </a:rPr>
                      <m:t>𝑠</m:t>
                    </m:r>
                  </m:oMath>
                </a14:m>
                <a:r>
                  <a:rPr lang="en-US" dirty="0"/>
                  <a:t> following </a:t>
                </a:r>
                <a14:m>
                  <m:oMath xmlns:m="http://schemas.openxmlformats.org/officeDocument/2006/math">
                    <m:r>
                      <a:rPr lang="en-US" b="1" i="1" smtClean="0">
                        <a:latin typeface="Cambria Math" panose="02040503050406030204" pitchFamily="18" charset="0"/>
                      </a:rPr>
                      <m:t>𝝅</m:t>
                    </m:r>
                  </m:oMath>
                </a14:m>
                <a:endParaRPr lang="en-US" b="1" dirty="0"/>
              </a:p>
            </p:txBody>
          </p:sp>
        </mc:Choice>
        <mc:Fallback xmlns="">
          <p:sp>
            <p:nvSpPr>
              <p:cNvPr id="2076" name="TextBox 2075">
                <a:extLst>
                  <a:ext uri="{FF2B5EF4-FFF2-40B4-BE49-F238E27FC236}">
                    <a16:creationId xmlns:a16="http://schemas.microsoft.com/office/drawing/2014/main" id="{CF994F02-8EE2-DB11-00EF-563A856B3D7F}"/>
                  </a:ext>
                </a:extLst>
              </p:cNvPr>
              <p:cNvSpPr txBox="1">
                <a:spLocks noRot="1" noChangeAspect="1" noMove="1" noResize="1" noEditPoints="1" noAdjustHandles="1" noChangeArrowheads="1" noChangeShapeType="1" noTextEdit="1"/>
              </p:cNvSpPr>
              <p:nvPr/>
            </p:nvSpPr>
            <p:spPr>
              <a:xfrm>
                <a:off x="1280160" y="3527793"/>
                <a:ext cx="1939453" cy="923330"/>
              </a:xfrm>
              <a:prstGeom prst="rect">
                <a:avLst/>
              </a:prstGeom>
              <a:blipFill>
                <a:blip r:embed="rId7"/>
                <a:stretch>
                  <a:fillRect t="-3311" r="-4403" b="-9934"/>
                </a:stretch>
              </a:blipFill>
              <a:ln>
                <a:noFill/>
              </a:ln>
            </p:spPr>
            <p:txBody>
              <a:bodyPr/>
              <a:lstStyle/>
              <a:p>
                <a:r>
                  <a:rPr lang="en-US">
                    <a:noFill/>
                  </a:rPr>
                  <a:t> </a:t>
                </a:r>
              </a:p>
            </p:txBody>
          </p:sp>
        </mc:Fallback>
      </mc:AlternateContent>
      <p:cxnSp>
        <p:nvCxnSpPr>
          <p:cNvPr id="2077" name="Straight Arrow Connector 47">
            <a:extLst>
              <a:ext uri="{FF2B5EF4-FFF2-40B4-BE49-F238E27FC236}">
                <a16:creationId xmlns:a16="http://schemas.microsoft.com/office/drawing/2014/main" id="{85BDAD3B-9430-D753-E1F0-86826ADAF1B8}"/>
              </a:ext>
            </a:extLst>
          </p:cNvPr>
          <p:cNvCxnSpPr>
            <a:cxnSpLocks/>
            <a:stCxn id="2076" idx="0"/>
            <a:endCxn id="26" idx="1"/>
          </p:cNvCxnSpPr>
          <p:nvPr/>
        </p:nvCxnSpPr>
        <p:spPr>
          <a:xfrm rot="16200000" flipV="1">
            <a:off x="1195250" y="2473156"/>
            <a:ext cx="637428" cy="1471846"/>
          </a:xfrm>
          <a:prstGeom prst="bentConnector4">
            <a:avLst>
              <a:gd name="adj1" fmla="val 31292"/>
              <a:gd name="adj2" fmla="val 115532"/>
            </a:avLst>
          </a:prstGeom>
          <a:ln w="25400">
            <a:solidFill>
              <a:schemeClr val="tx1"/>
            </a:solidFill>
            <a:tailEnd type="triangle"/>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A9BDCFC-ABF3-9145-ADBB-2BCC92843479}"/>
                  </a:ext>
                </a:extLst>
              </p:cNvPr>
              <p:cNvSpPr txBox="1"/>
              <p:nvPr/>
            </p:nvSpPr>
            <p:spPr>
              <a:xfrm>
                <a:off x="1280160" y="5429921"/>
                <a:ext cx="1939453" cy="369332"/>
              </a:xfrm>
              <a:prstGeom prst="rect">
                <a:avLst/>
              </a:prstGeom>
              <a:noFill/>
              <a:ln>
                <a:noFill/>
              </a:ln>
            </p:spPr>
            <p:txBody>
              <a:bodyPr wrap="square" rtlCol="0" anchor="ctr" anchorCtr="1">
                <a:spAutoFit/>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𝑇</m:t>
                      </m:r>
                      <m:r>
                        <a:rPr lang="en-US" b="0" i="1" dirty="0" smtClean="0">
                          <a:latin typeface="Cambria Math" panose="02040503050406030204" pitchFamily="18" charset="0"/>
                        </a:rPr>
                        <m:t>𝑂𝐷𝑂</m:t>
                      </m:r>
                      <m:r>
                        <a:rPr lang="en-US" b="0" i="1" dirty="0" smtClean="0">
                          <a:latin typeface="Cambria Math" panose="02040503050406030204" pitchFamily="18" charset="0"/>
                        </a:rPr>
                        <m:t>:</m:t>
                      </m:r>
                      <m:r>
                        <a:rPr lang="en-US" b="0" i="1" dirty="0" smtClean="0">
                          <a:latin typeface="Cambria Math" panose="02040503050406030204" pitchFamily="18" charset="0"/>
                        </a:rPr>
                        <m:t>𝑓𝑖𝑛𝑖𝑠h</m:t>
                      </m:r>
                    </m:oMath>
                  </m:oMathPara>
                </a14:m>
                <a:endParaRPr lang="en-US" b="1" dirty="0"/>
              </a:p>
            </p:txBody>
          </p:sp>
        </mc:Choice>
        <mc:Fallback xmlns="">
          <p:sp>
            <p:nvSpPr>
              <p:cNvPr id="8" name="TextBox 7">
                <a:extLst>
                  <a:ext uri="{FF2B5EF4-FFF2-40B4-BE49-F238E27FC236}">
                    <a16:creationId xmlns:a16="http://schemas.microsoft.com/office/drawing/2014/main" id="{AA9BDCFC-ABF3-9145-ADBB-2BCC92843479}"/>
                  </a:ext>
                </a:extLst>
              </p:cNvPr>
              <p:cNvSpPr txBox="1">
                <a:spLocks noRot="1" noChangeAspect="1" noMove="1" noResize="1" noEditPoints="1" noAdjustHandles="1" noChangeArrowheads="1" noChangeShapeType="1" noTextEdit="1"/>
              </p:cNvSpPr>
              <p:nvPr/>
            </p:nvSpPr>
            <p:spPr>
              <a:xfrm>
                <a:off x="1280160" y="5429921"/>
                <a:ext cx="1939453" cy="369332"/>
              </a:xfrm>
              <a:prstGeom prst="rect">
                <a:avLst/>
              </a:prstGeom>
              <a:blipFill>
                <a:blip r:embed="rId8"/>
                <a:stretch>
                  <a:fillRect b="-15000"/>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507227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9A734-FB38-E272-5F9A-2918587CF222}"/>
            </a:ext>
          </a:extLst>
        </p:cNvPr>
        <p:cNvGrpSpPr/>
        <p:nvPr/>
      </p:nvGrpSpPr>
      <p:grpSpPr>
        <a:xfrm>
          <a:off x="0" y="0"/>
          <a:ext cx="0" cy="0"/>
          <a:chOff x="0" y="0"/>
          <a:chExt cx="0" cy="0"/>
        </a:xfrm>
      </p:grpSpPr>
      <p:sp>
        <p:nvSpPr>
          <p:cNvPr id="4" name="Title 12">
            <a:extLst>
              <a:ext uri="{FF2B5EF4-FFF2-40B4-BE49-F238E27FC236}">
                <a16:creationId xmlns:a16="http://schemas.microsoft.com/office/drawing/2014/main" id="{E0F55C22-418A-4828-17CC-14AD35726DBD}"/>
              </a:ext>
            </a:extLst>
          </p:cNvPr>
          <p:cNvSpPr txBox="1">
            <a:spLocks/>
          </p:cNvSpPr>
          <p:nvPr/>
        </p:nvSpPr>
        <p:spPr>
          <a:xfrm>
            <a:off x="484969" y="69597"/>
            <a:ext cx="11153622" cy="565671"/>
          </a:xfrm>
          <a:prstGeom prst="rect">
            <a:avLst/>
          </a:prstGeom>
          <a:ln>
            <a:noFill/>
          </a:ln>
        </p:spPr>
        <p:txBody>
          <a:bodyPr vert="horz" lIns="91440" tIns="45720" rIns="91440" bIns="45720" rtlCol="0" anchor="ctr">
            <a:noAutofit/>
          </a:bodyPr>
          <a:lst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a:lstStyle>
          <a:p>
            <a:pPr algn="ctr"/>
            <a:r>
              <a:rPr lang="en-US" sz="3600" dirty="0"/>
              <a:t>Relationships Between State and Action Value Functions</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EB0CF2D-C423-2CCB-BA4F-443ECECBE2C5}"/>
                  </a:ext>
                </a:extLst>
              </p:cNvPr>
              <p:cNvSpPr txBox="1"/>
              <p:nvPr/>
            </p:nvSpPr>
            <p:spPr>
              <a:xfrm>
                <a:off x="5935578" y="873290"/>
                <a:ext cx="3890212" cy="988540"/>
              </a:xfrm>
              <a:prstGeom prst="rect">
                <a:avLst/>
              </a:prstGeom>
              <a:noFill/>
              <a:ln>
                <a:noFill/>
              </a:ln>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𝑉</m:t>
                          </m:r>
                        </m:e>
                        <m:sup>
                          <m:r>
                            <a:rPr lang="en-US" sz="2400" b="1" i="1" smtClean="0">
                              <a:latin typeface="Cambria Math" panose="02040503050406030204" pitchFamily="18" charset="0"/>
                            </a:rPr>
                            <m:t>𝝅</m:t>
                          </m:r>
                          <m:r>
                            <a:rPr lang="en-US" sz="2400" b="0" i="1" smtClean="0">
                              <a:latin typeface="Cambria Math" panose="02040503050406030204" pitchFamily="18" charset="0"/>
                            </a:rPr>
                            <m:t>(</m:t>
                          </m:r>
                          <m:r>
                            <a:rPr lang="en-US" sz="2400" b="0" i="1" smtClean="0">
                              <a:solidFill>
                                <a:srgbClr val="00B050"/>
                              </a:solidFill>
                              <a:latin typeface="Cambria Math" panose="02040503050406030204" pitchFamily="18" charset="0"/>
                            </a:rPr>
                            <m:t>𝑠</m:t>
                          </m:r>
                          <m:r>
                            <a:rPr lang="en-US" sz="2400" b="0" i="1" smtClean="0">
                              <a:latin typeface="Cambria Math" panose="02040503050406030204" pitchFamily="18" charset="0"/>
                            </a:rPr>
                            <m:t>)</m:t>
                          </m:r>
                        </m:sup>
                      </m:sSup>
                      <m:r>
                        <a:rPr lang="en-US" sz="2400" b="0" i="1" smtClean="0">
                          <a:latin typeface="Cambria Math" panose="02040503050406030204" pitchFamily="18" charset="0"/>
                        </a:rPr>
                        <m:t>=</m:t>
                      </m:r>
                      <m:nary>
                        <m:naryPr>
                          <m:chr m:val="∑"/>
                          <m:supHide m:val="on"/>
                          <m:ctrlPr>
                            <a:rPr lang="en-US" sz="2400" b="0" i="1" smtClean="0">
                              <a:latin typeface="Cambria Math" panose="02040503050406030204" pitchFamily="18" charset="0"/>
                            </a:rPr>
                          </m:ctrlPr>
                        </m:naryPr>
                        <m:sub>
                          <m:r>
                            <m:rPr>
                              <m:brk m:alnAt="7"/>
                            </m:rPr>
                            <a:rPr lang="en-US" sz="2400" b="0" i="1" smtClean="0">
                              <a:solidFill>
                                <a:srgbClr val="7030A0"/>
                              </a:solidFill>
                              <a:latin typeface="Cambria Math" panose="02040503050406030204" pitchFamily="18" charset="0"/>
                            </a:rPr>
                            <m:t>𝑎</m:t>
                          </m:r>
                          <m:r>
                            <a:rPr lang="en-US" sz="2400" b="0" i="1" smtClean="0">
                              <a:latin typeface="Cambria Math" panose="02040503050406030204" pitchFamily="18" charset="0"/>
                            </a:rPr>
                            <m:t>∈</m:t>
                          </m:r>
                          <m:r>
                            <a:rPr lang="en-US" sz="2400" b="0" i="1" smtClean="0">
                              <a:solidFill>
                                <a:srgbClr val="7030A0"/>
                              </a:solidFill>
                              <a:latin typeface="Cambria Math" panose="02040503050406030204" pitchFamily="18" charset="0"/>
                            </a:rPr>
                            <m:t>𝐴</m:t>
                          </m:r>
                        </m:sub>
                        <m:sup/>
                        <m:e>
                          <m:r>
                            <a:rPr lang="en-US" sz="2400" b="1" i="1" dirty="0">
                              <a:latin typeface="Cambria Math" panose="02040503050406030204" pitchFamily="18" charset="0"/>
                            </a:rPr>
                            <m:t>𝝅</m:t>
                          </m:r>
                          <m:d>
                            <m:dPr>
                              <m:ctrlPr>
                                <a:rPr lang="en-US" sz="2400" i="1" dirty="0">
                                  <a:latin typeface="Cambria Math" panose="02040503050406030204" pitchFamily="18" charset="0"/>
                                </a:rPr>
                              </m:ctrlPr>
                            </m:dPr>
                            <m:e>
                              <m:r>
                                <a:rPr lang="en-US" sz="2400" i="1" dirty="0">
                                  <a:solidFill>
                                    <a:srgbClr val="7030A0"/>
                                  </a:solidFill>
                                  <a:latin typeface="Cambria Math" panose="02040503050406030204" pitchFamily="18" charset="0"/>
                                </a:rPr>
                                <m:t>𝑎</m:t>
                              </m:r>
                              <m:r>
                                <a:rPr lang="en-US" sz="2400" i="1" dirty="0">
                                  <a:latin typeface="Cambria Math" panose="02040503050406030204" pitchFamily="18" charset="0"/>
                                </a:rPr>
                                <m:t>∣</m:t>
                              </m:r>
                              <m:r>
                                <a:rPr lang="en-US" sz="2400" i="1" dirty="0">
                                  <a:solidFill>
                                    <a:srgbClr val="00B050"/>
                                  </a:solidFill>
                                  <a:latin typeface="Cambria Math" panose="02040503050406030204" pitchFamily="18" charset="0"/>
                                </a:rPr>
                                <m:t>𝑠</m:t>
                              </m:r>
                            </m:e>
                          </m:d>
                          <m:r>
                            <a:rPr lang="en-US" sz="2400" b="0" i="1" dirty="0" smtClean="0">
                              <a:solidFill>
                                <a:schemeClr val="tx1"/>
                              </a:solidFill>
                              <a:latin typeface="Cambria Math" panose="02040503050406030204" pitchFamily="18" charset="0"/>
                            </a:rPr>
                            <m:t>⋅</m:t>
                          </m:r>
                          <m:sSup>
                            <m:sSupPr>
                              <m:ctrlPr>
                                <a:rPr lang="en-US" sz="2400" b="0" i="1" dirty="0" smtClean="0">
                                  <a:solidFill>
                                    <a:schemeClr val="tx1"/>
                                  </a:solidFill>
                                  <a:latin typeface="Cambria Math" panose="02040503050406030204" pitchFamily="18" charset="0"/>
                                </a:rPr>
                              </m:ctrlPr>
                            </m:sSupPr>
                            <m:e>
                              <m:r>
                                <a:rPr lang="en-US" sz="2400" b="0" i="1" dirty="0" smtClean="0">
                                  <a:solidFill>
                                    <a:schemeClr val="tx1"/>
                                  </a:solidFill>
                                  <a:latin typeface="Cambria Math" panose="02040503050406030204" pitchFamily="18" charset="0"/>
                                </a:rPr>
                                <m:t>𝑄</m:t>
                              </m:r>
                            </m:e>
                            <m:sup>
                              <m:r>
                                <a:rPr lang="en-US" sz="2400" b="1" i="1" dirty="0" smtClean="0">
                                  <a:solidFill>
                                    <a:schemeClr val="tx1"/>
                                  </a:solidFill>
                                  <a:latin typeface="Cambria Math" panose="02040503050406030204" pitchFamily="18" charset="0"/>
                                </a:rPr>
                                <m:t>𝝅</m:t>
                              </m:r>
                              <m:r>
                                <a:rPr lang="en-US" sz="2400" b="0" i="1" dirty="0" smtClean="0">
                                  <a:solidFill>
                                    <a:schemeClr val="tx1"/>
                                  </a:solidFill>
                                  <a:latin typeface="Cambria Math" panose="02040503050406030204" pitchFamily="18" charset="0"/>
                                </a:rPr>
                                <m:t>(</m:t>
                              </m:r>
                              <m:r>
                                <a:rPr lang="en-US" sz="2400" b="0" i="1" dirty="0" smtClean="0">
                                  <a:solidFill>
                                    <a:srgbClr val="00B050"/>
                                  </a:solidFill>
                                  <a:latin typeface="Cambria Math" panose="02040503050406030204" pitchFamily="18" charset="0"/>
                                </a:rPr>
                                <m:t>𝑠</m:t>
                              </m:r>
                              <m:r>
                                <a:rPr lang="en-US" sz="2400" b="0" i="1" dirty="0" smtClean="0">
                                  <a:solidFill>
                                    <a:schemeClr val="tx1"/>
                                  </a:solidFill>
                                  <a:latin typeface="Cambria Math" panose="02040503050406030204" pitchFamily="18" charset="0"/>
                                </a:rPr>
                                <m:t>, </m:t>
                              </m:r>
                              <m:r>
                                <a:rPr lang="en-US" sz="2400" b="0" i="1" dirty="0" smtClean="0">
                                  <a:solidFill>
                                    <a:srgbClr val="7030A0"/>
                                  </a:solidFill>
                                  <a:latin typeface="Cambria Math" panose="02040503050406030204" pitchFamily="18" charset="0"/>
                                </a:rPr>
                                <m:t>𝑎</m:t>
                              </m:r>
                              <m:r>
                                <a:rPr lang="en-US" sz="2400" b="0" i="1" dirty="0" smtClean="0">
                                  <a:solidFill>
                                    <a:schemeClr val="tx1"/>
                                  </a:solidFill>
                                  <a:latin typeface="Cambria Math" panose="02040503050406030204" pitchFamily="18" charset="0"/>
                                </a:rPr>
                                <m:t>)</m:t>
                              </m:r>
                            </m:sup>
                          </m:sSup>
                        </m:e>
                      </m:nary>
                    </m:oMath>
                  </m:oMathPara>
                </a14:m>
                <a:endParaRPr lang="en-US" sz="2400" dirty="0"/>
              </a:p>
            </p:txBody>
          </p:sp>
        </mc:Choice>
        <mc:Fallback xmlns="">
          <p:sp>
            <p:nvSpPr>
              <p:cNvPr id="26" name="TextBox 25">
                <a:extLst>
                  <a:ext uri="{FF2B5EF4-FFF2-40B4-BE49-F238E27FC236}">
                    <a16:creationId xmlns:a16="http://schemas.microsoft.com/office/drawing/2014/main" id="{FEB0CF2D-C423-2CCB-BA4F-443ECECBE2C5}"/>
                  </a:ext>
                </a:extLst>
              </p:cNvPr>
              <p:cNvSpPr txBox="1">
                <a:spLocks noRot="1" noChangeAspect="1" noMove="1" noResize="1" noEditPoints="1" noAdjustHandles="1" noChangeArrowheads="1" noChangeShapeType="1" noTextEdit="1"/>
              </p:cNvSpPr>
              <p:nvPr/>
            </p:nvSpPr>
            <p:spPr>
              <a:xfrm>
                <a:off x="5935578" y="873290"/>
                <a:ext cx="3890212" cy="988540"/>
              </a:xfrm>
              <a:prstGeom prst="rect">
                <a:avLst/>
              </a:prstGeom>
              <a:blipFill>
                <a:blip r:embed="rId2"/>
                <a:stretch>
                  <a:fillRect/>
                </a:stretch>
              </a:blipFill>
              <a:ln>
                <a:noFill/>
              </a:ln>
            </p:spPr>
            <p:txBody>
              <a:bodyPr/>
              <a:lstStyle/>
              <a:p>
                <a:r>
                  <a:rPr lang="en-US">
                    <a:noFill/>
                  </a:rPr>
                  <a:t> </a:t>
                </a:r>
              </a:p>
            </p:txBody>
          </p:sp>
        </mc:Fallback>
      </mc:AlternateContent>
      <p:sp>
        <p:nvSpPr>
          <p:cNvPr id="6" name="TextBox 5">
            <a:extLst>
              <a:ext uri="{FF2B5EF4-FFF2-40B4-BE49-F238E27FC236}">
                <a16:creationId xmlns:a16="http://schemas.microsoft.com/office/drawing/2014/main" id="{EEAD39D0-58BF-9339-7DE6-AD3EAB91BF8F}"/>
              </a:ext>
            </a:extLst>
          </p:cNvPr>
          <p:cNvSpPr txBox="1"/>
          <p:nvPr/>
        </p:nvSpPr>
        <p:spPr>
          <a:xfrm>
            <a:off x="1163052" y="1053139"/>
            <a:ext cx="3753854" cy="646331"/>
          </a:xfrm>
          <a:prstGeom prst="rect">
            <a:avLst/>
          </a:prstGeom>
          <a:noFill/>
          <a:ln>
            <a:noFill/>
          </a:ln>
        </p:spPr>
        <p:txBody>
          <a:bodyPr wrap="square">
            <a:spAutoFit/>
          </a:bodyPr>
          <a:lstStyle/>
          <a:p>
            <a:pPr>
              <a:buNone/>
            </a:pPr>
            <a:r>
              <a:rPr lang="en-US" dirty="0"/>
              <a:t>State value equals the expected value of action values under the policy:</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5BC45C7-FA95-AED6-54C9-9DE2F3F2CB18}"/>
                  </a:ext>
                </a:extLst>
              </p:cNvPr>
              <p:cNvSpPr txBox="1"/>
              <p:nvPr/>
            </p:nvSpPr>
            <p:spPr>
              <a:xfrm>
                <a:off x="1684420" y="1940194"/>
                <a:ext cx="9657348" cy="1488806"/>
              </a:xfrm>
              <a:prstGeom prst="rect">
                <a:avLst/>
              </a:prstGeom>
              <a:noFill/>
              <a:ln>
                <a:noFill/>
              </a:ln>
            </p:spPr>
            <p:txBody>
              <a:bodyPr wrap="square">
                <a:noAutofit/>
              </a:bodyPr>
              <a:lstStyle/>
              <a:p>
                <a:pPr>
                  <a:buNone/>
                </a:pPr>
                <a:r>
                  <a:rPr lang="en-US" b="1" dirty="0"/>
                  <a:t>Intuition</a:t>
                </a:r>
                <a:r>
                  <a:rPr lang="en-US" dirty="0"/>
                  <a:t>:</a:t>
                </a:r>
              </a:p>
              <a:p>
                <a:pPr marL="512763" indent="-285750">
                  <a:buFont typeface="Arial" panose="020B0604020202020204" pitchFamily="34" charset="0"/>
                  <a:buChar char="•"/>
                </a:pPr>
                <a:r>
                  <a:rPr lang="en-US" dirty="0"/>
                  <a:t>If we are in state </a:t>
                </a:r>
                <a14:m>
                  <m:oMath xmlns:m="http://schemas.openxmlformats.org/officeDocument/2006/math">
                    <m:r>
                      <a:rPr lang="en-US" i="1" dirty="0" smtClean="0">
                        <a:solidFill>
                          <a:srgbClr val="00B050"/>
                        </a:solidFill>
                        <a:latin typeface="Cambria Math" panose="02040503050406030204" pitchFamily="18" charset="0"/>
                      </a:rPr>
                      <m:t>𝑠</m:t>
                    </m:r>
                  </m:oMath>
                </a14:m>
                <a:r>
                  <a:rPr lang="en-US" dirty="0"/>
                  <a:t>, our expected reward depends on what action we take</a:t>
                </a:r>
              </a:p>
              <a:p>
                <a:pPr marL="512763" indent="-285750">
                  <a:buFont typeface="Arial" panose="020B0604020202020204" pitchFamily="34" charset="0"/>
                  <a:buChar char="•"/>
                </a:pPr>
                <a:r>
                  <a:rPr lang="en-US" dirty="0"/>
                  <a:t>Policy </a:t>
                </a:r>
                <a14:m>
                  <m:oMath xmlns:m="http://schemas.openxmlformats.org/officeDocument/2006/math">
                    <m:r>
                      <a:rPr lang="en-US" b="0" i="1" dirty="0" smtClean="0">
                        <a:solidFill>
                          <a:schemeClr val="tx1"/>
                        </a:solidFill>
                        <a:latin typeface="Cambria Math" panose="02040503050406030204" pitchFamily="18" charset="0"/>
                      </a:rPr>
                      <m:t>𝜋</m:t>
                    </m:r>
                    <m:d>
                      <m:dPr>
                        <m:ctrlPr>
                          <a:rPr lang="en-US" b="0" i="1" dirty="0" smtClean="0">
                            <a:solidFill>
                              <a:schemeClr val="tx1"/>
                            </a:solidFill>
                            <a:latin typeface="Cambria Math" panose="02040503050406030204" pitchFamily="18" charset="0"/>
                          </a:rPr>
                        </m:ctrlPr>
                      </m:dPr>
                      <m:e>
                        <m:r>
                          <a:rPr lang="en-US" b="0" i="1" dirty="0" smtClean="0">
                            <a:solidFill>
                              <a:srgbClr val="7030A0"/>
                            </a:solidFill>
                            <a:latin typeface="Cambria Math" panose="02040503050406030204" pitchFamily="18" charset="0"/>
                          </a:rPr>
                          <m:t>𝑎</m:t>
                        </m:r>
                        <m:r>
                          <a:rPr lang="en-US" b="0" i="1" dirty="0" smtClean="0">
                            <a:solidFill>
                              <a:schemeClr val="tx1"/>
                            </a:solidFill>
                            <a:latin typeface="Cambria Math" panose="02040503050406030204" pitchFamily="18" charset="0"/>
                          </a:rPr>
                          <m:t>∣</m:t>
                        </m:r>
                        <m:r>
                          <a:rPr lang="en-US" b="0" i="1" dirty="0" smtClean="0">
                            <a:solidFill>
                              <a:srgbClr val="00B050"/>
                            </a:solidFill>
                            <a:latin typeface="Cambria Math" panose="02040503050406030204" pitchFamily="18" charset="0"/>
                          </a:rPr>
                          <m:t>𝑠</m:t>
                        </m:r>
                      </m:e>
                    </m:d>
                    <m:r>
                      <a:rPr lang="en-US" i="1" dirty="0">
                        <a:solidFill>
                          <a:srgbClr val="00B050"/>
                        </a:solidFill>
                        <a:latin typeface="Cambria Math" panose="02040503050406030204" pitchFamily="18" charset="0"/>
                      </a:rPr>
                      <m:t> </m:t>
                    </m:r>
                  </m:oMath>
                </a14:m>
                <a:r>
                  <a:rPr lang="en-US" dirty="0"/>
                  <a:t>tells us the probability of taking each action </a:t>
                </a:r>
                <a14:m>
                  <m:oMath xmlns:m="http://schemas.openxmlformats.org/officeDocument/2006/math">
                    <m:r>
                      <a:rPr lang="en-US" i="1" dirty="0" smtClean="0">
                        <a:solidFill>
                          <a:srgbClr val="7030A0"/>
                        </a:solidFill>
                        <a:latin typeface="Cambria Math" panose="02040503050406030204" pitchFamily="18" charset="0"/>
                      </a:rPr>
                      <m:t>𝑎</m:t>
                    </m:r>
                  </m:oMath>
                </a14:m>
                <a:endParaRPr lang="en-US" dirty="0"/>
              </a:p>
              <a:p>
                <a:pPr marL="512763" indent="-285750">
                  <a:buFont typeface="Arial" panose="020B0604020202020204" pitchFamily="34" charset="0"/>
                  <a:buChar char="•"/>
                </a:pP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𝑄</m:t>
                        </m:r>
                      </m:e>
                      <m:sup>
                        <m:r>
                          <a:rPr lang="en-US" b="1" i="1">
                            <a:latin typeface="Cambria Math" panose="02040503050406030204" pitchFamily="18" charset="0"/>
                          </a:rPr>
                          <m:t>𝝅</m:t>
                        </m:r>
                        <m:r>
                          <a:rPr lang="en-US" i="1">
                            <a:latin typeface="Cambria Math" panose="02040503050406030204" pitchFamily="18" charset="0"/>
                          </a:rPr>
                          <m:t>(</m:t>
                        </m:r>
                        <m:r>
                          <a:rPr lang="en-US" i="1">
                            <a:solidFill>
                              <a:srgbClr val="00B050"/>
                            </a:solidFill>
                            <a:latin typeface="Cambria Math" panose="02040503050406030204" pitchFamily="18" charset="0"/>
                          </a:rPr>
                          <m:t>𝑠</m:t>
                        </m:r>
                        <m:r>
                          <a:rPr lang="en-US" i="1">
                            <a:latin typeface="Cambria Math" panose="02040503050406030204" pitchFamily="18" charset="0"/>
                          </a:rPr>
                          <m:t>,</m:t>
                        </m:r>
                        <m:r>
                          <a:rPr lang="en-US" i="1">
                            <a:solidFill>
                              <a:srgbClr val="7030A0"/>
                            </a:solidFill>
                            <a:latin typeface="Cambria Math" panose="02040503050406030204" pitchFamily="18" charset="0"/>
                          </a:rPr>
                          <m:t>𝑎</m:t>
                        </m:r>
                        <m:r>
                          <a:rPr lang="en-US" i="1">
                            <a:latin typeface="Cambria Math" panose="02040503050406030204" pitchFamily="18" charset="0"/>
                          </a:rPr>
                          <m:t>)</m:t>
                        </m:r>
                      </m:sup>
                    </m:sSup>
                    <m:r>
                      <a:rPr lang="en-US" i="1">
                        <a:latin typeface="Cambria Math" panose="02040503050406030204" pitchFamily="18" charset="0"/>
                      </a:rPr>
                      <m:t> </m:t>
                    </m:r>
                  </m:oMath>
                </a14:m>
                <a:r>
                  <a:rPr lang="en-US" dirty="0"/>
                  <a:t>tells us the value of each possible action</a:t>
                </a:r>
              </a:p>
              <a:p>
                <a:pPr marL="512763" indent="-285750">
                  <a:buFont typeface="Arial" panose="020B0604020202020204" pitchFamily="34" charset="0"/>
                  <a:buChar char="•"/>
                </a:pPr>
                <a:r>
                  <a:rPr lang="en-US" dirty="0"/>
                  <a:t>Thus, we average all action values, weighted by how likely we are to take each action</a:t>
                </a:r>
              </a:p>
            </p:txBody>
          </p:sp>
        </mc:Choice>
        <mc:Fallback xmlns="">
          <p:sp>
            <p:nvSpPr>
              <p:cNvPr id="7" name="TextBox 6">
                <a:extLst>
                  <a:ext uri="{FF2B5EF4-FFF2-40B4-BE49-F238E27FC236}">
                    <a16:creationId xmlns:a16="http://schemas.microsoft.com/office/drawing/2014/main" id="{25BC45C7-FA95-AED6-54C9-9DE2F3F2CB18}"/>
                  </a:ext>
                </a:extLst>
              </p:cNvPr>
              <p:cNvSpPr txBox="1">
                <a:spLocks noRot="1" noChangeAspect="1" noMove="1" noResize="1" noEditPoints="1" noAdjustHandles="1" noChangeArrowheads="1" noChangeShapeType="1" noTextEdit="1"/>
              </p:cNvSpPr>
              <p:nvPr/>
            </p:nvSpPr>
            <p:spPr>
              <a:xfrm>
                <a:off x="1684420" y="1940194"/>
                <a:ext cx="9657348" cy="1488806"/>
              </a:xfrm>
              <a:prstGeom prst="rect">
                <a:avLst/>
              </a:prstGeom>
              <a:blipFill>
                <a:blip r:embed="rId3"/>
                <a:stretch>
                  <a:fillRect l="-505" t="-2041" b="-530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10802EC-000E-3C73-5910-6D8D030CE28E}"/>
                  </a:ext>
                </a:extLst>
              </p:cNvPr>
              <p:cNvSpPr txBox="1"/>
              <p:nvPr/>
            </p:nvSpPr>
            <p:spPr>
              <a:xfrm>
                <a:off x="3858126" y="3724827"/>
                <a:ext cx="8181473" cy="1152751"/>
              </a:xfrm>
              <a:prstGeom prst="rect">
                <a:avLst/>
              </a:prstGeom>
              <a:noFill/>
              <a:ln>
                <a:noFill/>
              </a:ln>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2800" i="1" dirty="0" smtClean="0">
                              <a:latin typeface="Cambria Math" panose="02040503050406030204" pitchFamily="18" charset="0"/>
                            </a:rPr>
                          </m:ctrlPr>
                        </m:sSupPr>
                        <m:e>
                          <m:r>
                            <a:rPr lang="en-US" sz="2800" i="1" dirty="0">
                              <a:latin typeface="Cambria Math" panose="02040503050406030204" pitchFamily="18" charset="0"/>
                            </a:rPr>
                            <m:t>𝑄</m:t>
                          </m:r>
                        </m:e>
                        <m:sup>
                          <m:r>
                            <a:rPr lang="en-US" sz="2800" b="1" i="1" dirty="0">
                              <a:latin typeface="Cambria Math" panose="02040503050406030204" pitchFamily="18" charset="0"/>
                            </a:rPr>
                            <m:t>𝝅</m:t>
                          </m:r>
                          <m:r>
                            <a:rPr lang="en-US" sz="2800" i="1" dirty="0">
                              <a:latin typeface="Cambria Math" panose="02040503050406030204" pitchFamily="18" charset="0"/>
                            </a:rPr>
                            <m:t>(</m:t>
                          </m:r>
                          <m:r>
                            <a:rPr lang="en-US" sz="2800" i="1" dirty="0">
                              <a:solidFill>
                                <a:srgbClr val="00B050"/>
                              </a:solidFill>
                              <a:latin typeface="Cambria Math" panose="02040503050406030204" pitchFamily="18" charset="0"/>
                            </a:rPr>
                            <m:t>𝑠</m:t>
                          </m:r>
                          <m:r>
                            <a:rPr lang="en-US" sz="2800" i="1" dirty="0">
                              <a:latin typeface="Cambria Math" panose="02040503050406030204" pitchFamily="18" charset="0"/>
                            </a:rPr>
                            <m:t>, </m:t>
                          </m:r>
                          <m:r>
                            <a:rPr lang="en-US" sz="2800" i="1" dirty="0">
                              <a:solidFill>
                                <a:srgbClr val="7030A0"/>
                              </a:solidFill>
                              <a:latin typeface="Cambria Math" panose="02040503050406030204" pitchFamily="18" charset="0"/>
                            </a:rPr>
                            <m:t>𝑎</m:t>
                          </m:r>
                          <m:r>
                            <a:rPr lang="en-US" sz="2800" i="1" dirty="0">
                              <a:latin typeface="Cambria Math" panose="02040503050406030204" pitchFamily="18" charset="0"/>
                            </a:rPr>
                            <m:t>)</m:t>
                          </m:r>
                        </m:sup>
                      </m:sSup>
                      <m:r>
                        <a:rPr lang="en-US" sz="2800" b="0" i="1" smtClean="0">
                          <a:latin typeface="Cambria Math" panose="02040503050406030204" pitchFamily="18" charset="0"/>
                        </a:rPr>
                        <m:t>=</m:t>
                      </m:r>
                      <m:nary>
                        <m:naryPr>
                          <m:chr m:val="∑"/>
                          <m:supHide m:val="on"/>
                          <m:ctrlPr>
                            <a:rPr lang="en-US" sz="2800" b="0" i="1" smtClean="0">
                              <a:latin typeface="Cambria Math" panose="02040503050406030204" pitchFamily="18" charset="0"/>
                            </a:rPr>
                          </m:ctrlPr>
                        </m:naryPr>
                        <m:sub>
                          <m:sSup>
                            <m:sSupPr>
                              <m:ctrlPr>
                                <a:rPr lang="en-US" sz="2800" b="0" i="1" smtClean="0">
                                  <a:solidFill>
                                    <a:srgbClr val="00B050"/>
                                  </a:solidFill>
                                  <a:latin typeface="Cambria Math" panose="02040503050406030204" pitchFamily="18" charset="0"/>
                                </a:rPr>
                              </m:ctrlPr>
                            </m:sSupPr>
                            <m:e>
                              <m:r>
                                <a:rPr lang="en-US" sz="2800" b="0" i="1" smtClean="0">
                                  <a:solidFill>
                                    <a:srgbClr val="00B050"/>
                                  </a:solidFill>
                                  <a:latin typeface="Cambria Math" panose="02040503050406030204" pitchFamily="18" charset="0"/>
                                </a:rPr>
                                <m:t>𝑠</m:t>
                              </m:r>
                            </m:e>
                            <m:sup>
                              <m:r>
                                <a:rPr lang="en-US" sz="2800" b="0" i="1" smtClean="0">
                                  <a:solidFill>
                                    <a:schemeClr val="tx1"/>
                                  </a:solidFill>
                                  <a:latin typeface="Cambria Math" panose="02040503050406030204" pitchFamily="18" charset="0"/>
                                </a:rPr>
                                <m:t>′</m:t>
                              </m:r>
                            </m:sup>
                          </m:sSup>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𝑆</m:t>
                          </m:r>
                        </m:sub>
                        <m:sup/>
                        <m:e>
                          <m:r>
                            <a:rPr lang="en-US" sz="2800" b="0" i="1" dirty="0" smtClean="0">
                              <a:latin typeface="Cambria Math" panose="02040503050406030204" pitchFamily="18" charset="0"/>
                            </a:rPr>
                            <m:t>𝑃</m:t>
                          </m:r>
                          <m:d>
                            <m:dPr>
                              <m:ctrlPr>
                                <a:rPr lang="en-US" sz="2800" i="1" dirty="0">
                                  <a:latin typeface="Cambria Math" panose="02040503050406030204" pitchFamily="18" charset="0"/>
                                </a:rPr>
                              </m:ctrlPr>
                            </m:dPr>
                            <m:e>
                              <m:sSup>
                                <m:sSupPr>
                                  <m:ctrlPr>
                                    <a:rPr lang="en-US" sz="2800" b="0" i="1" dirty="0" smtClean="0">
                                      <a:solidFill>
                                        <a:schemeClr val="tx1"/>
                                      </a:solidFill>
                                      <a:latin typeface="Cambria Math" panose="02040503050406030204" pitchFamily="18" charset="0"/>
                                    </a:rPr>
                                  </m:ctrlPr>
                                </m:sSupPr>
                                <m:e>
                                  <m:r>
                                    <a:rPr lang="en-US" sz="2800" i="1" dirty="0">
                                      <a:solidFill>
                                        <a:srgbClr val="00B050"/>
                                      </a:solidFill>
                                      <a:latin typeface="Cambria Math" panose="02040503050406030204" pitchFamily="18" charset="0"/>
                                    </a:rPr>
                                    <m:t>𝑠</m:t>
                                  </m:r>
                                </m:e>
                                <m:sup>
                                  <m:r>
                                    <a:rPr lang="en-US" sz="2800" b="0" i="1" dirty="0" smtClean="0">
                                      <a:solidFill>
                                        <a:schemeClr val="tx1"/>
                                      </a:solidFill>
                                      <a:latin typeface="Cambria Math" panose="02040503050406030204" pitchFamily="18" charset="0"/>
                                    </a:rPr>
                                    <m:t>′</m:t>
                                  </m:r>
                                </m:sup>
                              </m:sSup>
                              <m:r>
                                <a:rPr lang="en-US" sz="2800" i="1" dirty="0">
                                  <a:latin typeface="Cambria Math" panose="02040503050406030204" pitchFamily="18" charset="0"/>
                                </a:rPr>
                                <m:t>∣</m:t>
                              </m:r>
                              <m:r>
                                <a:rPr lang="en-US" sz="2800" i="1" dirty="0">
                                  <a:solidFill>
                                    <a:srgbClr val="00B050"/>
                                  </a:solidFill>
                                  <a:latin typeface="Cambria Math" panose="02040503050406030204" pitchFamily="18" charset="0"/>
                                </a:rPr>
                                <m:t>𝑠</m:t>
                              </m:r>
                              <m:r>
                                <a:rPr lang="en-US" sz="2800" b="0" i="1" dirty="0" smtClean="0">
                                  <a:solidFill>
                                    <a:schemeClr val="tx1"/>
                                  </a:solidFill>
                                  <a:latin typeface="Cambria Math" panose="02040503050406030204" pitchFamily="18" charset="0"/>
                                </a:rPr>
                                <m:t>,</m:t>
                              </m:r>
                              <m:r>
                                <a:rPr lang="en-US" sz="2800" i="1" dirty="0">
                                  <a:solidFill>
                                    <a:srgbClr val="7030A0"/>
                                  </a:solidFill>
                                  <a:latin typeface="Cambria Math" panose="02040503050406030204" pitchFamily="18" charset="0"/>
                                </a:rPr>
                                <m:t>𝑎</m:t>
                              </m:r>
                            </m:e>
                          </m:d>
                          <m:r>
                            <a:rPr lang="en-US" sz="2800" b="0" i="1" dirty="0" smtClean="0">
                              <a:solidFill>
                                <a:schemeClr val="tx1"/>
                              </a:solidFill>
                              <a:latin typeface="Cambria Math" panose="02040503050406030204" pitchFamily="18" charset="0"/>
                            </a:rPr>
                            <m:t>⋅</m:t>
                          </m:r>
                          <m:d>
                            <m:dPr>
                              <m:begChr m:val="["/>
                              <m:endChr m:val="]"/>
                              <m:ctrlPr>
                                <a:rPr lang="en-US" sz="2800" i="1" dirty="0" smtClean="0">
                                  <a:solidFill>
                                    <a:schemeClr val="tx1"/>
                                  </a:solidFill>
                                  <a:latin typeface="Cambria Math" panose="02040503050406030204" pitchFamily="18" charset="0"/>
                                </a:rPr>
                              </m:ctrlPr>
                            </m:dPr>
                            <m:e>
                              <m:r>
                                <a:rPr lang="en-US" sz="2800" i="1">
                                  <a:solidFill>
                                    <a:srgbClr val="1306BA"/>
                                  </a:solidFill>
                                  <a:latin typeface="Cambria Math" panose="02040503050406030204" pitchFamily="18" charset="0"/>
                                </a:rPr>
                                <m:t>𝑅</m:t>
                              </m:r>
                              <m:d>
                                <m:dPr>
                                  <m:ctrlPr>
                                    <a:rPr lang="en-US" sz="2800" i="1">
                                      <a:latin typeface="Cambria Math" panose="02040503050406030204" pitchFamily="18" charset="0"/>
                                    </a:rPr>
                                  </m:ctrlPr>
                                </m:dPr>
                                <m:e>
                                  <m:r>
                                    <a:rPr lang="en-US" sz="2800" i="1">
                                      <a:solidFill>
                                        <a:srgbClr val="00B050"/>
                                      </a:solidFill>
                                      <a:latin typeface="Cambria Math" panose="02040503050406030204" pitchFamily="18" charset="0"/>
                                    </a:rPr>
                                    <m:t>𝑠</m:t>
                                  </m:r>
                                  <m:r>
                                    <a:rPr lang="en-US" sz="2800" i="1">
                                      <a:latin typeface="Cambria Math" panose="02040503050406030204" pitchFamily="18" charset="0"/>
                                    </a:rPr>
                                    <m:t>,</m:t>
                                  </m:r>
                                  <m:r>
                                    <a:rPr lang="en-US" sz="2800" i="1">
                                      <a:solidFill>
                                        <a:srgbClr val="7030A0"/>
                                      </a:solidFill>
                                      <a:latin typeface="Cambria Math" panose="02040503050406030204" pitchFamily="18" charset="0"/>
                                    </a:rPr>
                                    <m:t>𝑎</m:t>
                                  </m:r>
                                  <m:r>
                                    <a:rPr lang="en-US" sz="2800" i="1">
                                      <a:latin typeface="Cambria Math" panose="02040503050406030204" pitchFamily="18" charset="0"/>
                                    </a:rPr>
                                    <m:t>,</m:t>
                                  </m:r>
                                  <m:r>
                                    <a:rPr lang="en-US" sz="2800" i="1">
                                      <a:solidFill>
                                        <a:srgbClr val="00B050"/>
                                      </a:solidFill>
                                      <a:latin typeface="Cambria Math" panose="02040503050406030204" pitchFamily="18" charset="0"/>
                                    </a:rPr>
                                    <m:t>𝑠</m:t>
                                  </m:r>
                                  <m:r>
                                    <a:rPr lang="en-US" sz="2800" i="1">
                                      <a:latin typeface="Cambria Math" panose="02040503050406030204" pitchFamily="18" charset="0"/>
                                    </a:rPr>
                                    <m:t>′</m:t>
                                  </m:r>
                                </m:e>
                              </m:d>
                              <m:r>
                                <a:rPr lang="en-US" sz="2800" i="1">
                                  <a:latin typeface="Cambria Math" panose="02040503050406030204" pitchFamily="18" charset="0"/>
                                </a:rPr>
                                <m:t>+</m:t>
                              </m:r>
                              <m:r>
                                <a:rPr lang="en-US" sz="2800" i="1">
                                  <a:solidFill>
                                    <a:srgbClr val="00B0F0"/>
                                  </a:solidFill>
                                  <a:latin typeface="Cambria Math" panose="02040503050406030204" pitchFamily="18" charset="0"/>
                                </a:rPr>
                                <m:t>𝛾</m:t>
                              </m:r>
                              <m:sSup>
                                <m:sSupPr>
                                  <m:ctrlPr>
                                    <a:rPr lang="en-US" sz="2800" i="1" dirty="0">
                                      <a:latin typeface="Cambria Math" panose="02040503050406030204" pitchFamily="18" charset="0"/>
                                    </a:rPr>
                                  </m:ctrlPr>
                                </m:sSupPr>
                                <m:e>
                                  <m:r>
                                    <a:rPr lang="en-US" sz="2800" b="0" i="1" dirty="0" smtClean="0">
                                      <a:latin typeface="Cambria Math" panose="02040503050406030204" pitchFamily="18" charset="0"/>
                                    </a:rPr>
                                    <m:t>⋅</m:t>
                                  </m:r>
                                  <m:r>
                                    <a:rPr lang="en-US" sz="2800" i="1" dirty="0">
                                      <a:latin typeface="Cambria Math" panose="02040503050406030204" pitchFamily="18" charset="0"/>
                                    </a:rPr>
                                    <m:t>𝑉</m:t>
                                  </m:r>
                                </m:e>
                                <m:sup>
                                  <m:r>
                                    <a:rPr lang="en-US" sz="2800" b="1" i="1" dirty="0">
                                      <a:latin typeface="Cambria Math" panose="02040503050406030204" pitchFamily="18" charset="0"/>
                                    </a:rPr>
                                    <m:t>𝝅</m:t>
                                  </m:r>
                                  <m:r>
                                    <a:rPr lang="en-US" sz="2800" i="1" dirty="0">
                                      <a:latin typeface="Cambria Math" panose="02040503050406030204" pitchFamily="18" charset="0"/>
                                    </a:rPr>
                                    <m:t>(</m:t>
                                  </m:r>
                                  <m:sSup>
                                    <m:sSupPr>
                                      <m:ctrlPr>
                                        <a:rPr lang="en-US" sz="2800" i="1" dirty="0">
                                          <a:solidFill>
                                            <a:srgbClr val="00B050"/>
                                          </a:solidFill>
                                          <a:latin typeface="Cambria Math" panose="02040503050406030204" pitchFamily="18" charset="0"/>
                                        </a:rPr>
                                      </m:ctrlPr>
                                    </m:sSupPr>
                                    <m:e>
                                      <m:r>
                                        <a:rPr lang="en-US" sz="2800" i="1" dirty="0">
                                          <a:solidFill>
                                            <a:srgbClr val="00B050"/>
                                          </a:solidFill>
                                          <a:latin typeface="Cambria Math" panose="02040503050406030204" pitchFamily="18" charset="0"/>
                                        </a:rPr>
                                        <m:t>𝑠</m:t>
                                      </m:r>
                                    </m:e>
                                    <m:sup>
                                      <m:r>
                                        <a:rPr lang="en-US" sz="2800" i="1" dirty="0">
                                          <a:latin typeface="Cambria Math" panose="02040503050406030204" pitchFamily="18" charset="0"/>
                                        </a:rPr>
                                        <m:t>′</m:t>
                                      </m:r>
                                    </m:sup>
                                  </m:sSup>
                                  <m:r>
                                    <a:rPr lang="en-US" sz="2800" i="1" dirty="0">
                                      <a:latin typeface="Cambria Math" panose="02040503050406030204" pitchFamily="18" charset="0"/>
                                    </a:rPr>
                                    <m:t>)</m:t>
                                  </m:r>
                                </m:sup>
                              </m:sSup>
                            </m:e>
                          </m:d>
                        </m:e>
                      </m:nary>
                    </m:oMath>
                  </m:oMathPara>
                </a14:m>
                <a:endParaRPr lang="en-US" sz="2800" dirty="0"/>
              </a:p>
            </p:txBody>
          </p:sp>
        </mc:Choice>
        <mc:Fallback xmlns="">
          <p:sp>
            <p:nvSpPr>
              <p:cNvPr id="8" name="TextBox 7">
                <a:extLst>
                  <a:ext uri="{FF2B5EF4-FFF2-40B4-BE49-F238E27FC236}">
                    <a16:creationId xmlns:a16="http://schemas.microsoft.com/office/drawing/2014/main" id="{C10802EC-000E-3C73-5910-6D8D030CE28E}"/>
                  </a:ext>
                </a:extLst>
              </p:cNvPr>
              <p:cNvSpPr txBox="1">
                <a:spLocks noRot="1" noChangeAspect="1" noMove="1" noResize="1" noEditPoints="1" noAdjustHandles="1" noChangeArrowheads="1" noChangeShapeType="1" noTextEdit="1"/>
              </p:cNvSpPr>
              <p:nvPr/>
            </p:nvSpPr>
            <p:spPr>
              <a:xfrm>
                <a:off x="3858126" y="3724827"/>
                <a:ext cx="8181473" cy="1152751"/>
              </a:xfrm>
              <a:prstGeom prst="rect">
                <a:avLst/>
              </a:prstGeom>
              <a:blipFill>
                <a:blip r:embed="rId4"/>
                <a:stretch>
                  <a:fillRect/>
                </a:stretch>
              </a:blipFill>
              <a:ln>
                <a:noFill/>
              </a:ln>
            </p:spPr>
            <p:txBody>
              <a:bodyPr/>
              <a:lstStyle/>
              <a:p>
                <a:r>
                  <a:rPr lang="en-US">
                    <a:noFill/>
                  </a:rPr>
                  <a:t> </a:t>
                </a:r>
              </a:p>
            </p:txBody>
          </p:sp>
        </mc:Fallback>
      </mc:AlternateContent>
      <p:sp>
        <p:nvSpPr>
          <p:cNvPr id="11" name="TextBox 10">
            <a:extLst>
              <a:ext uri="{FF2B5EF4-FFF2-40B4-BE49-F238E27FC236}">
                <a16:creationId xmlns:a16="http://schemas.microsoft.com/office/drawing/2014/main" id="{CA749FCC-4F4D-BE4E-BEC3-855C6761C45C}"/>
              </a:ext>
            </a:extLst>
          </p:cNvPr>
          <p:cNvSpPr txBox="1"/>
          <p:nvPr/>
        </p:nvSpPr>
        <p:spPr>
          <a:xfrm>
            <a:off x="561472" y="3839537"/>
            <a:ext cx="3296654" cy="923330"/>
          </a:xfrm>
          <a:prstGeom prst="rect">
            <a:avLst/>
          </a:prstGeom>
          <a:noFill/>
          <a:ln>
            <a:noFill/>
          </a:ln>
        </p:spPr>
        <p:txBody>
          <a:bodyPr wrap="square">
            <a:spAutoFit/>
          </a:bodyPr>
          <a:lstStyle/>
          <a:p>
            <a:r>
              <a:rPr lang="en-US" dirty="0"/>
              <a:t>Action value equals the expected value of immediate reward plus discounted future value :</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D2C368E-9492-B98A-584C-0CCB84F09DFF}"/>
                  </a:ext>
                </a:extLst>
              </p:cNvPr>
              <p:cNvSpPr txBox="1"/>
              <p:nvPr/>
            </p:nvSpPr>
            <p:spPr>
              <a:xfrm>
                <a:off x="3114133" y="5118302"/>
                <a:ext cx="9077867" cy="1514967"/>
              </a:xfrm>
              <a:prstGeom prst="rect">
                <a:avLst/>
              </a:prstGeom>
              <a:noFill/>
              <a:ln>
                <a:solidFill>
                  <a:schemeClr val="bg2"/>
                </a:solidFill>
              </a:ln>
            </p:spPr>
            <p:txBody>
              <a:bodyPr wrap="square">
                <a:spAutoFit/>
              </a:bodyPr>
              <a:lstStyle/>
              <a:p>
                <a:pPr>
                  <a:buNone/>
                </a:pPr>
                <a:r>
                  <a:rPr lang="en-US" b="1" dirty="0"/>
                  <a:t>Intuition</a:t>
                </a:r>
                <a:r>
                  <a:rPr lang="en-US" dirty="0"/>
                  <a:t>:</a:t>
                </a:r>
              </a:p>
              <a:p>
                <a:pPr marL="512763" lvl="1" indent="-285750">
                  <a:buFont typeface="Arial" panose="020B0604020202020204" pitchFamily="34" charset="0"/>
                  <a:buChar char="•"/>
                </a:pPr>
                <a:r>
                  <a:rPr lang="en-US" dirty="0"/>
                  <a:t>Taking action </a:t>
                </a:r>
                <a14:m>
                  <m:oMath xmlns:m="http://schemas.openxmlformats.org/officeDocument/2006/math">
                    <m:r>
                      <a:rPr lang="en-US" i="1" dirty="0" smtClean="0">
                        <a:solidFill>
                          <a:srgbClr val="7030A0"/>
                        </a:solidFill>
                        <a:latin typeface="Cambria Math" panose="02040503050406030204" pitchFamily="18" charset="0"/>
                      </a:rPr>
                      <m:t>𝑎</m:t>
                    </m:r>
                  </m:oMath>
                </a14:m>
                <a:r>
                  <a:rPr lang="en-US" dirty="0"/>
                  <a:t> in state </a:t>
                </a:r>
                <a14:m>
                  <m:oMath xmlns:m="http://schemas.openxmlformats.org/officeDocument/2006/math">
                    <m:r>
                      <a:rPr lang="en-US" i="1" dirty="0" smtClean="0">
                        <a:solidFill>
                          <a:srgbClr val="00B050"/>
                        </a:solidFill>
                        <a:latin typeface="Cambria Math" panose="02040503050406030204" pitchFamily="18" charset="0"/>
                      </a:rPr>
                      <m:t>𝑠</m:t>
                    </m:r>
                  </m:oMath>
                </a14:m>
                <a:r>
                  <a:rPr lang="en-US" dirty="0"/>
                  <a:t> gets an immediate reward </a:t>
                </a:r>
                <a14:m>
                  <m:oMath xmlns:m="http://schemas.openxmlformats.org/officeDocument/2006/math">
                    <m:r>
                      <a:rPr lang="en-US" i="1">
                        <a:solidFill>
                          <a:srgbClr val="1306BA"/>
                        </a:solidFill>
                        <a:latin typeface="Cambria Math" panose="02040503050406030204" pitchFamily="18" charset="0"/>
                      </a:rPr>
                      <m:t>𝑅</m:t>
                    </m:r>
                    <m:d>
                      <m:dPr>
                        <m:ctrlPr>
                          <a:rPr lang="en-US" i="1">
                            <a:latin typeface="Cambria Math" panose="02040503050406030204" pitchFamily="18" charset="0"/>
                          </a:rPr>
                        </m:ctrlPr>
                      </m:dPr>
                      <m:e>
                        <m:r>
                          <a:rPr lang="en-US" i="1">
                            <a:solidFill>
                              <a:srgbClr val="00B050"/>
                            </a:solidFill>
                            <a:latin typeface="Cambria Math" panose="02040503050406030204" pitchFamily="18" charset="0"/>
                          </a:rPr>
                          <m:t>𝑠</m:t>
                        </m:r>
                        <m:r>
                          <a:rPr lang="en-US" i="1">
                            <a:latin typeface="Cambria Math" panose="02040503050406030204" pitchFamily="18" charset="0"/>
                          </a:rPr>
                          <m:t>,</m:t>
                        </m:r>
                        <m:r>
                          <a:rPr lang="en-US" i="1">
                            <a:solidFill>
                              <a:srgbClr val="7030A0"/>
                            </a:solidFill>
                            <a:latin typeface="Cambria Math" panose="02040503050406030204" pitchFamily="18" charset="0"/>
                          </a:rPr>
                          <m:t>𝑎</m:t>
                        </m:r>
                        <m:r>
                          <a:rPr lang="en-US" i="1">
                            <a:latin typeface="Cambria Math" panose="02040503050406030204" pitchFamily="18" charset="0"/>
                          </a:rPr>
                          <m:t>,</m:t>
                        </m:r>
                        <m:r>
                          <a:rPr lang="en-US" i="1">
                            <a:solidFill>
                              <a:srgbClr val="00B050"/>
                            </a:solidFill>
                            <a:latin typeface="Cambria Math" panose="02040503050406030204" pitchFamily="18" charset="0"/>
                          </a:rPr>
                          <m:t>𝑠</m:t>
                        </m:r>
                        <m:r>
                          <a:rPr lang="en-US" i="1">
                            <a:latin typeface="Cambria Math" panose="02040503050406030204" pitchFamily="18" charset="0"/>
                          </a:rPr>
                          <m:t>′</m:t>
                        </m:r>
                      </m:e>
                    </m:d>
                  </m:oMath>
                </a14:m>
                <a:r>
                  <a:rPr lang="en-US" dirty="0"/>
                  <a:t> when we transition to some next state </a:t>
                </a:r>
                <a14:m>
                  <m:oMath xmlns:m="http://schemas.openxmlformats.org/officeDocument/2006/math">
                    <m:r>
                      <a:rPr lang="en-US" i="1">
                        <a:solidFill>
                          <a:srgbClr val="00B050"/>
                        </a:solidFill>
                        <a:latin typeface="Cambria Math" panose="02040503050406030204" pitchFamily="18" charset="0"/>
                      </a:rPr>
                      <m:t>𝑠</m:t>
                    </m:r>
                    <m:r>
                      <a:rPr lang="en-US" i="1">
                        <a:latin typeface="Cambria Math" panose="02040503050406030204" pitchFamily="18" charset="0"/>
                      </a:rPr>
                      <m:t>′</m:t>
                    </m:r>
                  </m:oMath>
                </a14:m>
                <a:r>
                  <a:rPr lang="en-US" dirty="0"/>
                  <a:t> with probability </a:t>
                </a:r>
                <a14:m>
                  <m:oMath xmlns:m="http://schemas.openxmlformats.org/officeDocument/2006/math">
                    <m:r>
                      <a:rPr lang="en-US" i="1" dirty="0">
                        <a:latin typeface="Cambria Math" panose="02040503050406030204" pitchFamily="18" charset="0"/>
                      </a:rPr>
                      <m:t>𝑃</m:t>
                    </m:r>
                    <m:d>
                      <m:dPr>
                        <m:ctrlPr>
                          <a:rPr lang="en-US" i="1" dirty="0">
                            <a:latin typeface="Cambria Math" panose="02040503050406030204" pitchFamily="18" charset="0"/>
                          </a:rPr>
                        </m:ctrlPr>
                      </m:dPr>
                      <m:e>
                        <m:sSup>
                          <m:sSupPr>
                            <m:ctrlPr>
                              <a:rPr lang="en-US" i="1" dirty="0">
                                <a:latin typeface="Cambria Math" panose="02040503050406030204" pitchFamily="18" charset="0"/>
                              </a:rPr>
                            </m:ctrlPr>
                          </m:sSupPr>
                          <m:e>
                            <m:r>
                              <a:rPr lang="en-US" i="1" dirty="0">
                                <a:solidFill>
                                  <a:srgbClr val="00B050"/>
                                </a:solidFill>
                                <a:latin typeface="Cambria Math" panose="02040503050406030204" pitchFamily="18" charset="0"/>
                              </a:rPr>
                              <m:t>𝑠</m:t>
                            </m:r>
                          </m:e>
                          <m:sup>
                            <m:r>
                              <a:rPr lang="en-US" i="1" dirty="0">
                                <a:latin typeface="Cambria Math" panose="02040503050406030204" pitchFamily="18" charset="0"/>
                              </a:rPr>
                              <m:t>′</m:t>
                            </m:r>
                          </m:sup>
                        </m:sSup>
                        <m:r>
                          <a:rPr lang="en-US" i="1" dirty="0">
                            <a:latin typeface="Cambria Math" panose="02040503050406030204" pitchFamily="18" charset="0"/>
                          </a:rPr>
                          <m:t>∣</m:t>
                        </m:r>
                        <m:r>
                          <a:rPr lang="en-US" i="1" dirty="0">
                            <a:solidFill>
                              <a:srgbClr val="00B050"/>
                            </a:solidFill>
                            <a:latin typeface="Cambria Math" panose="02040503050406030204" pitchFamily="18" charset="0"/>
                          </a:rPr>
                          <m:t>𝑠</m:t>
                        </m:r>
                        <m:r>
                          <a:rPr lang="en-US" i="1" dirty="0">
                            <a:latin typeface="Cambria Math" panose="02040503050406030204" pitchFamily="18" charset="0"/>
                          </a:rPr>
                          <m:t>,</m:t>
                        </m:r>
                        <m:r>
                          <a:rPr lang="en-US" i="1" dirty="0">
                            <a:solidFill>
                              <a:srgbClr val="7030A0"/>
                            </a:solidFill>
                            <a:latin typeface="Cambria Math" panose="02040503050406030204" pitchFamily="18" charset="0"/>
                          </a:rPr>
                          <m:t>𝑎</m:t>
                        </m:r>
                      </m:e>
                    </m:d>
                  </m:oMath>
                </a14:m>
                <a:endParaRPr lang="en-US" dirty="0"/>
              </a:p>
              <a:p>
                <a:pPr marL="512763" lvl="1" indent="-285750">
                  <a:buFont typeface="Arial" panose="020B0604020202020204" pitchFamily="34" charset="0"/>
                  <a:buChar char="•"/>
                </a:pPr>
                <a:r>
                  <a:rPr lang="en-US" dirty="0"/>
                  <a:t>From </a:t>
                </a:r>
                <a14:m>
                  <m:oMath xmlns:m="http://schemas.openxmlformats.org/officeDocument/2006/math">
                    <m:r>
                      <a:rPr lang="en-US" i="1">
                        <a:solidFill>
                          <a:srgbClr val="00B050"/>
                        </a:solidFill>
                        <a:latin typeface="Cambria Math" panose="02040503050406030204" pitchFamily="18" charset="0"/>
                      </a:rPr>
                      <m:t>𝑠</m:t>
                    </m:r>
                    <m:r>
                      <a:rPr lang="en-US" i="1">
                        <a:latin typeface="Cambria Math" panose="02040503050406030204" pitchFamily="18" charset="0"/>
                      </a:rPr>
                      <m:t>′</m:t>
                    </m:r>
                  </m:oMath>
                </a14:m>
                <a:r>
                  <a:rPr lang="en-US" dirty="0"/>
                  <a:t>, we follow policy </a:t>
                </a:r>
                <a14:m>
                  <m:oMath xmlns:m="http://schemas.openxmlformats.org/officeDocument/2006/math">
                    <m:r>
                      <a:rPr lang="en-US" b="1" i="1" dirty="0" smtClean="0">
                        <a:latin typeface="Cambria Math" panose="02040503050406030204" pitchFamily="18" charset="0"/>
                      </a:rPr>
                      <m:t>𝝅</m:t>
                    </m:r>
                  </m:oMath>
                </a14:m>
                <a:r>
                  <a:rPr lang="en-US" dirty="0"/>
                  <a:t> and receive the expected value </a:t>
                </a:r>
                <a14:m>
                  <m:oMath xmlns:m="http://schemas.openxmlformats.org/officeDocument/2006/math">
                    <m:sSup>
                      <m:sSupPr>
                        <m:ctrlPr>
                          <a:rPr lang="en-US" i="1" dirty="0">
                            <a:latin typeface="Cambria Math" panose="02040503050406030204" pitchFamily="18" charset="0"/>
                          </a:rPr>
                        </m:ctrlPr>
                      </m:sSupPr>
                      <m:e>
                        <m:r>
                          <a:rPr lang="en-US" i="1" dirty="0">
                            <a:latin typeface="Cambria Math" panose="02040503050406030204" pitchFamily="18" charset="0"/>
                          </a:rPr>
                          <m:t>𝑉</m:t>
                        </m:r>
                      </m:e>
                      <m:sup>
                        <m:r>
                          <a:rPr lang="en-US" b="1" i="1" dirty="0">
                            <a:latin typeface="Cambria Math" panose="02040503050406030204" pitchFamily="18" charset="0"/>
                          </a:rPr>
                          <m:t>𝝅</m:t>
                        </m:r>
                        <m:r>
                          <a:rPr lang="en-US" i="1" dirty="0">
                            <a:latin typeface="Cambria Math" panose="02040503050406030204" pitchFamily="18" charset="0"/>
                          </a:rPr>
                          <m:t>(</m:t>
                        </m:r>
                        <m:sSup>
                          <m:sSupPr>
                            <m:ctrlPr>
                              <a:rPr lang="en-US" i="1" dirty="0">
                                <a:solidFill>
                                  <a:srgbClr val="00B050"/>
                                </a:solidFill>
                                <a:latin typeface="Cambria Math" panose="02040503050406030204" pitchFamily="18" charset="0"/>
                              </a:rPr>
                            </m:ctrlPr>
                          </m:sSupPr>
                          <m:e>
                            <m:r>
                              <a:rPr lang="en-US" i="1" dirty="0">
                                <a:solidFill>
                                  <a:srgbClr val="00B050"/>
                                </a:solidFill>
                                <a:latin typeface="Cambria Math" panose="02040503050406030204" pitchFamily="18" charset="0"/>
                              </a:rPr>
                              <m:t>𝑠</m:t>
                            </m:r>
                          </m:e>
                          <m:sup>
                            <m:r>
                              <a:rPr lang="en-US" i="1" dirty="0">
                                <a:latin typeface="Cambria Math" panose="02040503050406030204" pitchFamily="18" charset="0"/>
                              </a:rPr>
                              <m:t>′</m:t>
                            </m:r>
                          </m:sup>
                        </m:sSup>
                        <m:r>
                          <a:rPr lang="en-US" i="1" dirty="0">
                            <a:latin typeface="Cambria Math" panose="02040503050406030204" pitchFamily="18" charset="0"/>
                          </a:rPr>
                          <m:t>)</m:t>
                        </m:r>
                      </m:sup>
                    </m:sSup>
                  </m:oMath>
                </a14:m>
                <a:r>
                  <a:rPr lang="en-US" dirty="0"/>
                  <a:t> discounting by </a:t>
                </a:r>
                <a14:m>
                  <m:oMath xmlns:m="http://schemas.openxmlformats.org/officeDocument/2006/math">
                    <m:r>
                      <a:rPr lang="en-US" b="0" i="1" dirty="0" smtClean="0">
                        <a:solidFill>
                          <a:srgbClr val="00B0F0"/>
                        </a:solidFill>
                        <a:latin typeface="Cambria Math" panose="02040503050406030204" pitchFamily="18" charset="0"/>
                      </a:rPr>
                      <m:t>𝛾</m:t>
                    </m:r>
                  </m:oMath>
                </a14:m>
                <a:r>
                  <a:rPr lang="en-US" dirty="0"/>
                  <a:t>.</a:t>
                </a:r>
              </a:p>
              <a:p>
                <a:pPr marL="512763" lvl="1" indent="-285750">
                  <a:buFont typeface="Arial" panose="020B0604020202020204" pitchFamily="34" charset="0"/>
                  <a:buChar char="•"/>
                </a:pPr>
                <a:r>
                  <a:rPr lang="en-US" dirty="0"/>
                  <a:t>Last, we compute the probability-weighted sum over all possible next states </a:t>
                </a:r>
                <a14:m>
                  <m:oMath xmlns:m="http://schemas.openxmlformats.org/officeDocument/2006/math">
                    <m:r>
                      <a:rPr lang="en-US" i="1">
                        <a:solidFill>
                          <a:srgbClr val="00B050"/>
                        </a:solidFill>
                        <a:latin typeface="Cambria Math" panose="02040503050406030204" pitchFamily="18" charset="0"/>
                      </a:rPr>
                      <m:t>𝑠</m:t>
                    </m:r>
                    <m:r>
                      <a:rPr lang="en-US" i="1">
                        <a:latin typeface="Cambria Math" panose="02040503050406030204" pitchFamily="18" charset="0"/>
                      </a:rPr>
                      <m:t>′</m:t>
                    </m:r>
                  </m:oMath>
                </a14:m>
                <a:r>
                  <a:rPr lang="en-US" dirty="0"/>
                  <a:t>.</a:t>
                </a:r>
              </a:p>
            </p:txBody>
          </p:sp>
        </mc:Choice>
        <mc:Fallback xmlns="">
          <p:sp>
            <p:nvSpPr>
              <p:cNvPr id="13" name="TextBox 12">
                <a:extLst>
                  <a:ext uri="{FF2B5EF4-FFF2-40B4-BE49-F238E27FC236}">
                    <a16:creationId xmlns:a16="http://schemas.microsoft.com/office/drawing/2014/main" id="{0D2C368E-9492-B98A-584C-0CCB84F09DFF}"/>
                  </a:ext>
                </a:extLst>
              </p:cNvPr>
              <p:cNvSpPr txBox="1">
                <a:spLocks noRot="1" noChangeAspect="1" noMove="1" noResize="1" noEditPoints="1" noAdjustHandles="1" noChangeArrowheads="1" noChangeShapeType="1" noTextEdit="1"/>
              </p:cNvSpPr>
              <p:nvPr/>
            </p:nvSpPr>
            <p:spPr>
              <a:xfrm>
                <a:off x="3114133" y="5118302"/>
                <a:ext cx="9077867" cy="1514967"/>
              </a:xfrm>
              <a:prstGeom prst="rect">
                <a:avLst/>
              </a:prstGeom>
              <a:blipFill>
                <a:blip r:embed="rId5"/>
                <a:stretch>
                  <a:fillRect l="-537" t="-2000" b="-5200"/>
                </a:stretch>
              </a:blipFill>
              <a:ln>
                <a:solidFill>
                  <a:schemeClr val="bg2"/>
                </a:solidFill>
              </a:ln>
            </p:spPr>
            <p:txBody>
              <a:bodyPr/>
              <a:lstStyle/>
              <a:p>
                <a:r>
                  <a:rPr lang="en-US">
                    <a:noFill/>
                  </a:rPr>
                  <a:t> </a:t>
                </a:r>
              </a:p>
            </p:txBody>
          </p:sp>
        </mc:Fallback>
      </mc:AlternateContent>
    </p:spTree>
    <p:extLst>
      <p:ext uri="{BB962C8B-B14F-4D97-AF65-F5344CB8AC3E}">
        <p14:creationId xmlns:p14="http://schemas.microsoft.com/office/powerpoint/2010/main" val="2989963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16913-9078-74F0-D732-01C5D443CD4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39383D-090F-C6F2-BE3A-BB783DE79D21}"/>
              </a:ext>
            </a:extLst>
          </p:cNvPr>
          <p:cNvSpPr>
            <a:spLocks noGrp="1"/>
          </p:cNvSpPr>
          <p:nvPr>
            <p:ph idx="1"/>
          </p:nvPr>
        </p:nvSpPr>
        <p:spPr>
          <a:xfrm>
            <a:off x="6972300" y="2225675"/>
            <a:ext cx="6978650" cy="4351338"/>
          </a:xfrm>
        </p:spPr>
        <p:txBody>
          <a:bodyPr>
            <a:normAutofit fontScale="62500" lnSpcReduction="20000"/>
          </a:bodyPr>
          <a:lstStyle/>
          <a:p>
            <a:pPr marL="0" indent="0">
              <a:buNone/>
            </a:pPr>
            <a:r>
              <a:rPr i="1" dirty="0"/>
              <a:t>We need to define what “best” means and how to measure the quality of different strategies…</a:t>
            </a:r>
          </a:p>
          <a:p>
            <a:pPr marL="0" indent="0">
              <a:buNone/>
            </a:pPr>
            <a:r>
              <a:rPr b="1" dirty="0"/>
              <a:t>Why are value functions essential?</a:t>
            </a:r>
            <a:r>
              <a:rPr dirty="0"/>
              <a:t> - They tell us how good each state (or state-action) is - Enable comparison between different policies - Foundation for RL algorithms</a:t>
            </a:r>
          </a:p>
          <a:p>
            <a:pPr marL="0" indent="0">
              <a:spcBef>
                <a:spcPts val="3000"/>
              </a:spcBef>
              <a:buNone/>
            </a:pPr>
            <a:r>
              <a:rPr b="1" dirty="0"/>
              <a:t>Policy π</a:t>
            </a:r>
          </a:p>
          <a:p>
            <a:pPr lvl="1"/>
            <a:r>
              <a:rPr b="1" dirty="0"/>
              <a:t>Deterministic</a:t>
            </a:r>
            <a:r>
              <a:rPr dirty="0"/>
              <a:t>: π(s) → a</a:t>
            </a:r>
          </a:p>
          <a:p>
            <a:pPr lvl="1"/>
            <a:r>
              <a:rPr b="1" dirty="0"/>
              <a:t>Stochastic</a:t>
            </a:r>
            <a:r>
              <a:rPr dirty="0"/>
              <a:t>: π(</a:t>
            </a:r>
            <a:r>
              <a:rPr dirty="0" err="1"/>
              <a:t>a|s</a:t>
            </a:r>
            <a:r>
              <a:rPr dirty="0"/>
              <a:t>) → probability of action a in state s</a:t>
            </a:r>
          </a:p>
          <a:p>
            <a:pPr marL="0" indent="0">
              <a:spcBef>
                <a:spcPts val="3000"/>
              </a:spcBef>
              <a:buNone/>
            </a:pPr>
            <a:r>
              <a:rPr b="1" dirty="0"/>
              <a:t>State Value Function V^π(s)</a:t>
            </a:r>
          </a:p>
          <a:p>
            <a:pPr lvl="1"/>
            <a:r>
              <a:rPr dirty="0"/>
              <a:t>Expected cumulative reward from state s following policy π</a:t>
            </a:r>
          </a:p>
          <a:p>
            <a:pPr lvl="1"/>
            <a:r>
              <a:rPr dirty="0"/>
              <a:t>V^π(s) = E[</a:t>
            </a:r>
            <a:r>
              <a:rPr dirty="0" err="1"/>
              <a:t>R_t</a:t>
            </a:r>
            <a:r>
              <a:rPr dirty="0"/>
              <a:t> + </a:t>
            </a:r>
            <a:r>
              <a:rPr dirty="0" err="1"/>
              <a:t>γR</a:t>
            </a:r>
            <a:r>
              <a:rPr dirty="0"/>
              <a:t>_{t+1} + γ²R_{t+2} + … | </a:t>
            </a:r>
            <a:r>
              <a:rPr dirty="0" err="1"/>
              <a:t>S_t</a:t>
            </a:r>
            <a:r>
              <a:rPr dirty="0"/>
              <a:t> = s, π]</a:t>
            </a:r>
          </a:p>
          <a:p>
            <a:pPr marL="0" indent="0">
              <a:spcBef>
                <a:spcPts val="3000"/>
              </a:spcBef>
              <a:buNone/>
            </a:pPr>
            <a:r>
              <a:rPr b="1" dirty="0"/>
              <a:t>Action Value Function Q^π(</a:t>
            </a:r>
            <a:r>
              <a:rPr b="1" dirty="0" err="1"/>
              <a:t>s,a</a:t>
            </a:r>
            <a:r>
              <a:rPr b="1" dirty="0"/>
              <a:t>)</a:t>
            </a:r>
          </a:p>
          <a:p>
            <a:pPr lvl="1"/>
            <a:r>
              <a:rPr dirty="0"/>
              <a:t>Expected cumulative reward from taking action a in state s, then following π</a:t>
            </a:r>
          </a:p>
          <a:p>
            <a:pPr lvl="1"/>
            <a:r>
              <a:rPr dirty="0"/>
              <a:t>Q^π(</a:t>
            </a:r>
            <a:r>
              <a:rPr dirty="0" err="1"/>
              <a:t>s,a</a:t>
            </a:r>
            <a:r>
              <a:rPr dirty="0"/>
              <a:t>) = E[</a:t>
            </a:r>
            <a:r>
              <a:rPr dirty="0" err="1"/>
              <a:t>R_t</a:t>
            </a:r>
            <a:r>
              <a:rPr dirty="0"/>
              <a:t> + </a:t>
            </a:r>
            <a:r>
              <a:rPr dirty="0" err="1"/>
              <a:t>γR</a:t>
            </a:r>
            <a:r>
              <a:rPr dirty="0"/>
              <a:t>_{t+1} + γ²R_{t+2} + … | </a:t>
            </a:r>
            <a:r>
              <a:rPr dirty="0" err="1"/>
              <a:t>S_t</a:t>
            </a:r>
            <a:r>
              <a:rPr dirty="0"/>
              <a:t> = s, </a:t>
            </a:r>
            <a:r>
              <a:rPr dirty="0" err="1"/>
              <a:t>A_t</a:t>
            </a:r>
            <a:r>
              <a:rPr dirty="0"/>
              <a:t> = a, π]</a:t>
            </a:r>
          </a:p>
        </p:txBody>
      </p:sp>
      <p:sp>
        <p:nvSpPr>
          <p:cNvPr id="4" name="Title 12">
            <a:extLst>
              <a:ext uri="{FF2B5EF4-FFF2-40B4-BE49-F238E27FC236}">
                <a16:creationId xmlns:a16="http://schemas.microsoft.com/office/drawing/2014/main" id="{E3BD2A96-198C-28C3-0DE3-ED73625C0A28}"/>
              </a:ext>
            </a:extLst>
          </p:cNvPr>
          <p:cNvSpPr txBox="1">
            <a:spLocks/>
          </p:cNvSpPr>
          <p:nvPr/>
        </p:nvSpPr>
        <p:spPr>
          <a:xfrm>
            <a:off x="471489" y="69597"/>
            <a:ext cx="11153622" cy="565671"/>
          </a:xfrm>
          <a:prstGeom prst="rect">
            <a:avLst/>
          </a:prstGeom>
          <a:ln>
            <a:noFill/>
          </a:ln>
        </p:spPr>
        <p:txBody>
          <a:bodyPr vert="horz" lIns="91440" tIns="45720" rIns="91440" bIns="45720" rtlCol="0" anchor="ctr">
            <a:noAutofit/>
          </a:bodyPr>
          <a:lst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a:lstStyle>
          <a:p>
            <a:pPr algn="ctr"/>
            <a:r>
              <a:rPr lang="en-US" sz="3600" dirty="0"/>
              <a:t>Value Functions</a:t>
            </a:r>
          </a:p>
        </p:txBody>
      </p:sp>
      <p:sp>
        <p:nvSpPr>
          <p:cNvPr id="10" name="TextBox 9">
            <a:extLst>
              <a:ext uri="{FF2B5EF4-FFF2-40B4-BE49-F238E27FC236}">
                <a16:creationId xmlns:a16="http://schemas.microsoft.com/office/drawing/2014/main" id="{C7D8D11E-A825-36B7-A8F8-BC3D6CF4335F}"/>
              </a:ext>
            </a:extLst>
          </p:cNvPr>
          <p:cNvSpPr txBox="1"/>
          <p:nvPr/>
        </p:nvSpPr>
        <p:spPr>
          <a:xfrm>
            <a:off x="762000" y="4502765"/>
            <a:ext cx="4178300" cy="1200329"/>
          </a:xfrm>
          <a:prstGeom prst="rect">
            <a:avLst/>
          </a:prstGeom>
          <a:noFill/>
          <a:ln>
            <a:solidFill>
              <a:schemeClr val="bg2"/>
            </a:solidFill>
          </a:ln>
        </p:spPr>
        <p:txBody>
          <a:bodyPr wrap="square">
            <a:spAutoFit/>
          </a:bodyPr>
          <a:lstStyle/>
          <a:p>
            <a:r>
              <a:rPr lang="en-US" dirty="0"/>
              <a:t>The </a:t>
            </a:r>
            <a:r>
              <a:rPr lang="en-US" b="1" dirty="0"/>
              <a:t>value</a:t>
            </a:r>
            <a:r>
              <a:rPr lang="en-US" dirty="0"/>
              <a:t> in "value function" refers to the </a:t>
            </a:r>
            <a:r>
              <a:rPr lang="en-US" b="1" dirty="0"/>
              <a:t>expected future reward</a:t>
            </a:r>
            <a:r>
              <a:rPr lang="en-US" dirty="0"/>
              <a:t> - essentially asking "How good is it to be in this situation?"</a:t>
            </a:r>
          </a:p>
        </p:txBody>
      </p:sp>
      <p:sp>
        <p:nvSpPr>
          <p:cNvPr id="5" name="TextBox 4">
            <a:extLst>
              <a:ext uri="{FF2B5EF4-FFF2-40B4-BE49-F238E27FC236}">
                <a16:creationId xmlns:a16="http://schemas.microsoft.com/office/drawing/2014/main" id="{EEE0FBF8-EB9A-7E99-D0FD-06032E1081D8}"/>
              </a:ext>
            </a:extLst>
          </p:cNvPr>
          <p:cNvSpPr txBox="1"/>
          <p:nvPr/>
        </p:nvSpPr>
        <p:spPr>
          <a:xfrm>
            <a:off x="929004" y="831740"/>
            <a:ext cx="9477376" cy="369332"/>
          </a:xfrm>
          <a:prstGeom prst="rect">
            <a:avLst/>
          </a:prstGeom>
          <a:noFill/>
          <a:ln>
            <a:noFill/>
          </a:ln>
        </p:spPr>
        <p:txBody>
          <a:bodyPr wrap="square">
            <a:spAutoFit/>
          </a:bodyPr>
          <a:lstStyle/>
          <a:p>
            <a:r>
              <a:rPr lang="en-US" dirty="0"/>
              <a:t>Similarly, in RL we want to know: “How good is this state for achieving high rewards in the future?”</a:t>
            </a:r>
          </a:p>
        </p:txBody>
      </p:sp>
      <p:pic>
        <p:nvPicPr>
          <p:cNvPr id="2052" name="Picture 4">
            <a:extLst>
              <a:ext uri="{FF2B5EF4-FFF2-40B4-BE49-F238E27FC236}">
                <a16:creationId xmlns:a16="http://schemas.microsoft.com/office/drawing/2014/main" id="{F22E69E4-E98E-413A-4591-7F90400C4AF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795" t="5806" r="3036" b="5580"/>
          <a:stretch>
            <a:fillRect/>
          </a:stretch>
        </p:blipFill>
        <p:spPr bwMode="auto">
          <a:xfrm>
            <a:off x="1066800" y="1429246"/>
            <a:ext cx="3741420" cy="284534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Table 8">
            <a:extLst>
              <a:ext uri="{FF2B5EF4-FFF2-40B4-BE49-F238E27FC236}">
                <a16:creationId xmlns:a16="http://schemas.microsoft.com/office/drawing/2014/main" id="{03E58D71-BAF2-A11D-096C-027FB7B3A05F}"/>
              </a:ext>
            </a:extLst>
          </p:cNvPr>
          <p:cNvGraphicFramePr>
            <a:graphicFrameLocks noGrp="1"/>
          </p:cNvGraphicFramePr>
          <p:nvPr/>
        </p:nvGraphicFramePr>
        <p:xfrm>
          <a:off x="1143000" y="1501141"/>
          <a:ext cx="3573780" cy="2674620"/>
        </p:xfrm>
        <a:graphic>
          <a:graphicData uri="http://schemas.openxmlformats.org/drawingml/2006/table">
            <a:tbl>
              <a:tblPr firstRow="1" bandRow="1">
                <a:tableStyleId>{2D5ABB26-0587-4C30-8999-92F81FD0307C}</a:tableStyleId>
              </a:tblPr>
              <a:tblGrid>
                <a:gridCol w="893445">
                  <a:extLst>
                    <a:ext uri="{9D8B030D-6E8A-4147-A177-3AD203B41FA5}">
                      <a16:colId xmlns:a16="http://schemas.microsoft.com/office/drawing/2014/main" val="2768816516"/>
                    </a:ext>
                  </a:extLst>
                </a:gridCol>
                <a:gridCol w="893445">
                  <a:extLst>
                    <a:ext uri="{9D8B030D-6E8A-4147-A177-3AD203B41FA5}">
                      <a16:colId xmlns:a16="http://schemas.microsoft.com/office/drawing/2014/main" val="2604837755"/>
                    </a:ext>
                  </a:extLst>
                </a:gridCol>
                <a:gridCol w="893445">
                  <a:extLst>
                    <a:ext uri="{9D8B030D-6E8A-4147-A177-3AD203B41FA5}">
                      <a16:colId xmlns:a16="http://schemas.microsoft.com/office/drawing/2014/main" val="2893518011"/>
                    </a:ext>
                  </a:extLst>
                </a:gridCol>
                <a:gridCol w="893445">
                  <a:extLst>
                    <a:ext uri="{9D8B030D-6E8A-4147-A177-3AD203B41FA5}">
                      <a16:colId xmlns:a16="http://schemas.microsoft.com/office/drawing/2014/main" val="207340184"/>
                    </a:ext>
                  </a:extLst>
                </a:gridCol>
              </a:tblGrid>
              <a:tr h="891540">
                <a:tc>
                  <a:txBody>
                    <a:bodyPr/>
                    <a:lstStyle/>
                    <a:p>
                      <a:pPr algn="ctr"/>
                      <a:endParaRPr lang="en-US" b="1" dirty="0"/>
                    </a:p>
                    <a:p>
                      <a:pPr algn="ctr"/>
                      <a:r>
                        <a:rPr lang="en-US" b="1" dirty="0"/>
                        <a:t>2.3</a:t>
                      </a:r>
                    </a:p>
                  </a:txBody>
                  <a:tcPr/>
                </a:tc>
                <a:tc>
                  <a:txBody>
                    <a:bodyPr/>
                    <a:lstStyle/>
                    <a:p>
                      <a:pPr algn="ctr"/>
                      <a:endParaRPr lang="en-US" b="1" dirty="0"/>
                    </a:p>
                    <a:p>
                      <a:pPr algn="ctr"/>
                      <a:r>
                        <a:rPr lang="en-US" b="1" dirty="0"/>
                        <a:t>3.1</a:t>
                      </a:r>
                    </a:p>
                  </a:txBody>
                  <a:tcPr/>
                </a:tc>
                <a:tc>
                  <a:txBody>
                    <a:bodyPr/>
                    <a:lstStyle/>
                    <a:p>
                      <a:pPr algn="ctr"/>
                      <a:endParaRPr lang="en-US" b="1" dirty="0"/>
                    </a:p>
                    <a:p>
                      <a:pPr algn="ctr"/>
                      <a:r>
                        <a:rPr lang="en-US" b="1" dirty="0"/>
                        <a:t>4.2</a:t>
                      </a:r>
                    </a:p>
                  </a:txBody>
                  <a:tcPr/>
                </a:tc>
                <a:tc>
                  <a:txBody>
                    <a:bodyPr/>
                    <a:lstStyle/>
                    <a:p>
                      <a:pPr algn="ctr"/>
                      <a:endParaRPr lang="en-US" b="1" dirty="0"/>
                    </a:p>
                    <a:p>
                      <a:pPr algn="ctr"/>
                      <a:r>
                        <a:rPr lang="en-US" b="1" dirty="0"/>
                        <a:t>1</a:t>
                      </a:r>
                    </a:p>
                  </a:txBody>
                  <a:tcPr/>
                </a:tc>
                <a:extLst>
                  <a:ext uri="{0D108BD9-81ED-4DB2-BD59-A6C34878D82A}">
                    <a16:rowId xmlns:a16="http://schemas.microsoft.com/office/drawing/2014/main" val="468062442"/>
                  </a:ext>
                </a:extLst>
              </a:tr>
              <a:tr h="891540">
                <a:tc>
                  <a:txBody>
                    <a:bodyPr/>
                    <a:lstStyle/>
                    <a:p>
                      <a:pPr algn="ctr"/>
                      <a:endParaRPr lang="en-US" b="1" dirty="0"/>
                    </a:p>
                    <a:p>
                      <a:pPr algn="ctr"/>
                      <a:r>
                        <a:rPr lang="en-US" b="1" dirty="0"/>
                        <a:t>1.8</a:t>
                      </a:r>
                    </a:p>
                  </a:txBody>
                  <a:tcPr/>
                </a:tc>
                <a:tc>
                  <a:txBody>
                    <a:bodyPr/>
                    <a:lstStyle/>
                    <a:p>
                      <a:pPr algn="ctr"/>
                      <a:endParaRPr lang="en-US" b="1" dirty="0"/>
                    </a:p>
                    <a:p>
                      <a:pPr algn="ctr"/>
                      <a:r>
                        <a:rPr lang="en-US" b="1" dirty="0"/>
                        <a:t>X</a:t>
                      </a:r>
                    </a:p>
                  </a:txBody>
                  <a:tcPr/>
                </a:tc>
                <a:tc>
                  <a:txBody>
                    <a:bodyPr/>
                    <a:lstStyle/>
                    <a:p>
                      <a:pPr algn="ctr"/>
                      <a:endParaRPr lang="en-US" b="1" dirty="0"/>
                    </a:p>
                    <a:p>
                      <a:pPr algn="ctr"/>
                      <a:r>
                        <a:rPr lang="en-US" b="1" dirty="0"/>
                        <a:t>2.9</a:t>
                      </a:r>
                    </a:p>
                  </a:txBody>
                  <a:tcPr/>
                </a:tc>
                <a:tc>
                  <a:txBody>
                    <a:bodyPr/>
                    <a:lstStyle/>
                    <a:p>
                      <a:pPr algn="ctr"/>
                      <a:endParaRPr lang="en-US" b="1" dirty="0"/>
                    </a:p>
                    <a:p>
                      <a:pPr algn="ctr"/>
                      <a:r>
                        <a:rPr lang="en-US" b="1" dirty="0"/>
                        <a:t>-1</a:t>
                      </a:r>
                    </a:p>
                  </a:txBody>
                  <a:tcPr/>
                </a:tc>
                <a:extLst>
                  <a:ext uri="{0D108BD9-81ED-4DB2-BD59-A6C34878D82A}">
                    <a16:rowId xmlns:a16="http://schemas.microsoft.com/office/drawing/2014/main" val="3593124290"/>
                  </a:ext>
                </a:extLst>
              </a:tr>
              <a:tr h="891540">
                <a:tc>
                  <a:txBody>
                    <a:bodyPr/>
                    <a:lstStyle/>
                    <a:p>
                      <a:pPr algn="ctr"/>
                      <a:endParaRPr lang="en-US" b="1" dirty="0"/>
                    </a:p>
                    <a:p>
                      <a:pPr algn="ctr"/>
                      <a:r>
                        <a:rPr lang="en-US" b="1" dirty="0"/>
                        <a:t>S</a:t>
                      </a:r>
                    </a:p>
                  </a:txBody>
                  <a:tcPr/>
                </a:tc>
                <a:tc>
                  <a:txBody>
                    <a:bodyPr/>
                    <a:lstStyle/>
                    <a:p>
                      <a:pPr algn="ctr"/>
                      <a:endParaRPr lang="en-US" b="1" dirty="0"/>
                    </a:p>
                    <a:p>
                      <a:pPr algn="ctr"/>
                      <a:r>
                        <a:rPr lang="en-US" b="1" dirty="0"/>
                        <a:t>1.2</a:t>
                      </a:r>
                    </a:p>
                  </a:txBody>
                  <a:tcPr/>
                </a:tc>
                <a:tc>
                  <a:txBody>
                    <a:bodyPr/>
                    <a:lstStyle/>
                    <a:p>
                      <a:pPr algn="ctr"/>
                      <a:endParaRPr lang="en-US" b="1" dirty="0"/>
                    </a:p>
                    <a:p>
                      <a:pPr algn="ctr"/>
                      <a:r>
                        <a:rPr lang="en-US" b="1" dirty="0"/>
                        <a:t>2.1</a:t>
                      </a:r>
                    </a:p>
                  </a:txBody>
                  <a:tcPr/>
                </a:tc>
                <a:tc>
                  <a:txBody>
                    <a:bodyPr/>
                    <a:lstStyle/>
                    <a:p>
                      <a:pPr algn="ctr"/>
                      <a:endParaRPr lang="en-US" b="1" dirty="0"/>
                    </a:p>
                    <a:p>
                      <a:pPr algn="ctr"/>
                      <a:r>
                        <a:rPr lang="en-US" b="1" dirty="0"/>
                        <a:t>2.5</a:t>
                      </a:r>
                    </a:p>
                  </a:txBody>
                  <a:tcPr/>
                </a:tc>
                <a:extLst>
                  <a:ext uri="{0D108BD9-81ED-4DB2-BD59-A6C34878D82A}">
                    <a16:rowId xmlns:a16="http://schemas.microsoft.com/office/drawing/2014/main" val="3285542050"/>
                  </a:ext>
                </a:extLst>
              </a:tr>
            </a:tbl>
          </a:graphicData>
        </a:graphic>
      </p:graphicFrame>
    </p:spTree>
    <p:extLst>
      <p:ext uri="{BB962C8B-B14F-4D97-AF65-F5344CB8AC3E}">
        <p14:creationId xmlns:p14="http://schemas.microsoft.com/office/powerpoint/2010/main" val="108231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52976" y="4106779"/>
            <a:ext cx="9791700" cy="4351338"/>
          </a:xfrm>
        </p:spPr>
        <p:txBody>
          <a:bodyPr>
            <a:normAutofit/>
          </a:bodyPr>
          <a:lstStyle/>
          <a:p>
            <a:pPr marL="0" indent="0">
              <a:spcBef>
                <a:spcPts val="3000"/>
              </a:spcBef>
              <a:buNone/>
            </a:pPr>
            <a:r>
              <a:rPr b="1" dirty="0"/>
              <a:t>State Value Bellman Equation</a:t>
            </a:r>
          </a:p>
          <a:p>
            <a:pPr marL="0" indent="0">
              <a:buNone/>
            </a:pPr>
            <a:r>
              <a:rPr dirty="0"/>
              <a:t>V^π(s) = </a:t>
            </a:r>
            <a:r>
              <a:rPr dirty="0" err="1"/>
              <a:t>Σ_a</a:t>
            </a:r>
            <a:r>
              <a:rPr dirty="0"/>
              <a:t> π(</a:t>
            </a:r>
            <a:r>
              <a:rPr dirty="0" err="1"/>
              <a:t>a|s</a:t>
            </a:r>
            <a:r>
              <a:rPr dirty="0"/>
              <a:t>) Σ_{s’} P(s’|</a:t>
            </a:r>
            <a:r>
              <a:rPr dirty="0" err="1"/>
              <a:t>s,a</a:t>
            </a:r>
            <a:r>
              <a:rPr dirty="0"/>
              <a:t>) [R(</a:t>
            </a:r>
            <a:r>
              <a:rPr dirty="0" err="1"/>
              <a:t>s,a,s</a:t>
            </a:r>
            <a:r>
              <a:rPr dirty="0"/>
              <a:t>’) + </a:t>
            </a:r>
            <a:r>
              <a:rPr dirty="0" err="1"/>
              <a:t>γV</a:t>
            </a:r>
            <a:r>
              <a:rPr dirty="0"/>
              <a:t>^π(s’)]</a:t>
            </a:r>
          </a:p>
          <a:p>
            <a:pPr marL="0" indent="0">
              <a:spcBef>
                <a:spcPts val="3000"/>
              </a:spcBef>
              <a:buNone/>
            </a:pPr>
            <a:r>
              <a:rPr b="1" dirty="0"/>
              <a:t>Action Value Bellman Equation</a:t>
            </a:r>
          </a:p>
          <a:p>
            <a:pPr marL="0" indent="0">
              <a:buNone/>
            </a:pPr>
            <a:r>
              <a:rPr dirty="0"/>
              <a:t>Q^π(</a:t>
            </a:r>
            <a:r>
              <a:rPr dirty="0" err="1"/>
              <a:t>s,a</a:t>
            </a:r>
            <a:r>
              <a:rPr dirty="0"/>
              <a:t>) = Σ_{s’} P(s’|</a:t>
            </a:r>
            <a:r>
              <a:rPr dirty="0" err="1"/>
              <a:t>s,a</a:t>
            </a:r>
            <a:r>
              <a:rPr dirty="0"/>
              <a:t>) [R(</a:t>
            </a:r>
            <a:r>
              <a:rPr dirty="0" err="1"/>
              <a:t>s,a,s</a:t>
            </a:r>
            <a:r>
              <a:rPr dirty="0"/>
              <a:t>’) + </a:t>
            </a:r>
            <a:r>
              <a:rPr dirty="0" err="1"/>
              <a:t>γΣ</a:t>
            </a:r>
            <a:r>
              <a:rPr dirty="0"/>
              <a:t>_{a’} π(</a:t>
            </a:r>
            <a:r>
              <a:rPr dirty="0" err="1"/>
              <a:t>a’|s</a:t>
            </a:r>
            <a:r>
              <a:rPr dirty="0"/>
              <a:t>’)Q^π(</a:t>
            </a:r>
            <a:r>
              <a:rPr dirty="0" err="1"/>
              <a:t>s’,a</a:t>
            </a:r>
            <a:r>
              <a:rPr dirty="0"/>
              <a:t>’)]</a:t>
            </a:r>
          </a:p>
          <a:p>
            <a:pPr marL="0" indent="0">
              <a:spcBef>
                <a:spcPts val="3000"/>
              </a:spcBef>
              <a:buNone/>
            </a:pPr>
            <a:r>
              <a:rPr b="1" dirty="0"/>
              <a:t>Bellman Optimality Equations</a:t>
            </a:r>
          </a:p>
          <a:p>
            <a:pPr marL="0" indent="0">
              <a:buNone/>
            </a:pPr>
            <a:r>
              <a:rPr dirty="0"/>
              <a:t>V*(s) = </a:t>
            </a:r>
            <a:r>
              <a:rPr dirty="0" err="1"/>
              <a:t>max_a</a:t>
            </a:r>
            <a:r>
              <a:rPr dirty="0"/>
              <a:t> Σ_{s’} P(s’|</a:t>
            </a:r>
            <a:r>
              <a:rPr dirty="0" err="1"/>
              <a:t>s,a</a:t>
            </a:r>
            <a:r>
              <a:rPr dirty="0"/>
              <a:t>) [R(</a:t>
            </a:r>
            <a:r>
              <a:rPr dirty="0" err="1"/>
              <a:t>s,a,s</a:t>
            </a:r>
            <a:r>
              <a:rPr dirty="0"/>
              <a:t>’) + </a:t>
            </a:r>
            <a:r>
              <a:rPr dirty="0" err="1"/>
              <a:t>γV</a:t>
            </a:r>
            <a:r>
              <a:rPr dirty="0"/>
              <a:t>*(s’)]</a:t>
            </a:r>
          </a:p>
          <a:p>
            <a:pPr marL="0" indent="0">
              <a:buNone/>
            </a:pPr>
            <a:r>
              <a:rPr dirty="0"/>
              <a:t>Q*(</a:t>
            </a:r>
            <a:r>
              <a:rPr dirty="0" err="1"/>
              <a:t>s,a</a:t>
            </a:r>
            <a:r>
              <a:rPr dirty="0"/>
              <a:t>) = Σ_{s’} P(s’|</a:t>
            </a:r>
            <a:r>
              <a:rPr dirty="0" err="1"/>
              <a:t>s,a</a:t>
            </a:r>
            <a:r>
              <a:rPr dirty="0"/>
              <a:t>) [R(</a:t>
            </a:r>
            <a:r>
              <a:rPr dirty="0" err="1"/>
              <a:t>s,a,s</a:t>
            </a:r>
            <a:r>
              <a:rPr dirty="0"/>
              <a:t>’) + γ max_{a’} Q*(</a:t>
            </a:r>
            <a:r>
              <a:rPr dirty="0" err="1"/>
              <a:t>s’,a</a:t>
            </a:r>
            <a:r>
              <a:rPr dirty="0"/>
              <a:t>’)]</a:t>
            </a:r>
          </a:p>
        </p:txBody>
      </p:sp>
      <p:sp>
        <p:nvSpPr>
          <p:cNvPr id="4" name="Title 12">
            <a:extLst>
              <a:ext uri="{FF2B5EF4-FFF2-40B4-BE49-F238E27FC236}">
                <a16:creationId xmlns:a16="http://schemas.microsoft.com/office/drawing/2014/main" id="{60AB6023-E888-6843-9EE9-BAF58088B047}"/>
              </a:ext>
            </a:extLst>
          </p:cNvPr>
          <p:cNvSpPr txBox="1">
            <a:spLocks/>
          </p:cNvSpPr>
          <p:nvPr/>
        </p:nvSpPr>
        <p:spPr>
          <a:xfrm>
            <a:off x="471489" y="69597"/>
            <a:ext cx="11153622" cy="565671"/>
          </a:xfrm>
          <a:prstGeom prst="rect">
            <a:avLst/>
          </a:prstGeom>
          <a:ln>
            <a:noFill/>
          </a:ln>
        </p:spPr>
        <p:txBody>
          <a:bodyPr vert="horz" lIns="91440" tIns="45720" rIns="91440" bIns="45720" rtlCol="0" anchor="ctr">
            <a:noAutofit/>
          </a:bodyPr>
          <a:lst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a:lstStyle>
          <a:p>
            <a:pPr algn="ctr"/>
            <a:r>
              <a:rPr lang="en-US" sz="3600" dirty="0"/>
              <a:t>Bellman Equations</a:t>
            </a:r>
          </a:p>
        </p:txBody>
      </p:sp>
      <p:sp>
        <p:nvSpPr>
          <p:cNvPr id="7" name="Content Placeholder 2">
            <a:extLst>
              <a:ext uri="{FF2B5EF4-FFF2-40B4-BE49-F238E27FC236}">
                <a16:creationId xmlns:a16="http://schemas.microsoft.com/office/drawing/2014/main" id="{D6E1F355-A9E2-1EA4-26B9-EDF110F68057}"/>
              </a:ext>
            </a:extLst>
          </p:cNvPr>
          <p:cNvSpPr txBox="1">
            <a:spLocks/>
          </p:cNvSpPr>
          <p:nvPr/>
        </p:nvSpPr>
        <p:spPr>
          <a:xfrm>
            <a:off x="1152450" y="969212"/>
            <a:ext cx="9791700" cy="13167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i="1" dirty="0"/>
              <a:t>We’ve defined value functions, but how do we compute them? It turns out there’s an elegant recursive relationship that connects the value of a state to the values of its successor states…</a:t>
            </a:r>
          </a:p>
        </p:txBody>
      </p:sp>
      <p:sp>
        <p:nvSpPr>
          <p:cNvPr id="8" name="Content Placeholder 2">
            <a:extLst>
              <a:ext uri="{FF2B5EF4-FFF2-40B4-BE49-F238E27FC236}">
                <a16:creationId xmlns:a16="http://schemas.microsoft.com/office/drawing/2014/main" id="{625C1238-06E6-B700-7AF9-85117039774B}"/>
              </a:ext>
            </a:extLst>
          </p:cNvPr>
          <p:cNvSpPr txBox="1">
            <a:spLocks/>
          </p:cNvSpPr>
          <p:nvPr/>
        </p:nvSpPr>
        <p:spPr>
          <a:xfrm>
            <a:off x="1152450" y="2274051"/>
            <a:ext cx="97917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Why are Bellman equations fundamental?</a:t>
            </a:r>
            <a:r>
              <a:rPr lang="en-US" dirty="0"/>
              <a:t> - Express value functions recursively - Foundation for dynamic programming algorithms - Key insight: optimal decisions have optimal substructure</a:t>
            </a:r>
          </a:p>
        </p:txBody>
      </p:sp>
      <p:sp>
        <p:nvSpPr>
          <p:cNvPr id="9" name="Title 12">
            <a:extLst>
              <a:ext uri="{FF2B5EF4-FFF2-40B4-BE49-F238E27FC236}">
                <a16:creationId xmlns:a16="http://schemas.microsoft.com/office/drawing/2014/main" id="{8B88780A-5F0E-63BE-FB58-38674DBB786D}"/>
              </a:ext>
            </a:extLst>
          </p:cNvPr>
          <p:cNvSpPr txBox="1">
            <a:spLocks/>
          </p:cNvSpPr>
          <p:nvPr/>
        </p:nvSpPr>
        <p:spPr>
          <a:xfrm>
            <a:off x="471489" y="509181"/>
            <a:ext cx="11153622" cy="565671"/>
          </a:xfrm>
          <a:prstGeom prst="rect">
            <a:avLst/>
          </a:prstGeom>
          <a:ln>
            <a:noFill/>
          </a:ln>
        </p:spPr>
        <p:txBody>
          <a:bodyPr vert="horz" lIns="91440" tIns="45720" rIns="91440" bIns="45720" rtlCol="0" anchor="ctr">
            <a:noAutofit/>
          </a:bodyPr>
          <a:lst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a:lstStyle>
          <a:p>
            <a:pPr algn="ctr"/>
            <a:r>
              <a:rPr lang="en-US" sz="3600" dirty="0"/>
              <a:t>HERE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2">
            <a:extLst>
              <a:ext uri="{FF2B5EF4-FFF2-40B4-BE49-F238E27FC236}">
                <a16:creationId xmlns:a16="http://schemas.microsoft.com/office/drawing/2014/main" id="{8ED06D5D-35E3-E10E-05BF-18EA7EEA3C8E}"/>
              </a:ext>
            </a:extLst>
          </p:cNvPr>
          <p:cNvSpPr txBox="1">
            <a:spLocks/>
          </p:cNvSpPr>
          <p:nvPr/>
        </p:nvSpPr>
        <p:spPr>
          <a:xfrm>
            <a:off x="471489" y="69597"/>
            <a:ext cx="11153622" cy="565671"/>
          </a:xfrm>
          <a:prstGeom prst="rect">
            <a:avLst/>
          </a:prstGeom>
          <a:ln>
            <a:noFill/>
          </a:ln>
        </p:spPr>
        <p:txBody>
          <a:bodyPr vert="horz" lIns="91440" tIns="45720" rIns="91440" bIns="45720" rtlCol="0" anchor="ctr">
            <a:noAutofit/>
          </a:bodyPr>
          <a:lst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a:lstStyle>
          <a:p>
            <a:pPr algn="ctr"/>
            <a:r>
              <a:rPr lang="en-US" sz="3600" dirty="0"/>
              <a:t>Value Iteration</a:t>
            </a:r>
          </a:p>
        </p:txBody>
      </p:sp>
      <p:sp>
        <p:nvSpPr>
          <p:cNvPr id="8" name="TextBox 7">
            <a:extLst>
              <a:ext uri="{FF2B5EF4-FFF2-40B4-BE49-F238E27FC236}">
                <a16:creationId xmlns:a16="http://schemas.microsoft.com/office/drawing/2014/main" id="{A347B8DC-AEDB-00E5-046A-11FAE9089743}"/>
              </a:ext>
            </a:extLst>
          </p:cNvPr>
          <p:cNvSpPr txBox="1"/>
          <p:nvPr/>
        </p:nvSpPr>
        <p:spPr>
          <a:xfrm>
            <a:off x="471490" y="762339"/>
            <a:ext cx="11153621" cy="707886"/>
          </a:xfrm>
          <a:prstGeom prst="rect">
            <a:avLst/>
          </a:prstGeom>
          <a:noFill/>
          <a:ln>
            <a:noFill/>
          </a:ln>
        </p:spPr>
        <p:txBody>
          <a:bodyPr wrap="square">
            <a:spAutoFit/>
          </a:bodyPr>
          <a:lstStyle/>
          <a:p>
            <a:pPr marL="0" indent="0">
              <a:buNone/>
            </a:pPr>
            <a:r>
              <a:rPr lang="en-US" sz="2000" dirty="0"/>
              <a:t>The Bellman equations give us a mathematical relationship, but we need an algorithm to actually compute the optimal values.</a:t>
            </a:r>
          </a:p>
        </p:txBody>
      </p:sp>
      <p:sp>
        <p:nvSpPr>
          <p:cNvPr id="10" name="TextBox 9">
            <a:extLst>
              <a:ext uri="{FF2B5EF4-FFF2-40B4-BE49-F238E27FC236}">
                <a16:creationId xmlns:a16="http://schemas.microsoft.com/office/drawing/2014/main" id="{EE97EF88-2D38-C632-125B-B34FDC6416D5}"/>
              </a:ext>
            </a:extLst>
          </p:cNvPr>
          <p:cNvSpPr txBox="1"/>
          <p:nvPr/>
        </p:nvSpPr>
        <p:spPr>
          <a:xfrm>
            <a:off x="471489" y="1962667"/>
            <a:ext cx="11153620" cy="707886"/>
          </a:xfrm>
          <a:prstGeom prst="rect">
            <a:avLst/>
          </a:prstGeom>
          <a:noFill/>
          <a:ln>
            <a:noFill/>
          </a:ln>
        </p:spPr>
        <p:txBody>
          <a:bodyPr wrap="square">
            <a:spAutoFit/>
          </a:bodyPr>
          <a:lstStyle/>
          <a:p>
            <a:pPr marL="0" indent="0">
              <a:buNone/>
            </a:pPr>
            <a:r>
              <a:rPr lang="en-US" sz="2000" b="1" dirty="0"/>
              <a:t>Key insight</a:t>
            </a:r>
            <a:r>
              <a:rPr lang="en-US" sz="2000" dirty="0"/>
              <a:t>: If we keep applying the Bellman operator, our value estimates will converge to the optimal values!</a:t>
            </a:r>
          </a:p>
        </p:txBody>
      </p:sp>
      <p:sp>
        <p:nvSpPr>
          <p:cNvPr id="15" name="TextBox 14">
            <a:extLst>
              <a:ext uri="{FF2B5EF4-FFF2-40B4-BE49-F238E27FC236}">
                <a16:creationId xmlns:a16="http://schemas.microsoft.com/office/drawing/2014/main" id="{A67013FB-C86D-64C9-AA21-BE989FED24BC}"/>
              </a:ext>
            </a:extLst>
          </p:cNvPr>
          <p:cNvSpPr txBox="1"/>
          <p:nvPr/>
        </p:nvSpPr>
        <p:spPr>
          <a:xfrm>
            <a:off x="471489" y="1531780"/>
            <a:ext cx="8049216" cy="400110"/>
          </a:xfrm>
          <a:prstGeom prst="rect">
            <a:avLst/>
          </a:prstGeom>
          <a:noFill/>
          <a:ln>
            <a:noFill/>
          </a:ln>
        </p:spPr>
        <p:txBody>
          <a:bodyPr wrap="square">
            <a:spAutoFit/>
          </a:bodyPr>
          <a:lstStyle/>
          <a:p>
            <a:r>
              <a:rPr lang="en-US" sz="2000" b="1" dirty="0"/>
              <a:t>Idea</a:t>
            </a:r>
            <a:r>
              <a:rPr lang="en-US" sz="2000" dirty="0"/>
              <a:t>: Iteratively improve value estimates using Bellman equation</a:t>
            </a:r>
          </a:p>
        </p:txBody>
      </p:sp>
      <p:sp>
        <p:nvSpPr>
          <p:cNvPr id="6" name="TextBox 5">
            <a:extLst>
              <a:ext uri="{FF2B5EF4-FFF2-40B4-BE49-F238E27FC236}">
                <a16:creationId xmlns:a16="http://schemas.microsoft.com/office/drawing/2014/main" id="{4C952CF6-97C4-9BAB-264A-116F7B4FA8B7}"/>
              </a:ext>
            </a:extLst>
          </p:cNvPr>
          <p:cNvSpPr txBox="1"/>
          <p:nvPr/>
        </p:nvSpPr>
        <p:spPr>
          <a:xfrm>
            <a:off x="4844369" y="3017439"/>
            <a:ext cx="2590554" cy="461665"/>
          </a:xfrm>
          <a:prstGeom prst="rect">
            <a:avLst/>
          </a:prstGeom>
          <a:noFill/>
          <a:ln>
            <a:noFill/>
          </a:ln>
        </p:spPr>
        <p:txBody>
          <a:bodyPr wrap="square">
            <a:spAutoFit/>
          </a:bodyPr>
          <a:lstStyle/>
          <a:p>
            <a:pPr marL="0" indent="0" algn="ctr">
              <a:buNone/>
            </a:pPr>
            <a:r>
              <a:rPr lang="en-US" sz="2400" dirty="0"/>
              <a:t>Clarifying Notation</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8867D32-1E9A-12A7-7566-6BAD175F82B7}"/>
                  </a:ext>
                </a:extLst>
              </p:cNvPr>
              <p:cNvSpPr txBox="1"/>
              <p:nvPr/>
            </p:nvSpPr>
            <p:spPr>
              <a:xfrm>
                <a:off x="471489" y="3977327"/>
                <a:ext cx="6245862" cy="1015663"/>
              </a:xfrm>
              <a:prstGeom prst="rect">
                <a:avLst/>
              </a:prstGeom>
              <a:noFill/>
              <a:ln>
                <a:noFill/>
              </a:ln>
            </p:spPr>
            <p:txBody>
              <a:bodyPr wrap="square">
                <a:spAutoFit/>
              </a:bodyPr>
              <a:lstStyle/>
              <a:p>
                <a:pPr marL="1144588" indent="-1144588"/>
                <a14:m>
                  <m:oMath xmlns:m="http://schemas.openxmlformats.org/officeDocument/2006/math">
                    <m:func>
                      <m:funcPr>
                        <m:ctrlPr>
                          <a:rPr lang="en-US" sz="2000" b="0" i="1" smtClean="0">
                            <a:latin typeface="Cambria Math" panose="02040503050406030204" pitchFamily="18" charset="0"/>
                          </a:rPr>
                        </m:ctrlPr>
                      </m:funcPr>
                      <m:fName>
                        <m:limLow>
                          <m:limLowPr>
                            <m:ctrlPr>
                              <a:rPr lang="en-US" sz="2000" b="0" i="1" smtClean="0">
                                <a:latin typeface="Cambria Math" panose="02040503050406030204" pitchFamily="18" charset="0"/>
                              </a:rPr>
                            </m:ctrlPr>
                          </m:limLowPr>
                          <m:e>
                            <m:r>
                              <m:rPr>
                                <m:sty m:val="p"/>
                              </m:rPr>
                              <a:rPr lang="en-US" sz="2000" b="0" i="0" smtClean="0">
                                <a:latin typeface="Cambria Math" panose="02040503050406030204" pitchFamily="18" charset="0"/>
                              </a:rPr>
                              <m:t>max</m:t>
                            </m:r>
                          </m:e>
                          <m:lim>
                            <m:r>
                              <a:rPr lang="en-US" sz="2000" i="1">
                                <a:solidFill>
                                  <a:srgbClr val="1306BA"/>
                                </a:solidFill>
                                <a:latin typeface="Cambria Math" panose="02040503050406030204" pitchFamily="18" charset="0"/>
                              </a:rPr>
                              <m:t>𝑥</m:t>
                            </m:r>
                          </m:lim>
                        </m:limLow>
                      </m:fName>
                      <m:e>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solidFill>
                                  <a:srgbClr val="1306BA"/>
                                </a:solidFill>
                                <a:latin typeface="Cambria Math" panose="02040503050406030204" pitchFamily="18" charset="0"/>
                              </a:rPr>
                              <m:t>𝑥</m:t>
                            </m:r>
                          </m:e>
                        </m:d>
                      </m:e>
                    </m:func>
                  </m:oMath>
                </a14:m>
                <a:r>
                  <a:rPr lang="en-US" sz="2000" dirty="0"/>
                  <a:t>: returns the maximum value that a function achieves over the set of possible values for variable a. </a:t>
                </a:r>
              </a:p>
            </p:txBody>
          </p:sp>
        </mc:Choice>
        <mc:Fallback xmlns="">
          <p:sp>
            <p:nvSpPr>
              <p:cNvPr id="9" name="TextBox 8">
                <a:extLst>
                  <a:ext uri="{FF2B5EF4-FFF2-40B4-BE49-F238E27FC236}">
                    <a16:creationId xmlns:a16="http://schemas.microsoft.com/office/drawing/2014/main" id="{A8867D32-1E9A-12A7-7566-6BAD175F82B7}"/>
                  </a:ext>
                </a:extLst>
              </p:cNvPr>
              <p:cNvSpPr txBox="1">
                <a:spLocks noRot="1" noChangeAspect="1" noMove="1" noResize="1" noEditPoints="1" noAdjustHandles="1" noChangeArrowheads="1" noChangeShapeType="1" noTextEdit="1"/>
              </p:cNvSpPr>
              <p:nvPr/>
            </p:nvSpPr>
            <p:spPr>
              <a:xfrm>
                <a:off x="471489" y="3977327"/>
                <a:ext cx="6245862" cy="1015663"/>
              </a:xfrm>
              <a:prstGeom prst="rect">
                <a:avLst/>
              </a:prstGeom>
              <a:blipFill>
                <a:blip r:embed="rId2"/>
                <a:stretch>
                  <a:fillRect t="-2994" b="-9581"/>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65EBBDE-97B8-0F70-E338-87F37D51C691}"/>
                  </a:ext>
                </a:extLst>
              </p:cNvPr>
              <p:cNvSpPr txBox="1"/>
              <p:nvPr/>
            </p:nvSpPr>
            <p:spPr>
              <a:xfrm>
                <a:off x="471488" y="5137270"/>
                <a:ext cx="6024727" cy="707886"/>
              </a:xfrm>
              <a:prstGeom prst="rect">
                <a:avLst/>
              </a:prstGeom>
              <a:noFill/>
              <a:ln>
                <a:noFill/>
              </a:ln>
            </p:spPr>
            <p:txBody>
              <a:bodyPr wrap="square">
                <a:spAutoFit/>
              </a:bodyPr>
              <a:lstStyle/>
              <a:p>
                <a:pPr marL="1431925" indent="-1431925"/>
                <a14:m>
                  <m:oMath xmlns:m="http://schemas.openxmlformats.org/officeDocument/2006/math">
                    <m:func>
                      <m:funcPr>
                        <m:ctrlPr>
                          <a:rPr lang="en-US" sz="2000" i="1" dirty="0" smtClean="0">
                            <a:latin typeface="Cambria Math" panose="02040503050406030204" pitchFamily="18" charset="0"/>
                          </a:rPr>
                        </m:ctrlPr>
                      </m:funcPr>
                      <m:fName>
                        <m:limLow>
                          <m:limLowPr>
                            <m:ctrlPr>
                              <a:rPr lang="en-US" sz="2000" i="1" dirty="0" smtClean="0">
                                <a:latin typeface="Cambria Math" panose="02040503050406030204" pitchFamily="18" charset="0"/>
                              </a:rPr>
                            </m:ctrlPr>
                          </m:limLowPr>
                          <m:e>
                            <m:r>
                              <m:rPr>
                                <m:sty m:val="p"/>
                              </m:rPr>
                              <a:rPr lang="en-US" sz="2000" b="0" i="0" dirty="0" smtClean="0">
                                <a:latin typeface="Cambria Math" panose="02040503050406030204" pitchFamily="18" charset="0"/>
                              </a:rPr>
                              <m:t>arg</m:t>
                            </m:r>
                            <m:r>
                              <m:rPr>
                                <m:sty m:val="p"/>
                              </m:rPr>
                              <a:rPr lang="en-US" sz="2000" i="0" dirty="0" smtClean="0">
                                <a:latin typeface="Cambria Math" panose="02040503050406030204" pitchFamily="18" charset="0"/>
                              </a:rPr>
                              <m:t>max</m:t>
                            </m:r>
                          </m:e>
                          <m:lim>
                            <m:r>
                              <a:rPr lang="en-US" sz="2000" i="1" dirty="0" smtClean="0">
                                <a:solidFill>
                                  <a:srgbClr val="1306BA"/>
                                </a:solidFill>
                                <a:latin typeface="Cambria Math" panose="02040503050406030204" pitchFamily="18" charset="0"/>
                              </a:rPr>
                              <m:t>𝑥</m:t>
                            </m:r>
                          </m:lim>
                        </m:limLow>
                      </m:fName>
                      <m:e>
                        <m:r>
                          <a:rPr lang="en-US" sz="2000" b="0" i="1" dirty="0" smtClean="0">
                            <a:latin typeface="Cambria Math" panose="02040503050406030204" pitchFamily="18" charset="0"/>
                          </a:rPr>
                          <m:t>𝑓</m:t>
                        </m:r>
                        <m:d>
                          <m:dPr>
                            <m:ctrlPr>
                              <a:rPr lang="en-US" sz="2000" b="0" i="1" dirty="0" smtClean="0">
                                <a:latin typeface="Cambria Math" panose="02040503050406030204" pitchFamily="18" charset="0"/>
                              </a:rPr>
                            </m:ctrlPr>
                          </m:dPr>
                          <m:e>
                            <m:r>
                              <a:rPr lang="en-US" sz="2000" b="0" i="1" dirty="0" smtClean="0">
                                <a:solidFill>
                                  <a:srgbClr val="1306BA"/>
                                </a:solidFill>
                                <a:latin typeface="Cambria Math" panose="02040503050406030204" pitchFamily="18" charset="0"/>
                              </a:rPr>
                              <m:t>𝑥</m:t>
                            </m:r>
                          </m:e>
                        </m:d>
                      </m:e>
                    </m:func>
                  </m:oMath>
                </a14:m>
                <a:r>
                  <a:rPr lang="en-US" sz="2000" dirty="0"/>
                  <a:t>: returns the argument (the specific value of </a:t>
                </a:r>
                <a14:m>
                  <m:oMath xmlns:m="http://schemas.openxmlformats.org/officeDocument/2006/math">
                    <m:r>
                      <a:rPr lang="en-US" sz="2000" i="1" dirty="0" smtClean="0">
                        <a:solidFill>
                          <a:srgbClr val="1306BA"/>
                        </a:solidFill>
                        <a:latin typeface="Cambria Math" panose="02040503050406030204" pitchFamily="18" charset="0"/>
                      </a:rPr>
                      <m:t>𝑥</m:t>
                    </m:r>
                  </m:oMath>
                </a14:m>
                <a:r>
                  <a:rPr lang="en-US" sz="2000" dirty="0"/>
                  <a:t>) that produces that maximum value.</a:t>
                </a:r>
              </a:p>
            </p:txBody>
          </p:sp>
        </mc:Choice>
        <mc:Fallback xmlns="">
          <p:sp>
            <p:nvSpPr>
              <p:cNvPr id="11" name="TextBox 10">
                <a:extLst>
                  <a:ext uri="{FF2B5EF4-FFF2-40B4-BE49-F238E27FC236}">
                    <a16:creationId xmlns:a16="http://schemas.microsoft.com/office/drawing/2014/main" id="{565EBBDE-97B8-0F70-E338-87F37D51C691}"/>
                  </a:ext>
                </a:extLst>
              </p:cNvPr>
              <p:cNvSpPr txBox="1">
                <a:spLocks noRot="1" noChangeAspect="1" noMove="1" noResize="1" noEditPoints="1" noAdjustHandles="1" noChangeArrowheads="1" noChangeShapeType="1" noTextEdit="1"/>
              </p:cNvSpPr>
              <p:nvPr/>
            </p:nvSpPr>
            <p:spPr>
              <a:xfrm>
                <a:off x="471488" y="5137270"/>
                <a:ext cx="6024727" cy="707886"/>
              </a:xfrm>
              <a:prstGeom prst="rect">
                <a:avLst/>
              </a:prstGeom>
              <a:blipFill>
                <a:blip r:embed="rId3"/>
                <a:stretch>
                  <a:fillRect t="-5172" r="-404" b="-14655"/>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CEB4A32-686E-34ED-1BF4-83A18E025CC5}"/>
                  </a:ext>
                </a:extLst>
              </p:cNvPr>
              <p:cNvSpPr txBox="1"/>
              <p:nvPr/>
            </p:nvSpPr>
            <p:spPr>
              <a:xfrm>
                <a:off x="1019551" y="6099709"/>
                <a:ext cx="5317435" cy="400110"/>
              </a:xfrm>
              <a:prstGeom prst="rect">
                <a:avLst/>
              </a:prstGeom>
              <a:noFill/>
              <a:ln>
                <a:solidFill>
                  <a:schemeClr val="bg2"/>
                </a:solidFill>
              </a:ln>
            </p:spPr>
            <p:txBody>
              <a:bodyPr wrap="square">
                <a:spAutoFit/>
              </a:bodyPr>
              <a:lstStyle/>
              <a:p>
                <a:r>
                  <a:rPr lang="en-US" sz="2000" dirty="0"/>
                  <a:t>Observe, these are both implied loops over all </a:t>
                </a:r>
                <a14:m>
                  <m:oMath xmlns:m="http://schemas.openxmlformats.org/officeDocument/2006/math">
                    <m:r>
                      <a:rPr lang="en-US" sz="2000" i="1">
                        <a:solidFill>
                          <a:srgbClr val="1306BA"/>
                        </a:solidFill>
                        <a:latin typeface="Cambria Math" panose="02040503050406030204" pitchFamily="18" charset="0"/>
                      </a:rPr>
                      <m:t>𝑥</m:t>
                    </m:r>
                  </m:oMath>
                </a14:m>
                <a:r>
                  <a:rPr lang="en-US" sz="2000" dirty="0"/>
                  <a:t>.</a:t>
                </a:r>
              </a:p>
            </p:txBody>
          </p:sp>
        </mc:Choice>
        <mc:Fallback xmlns="">
          <p:sp>
            <p:nvSpPr>
              <p:cNvPr id="14" name="TextBox 13">
                <a:extLst>
                  <a:ext uri="{FF2B5EF4-FFF2-40B4-BE49-F238E27FC236}">
                    <a16:creationId xmlns:a16="http://schemas.microsoft.com/office/drawing/2014/main" id="{9CEB4A32-686E-34ED-1BF4-83A18E025CC5}"/>
                  </a:ext>
                </a:extLst>
              </p:cNvPr>
              <p:cNvSpPr txBox="1">
                <a:spLocks noRot="1" noChangeAspect="1" noMove="1" noResize="1" noEditPoints="1" noAdjustHandles="1" noChangeArrowheads="1" noChangeShapeType="1" noTextEdit="1"/>
              </p:cNvSpPr>
              <p:nvPr/>
            </p:nvSpPr>
            <p:spPr>
              <a:xfrm>
                <a:off x="1019551" y="6099709"/>
                <a:ext cx="5317435" cy="400110"/>
              </a:xfrm>
              <a:prstGeom prst="rect">
                <a:avLst/>
              </a:prstGeom>
              <a:blipFill>
                <a:blip r:embed="rId4"/>
                <a:stretch>
                  <a:fillRect l="-1029" t="-7463" b="-25373"/>
                </a:stretch>
              </a:blipFill>
              <a:ln>
                <a:solidFill>
                  <a:schemeClr val="bg2"/>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4B0172E0-0290-29CF-D63E-6B60ED7B787B}"/>
                  </a:ext>
                </a:extLst>
              </p:cNvPr>
              <p:cNvSpPr txBox="1"/>
              <p:nvPr/>
            </p:nvSpPr>
            <p:spPr>
              <a:xfrm>
                <a:off x="7362908" y="3825990"/>
                <a:ext cx="4658800" cy="2862322"/>
              </a:xfrm>
              <a:prstGeom prst="rect">
                <a:avLst/>
              </a:prstGeom>
              <a:noFill/>
              <a:ln>
                <a:solidFill>
                  <a:schemeClr val="bg2"/>
                </a:solidFill>
              </a:ln>
            </p:spPr>
            <p:txBody>
              <a:bodyPr wrap="square">
                <a:spAutoFit/>
              </a:bodyPr>
              <a:lstStyle/>
              <a:p>
                <a:r>
                  <a:rPr lang="en-US" sz="2000" b="1" dirty="0">
                    <a:solidFill>
                      <a:srgbClr val="0000FF"/>
                    </a:solidFill>
                    <a:effectLst/>
                    <a:latin typeface="Consolas" panose="020B0609020204030204" pitchFamily="49" charset="0"/>
                  </a:rPr>
                  <a:t>def</a:t>
                </a:r>
                <a:r>
                  <a:rPr lang="en-US" sz="2000" dirty="0">
                    <a:solidFill>
                      <a:srgbClr val="000000"/>
                    </a:solidFill>
                    <a:effectLst/>
                    <a:latin typeface="Consolas" panose="020B0609020204030204" pitchFamily="49" charset="0"/>
                  </a:rPr>
                  <a:t> </a:t>
                </a:r>
                <a:r>
                  <a:rPr lang="en-US" sz="2000" dirty="0" err="1">
                    <a:solidFill>
                      <a:srgbClr val="FF00FF"/>
                    </a:solidFill>
                    <a:effectLst/>
                    <a:latin typeface="Consolas" panose="020B0609020204030204" pitchFamily="49" charset="0"/>
                  </a:rPr>
                  <a:t>max_and_argmax</a:t>
                </a:r>
                <a:r>
                  <a:rPr lang="en-US" sz="2000" b="1" dirty="0">
                    <a:solidFill>
                      <a:srgbClr val="000080"/>
                    </a:solidFill>
                    <a:effectLst/>
                    <a:latin typeface="Consolas" panose="020B0609020204030204" pitchFamily="49" charset="0"/>
                  </a:rPr>
                  <a:t>(</a:t>
                </a:r>
                <a14:m>
                  <m:oMath xmlns:m="http://schemas.openxmlformats.org/officeDocument/2006/math">
                    <m:r>
                      <a:rPr lang="en-US" sz="2000" i="1" dirty="0" smtClean="0">
                        <a:solidFill>
                          <a:srgbClr val="000000"/>
                        </a:solidFill>
                        <a:effectLst/>
                        <a:latin typeface="Cambria Math" panose="02040503050406030204" pitchFamily="18" charset="0"/>
                      </a:rPr>
                      <m:t>𝑓</m:t>
                    </m:r>
                  </m:oMath>
                </a14:m>
                <a:r>
                  <a:rPr lang="en-US" sz="2000" b="1" dirty="0">
                    <a:solidFill>
                      <a:srgbClr val="000080"/>
                    </a:solidFill>
                    <a:effectLst/>
                    <a:latin typeface="Consolas" panose="020B0609020204030204" pitchFamily="49" charset="0"/>
                  </a:rPr>
                  <a:t>,</a:t>
                </a:r>
                <a:r>
                  <a:rPr lang="en-US" sz="2000" dirty="0">
                    <a:solidFill>
                      <a:srgbClr val="000000"/>
                    </a:solidFill>
                    <a:effectLst/>
                    <a:latin typeface="Consolas" panose="020B0609020204030204" pitchFamily="49" charset="0"/>
                  </a:rPr>
                  <a:t> </a:t>
                </a:r>
                <a14:m>
                  <m:oMath xmlns:m="http://schemas.openxmlformats.org/officeDocument/2006/math">
                    <m:r>
                      <m:rPr>
                        <m:sty m:val="p"/>
                      </m:rPr>
                      <a:rPr lang="en-US" sz="2000" smtClean="0">
                        <a:solidFill>
                          <a:srgbClr val="00B0F0"/>
                        </a:solidFill>
                        <a:latin typeface="Cambria Math" panose="02040503050406030204" pitchFamily="18" charset="0"/>
                      </a:rPr>
                      <m:t>domain</m:t>
                    </m:r>
                  </m:oMath>
                </a14:m>
                <a:r>
                  <a:rPr lang="en-US" sz="2000" b="1" dirty="0">
                    <a:solidFill>
                      <a:srgbClr val="000080"/>
                    </a:solidFill>
                    <a:effectLst/>
                    <a:latin typeface="Consolas" panose="020B0609020204030204" pitchFamily="49" charset="0"/>
                  </a:rPr>
                  <a:t>):</a:t>
                </a:r>
                <a:endParaRPr lang="en-US" sz="2000" b="1" dirty="0">
                  <a:solidFill>
                    <a:srgbClr val="000000"/>
                  </a:solidFill>
                  <a:latin typeface="Consolas" panose="020B0609020204030204" pitchFamily="49" charset="0"/>
                </a:endParaRPr>
              </a:p>
              <a:p>
                <a:r>
                  <a:rPr lang="en-US" sz="2000" b="1"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max_val</a:t>
                </a:r>
                <a:r>
                  <a:rPr lang="en-US" sz="2000" dirty="0">
                    <a:solidFill>
                      <a:srgbClr val="000000"/>
                    </a:solidFill>
                    <a:effectLst/>
                    <a:latin typeface="Consolas" panose="020B0609020204030204" pitchFamily="49" charset="0"/>
                  </a:rPr>
                  <a:t> </a:t>
                </a:r>
                <a:r>
                  <a:rPr lang="en-US" sz="2000" b="1" dirty="0">
                    <a:solidFill>
                      <a:srgbClr val="000080"/>
                    </a:solidFill>
                    <a:effectLst/>
                    <a:latin typeface="Consolas" panose="020B0609020204030204" pitchFamily="49" charset="0"/>
                  </a:rPr>
                  <a:t>=</a:t>
                </a:r>
                <a:r>
                  <a:rPr lang="en-US" sz="2000" dirty="0">
                    <a:solidFill>
                      <a:srgbClr val="000000"/>
                    </a:solidFill>
                    <a:effectLst/>
                    <a:latin typeface="Consolas" panose="020B0609020204030204" pitchFamily="49" charset="0"/>
                  </a:rPr>
                  <a:t> </a:t>
                </a:r>
                <a14:m>
                  <m:oMath xmlns:m="http://schemas.openxmlformats.org/officeDocument/2006/math">
                    <m:r>
                      <a:rPr lang="en-US" sz="2000" b="1" i="1" dirty="0" smtClean="0">
                        <a:solidFill>
                          <a:srgbClr val="000080"/>
                        </a:solidFill>
                        <a:effectLst/>
                        <a:latin typeface="Cambria Math" panose="02040503050406030204" pitchFamily="18" charset="0"/>
                      </a:rPr>
                      <m:t>−</m:t>
                    </m:r>
                    <m:r>
                      <a:rPr lang="en-US" sz="2000" b="1" i="1" dirty="0" smtClean="0">
                        <a:solidFill>
                          <a:srgbClr val="000080"/>
                        </a:solidFill>
                        <a:effectLst/>
                        <a:latin typeface="Cambria Math" panose="02040503050406030204" pitchFamily="18" charset="0"/>
                        <a:ea typeface="Cambria Math" panose="02040503050406030204" pitchFamily="18" charset="0"/>
                      </a:rPr>
                      <m:t>∞</m:t>
                    </m:r>
                    <m:r>
                      <a:rPr lang="en-US" sz="2000" b="1" i="1" dirty="0" smtClean="0">
                        <a:solidFill>
                          <a:srgbClr val="000080"/>
                        </a:solidFill>
                        <a:effectLst/>
                        <a:latin typeface="Cambria Math" panose="02040503050406030204" pitchFamily="18" charset="0"/>
                      </a:rPr>
                      <m:t> </m:t>
                    </m:r>
                  </m:oMath>
                </a14:m>
                <a:endParaRPr lang="en-US" sz="2000" b="1" dirty="0">
                  <a:solidFill>
                    <a:srgbClr val="000080"/>
                  </a:solidFill>
                  <a:effectLst/>
                  <a:latin typeface="Consolas" panose="020B0609020204030204" pitchFamily="49" charset="0"/>
                </a:endParaRPr>
              </a:p>
              <a:p>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best_arg</a:t>
                </a:r>
                <a:r>
                  <a:rPr lang="en-US" sz="2000" dirty="0">
                    <a:solidFill>
                      <a:srgbClr val="000000"/>
                    </a:solidFill>
                    <a:effectLst/>
                    <a:latin typeface="Consolas" panose="020B0609020204030204" pitchFamily="49" charset="0"/>
                  </a:rPr>
                  <a:t> </a:t>
                </a:r>
                <a:r>
                  <a:rPr lang="en-US" sz="2000" b="1" dirty="0">
                    <a:solidFill>
                      <a:srgbClr val="000080"/>
                    </a:solidFill>
                    <a:effectLst/>
                    <a:latin typeface="Consolas" panose="020B0609020204030204" pitchFamily="49" charset="0"/>
                  </a:rPr>
                  <a:t>=</a:t>
                </a:r>
                <a:r>
                  <a:rPr lang="en-US" sz="2000" dirty="0">
                    <a:solidFill>
                      <a:srgbClr val="000000"/>
                    </a:solidFill>
                    <a:effectLst/>
                    <a:latin typeface="Consolas" panose="020B0609020204030204" pitchFamily="49" charset="0"/>
                  </a:rPr>
                  <a:t> null</a:t>
                </a:r>
              </a:p>
              <a:p>
                <a:r>
                  <a:rPr lang="en-US" sz="2000" dirty="0">
                    <a:solidFill>
                      <a:srgbClr val="000000"/>
                    </a:solidFill>
                    <a:latin typeface="Consolas" panose="020B0609020204030204" pitchFamily="49" charset="0"/>
                  </a:rPr>
                  <a:t>   </a:t>
                </a:r>
                <a:r>
                  <a:rPr lang="en-US" sz="2000" dirty="0">
                    <a:solidFill>
                      <a:srgbClr val="000000"/>
                    </a:solidFill>
                    <a:effectLst/>
                    <a:latin typeface="Consolas" panose="020B0609020204030204" pitchFamily="49" charset="0"/>
                  </a:rPr>
                  <a:t> </a:t>
                </a:r>
                <a:r>
                  <a:rPr lang="en-US" sz="2000" b="1" dirty="0">
                    <a:solidFill>
                      <a:srgbClr val="0000FF"/>
                    </a:solidFill>
                    <a:effectLst/>
                    <a:latin typeface="Consolas" panose="020B0609020204030204" pitchFamily="49" charset="0"/>
                  </a:rPr>
                  <a:t>for</a:t>
                </a:r>
                <a:r>
                  <a:rPr lang="en-US" sz="2000" dirty="0">
                    <a:solidFill>
                      <a:srgbClr val="000000"/>
                    </a:solidFill>
                    <a:effectLst/>
                    <a:latin typeface="Consolas" panose="020B0609020204030204" pitchFamily="49" charset="0"/>
                  </a:rPr>
                  <a:t> each </a:t>
                </a:r>
                <a14:m>
                  <m:oMath xmlns:m="http://schemas.openxmlformats.org/officeDocument/2006/math">
                    <m:r>
                      <a:rPr lang="en-US" sz="2000" b="0" i="1" smtClean="0">
                        <a:solidFill>
                          <a:srgbClr val="1306BA"/>
                        </a:solidFill>
                        <a:effectLst/>
                        <a:latin typeface="Cambria Math" panose="02040503050406030204" pitchFamily="18" charset="0"/>
                      </a:rPr>
                      <m:t>𝑥</m:t>
                    </m:r>
                    <m:r>
                      <a:rPr lang="en-US" sz="2000" b="0" i="1" smtClean="0">
                        <a:solidFill>
                          <a:srgbClr val="000000"/>
                        </a:solidFill>
                        <a:effectLst/>
                        <a:latin typeface="Cambria Math" panose="02040503050406030204" pitchFamily="18" charset="0"/>
                      </a:rPr>
                      <m:t>∈</m:t>
                    </m:r>
                    <m:r>
                      <m:rPr>
                        <m:sty m:val="p"/>
                      </m:rPr>
                      <a:rPr lang="en-US" sz="2000" b="0" i="0" smtClean="0">
                        <a:solidFill>
                          <a:srgbClr val="00B0F0"/>
                        </a:solidFill>
                        <a:effectLst/>
                        <a:latin typeface="Cambria Math" panose="02040503050406030204" pitchFamily="18" charset="0"/>
                      </a:rPr>
                      <m:t>domain</m:t>
                    </m:r>
                  </m:oMath>
                </a14:m>
                <a:r>
                  <a:rPr lang="en-US" sz="2000" b="1" dirty="0">
                    <a:solidFill>
                      <a:srgbClr val="000080"/>
                    </a:solidFill>
                    <a:effectLst/>
                    <a:latin typeface="Consolas" panose="020B0609020204030204" pitchFamily="49" charset="0"/>
                  </a:rPr>
                  <a:t>:</a:t>
                </a:r>
              </a:p>
              <a:p>
                <a:r>
                  <a:rPr lang="en-US" sz="2000" b="1" dirty="0">
                    <a:solidFill>
                      <a:srgbClr val="000080"/>
                    </a:solidFill>
                    <a:latin typeface="Consolas" panose="020B0609020204030204" pitchFamily="49" charset="0"/>
                  </a:rPr>
                  <a:t>       </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curr_val</a:t>
                </a:r>
                <a:r>
                  <a:rPr lang="en-US" sz="2000" dirty="0">
                    <a:solidFill>
                      <a:srgbClr val="000000"/>
                    </a:solidFill>
                    <a:effectLst/>
                    <a:latin typeface="Consolas" panose="020B0609020204030204" pitchFamily="49" charset="0"/>
                  </a:rPr>
                  <a:t> </a:t>
                </a:r>
                <a:r>
                  <a:rPr lang="en-US" sz="2000" b="1" dirty="0">
                    <a:solidFill>
                      <a:srgbClr val="000080"/>
                    </a:solidFill>
                    <a:effectLst/>
                    <a:latin typeface="Consolas" panose="020B0609020204030204" pitchFamily="49" charset="0"/>
                  </a:rPr>
                  <a:t>=</a:t>
                </a:r>
                <a:r>
                  <a:rPr lang="en-US" sz="2000" dirty="0">
                    <a:solidFill>
                      <a:srgbClr val="000000"/>
                    </a:solidFill>
                    <a:effectLst/>
                    <a:latin typeface="Consolas" panose="020B0609020204030204" pitchFamily="49" charset="0"/>
                  </a:rPr>
                  <a:t> </a:t>
                </a:r>
                <a14:m>
                  <m:oMath xmlns:m="http://schemas.openxmlformats.org/officeDocument/2006/math">
                    <m:r>
                      <a:rPr lang="en-US" sz="2000" i="1" dirty="0">
                        <a:solidFill>
                          <a:srgbClr val="000000"/>
                        </a:solidFill>
                        <a:latin typeface="Cambria Math" panose="02040503050406030204" pitchFamily="18" charset="0"/>
                      </a:rPr>
                      <m:t>𝑓</m:t>
                    </m:r>
                    <m:d>
                      <m:dPr>
                        <m:ctrlPr>
                          <a:rPr lang="en-US" sz="2000" i="1" dirty="0" smtClean="0">
                            <a:solidFill>
                              <a:srgbClr val="000000"/>
                            </a:solidFill>
                            <a:latin typeface="Cambria Math" panose="02040503050406030204" pitchFamily="18" charset="0"/>
                          </a:rPr>
                        </m:ctrlPr>
                      </m:dPr>
                      <m:e>
                        <m:r>
                          <a:rPr lang="en-US" sz="2000" i="1">
                            <a:solidFill>
                              <a:srgbClr val="1306BA"/>
                            </a:solidFill>
                            <a:latin typeface="Cambria Math" panose="02040503050406030204" pitchFamily="18" charset="0"/>
                          </a:rPr>
                          <m:t>𝑥</m:t>
                        </m:r>
                      </m:e>
                    </m:d>
                  </m:oMath>
                </a14:m>
                <a:endParaRPr lang="en-US" sz="2000" b="1" dirty="0">
                  <a:solidFill>
                    <a:srgbClr val="000080"/>
                  </a:solidFill>
                  <a:effectLst/>
                  <a:latin typeface="Consolas" panose="020B0609020204030204" pitchFamily="49" charset="0"/>
                </a:endParaRPr>
              </a:p>
              <a:p>
                <a:r>
                  <a:rPr lang="en-US" sz="2000" b="1" dirty="0">
                    <a:solidFill>
                      <a:srgbClr val="000080"/>
                    </a:solidFill>
                    <a:latin typeface="Consolas" panose="020B0609020204030204" pitchFamily="49" charset="0"/>
                  </a:rPr>
                  <a:t>       </a:t>
                </a:r>
                <a:r>
                  <a:rPr lang="en-US" sz="2000" dirty="0">
                    <a:solidFill>
                      <a:srgbClr val="000000"/>
                    </a:solidFill>
                    <a:effectLst/>
                    <a:latin typeface="Consolas" panose="020B0609020204030204" pitchFamily="49" charset="0"/>
                  </a:rPr>
                  <a:t> </a:t>
                </a:r>
                <a:r>
                  <a:rPr lang="en-US" sz="2000" b="1" dirty="0">
                    <a:solidFill>
                      <a:srgbClr val="0000FF"/>
                    </a:solidFill>
                    <a:effectLst/>
                    <a:latin typeface="Consolas" panose="020B0609020204030204" pitchFamily="49" charset="0"/>
                  </a:rPr>
                  <a:t>if</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curr_val</a:t>
                </a:r>
                <a:r>
                  <a:rPr lang="en-US" sz="2000" dirty="0">
                    <a:solidFill>
                      <a:srgbClr val="000000"/>
                    </a:solidFill>
                    <a:effectLst/>
                    <a:latin typeface="Consolas" panose="020B0609020204030204" pitchFamily="49" charset="0"/>
                  </a:rPr>
                  <a:t> </a:t>
                </a:r>
                <a:r>
                  <a:rPr lang="en-US" sz="2000" b="1" dirty="0">
                    <a:solidFill>
                      <a:srgbClr val="000080"/>
                    </a:solidFill>
                    <a:effectLst/>
                    <a:latin typeface="Consolas" panose="020B0609020204030204" pitchFamily="49" charset="0"/>
                  </a:rPr>
                  <a:t>&gt;</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max_val</a:t>
                </a:r>
                <a:r>
                  <a:rPr lang="en-US" sz="2000" b="1" dirty="0">
                    <a:solidFill>
                      <a:srgbClr val="000080"/>
                    </a:solidFill>
                    <a:effectLst/>
                    <a:latin typeface="Consolas" panose="020B0609020204030204" pitchFamily="49" charset="0"/>
                  </a:rPr>
                  <a:t>:</a:t>
                </a:r>
              </a:p>
              <a:p>
                <a:r>
                  <a:rPr lang="en-US" sz="2000" b="1" dirty="0">
                    <a:solidFill>
                      <a:srgbClr val="000080"/>
                    </a:solidFill>
                    <a:latin typeface="Consolas" panose="020B0609020204030204" pitchFamily="49" charset="0"/>
                  </a:rPr>
                  <a:t>           </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max_val</a:t>
                </a:r>
                <a:r>
                  <a:rPr lang="en-US" sz="2000" dirty="0">
                    <a:solidFill>
                      <a:srgbClr val="000000"/>
                    </a:solidFill>
                    <a:effectLst/>
                    <a:latin typeface="Consolas" panose="020B0609020204030204" pitchFamily="49" charset="0"/>
                  </a:rPr>
                  <a:t> </a:t>
                </a:r>
                <a:r>
                  <a:rPr lang="en-US" sz="2000" b="1" dirty="0">
                    <a:solidFill>
                      <a:srgbClr val="000080"/>
                    </a:solidFill>
                    <a:effectLst/>
                    <a:latin typeface="Consolas" panose="020B0609020204030204" pitchFamily="49" charset="0"/>
                  </a:rPr>
                  <a:t>=</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curr_val</a:t>
                </a:r>
                <a:endParaRPr lang="en-US" sz="2000" dirty="0">
                  <a:solidFill>
                    <a:srgbClr val="000000"/>
                  </a:solidFill>
                  <a:effectLst/>
                  <a:latin typeface="Consolas" panose="020B0609020204030204" pitchFamily="49" charset="0"/>
                </a:endParaRPr>
              </a:p>
              <a:p>
                <a:r>
                  <a:rPr lang="en-US" sz="2000" dirty="0">
                    <a:solidFill>
                      <a:srgbClr val="000000"/>
                    </a:solidFill>
                    <a:latin typeface="Consolas" panose="020B0609020204030204" pitchFamily="49" charset="0"/>
                  </a:rPr>
                  <a:t>           </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best_arg</a:t>
                </a:r>
                <a:r>
                  <a:rPr lang="en-US" sz="2000" dirty="0">
                    <a:solidFill>
                      <a:srgbClr val="000000"/>
                    </a:solidFill>
                    <a:effectLst/>
                    <a:latin typeface="Consolas" panose="020B0609020204030204" pitchFamily="49" charset="0"/>
                  </a:rPr>
                  <a:t> </a:t>
                </a:r>
                <a:r>
                  <a:rPr lang="en-US" sz="2000" b="1" dirty="0">
                    <a:solidFill>
                      <a:srgbClr val="000080"/>
                    </a:solidFill>
                    <a:effectLst/>
                    <a:latin typeface="Consolas" panose="020B0609020204030204" pitchFamily="49" charset="0"/>
                  </a:rPr>
                  <a:t>=</a:t>
                </a:r>
                <a:r>
                  <a:rPr lang="en-US" sz="2000" dirty="0">
                    <a:solidFill>
                      <a:srgbClr val="000000"/>
                    </a:solidFill>
                    <a:effectLst/>
                    <a:latin typeface="Consolas" panose="020B0609020204030204" pitchFamily="49" charset="0"/>
                  </a:rPr>
                  <a:t> </a:t>
                </a:r>
                <a14:m>
                  <m:oMath xmlns:m="http://schemas.openxmlformats.org/officeDocument/2006/math">
                    <m:r>
                      <a:rPr lang="en-US" sz="2000" i="1">
                        <a:solidFill>
                          <a:srgbClr val="1306BA"/>
                        </a:solidFill>
                        <a:latin typeface="Cambria Math" panose="02040503050406030204" pitchFamily="18" charset="0"/>
                      </a:rPr>
                      <m:t>𝑥</m:t>
                    </m:r>
                  </m:oMath>
                </a14:m>
                <a:endParaRPr lang="en-US" sz="2000" dirty="0">
                  <a:solidFill>
                    <a:srgbClr val="000000"/>
                  </a:solidFill>
                  <a:effectLst/>
                  <a:latin typeface="Consolas" panose="020B0609020204030204" pitchFamily="49" charset="0"/>
                </a:endParaRPr>
              </a:p>
              <a:p>
                <a:r>
                  <a:rPr lang="en-US" sz="2000" b="1" dirty="0">
                    <a:solidFill>
                      <a:srgbClr val="000000"/>
                    </a:solidFill>
                    <a:latin typeface="Consolas" panose="020B0609020204030204" pitchFamily="49" charset="0"/>
                  </a:rPr>
                  <a:t>     </a:t>
                </a:r>
                <a:r>
                  <a:rPr lang="en-US" sz="2000" b="1" dirty="0">
                    <a:solidFill>
                      <a:srgbClr val="0000FF"/>
                    </a:solidFill>
                    <a:effectLst/>
                    <a:latin typeface="Consolas" panose="020B0609020204030204" pitchFamily="49" charset="0"/>
                  </a:rPr>
                  <a:t>return</a:t>
                </a:r>
                <a:r>
                  <a:rPr lang="en-US" sz="2000" dirty="0">
                    <a:solidFill>
                      <a:srgbClr val="000000"/>
                    </a:solidFill>
                    <a:effectLst/>
                    <a:latin typeface="Consolas" panose="020B0609020204030204" pitchFamily="49" charset="0"/>
                  </a:rPr>
                  <a:t> </a:t>
                </a:r>
                <a:r>
                  <a:rPr lang="en-US" sz="2000" b="1" dirty="0">
                    <a:solidFill>
                      <a:srgbClr val="000080"/>
                    </a:solidFill>
                    <a:effectLst/>
                    <a:latin typeface="Consolas" panose="020B0609020204030204" pitchFamily="49" charset="0"/>
                  </a:rPr>
                  <a:t>(</a:t>
                </a:r>
                <a:r>
                  <a:rPr lang="en-US" sz="2000" dirty="0" err="1">
                    <a:solidFill>
                      <a:srgbClr val="000000"/>
                    </a:solidFill>
                    <a:effectLst/>
                    <a:latin typeface="Consolas" panose="020B0609020204030204" pitchFamily="49" charset="0"/>
                  </a:rPr>
                  <a:t>max_val</a:t>
                </a:r>
                <a:r>
                  <a:rPr lang="en-US" sz="2000" b="1" dirty="0">
                    <a:solidFill>
                      <a:srgbClr val="000080"/>
                    </a:solidFill>
                    <a:effectLst/>
                    <a:latin typeface="Consolas" panose="020B0609020204030204" pitchFamily="49" charset="0"/>
                  </a:rPr>
                  <a:t>,</a:t>
                </a:r>
                <a:r>
                  <a:rPr lang="en-US" sz="2000" dirty="0">
                    <a:solidFill>
                      <a:srgbClr val="000000"/>
                    </a:solidFill>
                    <a:effectLst/>
                    <a:latin typeface="Consolas" panose="020B0609020204030204" pitchFamily="49" charset="0"/>
                  </a:rPr>
                  <a:t> </a:t>
                </a:r>
                <a:r>
                  <a:rPr lang="en-US" sz="2000" dirty="0" err="1">
                    <a:solidFill>
                      <a:srgbClr val="000000"/>
                    </a:solidFill>
                    <a:effectLst/>
                    <a:latin typeface="Consolas" panose="020B0609020204030204" pitchFamily="49" charset="0"/>
                  </a:rPr>
                  <a:t>best_arg</a:t>
                </a:r>
                <a:r>
                  <a:rPr lang="en-US" sz="2000" b="1" dirty="0">
                    <a:solidFill>
                      <a:srgbClr val="000080"/>
                    </a:solidFill>
                    <a:effectLst/>
                    <a:latin typeface="Consolas" panose="020B0609020204030204" pitchFamily="49" charset="0"/>
                  </a:rPr>
                  <a:t>)</a:t>
                </a:r>
                <a:endParaRPr lang="en-US" sz="2000" dirty="0">
                  <a:effectLst/>
                  <a:latin typeface="Consolas" panose="020B0609020204030204" pitchFamily="49" charset="0"/>
                </a:endParaRPr>
              </a:p>
            </p:txBody>
          </p:sp>
        </mc:Choice>
        <mc:Fallback xmlns="">
          <p:sp>
            <p:nvSpPr>
              <p:cNvPr id="20" name="TextBox 19">
                <a:extLst>
                  <a:ext uri="{FF2B5EF4-FFF2-40B4-BE49-F238E27FC236}">
                    <a16:creationId xmlns:a16="http://schemas.microsoft.com/office/drawing/2014/main" id="{4B0172E0-0290-29CF-D63E-6B60ED7B787B}"/>
                  </a:ext>
                </a:extLst>
              </p:cNvPr>
              <p:cNvSpPr txBox="1">
                <a:spLocks noRot="1" noChangeAspect="1" noMove="1" noResize="1" noEditPoints="1" noAdjustHandles="1" noChangeArrowheads="1" noChangeShapeType="1" noTextEdit="1"/>
              </p:cNvSpPr>
              <p:nvPr/>
            </p:nvSpPr>
            <p:spPr>
              <a:xfrm>
                <a:off x="7362908" y="3825990"/>
                <a:ext cx="4658800" cy="2862322"/>
              </a:xfrm>
              <a:prstGeom prst="rect">
                <a:avLst/>
              </a:prstGeom>
              <a:blipFill>
                <a:blip r:embed="rId5"/>
                <a:stretch>
                  <a:fillRect l="-1305" t="-1062" b="-2760"/>
                </a:stretch>
              </a:blipFill>
              <a:ln>
                <a:solidFill>
                  <a:schemeClr val="bg2"/>
                </a:solidFill>
              </a:ln>
            </p:spPr>
            <p:txBody>
              <a:bodyPr/>
              <a:lstStyle/>
              <a:p>
                <a:r>
                  <a:rPr 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0A372-122A-DD29-8A92-2110E3244D4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00A954A-9389-7ABE-02DC-9016D632DA53}"/>
                  </a:ext>
                </a:extLst>
              </p:cNvPr>
              <p:cNvSpPr>
                <a:spLocks noGrp="1"/>
              </p:cNvSpPr>
              <p:nvPr>
                <p:ph idx="1"/>
              </p:nvPr>
            </p:nvSpPr>
            <p:spPr>
              <a:xfrm>
                <a:off x="607273" y="942300"/>
                <a:ext cx="10944880" cy="5172314"/>
              </a:xfrm>
            </p:spPr>
            <p:txBody>
              <a:bodyPr>
                <a:noAutofit/>
              </a:bodyPr>
              <a:lstStyle/>
              <a:p>
                <a:pPr marL="0" indent="0">
                  <a:buClr>
                    <a:schemeClr val="tx1"/>
                  </a:buClr>
                  <a:buNone/>
                </a:pPr>
                <a:r>
                  <a:rPr lang="en-US" sz="2000" dirty="0">
                    <a:latin typeface="Consolas" panose="020B0609020204030204" pitchFamily="49" charset="0"/>
                  </a:rPr>
                  <a:t>ValueIteration(</a:t>
                </a:r>
                <a14:m>
                  <m:oMath xmlns:m="http://schemas.openxmlformats.org/officeDocument/2006/math">
                    <m:r>
                      <m:rPr>
                        <m:sty m:val="p"/>
                      </m:rPr>
                      <a:rPr lang="pt-BR" sz="2000" i="0" dirty="0" smtClean="0">
                        <a:latin typeface="Cambria Math" panose="02040503050406030204" pitchFamily="18" charset="0"/>
                      </a:rPr>
                      <m:t>MDP</m:t>
                    </m:r>
                    <m:d>
                      <m:dPr>
                        <m:ctrlPr>
                          <a:rPr lang="pt-BR" sz="2000" i="1" dirty="0" smtClean="0">
                            <a:latin typeface="Cambria Math" panose="02040503050406030204" pitchFamily="18" charset="0"/>
                          </a:rPr>
                        </m:ctrlPr>
                      </m:dPr>
                      <m:e>
                        <m:r>
                          <a:rPr lang="pt-BR" sz="2000" i="1" dirty="0">
                            <a:latin typeface="Cambria Math" panose="02040503050406030204" pitchFamily="18" charset="0"/>
                          </a:rPr>
                          <m:t>𝑆</m:t>
                        </m:r>
                        <m:r>
                          <a:rPr lang="pt-BR" sz="2000" i="1" dirty="0">
                            <a:latin typeface="Cambria Math" panose="02040503050406030204" pitchFamily="18" charset="0"/>
                          </a:rPr>
                          <m:t>, </m:t>
                        </m:r>
                        <m:r>
                          <a:rPr lang="pt-BR" sz="2000" i="1" dirty="0">
                            <a:latin typeface="Cambria Math" panose="02040503050406030204" pitchFamily="18" charset="0"/>
                          </a:rPr>
                          <m:t>𝐴</m:t>
                        </m:r>
                        <m:r>
                          <a:rPr lang="pt-BR" sz="2000" i="1" dirty="0">
                            <a:latin typeface="Cambria Math" panose="02040503050406030204" pitchFamily="18" charset="0"/>
                          </a:rPr>
                          <m:t>, </m:t>
                        </m:r>
                        <m:r>
                          <a:rPr lang="pt-BR" sz="2000" i="1" dirty="0">
                            <a:latin typeface="Cambria Math" panose="02040503050406030204" pitchFamily="18" charset="0"/>
                          </a:rPr>
                          <m:t>𝑃</m:t>
                        </m:r>
                        <m:r>
                          <a:rPr lang="pt-BR" sz="2000" i="1" dirty="0">
                            <a:latin typeface="Cambria Math" panose="02040503050406030204" pitchFamily="18" charset="0"/>
                          </a:rPr>
                          <m:t>, </m:t>
                        </m:r>
                        <m:r>
                          <a:rPr lang="pt-BR" sz="2000" i="1" dirty="0">
                            <a:latin typeface="Cambria Math" panose="02040503050406030204" pitchFamily="18" charset="0"/>
                          </a:rPr>
                          <m:t>𝑅</m:t>
                        </m:r>
                        <m:r>
                          <a:rPr lang="pt-BR" sz="2000" i="1" dirty="0">
                            <a:latin typeface="Cambria Math" panose="02040503050406030204" pitchFamily="18" charset="0"/>
                          </a:rPr>
                          <m:t>, </m:t>
                        </m:r>
                        <m:r>
                          <a:rPr lang="pt-BR" sz="2000" i="1" dirty="0">
                            <a:latin typeface="Cambria Math" panose="02040503050406030204" pitchFamily="18" charset="0"/>
                          </a:rPr>
                          <m:t>𝛾</m:t>
                        </m:r>
                      </m:e>
                    </m:d>
                    <m:r>
                      <a:rPr lang="en-US" sz="2000" b="0" i="1" dirty="0" smtClean="0">
                        <a:latin typeface="Cambria Math" panose="02040503050406030204" pitchFamily="18" charset="0"/>
                      </a:rPr>
                      <m:t>,</m:t>
                    </m:r>
                    <m:r>
                      <a:rPr lang="en-US" sz="2000" b="0" i="1" dirty="0" smtClean="0">
                        <a:latin typeface="Cambria Math" panose="02040503050406030204" pitchFamily="18" charset="0"/>
                      </a:rPr>
                      <m:t>𝜃</m:t>
                    </m:r>
                  </m:oMath>
                </a14:m>
                <a:r>
                  <a:rPr lang="en-US" sz="2000" dirty="0">
                    <a:latin typeface="Consolas" panose="020B0609020204030204" pitchFamily="49" charset="0"/>
                  </a:rPr>
                  <a:t>) </a:t>
                </a:r>
                <a:r>
                  <a:rPr lang="en-US" sz="2000" dirty="0">
                    <a:latin typeface="Consolas" panose="020B0609020204030204" pitchFamily="49" charset="0"/>
                    <a:sym typeface="Wingdings" panose="05000000000000000000" pitchFamily="2" charset="2"/>
                  </a:rPr>
                  <a:t> </a:t>
                </a:r>
                <a:r>
                  <a:rPr lang="en-US" sz="2000" dirty="0"/>
                  <a:t>Optimal value function </a:t>
                </a:r>
                <a14:m>
                  <m:oMath xmlns:m="http://schemas.openxmlformats.org/officeDocument/2006/math">
                    <m:sSup>
                      <m:sSupPr>
                        <m:ctrlPr>
                          <a:rPr lang="en-US" sz="2000" b="0" i="1" dirty="0" smtClean="0">
                            <a:latin typeface="Cambria Math" panose="02040503050406030204" pitchFamily="18" charset="0"/>
                          </a:rPr>
                        </m:ctrlPr>
                      </m:sSupPr>
                      <m:e>
                        <m:r>
                          <a:rPr lang="en-US" sz="2000" i="1" dirty="0" smtClean="0">
                            <a:latin typeface="Cambria Math" panose="02040503050406030204" pitchFamily="18" charset="0"/>
                          </a:rPr>
                          <m:t>𝑉</m:t>
                        </m:r>
                      </m:e>
                      <m:sup>
                        <m:r>
                          <a:rPr lang="en-US" sz="2000" b="0" i="1" dirty="0" smtClean="0">
                            <a:latin typeface="Cambria Math" panose="02040503050406030204" pitchFamily="18" charset="0"/>
                          </a:rPr>
                          <m:t>∗</m:t>
                        </m:r>
                      </m:sup>
                    </m:sSup>
                  </m:oMath>
                </a14:m>
                <a:r>
                  <a:rPr lang="en-US" sz="2000" dirty="0"/>
                  <a:t>, optimal policy </a:t>
                </a:r>
                <a14:m>
                  <m:oMath xmlns:m="http://schemas.openxmlformats.org/officeDocument/2006/math">
                    <m:sSup>
                      <m:sSupPr>
                        <m:ctrlPr>
                          <a:rPr lang="en-US" sz="2000" b="0" i="1" dirty="0" smtClean="0">
                            <a:latin typeface="Cambria Math" panose="02040503050406030204" pitchFamily="18" charset="0"/>
                          </a:rPr>
                        </m:ctrlPr>
                      </m:sSupPr>
                      <m:e>
                        <m:r>
                          <a:rPr lang="en-US" sz="2000" b="1" i="1" dirty="0" smtClean="0">
                            <a:latin typeface="Cambria Math" panose="02040503050406030204" pitchFamily="18" charset="0"/>
                          </a:rPr>
                          <m:t>𝝅</m:t>
                        </m:r>
                      </m:e>
                      <m:sup>
                        <m:r>
                          <a:rPr lang="en-US" sz="2000" b="0" i="1" dirty="0" smtClean="0">
                            <a:latin typeface="Cambria Math" panose="02040503050406030204" pitchFamily="18" charset="0"/>
                          </a:rPr>
                          <m:t>∗</m:t>
                        </m:r>
                      </m:sup>
                    </m:sSup>
                  </m:oMath>
                </a14:m>
                <a:endParaRPr lang="en-US" sz="2000" dirty="0">
                  <a:latin typeface="Consolas" panose="020B0609020204030204" pitchFamily="49" charset="0"/>
                </a:endParaRPr>
              </a:p>
              <a:p>
                <a:pPr marL="0" indent="0">
                  <a:buClr>
                    <a:schemeClr val="tx1"/>
                  </a:buClr>
                  <a:buNone/>
                </a:pPr>
                <a:endParaRPr lang="en-US" sz="600" dirty="0">
                  <a:latin typeface="Consolas" panose="020B0609020204030204" pitchFamily="49" charset="0"/>
                </a:endParaRPr>
              </a:p>
              <a:p>
                <a:pPr marL="0" indent="0">
                  <a:buClr>
                    <a:schemeClr val="tx1"/>
                  </a:buClr>
                  <a:buNone/>
                </a:pPr>
                <a:r>
                  <a:rPr lang="en-US" sz="2000" dirty="0">
                    <a:latin typeface="Consolas" panose="020B0609020204030204" pitchFamily="49" charset="0"/>
                  </a:rPr>
                  <a:t>    Initialize </a:t>
                </a:r>
                <a14:m>
                  <m:oMath xmlns:m="http://schemas.openxmlformats.org/officeDocument/2006/math">
                    <m:r>
                      <a:rPr lang="en-US" sz="2000" b="0" i="1" dirty="0" smtClean="0">
                        <a:latin typeface="Cambria Math" panose="02040503050406030204" pitchFamily="18" charset="0"/>
                      </a:rPr>
                      <m:t>𝑉</m:t>
                    </m:r>
                    <m:d>
                      <m:dPr>
                        <m:ctrlPr>
                          <a:rPr lang="en-US" sz="2000" i="1" dirty="0">
                            <a:latin typeface="Cambria Math" panose="02040503050406030204" pitchFamily="18" charset="0"/>
                          </a:rPr>
                        </m:ctrlPr>
                      </m:dPr>
                      <m:e>
                        <m:r>
                          <a:rPr lang="en-US" sz="2000" i="1" dirty="0">
                            <a:solidFill>
                              <a:srgbClr val="00B050"/>
                            </a:solidFill>
                            <a:latin typeface="Cambria Math" panose="02040503050406030204" pitchFamily="18" charset="0"/>
                          </a:rPr>
                          <m:t>𝑠</m:t>
                        </m:r>
                      </m:e>
                    </m:d>
                    <m:r>
                      <a:rPr lang="en-US" sz="2000" i="1" dirty="0">
                        <a:latin typeface="Cambria Math" panose="02040503050406030204" pitchFamily="18" charset="0"/>
                      </a:rPr>
                      <m:t>=</m:t>
                    </m:r>
                    <m:r>
                      <a:rPr lang="en-US" sz="2000" b="0" i="1" dirty="0" smtClean="0">
                        <a:latin typeface="Cambria Math" panose="02040503050406030204" pitchFamily="18" charset="0"/>
                      </a:rPr>
                      <m:t>0</m:t>
                    </m:r>
                    <m:r>
                      <a:rPr lang="en-US" sz="2000" i="1" dirty="0">
                        <a:latin typeface="Cambria Math" panose="02040503050406030204" pitchFamily="18" charset="0"/>
                      </a:rPr>
                      <m:t> </m:t>
                    </m:r>
                  </m:oMath>
                </a14:m>
                <a:r>
                  <a:rPr lang="en-US" sz="2000" dirty="0">
                    <a:latin typeface="Consolas" panose="020B0609020204030204" pitchFamily="49" charset="0"/>
                  </a:rPr>
                  <a:t> for all </a:t>
                </a:r>
                <a14:m>
                  <m:oMath xmlns:m="http://schemas.openxmlformats.org/officeDocument/2006/math">
                    <m:r>
                      <a:rPr lang="en-US" sz="2000" i="1" dirty="0" smtClean="0">
                        <a:solidFill>
                          <a:srgbClr val="00B050"/>
                        </a:solidFill>
                        <a:latin typeface="Cambria Math" panose="02040503050406030204" pitchFamily="18" charset="0"/>
                      </a:rPr>
                      <m:t>𝑠</m:t>
                    </m:r>
                    <m:r>
                      <a:rPr lang="en-US" sz="2000" b="0" i="1" dirty="0" smtClean="0">
                        <a:solidFill>
                          <a:schemeClr val="tx1"/>
                        </a:solidFill>
                        <a:latin typeface="Cambria Math" panose="02040503050406030204" pitchFamily="18" charset="0"/>
                      </a:rPr>
                      <m:t>∈</m:t>
                    </m:r>
                    <m:r>
                      <a:rPr lang="en-US" sz="2000" b="0" i="1" dirty="0" smtClean="0">
                        <a:solidFill>
                          <a:srgbClr val="00B050"/>
                        </a:solidFill>
                        <a:latin typeface="Cambria Math" panose="02040503050406030204" pitchFamily="18" charset="0"/>
                      </a:rPr>
                      <m:t>𝑆</m:t>
                    </m:r>
                  </m:oMath>
                </a14:m>
                <a:r>
                  <a:rPr lang="en-US" sz="2000" dirty="0">
                    <a:solidFill>
                      <a:srgbClr val="008000"/>
                    </a:solidFill>
                    <a:latin typeface="Consolas" panose="020B0609020204030204" pitchFamily="49" charset="0"/>
                  </a:rPr>
                  <a:t>                    # value estimates</a:t>
                </a:r>
                <a:r>
                  <a:rPr lang="en-US" sz="2000" dirty="0">
                    <a:latin typeface="Consolas" panose="020B0609020204030204" pitchFamily="49" charset="0"/>
                  </a:rPr>
                  <a:t>
    repeat:</a:t>
                </a:r>
              </a:p>
              <a:p>
                <a:pPr marL="0" indent="0">
                  <a:buClr>
                    <a:schemeClr val="tx1"/>
                  </a:buClr>
                  <a:buNone/>
                </a:pPr>
                <a:r>
                  <a:rPr lang="en-US" sz="2000" dirty="0">
                    <a:latin typeface="Consolas" panose="020B0609020204030204" pitchFamily="49" charset="0"/>
                  </a:rPr>
                  <a:t>        </a:t>
                </a:r>
                <a14:m>
                  <m:oMath xmlns:m="http://schemas.openxmlformats.org/officeDocument/2006/math">
                    <m:r>
                      <m:rPr>
                        <m:sty m:val="p"/>
                      </m:rPr>
                      <a:rPr lang="en-US" sz="2000">
                        <a:latin typeface="Cambria Math" panose="02040503050406030204" pitchFamily="18" charset="0"/>
                      </a:rPr>
                      <m:t>Δ</m:t>
                    </m:r>
                    <m:r>
                      <a:rPr lang="en-US" sz="2000" b="0" i="1" smtClean="0">
                        <a:latin typeface="Cambria Math" panose="02040503050406030204" pitchFamily="18" charset="0"/>
                      </a:rPr>
                      <m:t>=0</m:t>
                    </m:r>
                  </m:oMath>
                </a14:m>
                <a:endParaRPr lang="en-US" sz="2000" dirty="0">
                  <a:latin typeface="Consolas" panose="020B0609020204030204" pitchFamily="49" charset="0"/>
                </a:endParaRPr>
              </a:p>
              <a:p>
                <a:pPr marL="0" indent="0">
                  <a:buClr>
                    <a:schemeClr val="tx1"/>
                  </a:buClr>
                  <a:buNone/>
                </a:pPr>
                <a:r>
                  <a:rPr lang="en-US" sz="2000" dirty="0">
                    <a:latin typeface="Consolas" panose="020B0609020204030204" pitchFamily="49" charset="0"/>
                  </a:rPr>
                  <a:t>        For each state </a:t>
                </a:r>
                <a14:m>
                  <m:oMath xmlns:m="http://schemas.openxmlformats.org/officeDocument/2006/math">
                    <m:r>
                      <a:rPr lang="en-US" sz="2000" i="1" dirty="0">
                        <a:solidFill>
                          <a:srgbClr val="00B050"/>
                        </a:solidFill>
                        <a:latin typeface="Cambria Math" panose="02040503050406030204" pitchFamily="18" charset="0"/>
                      </a:rPr>
                      <m:t>𝑠</m:t>
                    </m:r>
                    <m:r>
                      <a:rPr lang="en-US" sz="2000" i="1" dirty="0">
                        <a:latin typeface="Cambria Math" panose="02040503050406030204" pitchFamily="18" charset="0"/>
                      </a:rPr>
                      <m:t>∈</m:t>
                    </m:r>
                    <m:r>
                      <a:rPr lang="en-US" sz="2000" i="1" dirty="0">
                        <a:solidFill>
                          <a:srgbClr val="00B050"/>
                        </a:solidFill>
                        <a:latin typeface="Cambria Math" panose="02040503050406030204" pitchFamily="18" charset="0"/>
                      </a:rPr>
                      <m:t>𝑆</m:t>
                    </m:r>
                  </m:oMath>
                </a14:m>
                <a:r>
                  <a:rPr lang="en-US" sz="2000" dirty="0">
                    <a:latin typeface="Consolas" panose="020B0609020204030204" pitchFamily="49" charset="0"/>
                  </a:rPr>
                  <a:t>:</a:t>
                </a:r>
              </a:p>
              <a:p>
                <a:pPr marL="0" indent="0">
                  <a:buClr>
                    <a:schemeClr val="tx1"/>
                  </a:buClr>
                  <a:buNone/>
                </a:pPr>
                <a:r>
                  <a:rPr lang="en-US" sz="2000" dirty="0">
                    <a:latin typeface="Consolas" panose="020B0609020204030204" pitchFamily="49" charset="0"/>
                  </a:rPr>
                  <a:t>            </a:t>
                </a:r>
                <a14:m>
                  <m:oMath xmlns:m="http://schemas.openxmlformats.org/officeDocument/2006/math">
                    <m:r>
                      <a:rPr lang="en-US" sz="2000" b="0" i="1" smtClean="0">
                        <a:latin typeface="Cambria Math" panose="02040503050406030204" pitchFamily="18" charset="0"/>
                      </a:rPr>
                      <m:t>𝑣</m:t>
                    </m:r>
                    <m:r>
                      <a:rPr lang="en-US" sz="2000" b="0" i="1" smtClean="0">
                        <a:latin typeface="Cambria Math" panose="02040503050406030204" pitchFamily="18" charset="0"/>
                      </a:rPr>
                      <m:t>=</m:t>
                    </m:r>
                    <m:r>
                      <a:rPr lang="en-US" sz="2000" b="0" i="1" smtClean="0">
                        <a:latin typeface="Cambria Math" panose="02040503050406030204" pitchFamily="18" charset="0"/>
                      </a:rPr>
                      <m:t>𝑉</m:t>
                    </m:r>
                    <m:d>
                      <m:dPr>
                        <m:ctrlPr>
                          <a:rPr lang="en-US" sz="2000" b="0" i="1" smtClean="0">
                            <a:latin typeface="Cambria Math" panose="02040503050406030204" pitchFamily="18" charset="0"/>
                          </a:rPr>
                        </m:ctrlPr>
                      </m:dPr>
                      <m:e>
                        <m:r>
                          <a:rPr lang="en-US" sz="2000" b="0" i="1" smtClean="0">
                            <a:solidFill>
                              <a:srgbClr val="00B050"/>
                            </a:solidFill>
                            <a:latin typeface="Cambria Math" panose="02040503050406030204" pitchFamily="18" charset="0"/>
                          </a:rPr>
                          <m:t>𝑠</m:t>
                        </m:r>
                      </m:e>
                    </m:d>
                  </m:oMath>
                </a14:m>
                <a:r>
                  <a:rPr lang="en-US" sz="2000" dirty="0">
                    <a:solidFill>
                      <a:srgbClr val="008000"/>
                    </a:solidFill>
                    <a:latin typeface="Consolas" panose="020B0609020204030204" pitchFamily="49" charset="0"/>
                  </a:rPr>
                  <a:t>                                    #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𝑉</m:t>
                        </m:r>
                      </m:e>
                      <m:sub>
                        <m:r>
                          <a:rPr lang="en-US" sz="2000" i="1" dirty="0">
                            <a:latin typeface="Cambria Math" panose="02040503050406030204" pitchFamily="18" charset="0"/>
                          </a:rPr>
                          <m:t>𝑘</m:t>
                        </m:r>
                      </m:sub>
                    </m:sSub>
                    <m:d>
                      <m:dPr>
                        <m:ctrlPr>
                          <a:rPr lang="en-US" sz="2000" i="1" dirty="0">
                            <a:latin typeface="Cambria Math" panose="02040503050406030204" pitchFamily="18" charset="0"/>
                          </a:rPr>
                        </m:ctrlPr>
                      </m:dPr>
                      <m:e>
                        <m:r>
                          <a:rPr lang="en-US" sz="2000" i="1" dirty="0">
                            <a:solidFill>
                              <a:srgbClr val="00B050"/>
                            </a:solidFill>
                            <a:latin typeface="Cambria Math" panose="02040503050406030204" pitchFamily="18" charset="0"/>
                          </a:rPr>
                          <m:t>𝑠</m:t>
                        </m:r>
                      </m:e>
                    </m:d>
                  </m:oMath>
                </a14:m>
                <a:endParaRPr lang="en-US" sz="2000" b="0" dirty="0">
                  <a:latin typeface="Consolas" panose="020B0609020204030204" pitchFamily="49" charset="0"/>
                </a:endParaRPr>
              </a:p>
              <a:p>
                <a:pPr marL="0" indent="0">
                  <a:buClr>
                    <a:schemeClr val="tx1"/>
                  </a:buClr>
                  <a:buNone/>
                </a:pPr>
                <a:r>
                  <a:rPr lang="en-US" sz="2000" dirty="0">
                    <a:latin typeface="Consolas" panose="020B0609020204030204" pitchFamily="49" charset="0"/>
                  </a:rPr>
                  <a:t>            </a:t>
                </a:r>
                <a14:m>
                  <m:oMath xmlns:m="http://schemas.openxmlformats.org/officeDocument/2006/math">
                    <m:r>
                      <a:rPr lang="en-US" sz="2000" b="0" i="1" dirty="0" smtClean="0">
                        <a:latin typeface="Cambria Math" panose="02040503050406030204" pitchFamily="18" charset="0"/>
                      </a:rPr>
                      <m:t>𝑉</m:t>
                    </m:r>
                    <m:d>
                      <m:dPr>
                        <m:ctrlPr>
                          <a:rPr lang="en-US" sz="2000" i="1" dirty="0">
                            <a:latin typeface="Cambria Math" panose="02040503050406030204" pitchFamily="18" charset="0"/>
                          </a:rPr>
                        </m:ctrlPr>
                      </m:dPr>
                      <m:e>
                        <m:r>
                          <a:rPr lang="en-US" sz="2000" i="1" dirty="0">
                            <a:solidFill>
                              <a:srgbClr val="00B050"/>
                            </a:solidFill>
                            <a:latin typeface="Cambria Math" panose="02040503050406030204" pitchFamily="18" charset="0"/>
                          </a:rPr>
                          <m:t>𝑠</m:t>
                        </m:r>
                      </m:e>
                    </m:d>
                    <m:r>
                      <a:rPr lang="en-US" sz="2000" i="1" dirty="0">
                        <a:latin typeface="Cambria Math" panose="02040503050406030204" pitchFamily="18" charset="0"/>
                      </a:rPr>
                      <m:t>=</m:t>
                    </m:r>
                    <m:func>
                      <m:funcPr>
                        <m:ctrlPr>
                          <a:rPr lang="en-US" sz="2000" i="1" dirty="0">
                            <a:latin typeface="Cambria Math" panose="02040503050406030204" pitchFamily="18" charset="0"/>
                          </a:rPr>
                        </m:ctrlPr>
                      </m:funcPr>
                      <m:fName>
                        <m:limLow>
                          <m:limLowPr>
                            <m:ctrlPr>
                              <a:rPr lang="en-US" sz="2000" i="1" dirty="0">
                                <a:latin typeface="Cambria Math" panose="02040503050406030204" pitchFamily="18" charset="0"/>
                              </a:rPr>
                            </m:ctrlPr>
                          </m:limLowPr>
                          <m:e>
                            <m:r>
                              <m:rPr>
                                <m:sty m:val="p"/>
                              </m:rPr>
                              <a:rPr lang="en-US" sz="2000" dirty="0">
                                <a:latin typeface="Cambria Math" panose="02040503050406030204" pitchFamily="18" charset="0"/>
                              </a:rPr>
                              <m:t>max</m:t>
                            </m:r>
                          </m:e>
                          <m:lim>
                            <m:r>
                              <a:rPr lang="en-US" sz="2000" i="1" dirty="0">
                                <a:solidFill>
                                  <a:srgbClr val="7030A0"/>
                                </a:solidFill>
                                <a:latin typeface="Cambria Math" panose="02040503050406030204" pitchFamily="18" charset="0"/>
                              </a:rPr>
                              <m:t>𝑎</m:t>
                            </m:r>
                            <m:r>
                              <a:rPr lang="en-US" sz="2000" i="1" dirty="0">
                                <a:latin typeface="Cambria Math" panose="02040503050406030204" pitchFamily="18" charset="0"/>
                              </a:rPr>
                              <m:t>∈</m:t>
                            </m:r>
                            <m:r>
                              <a:rPr lang="en-US" sz="2000" i="1" dirty="0">
                                <a:solidFill>
                                  <a:srgbClr val="7030A0"/>
                                </a:solidFill>
                                <a:latin typeface="Cambria Math" panose="02040503050406030204" pitchFamily="18" charset="0"/>
                              </a:rPr>
                              <m:t>𝐴</m:t>
                            </m:r>
                          </m:lim>
                        </m:limLow>
                      </m:fName>
                      <m:e>
                        <m:nary>
                          <m:naryPr>
                            <m:chr m:val="∑"/>
                            <m:supHide m:val="on"/>
                            <m:ctrlPr>
                              <a:rPr lang="en-US" sz="2000" i="1" dirty="0">
                                <a:latin typeface="Cambria Math" panose="02040503050406030204" pitchFamily="18" charset="0"/>
                              </a:rPr>
                            </m:ctrlPr>
                          </m:naryPr>
                          <m:sub>
                            <m:sSup>
                              <m:sSupPr>
                                <m:ctrlPr>
                                  <a:rPr lang="en-US" sz="2000" i="1" dirty="0">
                                    <a:latin typeface="Cambria Math" panose="02040503050406030204" pitchFamily="18" charset="0"/>
                                  </a:rPr>
                                </m:ctrlPr>
                              </m:sSupPr>
                              <m:e>
                                <m:r>
                                  <a:rPr lang="en-US" sz="2000" i="1" dirty="0">
                                    <a:solidFill>
                                      <a:srgbClr val="00B050"/>
                                    </a:solidFill>
                                    <a:latin typeface="Cambria Math" panose="02040503050406030204" pitchFamily="18" charset="0"/>
                                  </a:rPr>
                                  <m:t>𝑠</m:t>
                                </m:r>
                              </m:e>
                              <m:sup>
                                <m:r>
                                  <a:rPr lang="en-US" sz="2000" i="1" dirty="0">
                                    <a:latin typeface="Cambria Math" panose="02040503050406030204" pitchFamily="18" charset="0"/>
                                  </a:rPr>
                                  <m:t>′</m:t>
                                </m:r>
                              </m:sup>
                            </m:sSup>
                          </m:sub>
                          <m:sup/>
                          <m:e>
                            <m:r>
                              <a:rPr lang="en-US" sz="2000" i="1" dirty="0">
                                <a:latin typeface="Cambria Math" panose="02040503050406030204" pitchFamily="18" charset="0"/>
                              </a:rPr>
                              <m:t>𝑃</m:t>
                            </m:r>
                            <m:d>
                              <m:dPr>
                                <m:ctrlPr>
                                  <a:rPr lang="en-US" sz="2000" i="1" dirty="0">
                                    <a:latin typeface="Cambria Math" panose="02040503050406030204" pitchFamily="18" charset="0"/>
                                  </a:rPr>
                                </m:ctrlPr>
                              </m:dPr>
                              <m:e>
                                <m:sSup>
                                  <m:sSupPr>
                                    <m:ctrlPr>
                                      <a:rPr lang="en-US" sz="2000" i="1" dirty="0">
                                        <a:latin typeface="Cambria Math" panose="02040503050406030204" pitchFamily="18" charset="0"/>
                                      </a:rPr>
                                    </m:ctrlPr>
                                  </m:sSupPr>
                                  <m:e>
                                    <m:r>
                                      <a:rPr lang="en-US" sz="2000" i="1" dirty="0">
                                        <a:solidFill>
                                          <a:srgbClr val="00B050"/>
                                        </a:solidFill>
                                        <a:latin typeface="Cambria Math" panose="02040503050406030204" pitchFamily="18" charset="0"/>
                                      </a:rPr>
                                      <m:t>𝑠</m:t>
                                    </m:r>
                                  </m:e>
                                  <m:sup>
                                    <m:r>
                                      <a:rPr lang="en-US" sz="2000" i="1" dirty="0">
                                        <a:latin typeface="Cambria Math" panose="02040503050406030204" pitchFamily="18" charset="0"/>
                                      </a:rPr>
                                      <m:t>′</m:t>
                                    </m:r>
                                  </m:sup>
                                </m:sSup>
                                <m:r>
                                  <a:rPr lang="en-US" sz="2000" i="1" dirty="0">
                                    <a:latin typeface="Cambria Math" panose="02040503050406030204" pitchFamily="18" charset="0"/>
                                  </a:rPr>
                                  <m:t>∣</m:t>
                                </m:r>
                                <m:r>
                                  <a:rPr lang="en-US" sz="2000" i="1" dirty="0">
                                    <a:solidFill>
                                      <a:srgbClr val="00B050"/>
                                    </a:solidFill>
                                    <a:latin typeface="Cambria Math" panose="02040503050406030204" pitchFamily="18" charset="0"/>
                                  </a:rPr>
                                  <m:t>𝑠</m:t>
                                </m:r>
                                <m:r>
                                  <a:rPr lang="en-US" sz="2000" i="1" dirty="0">
                                    <a:latin typeface="Cambria Math" panose="02040503050406030204" pitchFamily="18" charset="0"/>
                                  </a:rPr>
                                  <m:t>,</m:t>
                                </m:r>
                                <m:r>
                                  <a:rPr lang="en-US" sz="2000" i="1" dirty="0">
                                    <a:solidFill>
                                      <a:srgbClr val="7030A0"/>
                                    </a:solidFill>
                                    <a:latin typeface="Cambria Math" panose="02040503050406030204" pitchFamily="18" charset="0"/>
                                  </a:rPr>
                                  <m:t>𝑎</m:t>
                                </m:r>
                              </m:e>
                            </m:d>
                            <m:r>
                              <a:rPr lang="en-US" sz="2000" i="1" dirty="0">
                                <a:latin typeface="Cambria Math" panose="02040503050406030204" pitchFamily="18" charset="0"/>
                              </a:rPr>
                              <m:t>⋅</m:t>
                            </m:r>
                            <m:d>
                              <m:dPr>
                                <m:begChr m:val="["/>
                                <m:endChr m:val="]"/>
                                <m:ctrlPr>
                                  <a:rPr lang="en-US" sz="2000" i="1" dirty="0">
                                    <a:latin typeface="Cambria Math" panose="02040503050406030204" pitchFamily="18" charset="0"/>
                                  </a:rPr>
                                </m:ctrlPr>
                              </m:dPr>
                              <m:e>
                                <m:r>
                                  <a:rPr lang="en-US" sz="2000" i="1">
                                    <a:solidFill>
                                      <a:srgbClr val="1306BA"/>
                                    </a:solidFill>
                                    <a:latin typeface="Cambria Math" panose="02040503050406030204" pitchFamily="18" charset="0"/>
                                  </a:rPr>
                                  <m:t>𝑅</m:t>
                                </m:r>
                                <m:d>
                                  <m:dPr>
                                    <m:ctrlPr>
                                      <a:rPr lang="en-US" sz="2000" i="1">
                                        <a:latin typeface="Cambria Math" panose="02040503050406030204" pitchFamily="18" charset="0"/>
                                      </a:rPr>
                                    </m:ctrlPr>
                                  </m:dPr>
                                  <m:e>
                                    <m:r>
                                      <a:rPr lang="en-US" sz="2000" i="1">
                                        <a:solidFill>
                                          <a:srgbClr val="00B050"/>
                                        </a:solidFill>
                                        <a:latin typeface="Cambria Math" panose="02040503050406030204" pitchFamily="18" charset="0"/>
                                      </a:rPr>
                                      <m:t>𝑠</m:t>
                                    </m:r>
                                    <m:r>
                                      <a:rPr lang="en-US" sz="2000" i="1">
                                        <a:latin typeface="Cambria Math" panose="02040503050406030204" pitchFamily="18" charset="0"/>
                                      </a:rPr>
                                      <m:t>,</m:t>
                                    </m:r>
                                    <m:r>
                                      <a:rPr lang="en-US" sz="2000" i="1">
                                        <a:solidFill>
                                          <a:srgbClr val="7030A0"/>
                                        </a:solidFill>
                                        <a:latin typeface="Cambria Math" panose="02040503050406030204" pitchFamily="18" charset="0"/>
                                      </a:rPr>
                                      <m:t>𝑎</m:t>
                                    </m:r>
                                    <m:r>
                                      <a:rPr lang="en-US" sz="2000" i="1">
                                        <a:latin typeface="Cambria Math" panose="02040503050406030204" pitchFamily="18" charset="0"/>
                                      </a:rPr>
                                      <m:t>,</m:t>
                                    </m:r>
                                    <m:r>
                                      <a:rPr lang="en-US" sz="2000" i="1">
                                        <a:solidFill>
                                          <a:srgbClr val="00B050"/>
                                        </a:solidFill>
                                        <a:latin typeface="Cambria Math" panose="02040503050406030204" pitchFamily="18" charset="0"/>
                                      </a:rPr>
                                      <m:t>𝑠</m:t>
                                    </m:r>
                                    <m:r>
                                      <a:rPr lang="en-US" sz="2000" i="1">
                                        <a:latin typeface="Cambria Math" panose="02040503050406030204" pitchFamily="18" charset="0"/>
                                      </a:rPr>
                                      <m:t>′</m:t>
                                    </m:r>
                                  </m:e>
                                </m:d>
                                <m:r>
                                  <a:rPr lang="en-US" sz="2000" i="1">
                                    <a:latin typeface="Cambria Math" panose="02040503050406030204" pitchFamily="18" charset="0"/>
                                  </a:rPr>
                                  <m:t>+</m:t>
                                </m:r>
                                <m:r>
                                  <a:rPr lang="en-US" sz="2000" i="1">
                                    <a:solidFill>
                                      <a:srgbClr val="00B0F0"/>
                                    </a:solidFill>
                                    <a:latin typeface="Cambria Math" panose="02040503050406030204" pitchFamily="18" charset="0"/>
                                  </a:rPr>
                                  <m:t>𝛾</m:t>
                                </m:r>
                                <m:r>
                                  <a:rPr lang="en-US" sz="2000" b="0" i="1" dirty="0" smtClean="0">
                                    <a:latin typeface="Cambria Math" panose="02040503050406030204" pitchFamily="18" charset="0"/>
                                  </a:rPr>
                                  <m:t>⋅</m:t>
                                </m:r>
                                <m:r>
                                  <a:rPr lang="en-US" sz="2000" b="0" i="1" dirty="0" smtClean="0">
                                    <a:latin typeface="Cambria Math" panose="02040503050406030204" pitchFamily="18" charset="0"/>
                                  </a:rPr>
                                  <m:t>𝑉</m:t>
                                </m:r>
                                <m:d>
                                  <m:dPr>
                                    <m:ctrlPr>
                                      <a:rPr lang="en-US" sz="2000" i="1" dirty="0">
                                        <a:latin typeface="Cambria Math" panose="02040503050406030204" pitchFamily="18" charset="0"/>
                                      </a:rPr>
                                    </m:ctrlPr>
                                  </m:dPr>
                                  <m:e>
                                    <m:sSup>
                                      <m:sSupPr>
                                        <m:ctrlPr>
                                          <a:rPr lang="en-US" sz="2000" i="1" dirty="0">
                                            <a:latin typeface="Cambria Math" panose="02040503050406030204" pitchFamily="18" charset="0"/>
                                          </a:rPr>
                                        </m:ctrlPr>
                                      </m:sSupPr>
                                      <m:e>
                                        <m:r>
                                          <a:rPr lang="en-US" sz="2000" i="1" dirty="0">
                                            <a:solidFill>
                                              <a:srgbClr val="00B050"/>
                                            </a:solidFill>
                                            <a:latin typeface="Cambria Math" panose="02040503050406030204" pitchFamily="18" charset="0"/>
                                          </a:rPr>
                                          <m:t>𝑠</m:t>
                                        </m:r>
                                      </m:e>
                                      <m:sup>
                                        <m:r>
                                          <a:rPr lang="en-US" sz="2000" i="1" dirty="0">
                                            <a:latin typeface="Cambria Math" panose="02040503050406030204" pitchFamily="18" charset="0"/>
                                          </a:rPr>
                                          <m:t>′</m:t>
                                        </m:r>
                                      </m:sup>
                                    </m:sSup>
                                  </m:e>
                                </m:d>
                              </m:e>
                            </m:d>
                          </m:e>
                        </m:nary>
                      </m:e>
                    </m:func>
                  </m:oMath>
                </a14:m>
                <a:r>
                  <a:rPr lang="en-US" sz="2000" dirty="0">
                    <a:latin typeface="Consolas" panose="020B0609020204030204" pitchFamily="49" charset="0"/>
                  </a:rPr>
                  <a:t>    </a:t>
                </a:r>
                <a:r>
                  <a:rPr lang="en-US" sz="2000" dirty="0">
                    <a:solidFill>
                      <a:srgbClr val="008000"/>
                    </a:solidFill>
                    <a:latin typeface="Consolas" panose="020B0609020204030204" pitchFamily="49" charset="0"/>
                  </a:rPr>
                  <a:t>#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𝑉</m:t>
                        </m:r>
                      </m:e>
                      <m:sub>
                        <m:r>
                          <a:rPr lang="en-US" sz="2000" i="1" dirty="0">
                            <a:latin typeface="Cambria Math" panose="02040503050406030204" pitchFamily="18" charset="0"/>
                          </a:rPr>
                          <m:t>𝑘</m:t>
                        </m:r>
                        <m:r>
                          <a:rPr lang="en-US" sz="2000" b="0" i="1" dirty="0" smtClean="0">
                            <a:latin typeface="Cambria Math" panose="02040503050406030204" pitchFamily="18" charset="0"/>
                          </a:rPr>
                          <m:t>+1</m:t>
                        </m:r>
                      </m:sub>
                    </m:sSub>
                    <m:d>
                      <m:dPr>
                        <m:ctrlPr>
                          <a:rPr lang="en-US" sz="2000" i="1" dirty="0">
                            <a:latin typeface="Cambria Math" panose="02040503050406030204" pitchFamily="18" charset="0"/>
                          </a:rPr>
                        </m:ctrlPr>
                      </m:dPr>
                      <m:e>
                        <m:r>
                          <a:rPr lang="en-US" sz="2000" i="1" dirty="0">
                            <a:solidFill>
                              <a:srgbClr val="00B050"/>
                            </a:solidFill>
                            <a:latin typeface="Cambria Math" panose="02040503050406030204" pitchFamily="18" charset="0"/>
                          </a:rPr>
                          <m:t>𝑠</m:t>
                        </m:r>
                      </m:e>
                    </m:d>
                  </m:oMath>
                </a14:m>
                <a:endParaRPr lang="en-US" sz="2000" dirty="0">
                  <a:latin typeface="Consolas" panose="020B0609020204030204" pitchFamily="49" charset="0"/>
                </a:endParaRPr>
              </a:p>
              <a:p>
                <a:pPr marL="0" indent="0">
                  <a:buClr>
                    <a:schemeClr val="tx1"/>
                  </a:buClr>
                  <a:buNone/>
                </a:pPr>
                <a:r>
                  <a:rPr lang="en-US" sz="2000" dirty="0">
                    <a:latin typeface="Consolas" panose="020B0609020204030204" pitchFamily="49" charset="0"/>
                  </a:rPr>
                  <a:t>            </a:t>
                </a:r>
                <a14:m>
                  <m:oMath xmlns:m="http://schemas.openxmlformats.org/officeDocument/2006/math">
                    <m:r>
                      <m:rPr>
                        <m:sty m:val="p"/>
                      </m:rPr>
                      <a:rPr lang="en-US" sz="2000" b="0" i="0" smtClean="0">
                        <a:latin typeface="Cambria Math" panose="02040503050406030204" pitchFamily="18" charset="0"/>
                      </a:rPr>
                      <m:t>Δ</m:t>
                    </m:r>
                    <m:r>
                      <a:rPr lang="en-US" sz="2000" b="0" i="1" smtClean="0">
                        <a:latin typeface="Cambria Math" panose="02040503050406030204" pitchFamily="18" charset="0"/>
                      </a:rPr>
                      <m:t>= </m:t>
                    </m:r>
                    <m:r>
                      <m:rPr>
                        <m:sty m:val="p"/>
                      </m:rPr>
                      <a:rPr lang="en-US" sz="2000" dirty="0">
                        <a:latin typeface="Cambria Math" panose="02040503050406030204" pitchFamily="18" charset="0"/>
                      </a:rPr>
                      <m:t>max</m:t>
                    </m:r>
                    <m:d>
                      <m:dPr>
                        <m:ctrlPr>
                          <a:rPr lang="en-US" sz="2000" i="1" dirty="0" smtClean="0">
                            <a:latin typeface="Cambria Math" panose="02040503050406030204" pitchFamily="18" charset="0"/>
                          </a:rPr>
                        </m:ctrlPr>
                      </m:dPr>
                      <m:e>
                        <m:r>
                          <m:rPr>
                            <m:sty m:val="p"/>
                          </m:rPr>
                          <a:rPr lang="en-US" sz="2000" b="0" i="0" dirty="0" smtClean="0">
                            <a:latin typeface="Cambria Math" panose="02040503050406030204" pitchFamily="18" charset="0"/>
                          </a:rPr>
                          <m:t>Δ</m:t>
                        </m:r>
                        <m:r>
                          <a:rPr lang="en-US" sz="2000" b="0" i="1" dirty="0" smtClean="0">
                            <a:latin typeface="Cambria Math" panose="02040503050406030204" pitchFamily="18" charset="0"/>
                          </a:rPr>
                          <m:t>,</m:t>
                        </m:r>
                        <m:d>
                          <m:dPr>
                            <m:begChr m:val="|"/>
                            <m:endChr m:val="|"/>
                            <m:ctrlPr>
                              <a:rPr lang="en-US" sz="2000" i="1" dirty="0">
                                <a:latin typeface="Cambria Math" panose="02040503050406030204" pitchFamily="18" charset="0"/>
                              </a:rPr>
                            </m:ctrlPr>
                          </m:dPr>
                          <m:e>
                            <m:r>
                              <a:rPr lang="en-US" sz="2000" i="1" dirty="0">
                                <a:latin typeface="Cambria Math" panose="02040503050406030204" pitchFamily="18" charset="0"/>
                              </a:rPr>
                              <m:t>𝑣</m:t>
                            </m:r>
                            <m:r>
                              <a:rPr lang="en-US" sz="2000" i="1" dirty="0">
                                <a:latin typeface="Cambria Math" panose="02040503050406030204" pitchFamily="18" charset="0"/>
                              </a:rPr>
                              <m:t>−</m:t>
                            </m:r>
                            <m:r>
                              <a:rPr lang="en-US" sz="2000" i="1" dirty="0">
                                <a:latin typeface="Cambria Math" panose="02040503050406030204" pitchFamily="18" charset="0"/>
                              </a:rPr>
                              <m:t>𝑉</m:t>
                            </m:r>
                            <m:d>
                              <m:dPr>
                                <m:ctrlPr>
                                  <a:rPr lang="en-US" sz="2000" i="1" dirty="0">
                                    <a:latin typeface="Cambria Math" panose="02040503050406030204" pitchFamily="18" charset="0"/>
                                  </a:rPr>
                                </m:ctrlPr>
                              </m:dPr>
                              <m:e>
                                <m:r>
                                  <a:rPr lang="en-US" sz="2000" i="1" dirty="0">
                                    <a:solidFill>
                                      <a:srgbClr val="00B050"/>
                                    </a:solidFill>
                                    <a:latin typeface="Cambria Math" panose="02040503050406030204" pitchFamily="18" charset="0"/>
                                  </a:rPr>
                                  <m:t>𝑠</m:t>
                                </m:r>
                              </m:e>
                            </m:d>
                          </m:e>
                        </m:d>
                      </m:e>
                    </m:d>
                  </m:oMath>
                </a14:m>
                <a:r>
                  <a:rPr lang="en-US" sz="2000" dirty="0">
                    <a:solidFill>
                      <a:srgbClr val="008000"/>
                    </a:solidFill>
                    <a:latin typeface="Consolas" panose="020B0609020204030204" pitchFamily="49" charset="0"/>
                  </a:rPr>
                  <a:t>                         </a:t>
                </a:r>
                <a14:m>
                  <m:oMath xmlns:m="http://schemas.openxmlformats.org/officeDocument/2006/math">
                    <m:r>
                      <m:rPr>
                        <m:nor/>
                      </m:rPr>
                      <a:rPr lang="en-US" sz="2000" dirty="0">
                        <a:solidFill>
                          <a:srgbClr val="008000"/>
                        </a:solidFill>
                        <a:latin typeface="Consolas" panose="020B0609020204030204" pitchFamily="49" charset="0"/>
                      </a:rPr>
                      <m:t>#</m:t>
                    </m:r>
                    <m:r>
                      <m:rPr>
                        <m:nor/>
                      </m:rPr>
                      <a:rPr lang="en-US" sz="2000" b="0" i="0" dirty="0" smtClean="0">
                        <a:solidFill>
                          <a:srgbClr val="008000"/>
                        </a:solidFill>
                        <a:latin typeface="Consolas" panose="020B0609020204030204" pitchFamily="49" charset="0"/>
                      </a:rPr>
                      <m:t> </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𝑉</m:t>
                        </m:r>
                      </m:e>
                      <m:sub>
                        <m:r>
                          <a:rPr lang="en-US" sz="2000" i="1" dirty="0">
                            <a:latin typeface="Cambria Math" panose="02040503050406030204" pitchFamily="18" charset="0"/>
                          </a:rPr>
                          <m:t>𝑘</m:t>
                        </m:r>
                        <m:r>
                          <a:rPr lang="en-US" sz="2000" i="1" dirty="0">
                            <a:latin typeface="Cambria Math" panose="02040503050406030204" pitchFamily="18" charset="0"/>
                          </a:rPr>
                          <m:t>+1</m:t>
                        </m:r>
                      </m:sub>
                    </m:sSub>
                    <m:d>
                      <m:dPr>
                        <m:ctrlPr>
                          <a:rPr lang="en-US" sz="2000" i="1" dirty="0">
                            <a:latin typeface="Cambria Math" panose="02040503050406030204" pitchFamily="18" charset="0"/>
                          </a:rPr>
                        </m:ctrlPr>
                      </m:dPr>
                      <m:e>
                        <m:r>
                          <a:rPr lang="en-US" sz="2000" i="1" dirty="0">
                            <a:solidFill>
                              <a:srgbClr val="00B050"/>
                            </a:solidFill>
                            <a:latin typeface="Cambria Math" panose="02040503050406030204" pitchFamily="18" charset="0"/>
                          </a:rPr>
                          <m:t>𝑠</m:t>
                        </m:r>
                      </m:e>
                    </m:d>
                    <m:r>
                      <a:rPr lang="en-US" sz="2000" i="1" dirty="0">
                        <a:latin typeface="Cambria Math" panose="02040503050406030204" pitchFamily="18" charset="0"/>
                      </a:rPr>
                      <m:t>−</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𝑉</m:t>
                        </m:r>
                      </m:e>
                      <m:sub>
                        <m:r>
                          <a:rPr lang="en-US" sz="2000" i="1" dirty="0">
                            <a:latin typeface="Cambria Math" panose="02040503050406030204" pitchFamily="18" charset="0"/>
                          </a:rPr>
                          <m:t>𝑘</m:t>
                        </m:r>
                      </m:sub>
                    </m:sSub>
                    <m:d>
                      <m:dPr>
                        <m:ctrlPr>
                          <a:rPr lang="en-US" sz="2000" i="1" dirty="0">
                            <a:latin typeface="Cambria Math" panose="02040503050406030204" pitchFamily="18" charset="0"/>
                          </a:rPr>
                        </m:ctrlPr>
                      </m:dPr>
                      <m:e>
                        <m:r>
                          <a:rPr lang="en-US" sz="2000" i="1" dirty="0">
                            <a:solidFill>
                              <a:srgbClr val="00B050"/>
                            </a:solidFill>
                            <a:latin typeface="Cambria Math" panose="02040503050406030204" pitchFamily="18" charset="0"/>
                          </a:rPr>
                          <m:t>𝑠</m:t>
                        </m:r>
                      </m:e>
                    </m:d>
                    <m:r>
                      <a:rPr lang="en-US" sz="2000" i="1" dirty="0">
                        <a:solidFill>
                          <a:srgbClr val="00B050"/>
                        </a:solidFill>
                        <a:latin typeface="Cambria Math" panose="02040503050406030204" pitchFamily="18" charset="0"/>
                      </a:rPr>
                      <m:t> </m:t>
                    </m:r>
                  </m:oMath>
                </a14:m>
                <a:r>
                  <a:rPr lang="en-US" sz="2000" dirty="0">
                    <a:latin typeface="Consolas" panose="020B0609020204030204" pitchFamily="49" charset="0"/>
                  </a:rPr>
                  <a:t>
    until </a:t>
                </a:r>
                <a14:m>
                  <m:oMath xmlns:m="http://schemas.openxmlformats.org/officeDocument/2006/math">
                    <m:r>
                      <m:rPr>
                        <m:sty m:val="p"/>
                      </m:rPr>
                      <a:rPr lang="en-US" sz="2000" b="0" i="0" smtClean="0">
                        <a:latin typeface="Cambria Math" panose="02040503050406030204" pitchFamily="18" charset="0"/>
                      </a:rPr>
                      <m:t>Δ</m:t>
                    </m:r>
                    <m:r>
                      <a:rPr lang="en-US" sz="2000" b="0" i="1" smtClean="0">
                        <a:latin typeface="Cambria Math" panose="02040503050406030204" pitchFamily="18" charset="0"/>
                      </a:rPr>
                      <m:t>&lt;</m:t>
                    </m:r>
                    <m:r>
                      <a:rPr lang="en-US" sz="2000" b="0" i="1" smtClean="0">
                        <a:latin typeface="Cambria Math" panose="02040503050406030204" pitchFamily="18" charset="0"/>
                      </a:rPr>
                      <m:t>𝜃</m:t>
                    </m:r>
                  </m:oMath>
                </a14:m>
                <a:endParaRPr lang="en-US" sz="2000" dirty="0">
                  <a:latin typeface="Consolas" panose="020B0609020204030204" pitchFamily="49" charset="0"/>
                </a:endParaRPr>
              </a:p>
              <a:p>
                <a:pPr marL="0" indent="0">
                  <a:buClr>
                    <a:schemeClr val="tx1"/>
                  </a:buClr>
                  <a:buNone/>
                </a:pPr>
                <a:endParaRPr lang="en-US" sz="1000" dirty="0">
                  <a:solidFill>
                    <a:srgbClr val="008000"/>
                  </a:solidFill>
                  <a:latin typeface="Consolas" panose="020B0609020204030204" pitchFamily="49" charset="0"/>
                </a:endParaRPr>
              </a:p>
              <a:p>
                <a:pPr marL="0" indent="0">
                  <a:buClr>
                    <a:schemeClr val="tx1"/>
                  </a:buClr>
                  <a:buNone/>
                </a:pPr>
                <a:r>
                  <a:rPr lang="en-US" sz="2000" dirty="0">
                    <a:latin typeface="Consolas" panose="020B0609020204030204" pitchFamily="49" charset="0"/>
                  </a:rPr>
                  <a:t>    For each state </a:t>
                </a:r>
                <a14:m>
                  <m:oMath xmlns:m="http://schemas.openxmlformats.org/officeDocument/2006/math">
                    <m:r>
                      <a:rPr lang="en-US" sz="2000" i="1" dirty="0">
                        <a:solidFill>
                          <a:srgbClr val="00B050"/>
                        </a:solidFill>
                        <a:latin typeface="Cambria Math" panose="02040503050406030204" pitchFamily="18" charset="0"/>
                      </a:rPr>
                      <m:t>𝑠</m:t>
                    </m:r>
                    <m:r>
                      <a:rPr lang="en-US" sz="2000" i="1" dirty="0">
                        <a:latin typeface="Cambria Math" panose="02040503050406030204" pitchFamily="18" charset="0"/>
                      </a:rPr>
                      <m:t>∈</m:t>
                    </m:r>
                    <m:r>
                      <a:rPr lang="en-US" sz="2000" i="1" dirty="0">
                        <a:solidFill>
                          <a:srgbClr val="00B050"/>
                        </a:solidFill>
                        <a:latin typeface="Cambria Math" panose="02040503050406030204" pitchFamily="18" charset="0"/>
                      </a:rPr>
                      <m:t>𝑆</m:t>
                    </m:r>
                  </m:oMath>
                </a14:m>
                <a:r>
                  <a:rPr lang="en-US" sz="2000" dirty="0">
                    <a:latin typeface="Consolas" panose="020B0609020204030204" pitchFamily="49" charset="0"/>
                  </a:rPr>
                  <a:t>:</a:t>
                </a:r>
                <a:r>
                  <a:rPr lang="en-US" sz="2000" dirty="0">
                    <a:solidFill>
                      <a:srgbClr val="008000"/>
                    </a:solidFill>
                    <a:latin typeface="Consolas" panose="020B0609020204030204" pitchFamily="49" charset="0"/>
                  </a:rPr>
                  <a:t>                               # Extract policy</a:t>
                </a:r>
              </a:p>
              <a:p>
                <a:pPr marL="0" indent="0">
                  <a:buClr>
                    <a:schemeClr val="tx1"/>
                  </a:buClr>
                  <a:buNone/>
                </a:pPr>
                <a:r>
                  <a:rPr lang="en-US" sz="2000" b="1" dirty="0">
                    <a:latin typeface="Consolas" panose="020B0609020204030204" pitchFamily="49" charset="0"/>
                  </a:rPr>
                  <a:t>        </a:t>
                </a:r>
                <a14:m>
                  <m:oMath xmlns:m="http://schemas.openxmlformats.org/officeDocument/2006/math">
                    <m:r>
                      <a:rPr lang="en-US" sz="2000" b="1" i="1" dirty="0" smtClean="0">
                        <a:latin typeface="Cambria Math" panose="02040503050406030204" pitchFamily="18" charset="0"/>
                      </a:rPr>
                      <m:t>𝝅</m:t>
                    </m:r>
                    <m:d>
                      <m:dPr>
                        <m:ctrlPr>
                          <a:rPr lang="en-US" sz="2000" b="1" i="1" dirty="0" smtClean="0">
                            <a:latin typeface="Cambria Math" panose="02040503050406030204" pitchFamily="18" charset="0"/>
                          </a:rPr>
                        </m:ctrlPr>
                      </m:dPr>
                      <m:e>
                        <m:r>
                          <a:rPr lang="en-US" sz="2000" b="0" i="1" dirty="0" smtClean="0">
                            <a:solidFill>
                              <a:srgbClr val="00B050"/>
                            </a:solidFill>
                            <a:latin typeface="Cambria Math" panose="02040503050406030204" pitchFamily="18" charset="0"/>
                          </a:rPr>
                          <m:t>𝑠</m:t>
                        </m:r>
                      </m:e>
                    </m:d>
                    <m:r>
                      <a:rPr lang="en-US" sz="2000" b="1" i="1" dirty="0" smtClean="0">
                        <a:latin typeface="Cambria Math" panose="02040503050406030204" pitchFamily="18" charset="0"/>
                      </a:rPr>
                      <m:t>=</m:t>
                    </m:r>
                    <m:limLow>
                      <m:limLowPr>
                        <m:ctrlPr>
                          <a:rPr lang="en-US" sz="2000" i="1" dirty="0">
                            <a:latin typeface="Cambria Math" panose="02040503050406030204" pitchFamily="18" charset="0"/>
                          </a:rPr>
                        </m:ctrlPr>
                      </m:limLowPr>
                      <m:e>
                        <m:r>
                          <m:rPr>
                            <m:sty m:val="p"/>
                          </m:rPr>
                          <a:rPr lang="en-US" sz="2000" b="0" i="0" dirty="0" smtClean="0">
                            <a:latin typeface="Cambria Math" panose="02040503050406030204" pitchFamily="18" charset="0"/>
                          </a:rPr>
                          <m:t>arg</m:t>
                        </m:r>
                        <m:r>
                          <m:rPr>
                            <m:sty m:val="p"/>
                          </m:rPr>
                          <a:rPr lang="en-US" sz="2000" dirty="0">
                            <a:latin typeface="Cambria Math" panose="02040503050406030204" pitchFamily="18" charset="0"/>
                          </a:rPr>
                          <m:t>max</m:t>
                        </m:r>
                      </m:e>
                      <m:lim>
                        <m:r>
                          <a:rPr lang="en-US" sz="2000" i="1" dirty="0">
                            <a:solidFill>
                              <a:srgbClr val="7030A0"/>
                            </a:solidFill>
                            <a:latin typeface="Cambria Math" panose="02040503050406030204" pitchFamily="18" charset="0"/>
                          </a:rPr>
                          <m:t>𝑎</m:t>
                        </m:r>
                        <m:r>
                          <a:rPr lang="en-US" sz="2000" i="1" dirty="0">
                            <a:latin typeface="Cambria Math" panose="02040503050406030204" pitchFamily="18" charset="0"/>
                          </a:rPr>
                          <m:t>∈</m:t>
                        </m:r>
                        <m:r>
                          <a:rPr lang="en-US" sz="2000" i="1" dirty="0">
                            <a:solidFill>
                              <a:srgbClr val="7030A0"/>
                            </a:solidFill>
                            <a:latin typeface="Cambria Math" panose="02040503050406030204" pitchFamily="18" charset="0"/>
                          </a:rPr>
                          <m:t>𝐴</m:t>
                        </m:r>
                      </m:lim>
                    </m:limLow>
                    <m:nary>
                      <m:naryPr>
                        <m:chr m:val="∑"/>
                        <m:supHide m:val="on"/>
                        <m:ctrlPr>
                          <a:rPr lang="en-US" sz="2000" i="1" dirty="0">
                            <a:latin typeface="Cambria Math" panose="02040503050406030204" pitchFamily="18" charset="0"/>
                          </a:rPr>
                        </m:ctrlPr>
                      </m:naryPr>
                      <m:sub>
                        <m:sSup>
                          <m:sSupPr>
                            <m:ctrlPr>
                              <a:rPr lang="en-US" sz="2000" i="1" dirty="0">
                                <a:latin typeface="Cambria Math" panose="02040503050406030204" pitchFamily="18" charset="0"/>
                              </a:rPr>
                            </m:ctrlPr>
                          </m:sSupPr>
                          <m:e>
                            <m:r>
                              <a:rPr lang="en-US" sz="2000" i="1" dirty="0">
                                <a:solidFill>
                                  <a:srgbClr val="00B050"/>
                                </a:solidFill>
                                <a:latin typeface="Cambria Math" panose="02040503050406030204" pitchFamily="18" charset="0"/>
                              </a:rPr>
                              <m:t>𝑠</m:t>
                            </m:r>
                          </m:e>
                          <m:sup>
                            <m:r>
                              <a:rPr lang="en-US" sz="2000" i="1" dirty="0">
                                <a:latin typeface="Cambria Math" panose="02040503050406030204" pitchFamily="18" charset="0"/>
                              </a:rPr>
                              <m:t>′</m:t>
                            </m:r>
                          </m:sup>
                        </m:sSup>
                      </m:sub>
                      <m:sup/>
                      <m:e>
                        <m:r>
                          <a:rPr lang="en-US" sz="2000" i="1" dirty="0">
                            <a:latin typeface="Cambria Math" panose="02040503050406030204" pitchFamily="18" charset="0"/>
                          </a:rPr>
                          <m:t>𝑃</m:t>
                        </m:r>
                        <m:d>
                          <m:dPr>
                            <m:ctrlPr>
                              <a:rPr lang="en-US" sz="2000" i="1" dirty="0">
                                <a:latin typeface="Cambria Math" panose="02040503050406030204" pitchFamily="18" charset="0"/>
                              </a:rPr>
                            </m:ctrlPr>
                          </m:dPr>
                          <m:e>
                            <m:sSup>
                              <m:sSupPr>
                                <m:ctrlPr>
                                  <a:rPr lang="en-US" sz="2000" i="1" dirty="0">
                                    <a:latin typeface="Cambria Math" panose="02040503050406030204" pitchFamily="18" charset="0"/>
                                  </a:rPr>
                                </m:ctrlPr>
                              </m:sSupPr>
                              <m:e>
                                <m:r>
                                  <a:rPr lang="en-US" sz="2000" i="1" dirty="0">
                                    <a:solidFill>
                                      <a:srgbClr val="00B050"/>
                                    </a:solidFill>
                                    <a:latin typeface="Cambria Math" panose="02040503050406030204" pitchFamily="18" charset="0"/>
                                  </a:rPr>
                                  <m:t>𝑠</m:t>
                                </m:r>
                              </m:e>
                              <m:sup>
                                <m:r>
                                  <a:rPr lang="en-US" sz="2000" i="1" dirty="0">
                                    <a:latin typeface="Cambria Math" panose="02040503050406030204" pitchFamily="18" charset="0"/>
                                  </a:rPr>
                                  <m:t>′</m:t>
                                </m:r>
                              </m:sup>
                            </m:sSup>
                            <m:r>
                              <a:rPr lang="en-US" sz="2000" i="1" dirty="0">
                                <a:latin typeface="Cambria Math" panose="02040503050406030204" pitchFamily="18" charset="0"/>
                              </a:rPr>
                              <m:t>∣</m:t>
                            </m:r>
                            <m:r>
                              <a:rPr lang="en-US" sz="2000" i="1" dirty="0">
                                <a:solidFill>
                                  <a:srgbClr val="00B050"/>
                                </a:solidFill>
                                <a:latin typeface="Cambria Math" panose="02040503050406030204" pitchFamily="18" charset="0"/>
                              </a:rPr>
                              <m:t>𝑠</m:t>
                            </m:r>
                            <m:r>
                              <a:rPr lang="en-US" sz="2000" i="1" dirty="0">
                                <a:latin typeface="Cambria Math" panose="02040503050406030204" pitchFamily="18" charset="0"/>
                              </a:rPr>
                              <m:t>,</m:t>
                            </m:r>
                            <m:r>
                              <a:rPr lang="en-US" sz="2000" i="1" dirty="0" smtClean="0">
                                <a:solidFill>
                                  <a:srgbClr val="7030A0"/>
                                </a:solidFill>
                                <a:latin typeface="Cambria Math" panose="02040503050406030204" pitchFamily="18" charset="0"/>
                              </a:rPr>
                              <m:t>𝑎</m:t>
                            </m:r>
                          </m:e>
                        </m:d>
                        <m:r>
                          <a:rPr lang="en-US" sz="2000" i="1" dirty="0">
                            <a:latin typeface="Cambria Math" panose="02040503050406030204" pitchFamily="18" charset="0"/>
                          </a:rPr>
                          <m:t>⋅</m:t>
                        </m:r>
                        <m:d>
                          <m:dPr>
                            <m:begChr m:val="["/>
                            <m:endChr m:val="]"/>
                            <m:ctrlPr>
                              <a:rPr lang="en-US" sz="2000" i="1" dirty="0">
                                <a:latin typeface="Cambria Math" panose="02040503050406030204" pitchFamily="18" charset="0"/>
                              </a:rPr>
                            </m:ctrlPr>
                          </m:dPr>
                          <m:e>
                            <m:r>
                              <a:rPr lang="en-US" sz="2000" i="1">
                                <a:solidFill>
                                  <a:srgbClr val="1306BA"/>
                                </a:solidFill>
                                <a:latin typeface="Cambria Math" panose="02040503050406030204" pitchFamily="18" charset="0"/>
                              </a:rPr>
                              <m:t>𝑅</m:t>
                            </m:r>
                            <m:d>
                              <m:dPr>
                                <m:ctrlPr>
                                  <a:rPr lang="en-US" sz="2000" i="1">
                                    <a:latin typeface="Cambria Math" panose="02040503050406030204" pitchFamily="18" charset="0"/>
                                  </a:rPr>
                                </m:ctrlPr>
                              </m:dPr>
                              <m:e>
                                <m:r>
                                  <a:rPr lang="en-US" sz="2000" i="1">
                                    <a:solidFill>
                                      <a:srgbClr val="00B050"/>
                                    </a:solidFill>
                                    <a:latin typeface="Cambria Math" panose="02040503050406030204" pitchFamily="18" charset="0"/>
                                  </a:rPr>
                                  <m:t>𝑠</m:t>
                                </m:r>
                                <m:r>
                                  <a:rPr lang="en-US" sz="2000" i="1">
                                    <a:latin typeface="Cambria Math" panose="02040503050406030204" pitchFamily="18" charset="0"/>
                                  </a:rPr>
                                  <m:t>,</m:t>
                                </m:r>
                                <m:r>
                                  <a:rPr lang="en-US" sz="2000" i="1">
                                    <a:solidFill>
                                      <a:srgbClr val="7030A0"/>
                                    </a:solidFill>
                                    <a:latin typeface="Cambria Math" panose="02040503050406030204" pitchFamily="18" charset="0"/>
                                  </a:rPr>
                                  <m:t>𝑎</m:t>
                                </m:r>
                                <m:r>
                                  <a:rPr lang="en-US" sz="2000" i="1">
                                    <a:latin typeface="Cambria Math" panose="02040503050406030204" pitchFamily="18" charset="0"/>
                                  </a:rPr>
                                  <m:t>,</m:t>
                                </m:r>
                                <m:r>
                                  <a:rPr lang="en-US" sz="2000" i="1">
                                    <a:solidFill>
                                      <a:srgbClr val="00B050"/>
                                    </a:solidFill>
                                    <a:latin typeface="Cambria Math" panose="02040503050406030204" pitchFamily="18" charset="0"/>
                                  </a:rPr>
                                  <m:t>𝑠</m:t>
                                </m:r>
                                <m:r>
                                  <a:rPr lang="en-US" sz="2000" i="1">
                                    <a:latin typeface="Cambria Math" panose="02040503050406030204" pitchFamily="18" charset="0"/>
                                  </a:rPr>
                                  <m:t>′</m:t>
                                </m:r>
                              </m:e>
                            </m:d>
                            <m:r>
                              <a:rPr lang="en-US" sz="2000" i="1">
                                <a:latin typeface="Cambria Math" panose="02040503050406030204" pitchFamily="18" charset="0"/>
                              </a:rPr>
                              <m:t>+</m:t>
                            </m:r>
                            <m:r>
                              <a:rPr lang="en-US" sz="2000" i="1">
                                <a:solidFill>
                                  <a:srgbClr val="00B0F0"/>
                                </a:solidFill>
                                <a:latin typeface="Cambria Math" panose="02040503050406030204" pitchFamily="18" charset="0"/>
                              </a:rPr>
                              <m:t>𝛾</m:t>
                            </m:r>
                            <m:r>
                              <a:rPr lang="en-US" sz="2000" b="0" i="1" smtClean="0">
                                <a:solidFill>
                                  <a:srgbClr val="00B0F0"/>
                                </a:solidFill>
                                <a:latin typeface="Cambria Math" panose="02040503050406030204" pitchFamily="18" charset="0"/>
                              </a:rPr>
                              <m:t>⋅</m:t>
                            </m:r>
                            <m:r>
                              <a:rPr lang="en-US" sz="2000" b="0" i="1" smtClean="0">
                                <a:solidFill>
                                  <a:schemeClr val="tx1"/>
                                </a:solidFill>
                                <a:latin typeface="Cambria Math" panose="02040503050406030204" pitchFamily="18" charset="0"/>
                              </a:rPr>
                              <m:t>𝑉</m:t>
                            </m:r>
                            <m:d>
                              <m:dPr>
                                <m:ctrlPr>
                                  <a:rPr lang="en-US" sz="2000" i="1" dirty="0">
                                    <a:latin typeface="Cambria Math" panose="02040503050406030204" pitchFamily="18" charset="0"/>
                                  </a:rPr>
                                </m:ctrlPr>
                              </m:dPr>
                              <m:e>
                                <m:sSup>
                                  <m:sSupPr>
                                    <m:ctrlPr>
                                      <a:rPr lang="en-US" sz="2000" i="1" dirty="0">
                                        <a:latin typeface="Cambria Math" panose="02040503050406030204" pitchFamily="18" charset="0"/>
                                      </a:rPr>
                                    </m:ctrlPr>
                                  </m:sSupPr>
                                  <m:e>
                                    <m:r>
                                      <a:rPr lang="en-US" sz="2000" i="1" dirty="0">
                                        <a:solidFill>
                                          <a:srgbClr val="00B050"/>
                                        </a:solidFill>
                                        <a:latin typeface="Cambria Math" panose="02040503050406030204" pitchFamily="18" charset="0"/>
                                      </a:rPr>
                                      <m:t>𝑠</m:t>
                                    </m:r>
                                  </m:e>
                                  <m:sup>
                                    <m:r>
                                      <a:rPr lang="en-US" sz="2000" i="1" dirty="0">
                                        <a:latin typeface="Cambria Math" panose="02040503050406030204" pitchFamily="18" charset="0"/>
                                      </a:rPr>
                                      <m:t>′</m:t>
                                    </m:r>
                                  </m:sup>
                                </m:sSup>
                              </m:e>
                            </m:d>
                          </m:e>
                        </m:d>
                      </m:e>
                    </m:nary>
                  </m:oMath>
                </a14:m>
                <a:endParaRPr lang="en-US" sz="2000" dirty="0">
                  <a:latin typeface="Consolas" panose="020B0609020204030204" pitchFamily="49" charset="0"/>
                </a:endParaRPr>
              </a:p>
              <a:p>
                <a:pPr marL="0" indent="0">
                  <a:buClr>
                    <a:schemeClr val="tx1"/>
                  </a:buClr>
                  <a:buNone/>
                </a:pPr>
                <a:endParaRPr lang="en-US" sz="600" dirty="0">
                  <a:latin typeface="Consolas" panose="020B0609020204030204" pitchFamily="49" charset="0"/>
                </a:endParaRPr>
              </a:p>
              <a:p>
                <a:pPr marL="0" indent="0">
                  <a:buClr>
                    <a:schemeClr val="tx1"/>
                  </a:buClr>
                  <a:buNone/>
                </a:pPr>
                <a:r>
                  <a:rPr lang="en-US" sz="2000" dirty="0">
                    <a:latin typeface="Consolas" panose="020B0609020204030204" pitchFamily="49" charset="0"/>
                  </a:rPr>
                  <a:t>    return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𝑉</m:t>
                        </m:r>
                      </m:e>
                      <m:sup>
                        <m:r>
                          <a:rPr lang="en-US" sz="2000" i="1">
                            <a:latin typeface="Cambria Math" panose="02040503050406030204" pitchFamily="18" charset="0"/>
                          </a:rPr>
                          <m:t>∗</m:t>
                        </m:r>
                      </m:sup>
                    </m:sSup>
                    <m:r>
                      <a:rPr lang="en-US" sz="2000" b="0" i="1" smtClean="0">
                        <a:latin typeface="Cambria Math" panose="02040503050406030204" pitchFamily="18" charset="0"/>
                      </a:rPr>
                      <m:t>=</m:t>
                    </m:r>
                    <m:r>
                      <a:rPr lang="en-US" sz="2000" b="0" i="1" smtClean="0">
                        <a:latin typeface="Cambria Math" panose="02040503050406030204" pitchFamily="18" charset="0"/>
                      </a:rPr>
                      <m:t>𝑉</m:t>
                    </m:r>
                  </m:oMath>
                </a14:m>
                <a:r>
                  <a:rPr lang="en-US" sz="2000" dirty="0">
                    <a:latin typeface="Consolas" panose="020B0609020204030204" pitchFamily="49" charset="0"/>
                  </a:rPr>
                  <a:t>,</a:t>
                </a:r>
                <a:r>
                  <a:rPr lang="en-US" sz="2000" b="1" dirty="0"/>
                  <a:t> </a:t>
                </a:r>
                <a14:m>
                  <m:oMath xmlns:m="http://schemas.openxmlformats.org/officeDocument/2006/math">
                    <m:sSup>
                      <m:sSupPr>
                        <m:ctrlPr>
                          <a:rPr lang="en-US" sz="2000" b="1" i="1" dirty="0" smtClean="0">
                            <a:latin typeface="Cambria Math" panose="02040503050406030204" pitchFamily="18" charset="0"/>
                          </a:rPr>
                        </m:ctrlPr>
                      </m:sSupPr>
                      <m:e>
                        <m:r>
                          <a:rPr lang="en-US" sz="2000" b="1" i="1" dirty="0">
                            <a:latin typeface="Cambria Math" panose="02040503050406030204" pitchFamily="18" charset="0"/>
                          </a:rPr>
                          <m:t>𝝅</m:t>
                        </m:r>
                      </m:e>
                      <m:sup>
                        <m:r>
                          <a:rPr lang="en-US" sz="2000" b="1" i="1" dirty="0">
                            <a:latin typeface="Cambria Math" panose="02040503050406030204" pitchFamily="18" charset="0"/>
                          </a:rPr>
                          <m:t>∗</m:t>
                        </m:r>
                      </m:sup>
                    </m:sSup>
                    <m:r>
                      <a:rPr lang="en-US" sz="2000" b="1" i="1" dirty="0" smtClean="0">
                        <a:latin typeface="Cambria Math" panose="02040503050406030204" pitchFamily="18" charset="0"/>
                      </a:rPr>
                      <m:t>=</m:t>
                    </m:r>
                    <m:r>
                      <a:rPr lang="en-US" sz="2000" b="1" i="1" dirty="0" smtClean="0">
                        <a:latin typeface="Cambria Math" panose="02040503050406030204" pitchFamily="18" charset="0"/>
                      </a:rPr>
                      <m:t>𝝅</m:t>
                    </m:r>
                  </m:oMath>
                </a14:m>
                <a:endParaRPr sz="2000" dirty="0">
                  <a:latin typeface="Consolas" panose="020B0609020204030204" pitchFamily="49" charset="0"/>
                </a:endParaRPr>
              </a:p>
            </p:txBody>
          </p:sp>
        </mc:Choice>
        <mc:Fallback xmlns="">
          <p:sp>
            <p:nvSpPr>
              <p:cNvPr id="3" name="Content Placeholder 2">
                <a:extLst>
                  <a:ext uri="{FF2B5EF4-FFF2-40B4-BE49-F238E27FC236}">
                    <a16:creationId xmlns:a16="http://schemas.microsoft.com/office/drawing/2014/main" id="{800A954A-9389-7ABE-02DC-9016D632DA53}"/>
                  </a:ext>
                </a:extLst>
              </p:cNvPr>
              <p:cNvSpPr>
                <a:spLocks noGrp="1" noRot="1" noChangeAspect="1" noMove="1" noResize="1" noEditPoints="1" noAdjustHandles="1" noChangeArrowheads="1" noChangeShapeType="1" noTextEdit="1"/>
              </p:cNvSpPr>
              <p:nvPr>
                <p:ph idx="1"/>
              </p:nvPr>
            </p:nvSpPr>
            <p:spPr>
              <a:xfrm>
                <a:off x="607273" y="942300"/>
                <a:ext cx="10944880" cy="5172314"/>
              </a:xfrm>
              <a:blipFill>
                <a:blip r:embed="rId2"/>
                <a:stretch>
                  <a:fillRect l="-613" t="-1415" b="-825"/>
                </a:stretch>
              </a:blipFill>
            </p:spPr>
            <p:txBody>
              <a:bodyPr/>
              <a:lstStyle/>
              <a:p>
                <a:r>
                  <a:rPr lang="en-US">
                    <a:noFill/>
                  </a:rPr>
                  <a:t> </a:t>
                </a:r>
              </a:p>
            </p:txBody>
          </p:sp>
        </mc:Fallback>
      </mc:AlternateContent>
      <p:sp>
        <p:nvSpPr>
          <p:cNvPr id="4" name="Title 12">
            <a:extLst>
              <a:ext uri="{FF2B5EF4-FFF2-40B4-BE49-F238E27FC236}">
                <a16:creationId xmlns:a16="http://schemas.microsoft.com/office/drawing/2014/main" id="{CBB9C35F-C3FA-84EF-CCD6-FBB2738F4BEC}"/>
              </a:ext>
            </a:extLst>
          </p:cNvPr>
          <p:cNvSpPr txBox="1">
            <a:spLocks/>
          </p:cNvSpPr>
          <p:nvPr/>
        </p:nvSpPr>
        <p:spPr>
          <a:xfrm>
            <a:off x="471489" y="69597"/>
            <a:ext cx="11153622" cy="565671"/>
          </a:xfrm>
          <a:prstGeom prst="rect">
            <a:avLst/>
          </a:prstGeom>
          <a:ln>
            <a:noFill/>
          </a:ln>
        </p:spPr>
        <p:txBody>
          <a:bodyPr vert="horz" lIns="91440" tIns="45720" rIns="91440" bIns="45720" rtlCol="0" anchor="ctr">
            <a:noAutofit/>
          </a:bodyPr>
          <a:lst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a:lstStyle>
          <a:p>
            <a:pPr algn="ctr"/>
            <a:r>
              <a:rPr lang="en-US" sz="3600" dirty="0"/>
              <a:t>Value Iteration Algorithm</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D0891C8-7272-D421-36A1-B38BEADFC60D}"/>
                  </a:ext>
                </a:extLst>
              </p:cNvPr>
              <p:cNvSpPr txBox="1"/>
              <p:nvPr/>
            </p:nvSpPr>
            <p:spPr>
              <a:xfrm>
                <a:off x="8388927" y="6382400"/>
                <a:ext cx="3705102" cy="369332"/>
              </a:xfrm>
              <a:prstGeom prst="rect">
                <a:avLst/>
              </a:prstGeom>
              <a:noFill/>
              <a:ln>
                <a:noFill/>
              </a:ln>
            </p:spPr>
            <p:txBody>
              <a:bodyPr wrap="square">
                <a:spAutoFit/>
              </a:bodyPr>
              <a:lstStyle/>
              <a:p>
                <a:r>
                  <a:rPr lang="en-US" b="1" dirty="0"/>
                  <a:t>Complexity</a:t>
                </a:r>
                <a:r>
                  <a:rPr lang="en-US" dirty="0"/>
                  <a:t>: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𝑆</m:t>
                                </m:r>
                              </m:e>
                            </m:d>
                          </m:e>
                          <m:sup>
                            <m:r>
                              <a:rPr lang="en-US" b="0" i="1" smtClean="0">
                                <a:latin typeface="Cambria Math" panose="02040503050406030204" pitchFamily="18" charset="0"/>
                              </a:rPr>
                              <m:t>2</m:t>
                            </m:r>
                          </m:sup>
                        </m:sSup>
                        <m:d>
                          <m:dPr>
                            <m:begChr m:val="|"/>
                            <m:endChr m:val="|"/>
                            <m:ctrlPr>
                              <a:rPr lang="en-US" i="1">
                                <a:latin typeface="Cambria Math" panose="02040503050406030204" pitchFamily="18" charset="0"/>
                              </a:rPr>
                            </m:ctrlPr>
                          </m:dPr>
                          <m:e>
                            <m:r>
                              <a:rPr lang="en-US" b="0" i="1" smtClean="0">
                                <a:latin typeface="Cambria Math" panose="02040503050406030204" pitchFamily="18" charset="0"/>
                              </a:rPr>
                              <m:t>𝐴</m:t>
                            </m:r>
                          </m:e>
                        </m:d>
                      </m:e>
                    </m:d>
                  </m:oMath>
                </a14:m>
                <a:r>
                  <a:rPr lang="en-US" dirty="0"/>
                  <a:t> per iteration</a:t>
                </a:r>
              </a:p>
            </p:txBody>
          </p:sp>
        </mc:Choice>
        <mc:Fallback xmlns="">
          <p:sp>
            <p:nvSpPr>
              <p:cNvPr id="12" name="TextBox 11">
                <a:extLst>
                  <a:ext uri="{FF2B5EF4-FFF2-40B4-BE49-F238E27FC236}">
                    <a16:creationId xmlns:a16="http://schemas.microsoft.com/office/drawing/2014/main" id="{83E7B4EA-BEAC-8F0D-933C-4777727D9A19}"/>
                  </a:ext>
                </a:extLst>
              </p:cNvPr>
              <p:cNvSpPr txBox="1">
                <a:spLocks noRot="1" noChangeAspect="1" noMove="1" noResize="1" noEditPoints="1" noAdjustHandles="1" noChangeArrowheads="1" noChangeShapeType="1" noTextEdit="1"/>
              </p:cNvSpPr>
              <p:nvPr/>
            </p:nvSpPr>
            <p:spPr>
              <a:xfrm>
                <a:off x="8388927" y="6382400"/>
                <a:ext cx="3705102" cy="369332"/>
              </a:xfrm>
              <a:prstGeom prst="rect">
                <a:avLst/>
              </a:prstGeom>
              <a:blipFill>
                <a:blip r:embed="rId3"/>
                <a:stretch>
                  <a:fillRect l="-1316" t="-9836" b="-24590"/>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4FFE067-0AB7-9F18-D5C0-E88C133A0B84}"/>
                  </a:ext>
                </a:extLst>
              </p:cNvPr>
              <p:cNvSpPr txBox="1"/>
              <p:nvPr/>
            </p:nvSpPr>
            <p:spPr>
              <a:xfrm>
                <a:off x="227713" y="6382400"/>
                <a:ext cx="4093029" cy="369332"/>
              </a:xfrm>
              <a:prstGeom prst="rect">
                <a:avLst/>
              </a:prstGeom>
              <a:noFill/>
              <a:ln>
                <a:noFill/>
              </a:ln>
            </p:spPr>
            <p:txBody>
              <a:bodyPr wrap="square">
                <a:spAutoFit/>
              </a:bodyPr>
              <a:lstStyle/>
              <a:p>
                <a:pPr marL="0" indent="0">
                  <a:buNone/>
                </a:pPr>
                <a:r>
                  <a:rPr lang="en-US" b="1" dirty="0"/>
                  <a:t>Convergence</a:t>
                </a:r>
                <a:r>
                  <a:rPr lang="en-US" dirty="0"/>
                  <a:t>: Guaranteed for </a:t>
                </a:r>
                <a14:m>
                  <m:oMath xmlns:m="http://schemas.openxmlformats.org/officeDocument/2006/math">
                    <m:r>
                      <a:rPr lang="en-US" b="0" i="0" dirty="0" smtClean="0">
                        <a:latin typeface="Cambria Math" panose="02040503050406030204" pitchFamily="18" charset="0"/>
                      </a:rPr>
                      <m:t>0&lt;</m:t>
                    </m:r>
                    <m:r>
                      <a:rPr lang="en-US" b="0" i="1" dirty="0" smtClean="0">
                        <a:solidFill>
                          <a:srgbClr val="00B0F0"/>
                        </a:solidFill>
                        <a:latin typeface="Cambria Math" panose="02040503050406030204" pitchFamily="18" charset="0"/>
                      </a:rPr>
                      <m:t>𝛾</m:t>
                    </m:r>
                    <m:r>
                      <a:rPr lang="en-US" b="0" i="1" dirty="0" smtClean="0">
                        <a:latin typeface="Cambria Math" panose="02040503050406030204" pitchFamily="18" charset="0"/>
                      </a:rPr>
                      <m:t>&lt;1</m:t>
                    </m:r>
                  </m:oMath>
                </a14:m>
                <a:endParaRPr lang="en-US" dirty="0"/>
              </a:p>
            </p:txBody>
          </p:sp>
        </mc:Choice>
        <mc:Fallback xmlns="">
          <p:sp>
            <p:nvSpPr>
              <p:cNvPr id="16" name="TextBox 15">
                <a:extLst>
                  <a:ext uri="{FF2B5EF4-FFF2-40B4-BE49-F238E27FC236}">
                    <a16:creationId xmlns:a16="http://schemas.microsoft.com/office/drawing/2014/main" id="{F3BC9011-7062-1761-C59A-A9D1A3583F1E}"/>
                  </a:ext>
                </a:extLst>
              </p:cNvPr>
              <p:cNvSpPr txBox="1">
                <a:spLocks noRot="1" noChangeAspect="1" noMove="1" noResize="1" noEditPoints="1" noAdjustHandles="1" noChangeArrowheads="1" noChangeShapeType="1" noTextEdit="1"/>
              </p:cNvSpPr>
              <p:nvPr/>
            </p:nvSpPr>
            <p:spPr>
              <a:xfrm>
                <a:off x="227713" y="6382400"/>
                <a:ext cx="4093029" cy="369332"/>
              </a:xfrm>
              <a:prstGeom prst="rect">
                <a:avLst/>
              </a:prstGeom>
              <a:blipFill>
                <a:blip r:embed="rId4"/>
                <a:stretch>
                  <a:fillRect l="-1190" t="-9836" b="-24590"/>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4D760D9-1311-1D21-8512-FD87C943797F}"/>
                  </a:ext>
                </a:extLst>
              </p:cNvPr>
              <p:cNvSpPr txBox="1"/>
              <p:nvPr/>
            </p:nvSpPr>
            <p:spPr>
              <a:xfrm>
                <a:off x="11099731" y="2529355"/>
                <a:ext cx="904844" cy="369332"/>
              </a:xfrm>
              <a:prstGeom prst="rect">
                <a:avLst/>
              </a:prstGeom>
              <a:noFill/>
              <a:ln>
                <a:noFill/>
              </a:ln>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d>
                            <m:dPr>
                              <m:begChr m:val="|"/>
                              <m:endChr m:val="|"/>
                              <m:ctrlPr>
                                <a:rPr lang="en-US" i="1">
                                  <a:latin typeface="Cambria Math" panose="02040503050406030204" pitchFamily="18" charset="0"/>
                                </a:rPr>
                              </m:ctrlPr>
                            </m:dPr>
                            <m:e>
                              <m:r>
                                <a:rPr lang="en-US" i="1" smtClean="0">
                                  <a:solidFill>
                                    <a:srgbClr val="00B050"/>
                                  </a:solidFill>
                                  <a:latin typeface="Cambria Math" panose="02040503050406030204" pitchFamily="18" charset="0"/>
                                </a:rPr>
                                <m:t>𝑆</m:t>
                              </m:r>
                            </m:e>
                          </m:d>
                        </m:e>
                      </m:d>
                    </m:oMath>
                  </m:oMathPara>
                </a14:m>
                <a:endParaRPr lang="en-US" dirty="0"/>
              </a:p>
            </p:txBody>
          </p:sp>
        </mc:Choice>
        <mc:Fallback xmlns="">
          <p:sp>
            <p:nvSpPr>
              <p:cNvPr id="2" name="TextBox 1">
                <a:extLst>
                  <a:ext uri="{FF2B5EF4-FFF2-40B4-BE49-F238E27FC236}">
                    <a16:creationId xmlns:a16="http://schemas.microsoft.com/office/drawing/2014/main" id="{34D760D9-1311-1D21-8512-FD87C943797F}"/>
                  </a:ext>
                </a:extLst>
              </p:cNvPr>
              <p:cNvSpPr txBox="1">
                <a:spLocks noRot="1" noChangeAspect="1" noMove="1" noResize="1" noEditPoints="1" noAdjustHandles="1" noChangeArrowheads="1" noChangeShapeType="1" noTextEdit="1"/>
              </p:cNvSpPr>
              <p:nvPr/>
            </p:nvSpPr>
            <p:spPr>
              <a:xfrm>
                <a:off x="11099731" y="2529355"/>
                <a:ext cx="904844" cy="369332"/>
              </a:xfrm>
              <a:prstGeom prst="rect">
                <a:avLst/>
              </a:prstGeom>
              <a:blipFill>
                <a:blip r:embed="rId5"/>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5251C32-516D-71DA-C83D-580B61058F20}"/>
                  </a:ext>
                </a:extLst>
              </p:cNvPr>
              <p:cNvSpPr txBox="1"/>
              <p:nvPr/>
            </p:nvSpPr>
            <p:spPr>
              <a:xfrm>
                <a:off x="11099731" y="3244334"/>
                <a:ext cx="904844" cy="369332"/>
              </a:xfrm>
              <a:prstGeom prst="rect">
                <a:avLst/>
              </a:prstGeom>
              <a:noFill/>
              <a:ln>
                <a:noFill/>
              </a:ln>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d>
                            <m:dPr>
                              <m:begChr m:val="|"/>
                              <m:endChr m:val="|"/>
                              <m:ctrlPr>
                                <a:rPr lang="en-US" i="1">
                                  <a:latin typeface="Cambria Math" panose="02040503050406030204" pitchFamily="18" charset="0"/>
                                </a:rPr>
                              </m:ctrlPr>
                            </m:dPr>
                            <m:e>
                              <m:r>
                                <a:rPr lang="en-US" b="0" i="1" smtClean="0">
                                  <a:solidFill>
                                    <a:srgbClr val="7030A0"/>
                                  </a:solidFill>
                                  <a:latin typeface="Cambria Math" panose="02040503050406030204" pitchFamily="18" charset="0"/>
                                </a:rPr>
                                <m:t>𝐴</m:t>
                              </m:r>
                            </m:e>
                          </m:d>
                          <m:d>
                            <m:dPr>
                              <m:begChr m:val="|"/>
                              <m:endChr m:val="|"/>
                              <m:ctrlPr>
                                <a:rPr lang="en-US" i="1">
                                  <a:latin typeface="Cambria Math" panose="02040503050406030204" pitchFamily="18" charset="0"/>
                                </a:rPr>
                              </m:ctrlPr>
                            </m:dPr>
                            <m:e>
                              <m:r>
                                <a:rPr lang="en-US" i="1">
                                  <a:solidFill>
                                    <a:srgbClr val="00B050"/>
                                  </a:solidFill>
                                  <a:latin typeface="Cambria Math" panose="02040503050406030204" pitchFamily="18" charset="0"/>
                                </a:rPr>
                                <m:t>𝑆</m:t>
                              </m:r>
                            </m:e>
                          </m:d>
                        </m:e>
                      </m:d>
                    </m:oMath>
                  </m:oMathPara>
                </a14:m>
                <a:endParaRPr lang="en-US" dirty="0"/>
              </a:p>
            </p:txBody>
          </p:sp>
        </mc:Choice>
        <mc:Fallback xmlns="">
          <p:sp>
            <p:nvSpPr>
              <p:cNvPr id="5" name="TextBox 4">
                <a:extLst>
                  <a:ext uri="{FF2B5EF4-FFF2-40B4-BE49-F238E27FC236}">
                    <a16:creationId xmlns:a16="http://schemas.microsoft.com/office/drawing/2014/main" id="{65251C32-516D-71DA-C83D-580B61058F20}"/>
                  </a:ext>
                </a:extLst>
              </p:cNvPr>
              <p:cNvSpPr txBox="1">
                <a:spLocks noRot="1" noChangeAspect="1" noMove="1" noResize="1" noEditPoints="1" noAdjustHandles="1" noChangeArrowheads="1" noChangeShapeType="1" noTextEdit="1"/>
              </p:cNvSpPr>
              <p:nvPr/>
            </p:nvSpPr>
            <p:spPr>
              <a:xfrm>
                <a:off x="11099731" y="3244334"/>
                <a:ext cx="904844" cy="369332"/>
              </a:xfrm>
              <a:prstGeom prst="rect">
                <a:avLst/>
              </a:prstGeom>
              <a:blipFill>
                <a:blip r:embed="rId6"/>
                <a:stretch>
                  <a:fillRect r="-10135"/>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495356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2">
            <a:extLst>
              <a:ext uri="{FF2B5EF4-FFF2-40B4-BE49-F238E27FC236}">
                <a16:creationId xmlns:a16="http://schemas.microsoft.com/office/drawing/2014/main" id="{2724E96F-0E9E-7088-9DCE-97A4E9CFEC54}"/>
              </a:ext>
            </a:extLst>
          </p:cNvPr>
          <p:cNvSpPr txBox="1">
            <a:spLocks/>
          </p:cNvSpPr>
          <p:nvPr/>
        </p:nvSpPr>
        <p:spPr>
          <a:xfrm>
            <a:off x="471489" y="69597"/>
            <a:ext cx="11153622" cy="565671"/>
          </a:xfrm>
          <a:prstGeom prst="rect">
            <a:avLst/>
          </a:prstGeom>
          <a:ln>
            <a:noFill/>
          </a:ln>
        </p:spPr>
        <p:txBody>
          <a:bodyPr vert="horz" lIns="91440" tIns="45720" rIns="91440" bIns="45720" rtlCol="0" anchor="ctr">
            <a:noAutofit/>
          </a:bodyPr>
          <a:lst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a:lstStyle>
          <a:p>
            <a:pPr algn="ctr"/>
            <a:r>
              <a:rPr lang="en-US" sz="3600" dirty="0"/>
              <a:t>Policy Iteration</a:t>
            </a:r>
          </a:p>
        </p:txBody>
      </p:sp>
      <p:sp>
        <p:nvSpPr>
          <p:cNvPr id="9" name="TextBox 8">
            <a:extLst>
              <a:ext uri="{FF2B5EF4-FFF2-40B4-BE49-F238E27FC236}">
                <a16:creationId xmlns:a16="http://schemas.microsoft.com/office/drawing/2014/main" id="{A0E6F636-9F62-DA18-C6E5-FDBE13C97E20}"/>
              </a:ext>
            </a:extLst>
          </p:cNvPr>
          <p:cNvSpPr txBox="1"/>
          <p:nvPr/>
        </p:nvSpPr>
        <p:spPr>
          <a:xfrm>
            <a:off x="925495" y="4826731"/>
            <a:ext cx="10316623" cy="707886"/>
          </a:xfrm>
          <a:prstGeom prst="rect">
            <a:avLst/>
          </a:prstGeom>
          <a:noFill/>
          <a:ln>
            <a:noFill/>
          </a:ln>
        </p:spPr>
        <p:txBody>
          <a:bodyPr wrap="square">
            <a:spAutoFit/>
          </a:bodyPr>
          <a:lstStyle/>
          <a:p>
            <a:r>
              <a:rPr lang="en-US" sz="2000" b="1" dirty="0"/>
              <a:t>Policy Iteration* Idea</a:t>
            </a:r>
            <a:r>
              <a:rPr lang="en-US" sz="2000" dirty="0"/>
              <a:t>: Instead of finding optimal values first, alternate between evaluating and improving the current policy.</a:t>
            </a:r>
          </a:p>
        </p:txBody>
      </p:sp>
      <p:sp>
        <p:nvSpPr>
          <p:cNvPr id="11" name="TextBox 10">
            <a:extLst>
              <a:ext uri="{FF2B5EF4-FFF2-40B4-BE49-F238E27FC236}">
                <a16:creationId xmlns:a16="http://schemas.microsoft.com/office/drawing/2014/main" id="{8DD31646-8B28-FCC4-98C1-2A569D0121CE}"/>
              </a:ext>
            </a:extLst>
          </p:cNvPr>
          <p:cNvSpPr txBox="1"/>
          <p:nvPr/>
        </p:nvSpPr>
        <p:spPr>
          <a:xfrm>
            <a:off x="7633252" y="6326793"/>
            <a:ext cx="4445083" cy="369332"/>
          </a:xfrm>
          <a:prstGeom prst="rect">
            <a:avLst/>
          </a:prstGeom>
          <a:noFill/>
          <a:ln>
            <a:solidFill>
              <a:schemeClr val="bg2"/>
            </a:solidFill>
          </a:ln>
        </p:spPr>
        <p:txBody>
          <a:bodyPr wrap="square">
            <a:spAutoFit/>
          </a:bodyPr>
          <a:lstStyle/>
          <a:p>
            <a:pPr marL="0" indent="0">
              <a:buNone/>
            </a:pPr>
            <a:r>
              <a:rPr lang="en-US" dirty="0"/>
              <a:t>* Often faster than value iteration in practice</a:t>
            </a:r>
          </a:p>
        </p:txBody>
      </p:sp>
      <p:sp>
        <p:nvSpPr>
          <p:cNvPr id="15" name="TextBox 14">
            <a:extLst>
              <a:ext uri="{FF2B5EF4-FFF2-40B4-BE49-F238E27FC236}">
                <a16:creationId xmlns:a16="http://schemas.microsoft.com/office/drawing/2014/main" id="{9E34DEB0-481F-E808-B594-0F2C330EE61A}"/>
              </a:ext>
            </a:extLst>
          </p:cNvPr>
          <p:cNvSpPr txBox="1"/>
          <p:nvPr/>
        </p:nvSpPr>
        <p:spPr>
          <a:xfrm>
            <a:off x="787027" y="1695610"/>
            <a:ext cx="10615295" cy="707886"/>
          </a:xfrm>
          <a:prstGeom prst="rect">
            <a:avLst/>
          </a:prstGeom>
          <a:noFill/>
          <a:ln>
            <a:noFill/>
          </a:ln>
        </p:spPr>
        <p:txBody>
          <a:bodyPr wrap="square">
            <a:spAutoFit/>
          </a:bodyPr>
          <a:lstStyle/>
          <a:p>
            <a:r>
              <a:rPr lang="en-US" sz="2000" b="1" dirty="0"/>
              <a:t>The Problem (‘Waste’ with Value iteration’s).</a:t>
            </a:r>
            <a:r>
              <a:rPr lang="en-US" sz="2000" dirty="0"/>
              <a:t> Each iteration, you compute the best action for every state, but then we throw away all that policy information and recompute it from scratch next time.</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BC114BB-BE03-FF6C-BA7E-378CEAB8742F}"/>
                  </a:ext>
                </a:extLst>
              </p:cNvPr>
              <p:cNvSpPr txBox="1"/>
              <p:nvPr/>
            </p:nvSpPr>
            <p:spPr>
              <a:xfrm>
                <a:off x="3000963" y="2371855"/>
                <a:ext cx="6094674" cy="849592"/>
              </a:xfrm>
              <a:prstGeom prst="rect">
                <a:avLst/>
              </a:prstGeom>
              <a:noFill/>
              <a:ln>
                <a:noFill/>
              </a:ln>
            </p:spPr>
            <p:txBody>
              <a:bodyPr wrap="square">
                <a:spAutoFit/>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𝑉</m:t>
                      </m:r>
                      <m:d>
                        <m:dPr>
                          <m:ctrlPr>
                            <a:rPr lang="en-US" sz="2000" i="1" dirty="0">
                              <a:latin typeface="Cambria Math" panose="02040503050406030204" pitchFamily="18" charset="0"/>
                            </a:rPr>
                          </m:ctrlPr>
                        </m:dPr>
                        <m:e>
                          <m:r>
                            <a:rPr lang="en-US" sz="2000" i="1" dirty="0">
                              <a:solidFill>
                                <a:srgbClr val="00B050"/>
                              </a:solidFill>
                              <a:latin typeface="Cambria Math" panose="02040503050406030204" pitchFamily="18" charset="0"/>
                            </a:rPr>
                            <m:t>𝑠</m:t>
                          </m:r>
                        </m:e>
                      </m:d>
                      <m:r>
                        <a:rPr lang="en-US" sz="2000" i="1" dirty="0">
                          <a:latin typeface="Cambria Math" panose="02040503050406030204" pitchFamily="18" charset="0"/>
                        </a:rPr>
                        <m:t>=</m:t>
                      </m:r>
                      <m:func>
                        <m:funcPr>
                          <m:ctrlPr>
                            <a:rPr lang="en-US" sz="2000" i="1" dirty="0">
                              <a:latin typeface="Cambria Math" panose="02040503050406030204" pitchFamily="18" charset="0"/>
                            </a:rPr>
                          </m:ctrlPr>
                        </m:funcPr>
                        <m:fName>
                          <m:limLow>
                            <m:limLowPr>
                              <m:ctrlPr>
                                <a:rPr lang="en-US" sz="2000" i="1" dirty="0">
                                  <a:latin typeface="Cambria Math" panose="02040503050406030204" pitchFamily="18" charset="0"/>
                                </a:rPr>
                              </m:ctrlPr>
                            </m:limLowPr>
                            <m:e>
                              <m:r>
                                <m:rPr>
                                  <m:sty m:val="p"/>
                                </m:rPr>
                                <a:rPr lang="en-US" sz="2000" dirty="0">
                                  <a:latin typeface="Cambria Math" panose="02040503050406030204" pitchFamily="18" charset="0"/>
                                </a:rPr>
                                <m:t>max</m:t>
                              </m:r>
                            </m:e>
                            <m:lim>
                              <m:r>
                                <a:rPr lang="en-US" sz="2000" i="1" dirty="0">
                                  <a:solidFill>
                                    <a:srgbClr val="7030A0"/>
                                  </a:solidFill>
                                  <a:latin typeface="Cambria Math" panose="02040503050406030204" pitchFamily="18" charset="0"/>
                                </a:rPr>
                                <m:t>𝑎</m:t>
                              </m:r>
                              <m:r>
                                <a:rPr lang="en-US" sz="2000" i="1" dirty="0">
                                  <a:latin typeface="Cambria Math" panose="02040503050406030204" pitchFamily="18" charset="0"/>
                                </a:rPr>
                                <m:t>∈</m:t>
                              </m:r>
                              <m:r>
                                <a:rPr lang="en-US" sz="2000" i="1" dirty="0">
                                  <a:solidFill>
                                    <a:srgbClr val="7030A0"/>
                                  </a:solidFill>
                                  <a:latin typeface="Cambria Math" panose="02040503050406030204" pitchFamily="18" charset="0"/>
                                </a:rPr>
                                <m:t>𝐴</m:t>
                              </m:r>
                            </m:lim>
                          </m:limLow>
                        </m:fName>
                        <m:e>
                          <m:nary>
                            <m:naryPr>
                              <m:chr m:val="∑"/>
                              <m:supHide m:val="on"/>
                              <m:ctrlPr>
                                <a:rPr lang="en-US" sz="2000" i="1" dirty="0">
                                  <a:latin typeface="Cambria Math" panose="02040503050406030204" pitchFamily="18" charset="0"/>
                                </a:rPr>
                              </m:ctrlPr>
                            </m:naryPr>
                            <m:sub>
                              <m:sSup>
                                <m:sSupPr>
                                  <m:ctrlPr>
                                    <a:rPr lang="en-US" sz="2000" i="1" dirty="0">
                                      <a:latin typeface="Cambria Math" panose="02040503050406030204" pitchFamily="18" charset="0"/>
                                    </a:rPr>
                                  </m:ctrlPr>
                                </m:sSupPr>
                                <m:e>
                                  <m:r>
                                    <a:rPr lang="en-US" sz="2000" i="1" dirty="0">
                                      <a:solidFill>
                                        <a:srgbClr val="00B050"/>
                                      </a:solidFill>
                                      <a:latin typeface="Cambria Math" panose="02040503050406030204" pitchFamily="18" charset="0"/>
                                    </a:rPr>
                                    <m:t>𝑠</m:t>
                                  </m:r>
                                </m:e>
                                <m:sup>
                                  <m:r>
                                    <a:rPr lang="en-US" sz="2000" i="1" dirty="0">
                                      <a:latin typeface="Cambria Math" panose="02040503050406030204" pitchFamily="18" charset="0"/>
                                    </a:rPr>
                                    <m:t>′</m:t>
                                  </m:r>
                                </m:sup>
                              </m:sSup>
                            </m:sub>
                            <m:sup/>
                            <m:e>
                              <m:r>
                                <a:rPr lang="en-US" sz="2000" i="1" dirty="0">
                                  <a:latin typeface="Cambria Math" panose="02040503050406030204" pitchFamily="18" charset="0"/>
                                </a:rPr>
                                <m:t>𝑃</m:t>
                              </m:r>
                              <m:d>
                                <m:dPr>
                                  <m:ctrlPr>
                                    <a:rPr lang="en-US" sz="2000" i="1" dirty="0">
                                      <a:latin typeface="Cambria Math" panose="02040503050406030204" pitchFamily="18" charset="0"/>
                                    </a:rPr>
                                  </m:ctrlPr>
                                </m:dPr>
                                <m:e>
                                  <m:sSup>
                                    <m:sSupPr>
                                      <m:ctrlPr>
                                        <a:rPr lang="en-US" sz="2000" i="1" dirty="0">
                                          <a:latin typeface="Cambria Math" panose="02040503050406030204" pitchFamily="18" charset="0"/>
                                        </a:rPr>
                                      </m:ctrlPr>
                                    </m:sSupPr>
                                    <m:e>
                                      <m:r>
                                        <a:rPr lang="en-US" sz="2000" i="1" dirty="0">
                                          <a:solidFill>
                                            <a:srgbClr val="00B050"/>
                                          </a:solidFill>
                                          <a:latin typeface="Cambria Math" panose="02040503050406030204" pitchFamily="18" charset="0"/>
                                        </a:rPr>
                                        <m:t>𝑠</m:t>
                                      </m:r>
                                    </m:e>
                                    <m:sup>
                                      <m:r>
                                        <a:rPr lang="en-US" sz="2000" i="1" dirty="0">
                                          <a:latin typeface="Cambria Math" panose="02040503050406030204" pitchFamily="18" charset="0"/>
                                        </a:rPr>
                                        <m:t>′</m:t>
                                      </m:r>
                                    </m:sup>
                                  </m:sSup>
                                  <m:r>
                                    <a:rPr lang="en-US" sz="2000" i="1" dirty="0">
                                      <a:latin typeface="Cambria Math" panose="02040503050406030204" pitchFamily="18" charset="0"/>
                                    </a:rPr>
                                    <m:t>∣</m:t>
                                  </m:r>
                                  <m:r>
                                    <a:rPr lang="en-US" sz="2000" i="1" dirty="0">
                                      <a:solidFill>
                                        <a:srgbClr val="00B050"/>
                                      </a:solidFill>
                                      <a:latin typeface="Cambria Math" panose="02040503050406030204" pitchFamily="18" charset="0"/>
                                    </a:rPr>
                                    <m:t>𝑠</m:t>
                                  </m:r>
                                  <m:r>
                                    <a:rPr lang="en-US" sz="2000" i="1" dirty="0">
                                      <a:latin typeface="Cambria Math" panose="02040503050406030204" pitchFamily="18" charset="0"/>
                                    </a:rPr>
                                    <m:t>,</m:t>
                                  </m:r>
                                  <m:r>
                                    <a:rPr lang="en-US" sz="2000" i="1" dirty="0">
                                      <a:solidFill>
                                        <a:srgbClr val="7030A0"/>
                                      </a:solidFill>
                                      <a:latin typeface="Cambria Math" panose="02040503050406030204" pitchFamily="18" charset="0"/>
                                    </a:rPr>
                                    <m:t>𝑎</m:t>
                                  </m:r>
                                </m:e>
                              </m:d>
                              <m:r>
                                <a:rPr lang="en-US" sz="2000" i="1" dirty="0">
                                  <a:latin typeface="Cambria Math" panose="02040503050406030204" pitchFamily="18" charset="0"/>
                                </a:rPr>
                                <m:t>⋅</m:t>
                              </m:r>
                              <m:d>
                                <m:dPr>
                                  <m:begChr m:val="["/>
                                  <m:endChr m:val="]"/>
                                  <m:ctrlPr>
                                    <a:rPr lang="en-US" sz="2000" i="1" dirty="0">
                                      <a:latin typeface="Cambria Math" panose="02040503050406030204" pitchFamily="18" charset="0"/>
                                    </a:rPr>
                                  </m:ctrlPr>
                                </m:dPr>
                                <m:e>
                                  <m:r>
                                    <a:rPr lang="en-US" sz="2000" i="1">
                                      <a:solidFill>
                                        <a:srgbClr val="1306BA"/>
                                      </a:solidFill>
                                      <a:latin typeface="Cambria Math" panose="02040503050406030204" pitchFamily="18" charset="0"/>
                                    </a:rPr>
                                    <m:t>𝑅</m:t>
                                  </m:r>
                                  <m:d>
                                    <m:dPr>
                                      <m:ctrlPr>
                                        <a:rPr lang="en-US" sz="2000" i="1">
                                          <a:latin typeface="Cambria Math" panose="02040503050406030204" pitchFamily="18" charset="0"/>
                                        </a:rPr>
                                      </m:ctrlPr>
                                    </m:dPr>
                                    <m:e>
                                      <m:r>
                                        <a:rPr lang="en-US" sz="2000" i="1">
                                          <a:solidFill>
                                            <a:srgbClr val="00B050"/>
                                          </a:solidFill>
                                          <a:latin typeface="Cambria Math" panose="02040503050406030204" pitchFamily="18" charset="0"/>
                                        </a:rPr>
                                        <m:t>𝑠</m:t>
                                      </m:r>
                                      <m:r>
                                        <a:rPr lang="en-US" sz="2000" i="1">
                                          <a:latin typeface="Cambria Math" panose="02040503050406030204" pitchFamily="18" charset="0"/>
                                        </a:rPr>
                                        <m:t>,</m:t>
                                      </m:r>
                                      <m:r>
                                        <a:rPr lang="en-US" sz="2000" i="1">
                                          <a:solidFill>
                                            <a:srgbClr val="7030A0"/>
                                          </a:solidFill>
                                          <a:latin typeface="Cambria Math" panose="02040503050406030204" pitchFamily="18" charset="0"/>
                                        </a:rPr>
                                        <m:t>𝑎</m:t>
                                      </m:r>
                                      <m:r>
                                        <a:rPr lang="en-US" sz="2000" i="1">
                                          <a:latin typeface="Cambria Math" panose="02040503050406030204" pitchFamily="18" charset="0"/>
                                        </a:rPr>
                                        <m:t>,</m:t>
                                      </m:r>
                                      <m:r>
                                        <a:rPr lang="en-US" sz="2000" i="1">
                                          <a:solidFill>
                                            <a:srgbClr val="00B050"/>
                                          </a:solidFill>
                                          <a:latin typeface="Cambria Math" panose="02040503050406030204" pitchFamily="18" charset="0"/>
                                        </a:rPr>
                                        <m:t>𝑠</m:t>
                                      </m:r>
                                      <m:r>
                                        <a:rPr lang="en-US" sz="2000" i="1">
                                          <a:latin typeface="Cambria Math" panose="02040503050406030204" pitchFamily="18" charset="0"/>
                                        </a:rPr>
                                        <m:t>′</m:t>
                                      </m:r>
                                    </m:e>
                                  </m:d>
                                  <m:r>
                                    <a:rPr lang="en-US" sz="2000" i="1">
                                      <a:latin typeface="Cambria Math" panose="02040503050406030204" pitchFamily="18" charset="0"/>
                                    </a:rPr>
                                    <m:t>+</m:t>
                                  </m:r>
                                  <m:r>
                                    <a:rPr lang="en-US" sz="2000" i="1">
                                      <a:solidFill>
                                        <a:srgbClr val="00B0F0"/>
                                      </a:solidFill>
                                      <a:latin typeface="Cambria Math" panose="02040503050406030204" pitchFamily="18" charset="0"/>
                                    </a:rPr>
                                    <m:t>𝛾</m:t>
                                  </m:r>
                                  <m:r>
                                    <a:rPr lang="en-US" sz="2000" b="0" i="1" dirty="0" smtClean="0">
                                      <a:latin typeface="Cambria Math" panose="02040503050406030204" pitchFamily="18" charset="0"/>
                                    </a:rPr>
                                    <m:t>⋅</m:t>
                                  </m:r>
                                  <m:r>
                                    <a:rPr lang="en-US" sz="2000" b="0" i="1" dirty="0" smtClean="0">
                                      <a:latin typeface="Cambria Math" panose="02040503050406030204" pitchFamily="18" charset="0"/>
                                    </a:rPr>
                                    <m:t>𝑉</m:t>
                                  </m:r>
                                  <m:d>
                                    <m:dPr>
                                      <m:ctrlPr>
                                        <a:rPr lang="en-US" sz="2000" i="1" dirty="0">
                                          <a:latin typeface="Cambria Math" panose="02040503050406030204" pitchFamily="18" charset="0"/>
                                        </a:rPr>
                                      </m:ctrlPr>
                                    </m:dPr>
                                    <m:e>
                                      <m:sSup>
                                        <m:sSupPr>
                                          <m:ctrlPr>
                                            <a:rPr lang="en-US" sz="2000" i="1" dirty="0">
                                              <a:latin typeface="Cambria Math" panose="02040503050406030204" pitchFamily="18" charset="0"/>
                                            </a:rPr>
                                          </m:ctrlPr>
                                        </m:sSupPr>
                                        <m:e>
                                          <m:r>
                                            <a:rPr lang="en-US" sz="2000" i="1" dirty="0">
                                              <a:solidFill>
                                                <a:srgbClr val="00B050"/>
                                              </a:solidFill>
                                              <a:latin typeface="Cambria Math" panose="02040503050406030204" pitchFamily="18" charset="0"/>
                                            </a:rPr>
                                            <m:t>𝑠</m:t>
                                          </m:r>
                                        </m:e>
                                        <m:sup>
                                          <m:r>
                                            <a:rPr lang="en-US" sz="2000" i="1" dirty="0">
                                              <a:latin typeface="Cambria Math" panose="02040503050406030204" pitchFamily="18" charset="0"/>
                                            </a:rPr>
                                            <m:t>′</m:t>
                                          </m:r>
                                        </m:sup>
                                      </m:sSup>
                                    </m:e>
                                  </m:d>
                                </m:e>
                              </m:d>
                            </m:e>
                          </m:nary>
                        </m:e>
                      </m:func>
                    </m:oMath>
                  </m:oMathPara>
                </a14:m>
                <a:endParaRPr lang="en-US" sz="2000" dirty="0"/>
              </a:p>
            </p:txBody>
          </p:sp>
        </mc:Choice>
        <mc:Fallback xmlns="">
          <p:sp>
            <p:nvSpPr>
              <p:cNvPr id="17" name="TextBox 16">
                <a:extLst>
                  <a:ext uri="{FF2B5EF4-FFF2-40B4-BE49-F238E27FC236}">
                    <a16:creationId xmlns:a16="http://schemas.microsoft.com/office/drawing/2014/main" id="{5BC114BB-BE03-FF6C-BA7E-378CEAB8742F}"/>
                  </a:ext>
                </a:extLst>
              </p:cNvPr>
              <p:cNvSpPr txBox="1">
                <a:spLocks noRot="1" noChangeAspect="1" noMove="1" noResize="1" noEditPoints="1" noAdjustHandles="1" noChangeArrowheads="1" noChangeShapeType="1" noTextEdit="1"/>
              </p:cNvSpPr>
              <p:nvPr/>
            </p:nvSpPr>
            <p:spPr>
              <a:xfrm>
                <a:off x="3000963" y="2371855"/>
                <a:ext cx="6094674" cy="849592"/>
              </a:xfrm>
              <a:prstGeom prst="rect">
                <a:avLst/>
              </a:prstGeom>
              <a:blipFill>
                <a:blip r:embed="rId2"/>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0D21A76-2CA5-02E1-749C-4C133F38AFA8}"/>
                  </a:ext>
                </a:extLst>
              </p:cNvPr>
              <p:cNvSpPr txBox="1"/>
              <p:nvPr/>
            </p:nvSpPr>
            <p:spPr>
              <a:xfrm>
                <a:off x="6340170" y="3390725"/>
                <a:ext cx="4782959" cy="802720"/>
              </a:xfrm>
              <a:prstGeom prst="rect">
                <a:avLst/>
              </a:prstGeom>
              <a:noFill/>
              <a:ln>
                <a:noFill/>
              </a:ln>
            </p:spPr>
            <p:txBody>
              <a:bodyPr wrap="square">
                <a:spAutoFit/>
              </a:bodyPr>
              <a:lstStyle/>
              <a:p>
                <a:r>
                  <a:rPr lang="en-US" sz="2000" dirty="0"/>
                  <a:t>This </a:t>
                </a:r>
                <a14:m>
                  <m:oMath xmlns:m="http://schemas.openxmlformats.org/officeDocument/2006/math">
                    <m:limLow>
                      <m:limLowPr>
                        <m:ctrlPr>
                          <a:rPr lang="en-US" sz="2000" i="1" dirty="0">
                            <a:latin typeface="Cambria Math" panose="02040503050406030204" pitchFamily="18" charset="0"/>
                          </a:rPr>
                        </m:ctrlPr>
                      </m:limLowPr>
                      <m:e>
                        <m:r>
                          <m:rPr>
                            <m:sty m:val="p"/>
                          </m:rPr>
                          <a:rPr lang="en-US" sz="2000" dirty="0">
                            <a:latin typeface="Cambria Math" panose="02040503050406030204" pitchFamily="18" charset="0"/>
                          </a:rPr>
                          <m:t>max</m:t>
                        </m:r>
                      </m:e>
                      <m:lim>
                        <m:r>
                          <a:rPr lang="en-US" sz="2000" i="1" dirty="0">
                            <a:solidFill>
                              <a:srgbClr val="7030A0"/>
                            </a:solidFill>
                            <a:latin typeface="Cambria Math" panose="02040503050406030204" pitchFamily="18" charset="0"/>
                          </a:rPr>
                          <m:t>𝑎</m:t>
                        </m:r>
                        <m:r>
                          <a:rPr lang="en-US" sz="2000" i="1" dirty="0">
                            <a:latin typeface="Cambria Math" panose="02040503050406030204" pitchFamily="18" charset="0"/>
                          </a:rPr>
                          <m:t>∈</m:t>
                        </m:r>
                        <m:r>
                          <a:rPr lang="en-US" sz="2000" i="1" dirty="0">
                            <a:solidFill>
                              <a:srgbClr val="7030A0"/>
                            </a:solidFill>
                            <a:latin typeface="Cambria Math" panose="02040503050406030204" pitchFamily="18" charset="0"/>
                          </a:rPr>
                          <m:t>𝐴</m:t>
                        </m:r>
                      </m:lim>
                    </m:limLow>
                  </m:oMath>
                </a14:m>
                <a:r>
                  <a:rPr lang="en-US" sz="2000" dirty="0"/>
                  <a:t> computation finds the best action, but we do not store which action that was!</a:t>
                </a:r>
              </a:p>
            </p:txBody>
          </p:sp>
        </mc:Choice>
        <mc:Fallback xmlns="">
          <p:sp>
            <p:nvSpPr>
              <p:cNvPr id="19" name="TextBox 18">
                <a:extLst>
                  <a:ext uri="{FF2B5EF4-FFF2-40B4-BE49-F238E27FC236}">
                    <a16:creationId xmlns:a16="http://schemas.microsoft.com/office/drawing/2014/main" id="{E0D21A76-2CA5-02E1-749C-4C133F38AFA8}"/>
                  </a:ext>
                </a:extLst>
              </p:cNvPr>
              <p:cNvSpPr txBox="1">
                <a:spLocks noRot="1" noChangeAspect="1" noMove="1" noResize="1" noEditPoints="1" noAdjustHandles="1" noChangeArrowheads="1" noChangeShapeType="1" noTextEdit="1"/>
              </p:cNvSpPr>
              <p:nvPr/>
            </p:nvSpPr>
            <p:spPr>
              <a:xfrm>
                <a:off x="6340170" y="3390725"/>
                <a:ext cx="4782959" cy="802720"/>
              </a:xfrm>
              <a:prstGeom prst="rect">
                <a:avLst/>
              </a:prstGeom>
              <a:blipFill>
                <a:blip r:embed="rId3"/>
                <a:stretch>
                  <a:fillRect l="-1274" t="-3030" r="-1146" b="-12121"/>
                </a:stretch>
              </a:blipFill>
              <a:ln>
                <a:noFill/>
              </a:ln>
            </p:spPr>
            <p:txBody>
              <a:bodyPr/>
              <a:lstStyle/>
              <a:p>
                <a:r>
                  <a:rPr lang="en-US">
                    <a:noFill/>
                  </a:rPr>
                  <a:t> </a:t>
                </a:r>
              </a:p>
            </p:txBody>
          </p:sp>
        </mc:Fallback>
      </mc:AlternateContent>
      <p:cxnSp>
        <p:nvCxnSpPr>
          <p:cNvPr id="21" name="Straight Arrow Connector 20">
            <a:extLst>
              <a:ext uri="{FF2B5EF4-FFF2-40B4-BE49-F238E27FC236}">
                <a16:creationId xmlns:a16="http://schemas.microsoft.com/office/drawing/2014/main" id="{444F80BE-1369-0C90-2C76-E635208FAD5C}"/>
              </a:ext>
            </a:extLst>
          </p:cNvPr>
          <p:cNvCxnSpPr>
            <a:cxnSpLocks/>
            <a:stCxn id="19" idx="1"/>
          </p:cNvCxnSpPr>
          <p:nvPr/>
        </p:nvCxnSpPr>
        <p:spPr>
          <a:xfrm rot="10800000">
            <a:off x="4373218" y="3098367"/>
            <a:ext cx="1966953" cy="693719"/>
          </a:xfrm>
          <a:prstGeom prst="bentConnector3">
            <a:avLst>
              <a:gd name="adj1" fmla="val 100126"/>
            </a:avLst>
          </a:prstGeom>
          <a:ln w="19050">
            <a:solidFill>
              <a:schemeClr val="tx1"/>
            </a:solidFill>
            <a:tailEnd type="triangle"/>
          </a:ln>
        </p:spPr>
        <p:style>
          <a:lnRef idx="1">
            <a:schemeClr val="accent2"/>
          </a:lnRef>
          <a:fillRef idx="0">
            <a:schemeClr val="accent2"/>
          </a:fillRef>
          <a:effectRef idx="0">
            <a:schemeClr val="accent2"/>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6DF5D-D351-2BA3-9A4B-292F5A44223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05C37D7-8D60-19F3-28EB-BE088D498EB1}"/>
                  </a:ext>
                </a:extLst>
              </p:cNvPr>
              <p:cNvSpPr>
                <a:spLocks noGrp="1"/>
              </p:cNvSpPr>
              <p:nvPr>
                <p:ph idx="1"/>
              </p:nvPr>
            </p:nvSpPr>
            <p:spPr>
              <a:xfrm>
                <a:off x="992757" y="926396"/>
                <a:ext cx="9634007" cy="5768601"/>
              </a:xfrm>
            </p:spPr>
            <p:txBody>
              <a:bodyPr>
                <a:noAutofit/>
              </a:bodyPr>
              <a:lstStyle/>
              <a:p>
                <a:pPr marL="0" indent="0">
                  <a:buClr>
                    <a:schemeClr val="tx1"/>
                  </a:buClr>
                  <a:buNone/>
                </a:pPr>
                <a:r>
                  <a:rPr lang="en-US" sz="1800" dirty="0">
                    <a:latin typeface="Consolas" panose="020B0609020204030204" pitchFamily="49" charset="0"/>
                  </a:rPr>
                  <a:t>PolicyIteration(</a:t>
                </a:r>
                <a14:m>
                  <m:oMath xmlns:m="http://schemas.openxmlformats.org/officeDocument/2006/math">
                    <m:r>
                      <m:rPr>
                        <m:sty m:val="p"/>
                      </m:rPr>
                      <a:rPr lang="pt-BR" sz="1800" i="0" dirty="0" smtClean="0">
                        <a:latin typeface="Cambria Math" panose="02040503050406030204" pitchFamily="18" charset="0"/>
                      </a:rPr>
                      <m:t>MDP</m:t>
                    </m:r>
                    <m:d>
                      <m:dPr>
                        <m:ctrlPr>
                          <a:rPr lang="pt-BR" sz="1800" i="1" dirty="0" smtClean="0">
                            <a:latin typeface="Cambria Math" panose="02040503050406030204" pitchFamily="18" charset="0"/>
                          </a:rPr>
                        </m:ctrlPr>
                      </m:dPr>
                      <m:e>
                        <m:r>
                          <a:rPr lang="pt-BR" sz="1800" i="1" dirty="0">
                            <a:latin typeface="Cambria Math" panose="02040503050406030204" pitchFamily="18" charset="0"/>
                          </a:rPr>
                          <m:t>𝑆</m:t>
                        </m:r>
                        <m:r>
                          <a:rPr lang="pt-BR" sz="1800" i="1" dirty="0">
                            <a:latin typeface="Cambria Math" panose="02040503050406030204" pitchFamily="18" charset="0"/>
                          </a:rPr>
                          <m:t>, </m:t>
                        </m:r>
                        <m:r>
                          <a:rPr lang="pt-BR" sz="1800" i="1" dirty="0">
                            <a:latin typeface="Cambria Math" panose="02040503050406030204" pitchFamily="18" charset="0"/>
                          </a:rPr>
                          <m:t>𝐴</m:t>
                        </m:r>
                        <m:r>
                          <a:rPr lang="pt-BR" sz="1800" i="1" dirty="0">
                            <a:latin typeface="Cambria Math" panose="02040503050406030204" pitchFamily="18" charset="0"/>
                          </a:rPr>
                          <m:t>, </m:t>
                        </m:r>
                        <m:r>
                          <a:rPr lang="pt-BR" sz="1800" i="1" dirty="0">
                            <a:latin typeface="Cambria Math" panose="02040503050406030204" pitchFamily="18" charset="0"/>
                          </a:rPr>
                          <m:t>𝑃</m:t>
                        </m:r>
                        <m:r>
                          <a:rPr lang="pt-BR" sz="1800" i="1" dirty="0">
                            <a:latin typeface="Cambria Math" panose="02040503050406030204" pitchFamily="18" charset="0"/>
                          </a:rPr>
                          <m:t>, </m:t>
                        </m:r>
                        <m:r>
                          <a:rPr lang="pt-BR" sz="1800" i="1" dirty="0">
                            <a:latin typeface="Cambria Math" panose="02040503050406030204" pitchFamily="18" charset="0"/>
                          </a:rPr>
                          <m:t>𝑅</m:t>
                        </m:r>
                        <m:r>
                          <a:rPr lang="pt-BR" sz="1800" i="1" dirty="0">
                            <a:latin typeface="Cambria Math" panose="02040503050406030204" pitchFamily="18" charset="0"/>
                          </a:rPr>
                          <m:t>, </m:t>
                        </m:r>
                        <m:r>
                          <a:rPr lang="pt-BR" sz="1800" i="1" dirty="0">
                            <a:latin typeface="Cambria Math" panose="02040503050406030204" pitchFamily="18" charset="0"/>
                          </a:rPr>
                          <m:t>𝛾</m:t>
                        </m:r>
                      </m:e>
                    </m:d>
                    <m:r>
                      <a:rPr lang="en-US" sz="1800" b="0" i="1" dirty="0" smtClean="0">
                        <a:latin typeface="Cambria Math" panose="02040503050406030204" pitchFamily="18" charset="0"/>
                      </a:rPr>
                      <m:t>,</m:t>
                    </m:r>
                    <m:r>
                      <a:rPr lang="en-US" sz="1800" b="0" i="1" dirty="0" smtClean="0">
                        <a:latin typeface="Cambria Math" panose="02040503050406030204" pitchFamily="18" charset="0"/>
                      </a:rPr>
                      <m:t>𝜃</m:t>
                    </m:r>
                  </m:oMath>
                </a14:m>
                <a:r>
                  <a:rPr lang="en-US" sz="1800" dirty="0">
                    <a:latin typeface="Consolas" panose="020B0609020204030204" pitchFamily="49" charset="0"/>
                  </a:rPr>
                  <a:t>) </a:t>
                </a:r>
                <a:r>
                  <a:rPr lang="en-US" sz="1800" dirty="0">
                    <a:latin typeface="Consolas" panose="020B0609020204030204" pitchFamily="49" charset="0"/>
                    <a:sym typeface="Wingdings" panose="05000000000000000000" pitchFamily="2" charset="2"/>
                  </a:rPr>
                  <a:t> </a:t>
                </a:r>
                <a:r>
                  <a:rPr lang="en-US" sz="1800" dirty="0"/>
                  <a:t>Optimal value function </a:t>
                </a:r>
                <a14:m>
                  <m:oMath xmlns:m="http://schemas.openxmlformats.org/officeDocument/2006/math">
                    <m:sSup>
                      <m:sSupPr>
                        <m:ctrlPr>
                          <a:rPr lang="en-US" sz="1800" b="0" i="1" dirty="0" smtClean="0">
                            <a:latin typeface="Cambria Math" panose="02040503050406030204" pitchFamily="18" charset="0"/>
                          </a:rPr>
                        </m:ctrlPr>
                      </m:sSupPr>
                      <m:e>
                        <m:r>
                          <a:rPr lang="en-US" sz="1800" i="1" dirty="0" smtClean="0">
                            <a:latin typeface="Cambria Math" panose="02040503050406030204" pitchFamily="18" charset="0"/>
                          </a:rPr>
                          <m:t>𝑉</m:t>
                        </m:r>
                      </m:e>
                      <m:sup>
                        <m:r>
                          <a:rPr lang="en-US" sz="1800" b="0" i="1" dirty="0" smtClean="0">
                            <a:latin typeface="Cambria Math" panose="02040503050406030204" pitchFamily="18" charset="0"/>
                          </a:rPr>
                          <m:t>∗</m:t>
                        </m:r>
                      </m:sup>
                    </m:sSup>
                  </m:oMath>
                </a14:m>
                <a:r>
                  <a:rPr lang="en-US" sz="1800" dirty="0"/>
                  <a:t>, optimal policy </a:t>
                </a:r>
                <a14:m>
                  <m:oMath xmlns:m="http://schemas.openxmlformats.org/officeDocument/2006/math">
                    <m:sSup>
                      <m:sSupPr>
                        <m:ctrlPr>
                          <a:rPr lang="en-US" sz="1800" b="0" i="1" dirty="0" smtClean="0">
                            <a:latin typeface="Cambria Math" panose="02040503050406030204" pitchFamily="18" charset="0"/>
                          </a:rPr>
                        </m:ctrlPr>
                      </m:sSupPr>
                      <m:e>
                        <m:r>
                          <a:rPr lang="en-US" sz="1800" b="1" i="1" dirty="0" smtClean="0">
                            <a:latin typeface="Cambria Math" panose="02040503050406030204" pitchFamily="18" charset="0"/>
                          </a:rPr>
                          <m:t>𝝅</m:t>
                        </m:r>
                      </m:e>
                      <m:sup>
                        <m:r>
                          <a:rPr lang="en-US" sz="1800" b="0" i="1" dirty="0" smtClean="0">
                            <a:latin typeface="Cambria Math" panose="02040503050406030204" pitchFamily="18" charset="0"/>
                          </a:rPr>
                          <m:t>∗</m:t>
                        </m:r>
                      </m:sup>
                    </m:sSup>
                  </m:oMath>
                </a14:m>
                <a:endParaRPr lang="en-US" sz="1800" dirty="0">
                  <a:latin typeface="Consolas" panose="020B0609020204030204" pitchFamily="49" charset="0"/>
                </a:endParaRPr>
              </a:p>
              <a:p>
                <a:pPr marL="0" indent="0">
                  <a:buClr>
                    <a:schemeClr val="tx1"/>
                  </a:buClr>
                  <a:buNone/>
                </a:pPr>
                <a:endParaRPr lang="en-US" sz="500" dirty="0">
                  <a:latin typeface="Consolas" panose="020B0609020204030204" pitchFamily="49" charset="0"/>
                </a:endParaRPr>
              </a:p>
              <a:p>
                <a:pPr marL="0" indent="0">
                  <a:buClr>
                    <a:schemeClr val="tx1"/>
                  </a:buClr>
                  <a:buNone/>
                </a:pPr>
                <a:r>
                  <a:rPr lang="en-US" sz="1800" dirty="0">
                    <a:latin typeface="Consolas" panose="020B0609020204030204" pitchFamily="49" charset="0"/>
                  </a:rPr>
                  <a:t>    Initialize </a:t>
                </a:r>
                <a14:m>
                  <m:oMath xmlns:m="http://schemas.openxmlformats.org/officeDocument/2006/math">
                    <m:r>
                      <a:rPr lang="en-US" sz="1800" b="1" i="1" dirty="0" smtClean="0">
                        <a:latin typeface="Cambria Math" panose="02040503050406030204" pitchFamily="18" charset="0"/>
                      </a:rPr>
                      <m:t>𝝅</m:t>
                    </m:r>
                    <m:d>
                      <m:dPr>
                        <m:ctrlPr>
                          <a:rPr lang="en-US" sz="1800" i="1" dirty="0">
                            <a:latin typeface="Cambria Math" panose="02040503050406030204" pitchFamily="18" charset="0"/>
                          </a:rPr>
                        </m:ctrlPr>
                      </m:dPr>
                      <m:e>
                        <m:r>
                          <a:rPr lang="en-US" sz="1800" i="1" dirty="0">
                            <a:solidFill>
                              <a:srgbClr val="00B050"/>
                            </a:solidFill>
                            <a:latin typeface="Cambria Math" panose="02040503050406030204" pitchFamily="18" charset="0"/>
                          </a:rPr>
                          <m:t>𝑠</m:t>
                        </m:r>
                      </m:e>
                    </m:d>
                    <m:r>
                      <a:rPr lang="en-US" sz="1800" i="1" dirty="0">
                        <a:latin typeface="Cambria Math" panose="02040503050406030204" pitchFamily="18" charset="0"/>
                      </a:rPr>
                      <m:t> </m:t>
                    </m:r>
                  </m:oMath>
                </a14:m>
                <a:r>
                  <a:rPr lang="en-US" sz="1800" dirty="0">
                    <a:latin typeface="Consolas" panose="020B0609020204030204" pitchFamily="49" charset="0"/>
                  </a:rPr>
                  <a:t>arbitrarily for all </a:t>
                </a:r>
                <a14:m>
                  <m:oMath xmlns:m="http://schemas.openxmlformats.org/officeDocument/2006/math">
                    <m:r>
                      <a:rPr lang="en-US" sz="1800" i="1" dirty="0" smtClean="0">
                        <a:solidFill>
                          <a:srgbClr val="00B050"/>
                        </a:solidFill>
                        <a:latin typeface="Cambria Math" panose="02040503050406030204" pitchFamily="18" charset="0"/>
                      </a:rPr>
                      <m:t>𝑠</m:t>
                    </m:r>
                    <m:r>
                      <a:rPr lang="en-US" sz="1800" b="0" i="1" dirty="0" smtClean="0">
                        <a:solidFill>
                          <a:schemeClr val="tx1"/>
                        </a:solidFill>
                        <a:latin typeface="Cambria Math" panose="02040503050406030204" pitchFamily="18" charset="0"/>
                      </a:rPr>
                      <m:t>∈</m:t>
                    </m:r>
                    <m:r>
                      <a:rPr lang="en-US" sz="1800" b="0" i="1" dirty="0" smtClean="0">
                        <a:solidFill>
                          <a:srgbClr val="00B050"/>
                        </a:solidFill>
                        <a:latin typeface="Cambria Math" panose="02040503050406030204" pitchFamily="18" charset="0"/>
                      </a:rPr>
                      <m:t>𝑆</m:t>
                    </m:r>
                  </m:oMath>
                </a14:m>
                <a:endParaRPr lang="en-US" sz="1800" dirty="0">
                  <a:solidFill>
                    <a:srgbClr val="008000"/>
                  </a:solidFill>
                  <a:latin typeface="Consolas" panose="020B0609020204030204" pitchFamily="49" charset="0"/>
                </a:endParaRPr>
              </a:p>
              <a:p>
                <a:pPr marL="0" indent="0">
                  <a:buClr>
                    <a:schemeClr val="tx1"/>
                  </a:buClr>
                  <a:buNone/>
                </a:pPr>
                <a:endParaRPr lang="en-US" sz="700" dirty="0">
                  <a:latin typeface="Consolas" panose="020B0609020204030204" pitchFamily="49" charset="0"/>
                </a:endParaRPr>
              </a:p>
              <a:p>
                <a:pPr marL="0" indent="0">
                  <a:buClr>
                    <a:schemeClr val="tx1"/>
                  </a:buClr>
                  <a:buNone/>
                </a:pPr>
                <a:r>
                  <a:rPr lang="en-US" sz="1800" dirty="0">
                    <a:latin typeface="Consolas" panose="020B0609020204030204" pitchFamily="49" charset="0"/>
                  </a:rPr>
                  <a:t>    while true:</a:t>
                </a:r>
              </a:p>
              <a:p>
                <a:pPr marL="0" indent="0">
                  <a:buClr>
                    <a:schemeClr val="tx1"/>
                  </a:buClr>
                  <a:buNone/>
                </a:pPr>
                <a:endParaRPr lang="en-US" sz="700" dirty="0">
                  <a:solidFill>
                    <a:srgbClr val="008000"/>
                  </a:solidFill>
                  <a:latin typeface="Consolas" panose="020B0609020204030204" pitchFamily="49" charset="0"/>
                </a:endParaRPr>
              </a:p>
              <a:p>
                <a:pPr marL="0" indent="0">
                  <a:buClr>
                    <a:schemeClr val="tx1"/>
                  </a:buClr>
                  <a:buNone/>
                </a:pPr>
                <a:r>
                  <a:rPr lang="en-US" sz="1800" dirty="0">
                    <a:solidFill>
                      <a:srgbClr val="008000"/>
                    </a:solidFill>
                    <a:latin typeface="Consolas" panose="020B0609020204030204" pitchFamily="49" charset="0"/>
                  </a:rPr>
                  <a:t>        # Policy Evaluation</a:t>
                </a:r>
                <a:endParaRPr lang="en-US" sz="1800" dirty="0">
                  <a:latin typeface="Consolas" panose="020B0609020204030204" pitchFamily="49" charset="0"/>
                </a:endParaRPr>
              </a:p>
              <a:p>
                <a:pPr marL="0" indent="0">
                  <a:buClr>
                    <a:schemeClr val="tx1"/>
                  </a:buClr>
                  <a:buNone/>
                </a:pPr>
                <a:r>
                  <a:rPr lang="en-US" sz="1800" dirty="0">
                    <a:latin typeface="Consolas" panose="020B0609020204030204" pitchFamily="49" charset="0"/>
                  </a:rPr>
                  <a:t>        repeat:</a:t>
                </a:r>
              </a:p>
              <a:p>
                <a:pPr marL="0" indent="0">
                  <a:buClr>
                    <a:schemeClr val="tx1"/>
                  </a:buClr>
                  <a:buNone/>
                </a:pPr>
                <a:r>
                  <a:rPr lang="en-US" sz="1800" dirty="0">
                    <a:latin typeface="Consolas" panose="020B0609020204030204" pitchFamily="49" charset="0"/>
                  </a:rPr>
                  <a:t>            </a:t>
                </a:r>
                <a14:m>
                  <m:oMath xmlns:m="http://schemas.openxmlformats.org/officeDocument/2006/math">
                    <m:r>
                      <m:rPr>
                        <m:sty m:val="p"/>
                      </m:rPr>
                      <a:rPr lang="en-US" sz="1800">
                        <a:latin typeface="Cambria Math" panose="02040503050406030204" pitchFamily="18" charset="0"/>
                      </a:rPr>
                      <m:t>Δ</m:t>
                    </m:r>
                    <m:r>
                      <a:rPr lang="en-US" sz="1800" b="0" i="1" smtClean="0">
                        <a:latin typeface="Cambria Math" panose="02040503050406030204" pitchFamily="18" charset="0"/>
                      </a:rPr>
                      <m:t>=0</m:t>
                    </m:r>
                  </m:oMath>
                </a14:m>
                <a:endParaRPr lang="en-US" sz="1800" dirty="0">
                  <a:latin typeface="Consolas" panose="020B0609020204030204" pitchFamily="49" charset="0"/>
                </a:endParaRPr>
              </a:p>
              <a:p>
                <a:pPr marL="0" indent="0">
                  <a:buClr>
                    <a:schemeClr val="tx1"/>
                  </a:buClr>
                  <a:buNone/>
                </a:pPr>
                <a:r>
                  <a:rPr lang="en-US" sz="1800" dirty="0">
                    <a:latin typeface="Consolas" panose="020B0609020204030204" pitchFamily="49" charset="0"/>
                  </a:rPr>
                  <a:t>            For each state </a:t>
                </a:r>
                <a14:m>
                  <m:oMath xmlns:m="http://schemas.openxmlformats.org/officeDocument/2006/math">
                    <m:r>
                      <a:rPr lang="en-US" sz="1800" i="1" dirty="0">
                        <a:solidFill>
                          <a:srgbClr val="00B050"/>
                        </a:solidFill>
                        <a:latin typeface="Cambria Math" panose="02040503050406030204" pitchFamily="18" charset="0"/>
                      </a:rPr>
                      <m:t>𝑠</m:t>
                    </m:r>
                    <m:r>
                      <a:rPr lang="en-US" sz="1800" i="1" dirty="0">
                        <a:latin typeface="Cambria Math" panose="02040503050406030204" pitchFamily="18" charset="0"/>
                      </a:rPr>
                      <m:t>∈</m:t>
                    </m:r>
                    <m:r>
                      <a:rPr lang="en-US" sz="1800" i="1" dirty="0">
                        <a:solidFill>
                          <a:srgbClr val="00B050"/>
                        </a:solidFill>
                        <a:latin typeface="Cambria Math" panose="02040503050406030204" pitchFamily="18" charset="0"/>
                      </a:rPr>
                      <m:t>𝑆</m:t>
                    </m:r>
                  </m:oMath>
                </a14:m>
                <a:r>
                  <a:rPr lang="en-US" sz="1800" dirty="0">
                    <a:latin typeface="Consolas" panose="020B0609020204030204" pitchFamily="49" charset="0"/>
                  </a:rPr>
                  <a:t>:</a:t>
                </a:r>
              </a:p>
              <a:p>
                <a:pPr marL="0" indent="0">
                  <a:buClr>
                    <a:schemeClr val="tx1"/>
                  </a:buClr>
                  <a:buNone/>
                </a:pPr>
                <a:r>
                  <a:rPr lang="en-US" sz="1800" dirty="0">
                    <a:latin typeface="Consolas" panose="020B0609020204030204" pitchFamily="49" charset="0"/>
                  </a:rPr>
                  <a:t>                </a:t>
                </a:r>
                <a14:m>
                  <m:oMath xmlns:m="http://schemas.openxmlformats.org/officeDocument/2006/math">
                    <m:r>
                      <a:rPr lang="en-US" sz="1800" b="0" i="1" smtClean="0">
                        <a:latin typeface="Cambria Math" panose="02040503050406030204" pitchFamily="18" charset="0"/>
                      </a:rPr>
                      <m:t>𝑣</m:t>
                    </m:r>
                    <m:r>
                      <a:rPr lang="en-US" sz="1800" b="0" i="1" smtClean="0">
                        <a:latin typeface="Cambria Math" panose="02040503050406030204" pitchFamily="18" charset="0"/>
                      </a:rPr>
                      <m:t>=</m:t>
                    </m:r>
                    <m:r>
                      <a:rPr lang="en-US" sz="1800" b="0" i="1" smtClean="0">
                        <a:latin typeface="Cambria Math" panose="02040503050406030204" pitchFamily="18" charset="0"/>
                      </a:rPr>
                      <m:t>𝑉</m:t>
                    </m:r>
                    <m:d>
                      <m:dPr>
                        <m:ctrlPr>
                          <a:rPr lang="en-US" sz="1800" b="0" i="1" smtClean="0">
                            <a:latin typeface="Cambria Math" panose="02040503050406030204" pitchFamily="18" charset="0"/>
                          </a:rPr>
                        </m:ctrlPr>
                      </m:dPr>
                      <m:e>
                        <m:r>
                          <a:rPr lang="en-US" sz="1800" b="0" i="1" smtClean="0">
                            <a:solidFill>
                              <a:srgbClr val="00B050"/>
                            </a:solidFill>
                            <a:latin typeface="Cambria Math" panose="02040503050406030204" pitchFamily="18" charset="0"/>
                          </a:rPr>
                          <m:t>𝑠</m:t>
                        </m:r>
                      </m:e>
                    </m:d>
                  </m:oMath>
                </a14:m>
                <a:r>
                  <a:rPr lang="en-US" sz="1800" dirty="0">
                    <a:solidFill>
                      <a:srgbClr val="008000"/>
                    </a:solidFill>
                    <a:latin typeface="Consolas" panose="020B0609020204030204" pitchFamily="49" charset="0"/>
                  </a:rPr>
                  <a:t>                                     #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𝑉</m:t>
                        </m:r>
                      </m:e>
                      <m:sub>
                        <m:r>
                          <a:rPr lang="en-US" sz="1800" i="1" dirty="0">
                            <a:latin typeface="Cambria Math" panose="02040503050406030204" pitchFamily="18" charset="0"/>
                          </a:rPr>
                          <m:t>𝑘</m:t>
                        </m:r>
                      </m:sub>
                    </m:sSub>
                    <m:d>
                      <m:dPr>
                        <m:ctrlPr>
                          <a:rPr lang="en-US" sz="1800" i="1" dirty="0">
                            <a:latin typeface="Cambria Math" panose="02040503050406030204" pitchFamily="18" charset="0"/>
                          </a:rPr>
                        </m:ctrlPr>
                      </m:dPr>
                      <m:e>
                        <m:r>
                          <a:rPr lang="en-US" sz="1800" i="1" dirty="0">
                            <a:solidFill>
                              <a:srgbClr val="00B050"/>
                            </a:solidFill>
                            <a:latin typeface="Cambria Math" panose="02040503050406030204" pitchFamily="18" charset="0"/>
                          </a:rPr>
                          <m:t>𝑠</m:t>
                        </m:r>
                      </m:e>
                    </m:d>
                  </m:oMath>
                </a14:m>
                <a:endParaRPr lang="en-US" sz="1800" b="0" dirty="0">
                  <a:latin typeface="Consolas" panose="020B0609020204030204" pitchFamily="49" charset="0"/>
                </a:endParaRPr>
              </a:p>
              <a:p>
                <a:pPr marL="0" indent="0">
                  <a:buClr>
                    <a:schemeClr val="tx1"/>
                  </a:buClr>
                  <a:buNone/>
                </a:pPr>
                <a:r>
                  <a:rPr lang="en-US" sz="1800" dirty="0">
                    <a:latin typeface="Consolas" panose="020B0609020204030204" pitchFamily="49" charset="0"/>
                  </a:rPr>
                  <a:t>                </a:t>
                </a:r>
                <a14:m>
                  <m:oMath xmlns:m="http://schemas.openxmlformats.org/officeDocument/2006/math">
                    <m:r>
                      <a:rPr lang="en-US" sz="1800" b="0" i="1" dirty="0" smtClean="0">
                        <a:latin typeface="Cambria Math" panose="02040503050406030204" pitchFamily="18" charset="0"/>
                      </a:rPr>
                      <m:t>𝑉</m:t>
                    </m:r>
                    <m:d>
                      <m:dPr>
                        <m:ctrlPr>
                          <a:rPr lang="en-US" sz="1800" i="1" dirty="0">
                            <a:latin typeface="Cambria Math" panose="02040503050406030204" pitchFamily="18" charset="0"/>
                          </a:rPr>
                        </m:ctrlPr>
                      </m:dPr>
                      <m:e>
                        <m:r>
                          <a:rPr lang="en-US" sz="1800" i="1" dirty="0">
                            <a:solidFill>
                              <a:srgbClr val="00B050"/>
                            </a:solidFill>
                            <a:latin typeface="Cambria Math" panose="02040503050406030204" pitchFamily="18" charset="0"/>
                          </a:rPr>
                          <m:t>𝑠</m:t>
                        </m:r>
                      </m:e>
                    </m:d>
                    <m:r>
                      <a:rPr lang="en-US" sz="1800" i="1" dirty="0">
                        <a:latin typeface="Cambria Math" panose="02040503050406030204" pitchFamily="18" charset="0"/>
                      </a:rPr>
                      <m:t>=</m:t>
                    </m:r>
                    <m:nary>
                      <m:naryPr>
                        <m:chr m:val="∑"/>
                        <m:supHide m:val="on"/>
                        <m:ctrlPr>
                          <a:rPr lang="en-US" sz="1800" i="1" dirty="0">
                            <a:latin typeface="Cambria Math" panose="02040503050406030204" pitchFamily="18" charset="0"/>
                          </a:rPr>
                        </m:ctrlPr>
                      </m:naryPr>
                      <m:sub>
                        <m:sSup>
                          <m:sSupPr>
                            <m:ctrlPr>
                              <a:rPr lang="en-US" sz="1800" i="1" dirty="0">
                                <a:latin typeface="Cambria Math" panose="02040503050406030204" pitchFamily="18" charset="0"/>
                              </a:rPr>
                            </m:ctrlPr>
                          </m:sSupPr>
                          <m:e>
                            <m:r>
                              <a:rPr lang="en-US" sz="1800" i="1" dirty="0">
                                <a:solidFill>
                                  <a:srgbClr val="00B050"/>
                                </a:solidFill>
                                <a:latin typeface="Cambria Math" panose="02040503050406030204" pitchFamily="18" charset="0"/>
                              </a:rPr>
                              <m:t>𝑠</m:t>
                            </m:r>
                          </m:e>
                          <m:sup>
                            <m:r>
                              <a:rPr lang="en-US" sz="1800" i="1" dirty="0">
                                <a:latin typeface="Cambria Math" panose="02040503050406030204" pitchFamily="18" charset="0"/>
                              </a:rPr>
                              <m:t>′</m:t>
                            </m:r>
                          </m:sup>
                        </m:sSup>
                      </m:sub>
                      <m:sup/>
                      <m:e>
                        <m:r>
                          <a:rPr lang="en-US" sz="1800" i="1" dirty="0">
                            <a:latin typeface="Cambria Math" panose="02040503050406030204" pitchFamily="18" charset="0"/>
                          </a:rPr>
                          <m:t>𝑃</m:t>
                        </m:r>
                        <m:d>
                          <m:dPr>
                            <m:ctrlPr>
                              <a:rPr lang="en-US" sz="1800" i="1" dirty="0">
                                <a:latin typeface="Cambria Math" panose="02040503050406030204" pitchFamily="18" charset="0"/>
                              </a:rPr>
                            </m:ctrlPr>
                          </m:dPr>
                          <m:e>
                            <m:sSup>
                              <m:sSupPr>
                                <m:ctrlPr>
                                  <a:rPr lang="en-US" sz="1800" i="1" dirty="0">
                                    <a:latin typeface="Cambria Math" panose="02040503050406030204" pitchFamily="18" charset="0"/>
                                  </a:rPr>
                                </m:ctrlPr>
                              </m:sSupPr>
                              <m:e>
                                <m:r>
                                  <a:rPr lang="en-US" sz="1800" i="1" dirty="0">
                                    <a:solidFill>
                                      <a:srgbClr val="00B050"/>
                                    </a:solidFill>
                                    <a:latin typeface="Cambria Math" panose="02040503050406030204" pitchFamily="18" charset="0"/>
                                  </a:rPr>
                                  <m:t>𝑠</m:t>
                                </m:r>
                              </m:e>
                              <m:sup>
                                <m:r>
                                  <a:rPr lang="en-US" sz="1800" i="1" dirty="0">
                                    <a:latin typeface="Cambria Math" panose="02040503050406030204" pitchFamily="18" charset="0"/>
                                  </a:rPr>
                                  <m:t>′</m:t>
                                </m:r>
                              </m:sup>
                            </m:sSup>
                            <m:r>
                              <a:rPr lang="en-US" sz="1800" i="1" dirty="0">
                                <a:latin typeface="Cambria Math" panose="02040503050406030204" pitchFamily="18" charset="0"/>
                              </a:rPr>
                              <m:t>∣</m:t>
                            </m:r>
                            <m:r>
                              <a:rPr lang="en-US" sz="1800" i="1" dirty="0">
                                <a:solidFill>
                                  <a:srgbClr val="00B050"/>
                                </a:solidFill>
                                <a:latin typeface="Cambria Math" panose="02040503050406030204" pitchFamily="18" charset="0"/>
                              </a:rPr>
                              <m:t>𝑠</m:t>
                            </m:r>
                            <m:r>
                              <a:rPr lang="en-US" sz="1800" i="1" dirty="0">
                                <a:latin typeface="Cambria Math" panose="02040503050406030204" pitchFamily="18" charset="0"/>
                              </a:rPr>
                              <m:t>,</m:t>
                            </m:r>
                            <m:r>
                              <a:rPr lang="en-US" sz="1800" b="1" i="1" dirty="0" smtClean="0">
                                <a:latin typeface="Cambria Math" panose="02040503050406030204" pitchFamily="18" charset="0"/>
                              </a:rPr>
                              <m:t>𝝅</m:t>
                            </m:r>
                            <m:d>
                              <m:dPr>
                                <m:ctrlPr>
                                  <a:rPr lang="en-US" sz="1800" b="0" i="1" dirty="0" smtClean="0">
                                    <a:latin typeface="Cambria Math" panose="02040503050406030204" pitchFamily="18" charset="0"/>
                                  </a:rPr>
                                </m:ctrlPr>
                              </m:dPr>
                              <m:e>
                                <m:r>
                                  <a:rPr lang="en-US" sz="1800" i="1" dirty="0">
                                    <a:solidFill>
                                      <a:srgbClr val="00B050"/>
                                    </a:solidFill>
                                    <a:latin typeface="Cambria Math" panose="02040503050406030204" pitchFamily="18" charset="0"/>
                                  </a:rPr>
                                  <m:t>𝑠</m:t>
                                </m:r>
                              </m:e>
                            </m:d>
                          </m:e>
                        </m:d>
                        <m:r>
                          <a:rPr lang="en-US" sz="1800" i="1" dirty="0">
                            <a:latin typeface="Cambria Math" panose="02040503050406030204" pitchFamily="18" charset="0"/>
                          </a:rPr>
                          <m:t>⋅</m:t>
                        </m:r>
                        <m:d>
                          <m:dPr>
                            <m:begChr m:val="["/>
                            <m:endChr m:val="]"/>
                            <m:ctrlPr>
                              <a:rPr lang="en-US" sz="1800" i="1" dirty="0">
                                <a:latin typeface="Cambria Math" panose="02040503050406030204" pitchFamily="18" charset="0"/>
                              </a:rPr>
                            </m:ctrlPr>
                          </m:dPr>
                          <m:e>
                            <m:r>
                              <a:rPr lang="en-US" sz="1800" i="1">
                                <a:solidFill>
                                  <a:srgbClr val="1306BA"/>
                                </a:solidFill>
                                <a:latin typeface="Cambria Math" panose="02040503050406030204" pitchFamily="18" charset="0"/>
                              </a:rPr>
                              <m:t>𝑅</m:t>
                            </m:r>
                            <m:d>
                              <m:dPr>
                                <m:ctrlPr>
                                  <a:rPr lang="en-US" sz="1800" i="1">
                                    <a:latin typeface="Cambria Math" panose="02040503050406030204" pitchFamily="18" charset="0"/>
                                  </a:rPr>
                                </m:ctrlPr>
                              </m:dPr>
                              <m:e>
                                <m:r>
                                  <a:rPr lang="en-US" sz="1800" i="1">
                                    <a:solidFill>
                                      <a:srgbClr val="00B050"/>
                                    </a:solidFill>
                                    <a:latin typeface="Cambria Math" panose="02040503050406030204" pitchFamily="18" charset="0"/>
                                  </a:rPr>
                                  <m:t>𝑠</m:t>
                                </m:r>
                                <m:r>
                                  <a:rPr lang="en-US" sz="1800" i="1">
                                    <a:latin typeface="Cambria Math" panose="02040503050406030204" pitchFamily="18" charset="0"/>
                                  </a:rPr>
                                  <m:t>,</m:t>
                                </m:r>
                                <m:r>
                                  <a:rPr lang="en-US" sz="1800" b="1" i="1" dirty="0">
                                    <a:latin typeface="Cambria Math" panose="02040503050406030204" pitchFamily="18" charset="0"/>
                                  </a:rPr>
                                  <m:t>𝝅</m:t>
                                </m:r>
                                <m:d>
                                  <m:dPr>
                                    <m:ctrlPr>
                                      <a:rPr lang="en-US" sz="1800" i="1" dirty="0">
                                        <a:latin typeface="Cambria Math" panose="02040503050406030204" pitchFamily="18" charset="0"/>
                                      </a:rPr>
                                    </m:ctrlPr>
                                  </m:dPr>
                                  <m:e>
                                    <m:r>
                                      <a:rPr lang="en-US" sz="1800" i="1" dirty="0">
                                        <a:solidFill>
                                          <a:srgbClr val="00B050"/>
                                        </a:solidFill>
                                        <a:latin typeface="Cambria Math" panose="02040503050406030204" pitchFamily="18" charset="0"/>
                                      </a:rPr>
                                      <m:t>𝑠</m:t>
                                    </m:r>
                                  </m:e>
                                </m:d>
                                <m:r>
                                  <a:rPr lang="en-US" sz="1800" i="1">
                                    <a:latin typeface="Cambria Math" panose="02040503050406030204" pitchFamily="18" charset="0"/>
                                  </a:rPr>
                                  <m:t>,</m:t>
                                </m:r>
                                <m:r>
                                  <a:rPr lang="en-US" sz="1800" i="1">
                                    <a:solidFill>
                                      <a:srgbClr val="00B050"/>
                                    </a:solidFill>
                                    <a:latin typeface="Cambria Math" panose="02040503050406030204" pitchFamily="18" charset="0"/>
                                  </a:rPr>
                                  <m:t>𝑠</m:t>
                                </m:r>
                                <m:r>
                                  <a:rPr lang="en-US" sz="1800" i="1">
                                    <a:latin typeface="Cambria Math" panose="02040503050406030204" pitchFamily="18" charset="0"/>
                                  </a:rPr>
                                  <m:t>′</m:t>
                                </m:r>
                              </m:e>
                            </m:d>
                            <m:r>
                              <a:rPr lang="en-US" sz="1800" i="1">
                                <a:latin typeface="Cambria Math" panose="02040503050406030204" pitchFamily="18" charset="0"/>
                              </a:rPr>
                              <m:t>+</m:t>
                            </m:r>
                            <m:r>
                              <a:rPr lang="en-US" sz="1800" i="1">
                                <a:solidFill>
                                  <a:srgbClr val="00B0F0"/>
                                </a:solidFill>
                                <a:latin typeface="Cambria Math" panose="02040503050406030204" pitchFamily="18" charset="0"/>
                              </a:rPr>
                              <m:t>𝛾</m:t>
                            </m:r>
                            <m:r>
                              <a:rPr lang="en-US" sz="1800" b="0" i="1" smtClean="0">
                                <a:solidFill>
                                  <a:schemeClr val="tx1"/>
                                </a:solidFill>
                                <a:latin typeface="Cambria Math" panose="02040503050406030204" pitchFamily="18" charset="0"/>
                              </a:rPr>
                              <m:t>⋅</m:t>
                            </m:r>
                            <m:r>
                              <a:rPr lang="en-US" sz="1800" b="0" i="1" smtClean="0">
                                <a:solidFill>
                                  <a:schemeClr val="tx1"/>
                                </a:solidFill>
                                <a:latin typeface="Cambria Math" panose="02040503050406030204" pitchFamily="18" charset="0"/>
                              </a:rPr>
                              <m:t>𝑉</m:t>
                            </m:r>
                            <m:d>
                              <m:dPr>
                                <m:ctrlPr>
                                  <a:rPr lang="en-US" sz="1800" i="1" dirty="0">
                                    <a:latin typeface="Cambria Math" panose="02040503050406030204" pitchFamily="18" charset="0"/>
                                  </a:rPr>
                                </m:ctrlPr>
                              </m:dPr>
                              <m:e>
                                <m:sSup>
                                  <m:sSupPr>
                                    <m:ctrlPr>
                                      <a:rPr lang="en-US" sz="1800" i="1" dirty="0">
                                        <a:latin typeface="Cambria Math" panose="02040503050406030204" pitchFamily="18" charset="0"/>
                                      </a:rPr>
                                    </m:ctrlPr>
                                  </m:sSupPr>
                                  <m:e>
                                    <m:r>
                                      <a:rPr lang="en-US" sz="1800" i="1" dirty="0">
                                        <a:solidFill>
                                          <a:srgbClr val="00B050"/>
                                        </a:solidFill>
                                        <a:latin typeface="Cambria Math" panose="02040503050406030204" pitchFamily="18" charset="0"/>
                                      </a:rPr>
                                      <m:t>𝑠</m:t>
                                    </m:r>
                                  </m:e>
                                  <m:sup>
                                    <m:r>
                                      <a:rPr lang="en-US" sz="1800" i="1" dirty="0">
                                        <a:latin typeface="Cambria Math" panose="02040503050406030204" pitchFamily="18" charset="0"/>
                                      </a:rPr>
                                      <m:t>′</m:t>
                                    </m:r>
                                  </m:sup>
                                </m:sSup>
                              </m:e>
                            </m:d>
                          </m:e>
                        </m:d>
                      </m:e>
                    </m:nary>
                  </m:oMath>
                </a14:m>
                <a:r>
                  <a:rPr lang="en-US" sz="1800" dirty="0">
                    <a:solidFill>
                      <a:srgbClr val="008000"/>
                    </a:solidFill>
                    <a:latin typeface="Consolas" panose="020B0609020204030204" pitchFamily="49" charset="0"/>
                  </a:rPr>
                  <a:t>   # </a:t>
                </a:r>
                <a14:m>
                  <m:oMath xmlns:m="http://schemas.openxmlformats.org/officeDocument/2006/math">
                    <m:sSub>
                      <m:sSubPr>
                        <m:ctrlPr>
                          <a:rPr lang="en-US" sz="1800" i="1" dirty="0">
                            <a:latin typeface="Cambria Math" panose="02040503050406030204" pitchFamily="18" charset="0"/>
                          </a:rPr>
                        </m:ctrlPr>
                      </m:sSubPr>
                      <m:e>
                        <m:r>
                          <a:rPr lang="en-US" sz="1800" i="1" dirty="0">
                            <a:latin typeface="Cambria Math" panose="02040503050406030204" pitchFamily="18" charset="0"/>
                          </a:rPr>
                          <m:t>𝑉</m:t>
                        </m:r>
                      </m:e>
                      <m:sub>
                        <m:r>
                          <a:rPr lang="en-US" sz="1800" i="1" dirty="0">
                            <a:latin typeface="Cambria Math" panose="02040503050406030204" pitchFamily="18" charset="0"/>
                          </a:rPr>
                          <m:t>𝑘</m:t>
                        </m:r>
                        <m:r>
                          <a:rPr lang="en-US" sz="1800" b="0" i="1" dirty="0" smtClean="0">
                            <a:latin typeface="Cambria Math" panose="02040503050406030204" pitchFamily="18" charset="0"/>
                          </a:rPr>
                          <m:t>+1</m:t>
                        </m:r>
                      </m:sub>
                    </m:sSub>
                    <m:d>
                      <m:dPr>
                        <m:ctrlPr>
                          <a:rPr lang="en-US" sz="1800" i="1" dirty="0">
                            <a:latin typeface="Cambria Math" panose="02040503050406030204" pitchFamily="18" charset="0"/>
                          </a:rPr>
                        </m:ctrlPr>
                      </m:dPr>
                      <m:e>
                        <m:r>
                          <a:rPr lang="en-US" sz="1800" i="1" dirty="0">
                            <a:solidFill>
                              <a:srgbClr val="00B050"/>
                            </a:solidFill>
                            <a:latin typeface="Cambria Math" panose="02040503050406030204" pitchFamily="18" charset="0"/>
                          </a:rPr>
                          <m:t>𝑠</m:t>
                        </m:r>
                      </m:e>
                    </m:d>
                  </m:oMath>
                </a14:m>
                <a:endParaRPr lang="en-US" sz="1800" dirty="0">
                  <a:latin typeface="Consolas" panose="020B0609020204030204" pitchFamily="49" charset="0"/>
                </a:endParaRPr>
              </a:p>
              <a:p>
                <a:pPr marL="0" indent="0">
                  <a:buClr>
                    <a:schemeClr val="tx1"/>
                  </a:buClr>
                  <a:buNone/>
                </a:pPr>
                <a:r>
                  <a:rPr lang="en-US" sz="1800" dirty="0">
                    <a:latin typeface="Consolas" panose="020B0609020204030204" pitchFamily="49" charset="0"/>
                  </a:rPr>
                  <a:t>                </a:t>
                </a:r>
                <a14:m>
                  <m:oMath xmlns:m="http://schemas.openxmlformats.org/officeDocument/2006/math">
                    <m:r>
                      <m:rPr>
                        <m:sty m:val="p"/>
                      </m:rPr>
                      <a:rPr lang="en-US" sz="1800">
                        <a:latin typeface="Cambria Math" panose="02040503050406030204" pitchFamily="18" charset="0"/>
                      </a:rPr>
                      <m:t>Δ</m:t>
                    </m:r>
                    <m:r>
                      <a:rPr lang="en-US" sz="1800" i="1">
                        <a:latin typeface="Cambria Math" panose="02040503050406030204" pitchFamily="18" charset="0"/>
                      </a:rPr>
                      <m:t>= </m:t>
                    </m:r>
                    <m:r>
                      <m:rPr>
                        <m:sty m:val="p"/>
                      </m:rPr>
                      <a:rPr lang="en-US" sz="1800" dirty="0">
                        <a:latin typeface="Cambria Math" panose="02040503050406030204" pitchFamily="18" charset="0"/>
                      </a:rPr>
                      <m:t>max</m:t>
                    </m:r>
                    <m:d>
                      <m:dPr>
                        <m:ctrlPr>
                          <a:rPr lang="en-US" sz="1800" i="1" dirty="0">
                            <a:latin typeface="Cambria Math" panose="02040503050406030204" pitchFamily="18" charset="0"/>
                          </a:rPr>
                        </m:ctrlPr>
                      </m:dPr>
                      <m:e>
                        <m:r>
                          <m:rPr>
                            <m:sty m:val="p"/>
                          </m:rPr>
                          <a:rPr lang="en-US" sz="1800" dirty="0">
                            <a:latin typeface="Cambria Math" panose="02040503050406030204" pitchFamily="18" charset="0"/>
                          </a:rPr>
                          <m:t>Δ</m:t>
                        </m:r>
                        <m:r>
                          <a:rPr lang="en-US" sz="1800" i="1" dirty="0">
                            <a:latin typeface="Cambria Math" panose="02040503050406030204" pitchFamily="18" charset="0"/>
                          </a:rPr>
                          <m:t>,</m:t>
                        </m:r>
                        <m:d>
                          <m:dPr>
                            <m:begChr m:val="|"/>
                            <m:endChr m:val="|"/>
                            <m:ctrlPr>
                              <a:rPr lang="en-US" sz="1800" i="1" dirty="0">
                                <a:latin typeface="Cambria Math" panose="02040503050406030204" pitchFamily="18" charset="0"/>
                              </a:rPr>
                            </m:ctrlPr>
                          </m:dPr>
                          <m:e>
                            <m:r>
                              <a:rPr lang="en-US" sz="1800" i="1" dirty="0">
                                <a:latin typeface="Cambria Math" panose="02040503050406030204" pitchFamily="18" charset="0"/>
                              </a:rPr>
                              <m:t>𝑣</m:t>
                            </m:r>
                            <m:r>
                              <a:rPr lang="en-US" sz="1800" i="1" dirty="0">
                                <a:latin typeface="Cambria Math" panose="02040503050406030204" pitchFamily="18" charset="0"/>
                              </a:rPr>
                              <m:t>−</m:t>
                            </m:r>
                            <m:r>
                              <a:rPr lang="en-US" sz="1800" i="1" dirty="0">
                                <a:latin typeface="Cambria Math" panose="02040503050406030204" pitchFamily="18" charset="0"/>
                              </a:rPr>
                              <m:t>𝑉</m:t>
                            </m:r>
                            <m:d>
                              <m:dPr>
                                <m:ctrlPr>
                                  <a:rPr lang="en-US" sz="1800" i="1" dirty="0">
                                    <a:latin typeface="Cambria Math" panose="02040503050406030204" pitchFamily="18" charset="0"/>
                                  </a:rPr>
                                </m:ctrlPr>
                              </m:dPr>
                              <m:e>
                                <m:r>
                                  <a:rPr lang="en-US" sz="1800" i="1" dirty="0">
                                    <a:solidFill>
                                      <a:srgbClr val="00B050"/>
                                    </a:solidFill>
                                    <a:latin typeface="Cambria Math" panose="02040503050406030204" pitchFamily="18" charset="0"/>
                                  </a:rPr>
                                  <m:t>𝑠</m:t>
                                </m:r>
                              </m:e>
                            </m:d>
                          </m:e>
                        </m:d>
                      </m:e>
                    </m:d>
                  </m:oMath>
                </a14:m>
                <a:r>
                  <a:rPr lang="en-US" sz="1800" dirty="0">
                    <a:solidFill>
                      <a:srgbClr val="008000"/>
                    </a:solidFill>
                    <a:latin typeface="Consolas" panose="020B0609020204030204" pitchFamily="49" charset="0"/>
                  </a:rPr>
                  <a:t>                          </a:t>
                </a:r>
                <a14:m>
                  <m:oMath xmlns:m="http://schemas.openxmlformats.org/officeDocument/2006/math">
                    <m:r>
                      <m:rPr>
                        <m:nor/>
                      </m:rPr>
                      <a:rPr lang="en-US" sz="1800" dirty="0" smtClean="0">
                        <a:solidFill>
                          <a:srgbClr val="008000"/>
                        </a:solidFill>
                        <a:latin typeface="Consolas" panose="020B0609020204030204" pitchFamily="49" charset="0"/>
                      </a:rPr>
                      <m:t>#</m:t>
                    </m:r>
                    <m:r>
                      <m:rPr>
                        <m:nor/>
                      </m:rPr>
                      <a:rPr lang="en-US" sz="1800" b="0" i="0" dirty="0" smtClean="0">
                        <a:solidFill>
                          <a:srgbClr val="008000"/>
                        </a:solidFill>
                        <a:latin typeface="Consolas" panose="020B0609020204030204" pitchFamily="49" charset="0"/>
                      </a:rPr>
                      <m:t> </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𝑉</m:t>
                        </m:r>
                      </m:e>
                      <m:sub>
                        <m:r>
                          <a:rPr lang="en-US" sz="1800" i="1" dirty="0">
                            <a:latin typeface="Cambria Math" panose="02040503050406030204" pitchFamily="18" charset="0"/>
                          </a:rPr>
                          <m:t>𝑘</m:t>
                        </m:r>
                        <m:r>
                          <a:rPr lang="en-US" sz="1800" i="1" dirty="0">
                            <a:latin typeface="Cambria Math" panose="02040503050406030204" pitchFamily="18" charset="0"/>
                          </a:rPr>
                          <m:t>+1</m:t>
                        </m:r>
                      </m:sub>
                    </m:sSub>
                    <m:d>
                      <m:dPr>
                        <m:ctrlPr>
                          <a:rPr lang="en-US" sz="1800" i="1" dirty="0">
                            <a:latin typeface="Cambria Math" panose="02040503050406030204" pitchFamily="18" charset="0"/>
                          </a:rPr>
                        </m:ctrlPr>
                      </m:dPr>
                      <m:e>
                        <m:r>
                          <a:rPr lang="en-US" sz="1800" i="1" dirty="0">
                            <a:solidFill>
                              <a:srgbClr val="00B050"/>
                            </a:solidFill>
                            <a:latin typeface="Cambria Math" panose="02040503050406030204" pitchFamily="18" charset="0"/>
                          </a:rPr>
                          <m:t>𝑠</m:t>
                        </m:r>
                      </m:e>
                    </m:d>
                    <m:r>
                      <a:rPr lang="en-US" sz="1800" i="1" dirty="0">
                        <a:latin typeface="Cambria Math" panose="02040503050406030204" pitchFamily="18" charset="0"/>
                      </a:rPr>
                      <m:t>−</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𝑉</m:t>
                        </m:r>
                      </m:e>
                      <m:sub>
                        <m:r>
                          <a:rPr lang="en-US" sz="1800" i="1" dirty="0">
                            <a:latin typeface="Cambria Math" panose="02040503050406030204" pitchFamily="18" charset="0"/>
                          </a:rPr>
                          <m:t>𝑘</m:t>
                        </m:r>
                      </m:sub>
                    </m:sSub>
                    <m:d>
                      <m:dPr>
                        <m:ctrlPr>
                          <a:rPr lang="en-US" sz="1800" i="1" dirty="0">
                            <a:latin typeface="Cambria Math" panose="02040503050406030204" pitchFamily="18" charset="0"/>
                          </a:rPr>
                        </m:ctrlPr>
                      </m:dPr>
                      <m:e>
                        <m:r>
                          <a:rPr lang="en-US" sz="1800" i="1" dirty="0">
                            <a:solidFill>
                              <a:srgbClr val="00B050"/>
                            </a:solidFill>
                            <a:latin typeface="Cambria Math" panose="02040503050406030204" pitchFamily="18" charset="0"/>
                          </a:rPr>
                          <m:t>𝑠</m:t>
                        </m:r>
                      </m:e>
                    </m:d>
                    <m:r>
                      <a:rPr lang="en-US" sz="1800" i="1" dirty="0">
                        <a:solidFill>
                          <a:srgbClr val="00B050"/>
                        </a:solidFill>
                        <a:latin typeface="Cambria Math" panose="02040503050406030204" pitchFamily="18" charset="0"/>
                      </a:rPr>
                      <m:t> </m:t>
                    </m:r>
                  </m:oMath>
                </a14:m>
                <a:r>
                  <a:rPr lang="en-US" sz="1800" dirty="0">
                    <a:latin typeface="Consolas" panose="020B0609020204030204" pitchFamily="49" charset="0"/>
                  </a:rPr>
                  <a:t>
        until </a:t>
                </a:r>
                <a14:m>
                  <m:oMath xmlns:m="http://schemas.openxmlformats.org/officeDocument/2006/math">
                    <m:r>
                      <m:rPr>
                        <m:sty m:val="p"/>
                      </m:rPr>
                      <a:rPr lang="en-US" sz="1800" b="0" i="0" smtClean="0">
                        <a:latin typeface="Cambria Math" panose="02040503050406030204" pitchFamily="18" charset="0"/>
                      </a:rPr>
                      <m:t>Δ</m:t>
                    </m:r>
                    <m:r>
                      <a:rPr lang="en-US" sz="1800" b="0" i="1" smtClean="0">
                        <a:latin typeface="Cambria Math" panose="02040503050406030204" pitchFamily="18" charset="0"/>
                      </a:rPr>
                      <m:t>&lt;</m:t>
                    </m:r>
                    <m:r>
                      <a:rPr lang="en-US" sz="1800" b="0" i="1" smtClean="0">
                        <a:latin typeface="Cambria Math" panose="02040503050406030204" pitchFamily="18" charset="0"/>
                      </a:rPr>
                      <m:t>𝜃</m:t>
                    </m:r>
                  </m:oMath>
                </a14:m>
                <a:endParaRPr lang="en-US" sz="1800" dirty="0">
                  <a:latin typeface="Consolas" panose="020B0609020204030204" pitchFamily="49" charset="0"/>
                </a:endParaRPr>
              </a:p>
              <a:p>
                <a:pPr marL="0" indent="0">
                  <a:buClr>
                    <a:schemeClr val="tx1"/>
                  </a:buClr>
                  <a:buNone/>
                </a:pPr>
                <a:endParaRPr lang="en-US" sz="700" dirty="0">
                  <a:solidFill>
                    <a:srgbClr val="008000"/>
                  </a:solidFill>
                  <a:latin typeface="Consolas" panose="020B0609020204030204" pitchFamily="49" charset="0"/>
                </a:endParaRPr>
              </a:p>
              <a:p>
                <a:pPr marL="0" indent="0">
                  <a:buClr>
                    <a:schemeClr val="tx1"/>
                  </a:buClr>
                  <a:buNone/>
                </a:pPr>
                <a:r>
                  <a:rPr lang="en-US" sz="1800" dirty="0">
                    <a:solidFill>
                      <a:srgbClr val="008000"/>
                    </a:solidFill>
                    <a:latin typeface="Consolas" panose="020B0609020204030204" pitchFamily="49" charset="0"/>
                  </a:rPr>
                  <a:t>        # Any Policy Improvement?</a:t>
                </a:r>
                <a:endParaRPr lang="en-US" sz="1800" dirty="0">
                  <a:latin typeface="Consolas" panose="020B0609020204030204" pitchFamily="49" charset="0"/>
                </a:endParaRPr>
              </a:p>
              <a:p>
                <a:pPr marL="0" indent="0">
                  <a:buClr>
                    <a:schemeClr val="tx1"/>
                  </a:buClr>
                  <a:buNone/>
                </a:pPr>
                <a:r>
                  <a:rPr lang="en-US" sz="1800" dirty="0">
                    <a:latin typeface="Consolas" panose="020B0609020204030204" pitchFamily="49" charset="0"/>
                  </a:rPr>
                  <a:t>        For each state </a:t>
                </a:r>
                <a14:m>
                  <m:oMath xmlns:m="http://schemas.openxmlformats.org/officeDocument/2006/math">
                    <m:r>
                      <a:rPr lang="en-US" sz="1800" i="1" dirty="0">
                        <a:solidFill>
                          <a:srgbClr val="00B050"/>
                        </a:solidFill>
                        <a:latin typeface="Cambria Math" panose="02040503050406030204" pitchFamily="18" charset="0"/>
                      </a:rPr>
                      <m:t>𝑠</m:t>
                    </m:r>
                    <m:r>
                      <a:rPr lang="en-US" sz="1800" i="1" dirty="0">
                        <a:latin typeface="Cambria Math" panose="02040503050406030204" pitchFamily="18" charset="0"/>
                      </a:rPr>
                      <m:t>∈</m:t>
                    </m:r>
                    <m:r>
                      <a:rPr lang="en-US" sz="1800" i="1" dirty="0">
                        <a:solidFill>
                          <a:srgbClr val="00B050"/>
                        </a:solidFill>
                        <a:latin typeface="Cambria Math" panose="02040503050406030204" pitchFamily="18" charset="0"/>
                      </a:rPr>
                      <m:t>𝑆</m:t>
                    </m:r>
                  </m:oMath>
                </a14:m>
                <a:r>
                  <a:rPr lang="en-US" sz="1800" dirty="0">
                    <a:latin typeface="Consolas" panose="020B0609020204030204" pitchFamily="49" charset="0"/>
                  </a:rPr>
                  <a:t>:</a:t>
                </a:r>
              </a:p>
              <a:p>
                <a:pPr marL="0" indent="0">
                  <a:buClr>
                    <a:schemeClr val="tx1"/>
                  </a:buClr>
                  <a:buNone/>
                </a:pPr>
                <a:r>
                  <a:rPr lang="en-US" sz="1800" b="1" dirty="0">
                    <a:latin typeface="Consolas" panose="020B0609020204030204" pitchFamily="49" charset="0"/>
                  </a:rPr>
                  <a:t>            </a:t>
                </a:r>
                <a:r>
                  <a:rPr lang="en-US" sz="1800" dirty="0">
                    <a:latin typeface="Consolas" panose="020B0609020204030204" pitchFamily="49" charset="0"/>
                  </a:rPr>
                  <a:t>if </a:t>
                </a:r>
                <a14:m>
                  <m:oMath xmlns:m="http://schemas.openxmlformats.org/officeDocument/2006/math">
                    <m:r>
                      <a:rPr lang="en-US" sz="1800" b="1" i="1" dirty="0">
                        <a:latin typeface="Cambria Math" panose="02040503050406030204" pitchFamily="18" charset="0"/>
                      </a:rPr>
                      <m:t>𝝅</m:t>
                    </m:r>
                    <m:d>
                      <m:dPr>
                        <m:ctrlPr>
                          <a:rPr lang="en-US" sz="1800" b="1" i="1" dirty="0">
                            <a:latin typeface="Cambria Math" panose="02040503050406030204" pitchFamily="18" charset="0"/>
                          </a:rPr>
                        </m:ctrlPr>
                      </m:dPr>
                      <m:e>
                        <m:r>
                          <a:rPr lang="en-US" sz="1800" i="1" dirty="0">
                            <a:solidFill>
                              <a:srgbClr val="00B050"/>
                            </a:solidFill>
                            <a:latin typeface="Cambria Math" panose="02040503050406030204" pitchFamily="18" charset="0"/>
                          </a:rPr>
                          <m:t>𝑠</m:t>
                        </m:r>
                      </m:e>
                    </m:d>
                    <m:r>
                      <a:rPr lang="en-US" sz="1800" b="1" i="1" dirty="0" smtClean="0">
                        <a:solidFill>
                          <a:schemeClr val="tx1"/>
                        </a:solidFill>
                        <a:latin typeface="Cambria Math" panose="02040503050406030204" pitchFamily="18" charset="0"/>
                      </a:rPr>
                      <m:t>≠</m:t>
                    </m:r>
                    <m:r>
                      <a:rPr lang="en-US" sz="1800" b="1" i="1" dirty="0" smtClean="0">
                        <a:latin typeface="Cambria Math" panose="02040503050406030204" pitchFamily="18" charset="0"/>
                      </a:rPr>
                      <m:t>𝝅</m:t>
                    </m:r>
                    <m:d>
                      <m:dPr>
                        <m:ctrlPr>
                          <a:rPr lang="en-US" sz="1800" b="1" i="1" dirty="0" smtClean="0">
                            <a:latin typeface="Cambria Math" panose="02040503050406030204" pitchFamily="18" charset="0"/>
                          </a:rPr>
                        </m:ctrlPr>
                      </m:dPr>
                      <m:e>
                        <m:r>
                          <a:rPr lang="en-US" sz="1800" b="0" i="1" dirty="0" smtClean="0">
                            <a:solidFill>
                              <a:srgbClr val="00B050"/>
                            </a:solidFill>
                            <a:latin typeface="Cambria Math" panose="02040503050406030204" pitchFamily="18" charset="0"/>
                          </a:rPr>
                          <m:t>𝑠</m:t>
                        </m:r>
                      </m:e>
                    </m:d>
                    <m:r>
                      <a:rPr lang="en-US" sz="1800" b="1" i="1" dirty="0" smtClean="0">
                        <a:solidFill>
                          <a:schemeClr val="tx1"/>
                        </a:solidFill>
                        <a:latin typeface="Cambria Math" panose="02040503050406030204" pitchFamily="18" charset="0"/>
                      </a:rPr>
                      <m:t>:</m:t>
                    </m:r>
                    <m:r>
                      <a:rPr lang="en-US" sz="1800" b="1" i="1" dirty="0" smtClean="0">
                        <a:latin typeface="Cambria Math" panose="02040503050406030204" pitchFamily="18" charset="0"/>
                      </a:rPr>
                      <m:t>=</m:t>
                    </m:r>
                    <m:limLow>
                      <m:limLowPr>
                        <m:ctrlPr>
                          <a:rPr lang="en-US" sz="1800" i="1" dirty="0">
                            <a:latin typeface="Cambria Math" panose="02040503050406030204" pitchFamily="18" charset="0"/>
                          </a:rPr>
                        </m:ctrlPr>
                      </m:limLowPr>
                      <m:e>
                        <m:r>
                          <m:rPr>
                            <m:sty m:val="p"/>
                          </m:rPr>
                          <a:rPr lang="en-US" sz="1800" b="0" i="0" dirty="0" smtClean="0">
                            <a:latin typeface="Cambria Math" panose="02040503050406030204" pitchFamily="18" charset="0"/>
                          </a:rPr>
                          <m:t>arg</m:t>
                        </m:r>
                        <m:r>
                          <m:rPr>
                            <m:sty m:val="p"/>
                          </m:rPr>
                          <a:rPr lang="en-US" sz="1800" dirty="0">
                            <a:latin typeface="Cambria Math" panose="02040503050406030204" pitchFamily="18" charset="0"/>
                          </a:rPr>
                          <m:t>max</m:t>
                        </m:r>
                      </m:e>
                      <m:lim>
                        <m:r>
                          <a:rPr lang="en-US" sz="1800" i="1" dirty="0">
                            <a:solidFill>
                              <a:srgbClr val="7030A0"/>
                            </a:solidFill>
                            <a:latin typeface="Cambria Math" panose="02040503050406030204" pitchFamily="18" charset="0"/>
                          </a:rPr>
                          <m:t>𝑎</m:t>
                        </m:r>
                      </m:lim>
                    </m:limLow>
                    <m:nary>
                      <m:naryPr>
                        <m:chr m:val="∑"/>
                        <m:supHide m:val="on"/>
                        <m:ctrlPr>
                          <a:rPr lang="en-US" sz="1800" i="1" dirty="0">
                            <a:latin typeface="Cambria Math" panose="02040503050406030204" pitchFamily="18" charset="0"/>
                          </a:rPr>
                        </m:ctrlPr>
                      </m:naryPr>
                      <m:sub>
                        <m:sSup>
                          <m:sSupPr>
                            <m:ctrlPr>
                              <a:rPr lang="en-US" sz="1800" i="1" dirty="0">
                                <a:latin typeface="Cambria Math" panose="02040503050406030204" pitchFamily="18" charset="0"/>
                              </a:rPr>
                            </m:ctrlPr>
                          </m:sSupPr>
                          <m:e>
                            <m:r>
                              <a:rPr lang="en-US" sz="1800" i="1" dirty="0">
                                <a:solidFill>
                                  <a:srgbClr val="00B050"/>
                                </a:solidFill>
                                <a:latin typeface="Cambria Math" panose="02040503050406030204" pitchFamily="18" charset="0"/>
                              </a:rPr>
                              <m:t>𝑠</m:t>
                            </m:r>
                          </m:e>
                          <m:sup>
                            <m:r>
                              <a:rPr lang="en-US" sz="1800" i="1" dirty="0">
                                <a:latin typeface="Cambria Math" panose="02040503050406030204" pitchFamily="18" charset="0"/>
                              </a:rPr>
                              <m:t>′</m:t>
                            </m:r>
                          </m:sup>
                        </m:sSup>
                      </m:sub>
                      <m:sup/>
                      <m:e>
                        <m:r>
                          <a:rPr lang="en-US" sz="1800" i="1" dirty="0">
                            <a:latin typeface="Cambria Math" panose="02040503050406030204" pitchFamily="18" charset="0"/>
                          </a:rPr>
                          <m:t>𝑃</m:t>
                        </m:r>
                        <m:d>
                          <m:dPr>
                            <m:ctrlPr>
                              <a:rPr lang="en-US" sz="1800" i="1" dirty="0">
                                <a:latin typeface="Cambria Math" panose="02040503050406030204" pitchFamily="18" charset="0"/>
                              </a:rPr>
                            </m:ctrlPr>
                          </m:dPr>
                          <m:e>
                            <m:sSup>
                              <m:sSupPr>
                                <m:ctrlPr>
                                  <a:rPr lang="en-US" sz="1800" i="1" dirty="0">
                                    <a:latin typeface="Cambria Math" panose="02040503050406030204" pitchFamily="18" charset="0"/>
                                  </a:rPr>
                                </m:ctrlPr>
                              </m:sSupPr>
                              <m:e>
                                <m:r>
                                  <a:rPr lang="en-US" sz="1800" i="1" dirty="0">
                                    <a:solidFill>
                                      <a:srgbClr val="00B050"/>
                                    </a:solidFill>
                                    <a:latin typeface="Cambria Math" panose="02040503050406030204" pitchFamily="18" charset="0"/>
                                  </a:rPr>
                                  <m:t>𝑠</m:t>
                                </m:r>
                              </m:e>
                              <m:sup>
                                <m:r>
                                  <a:rPr lang="en-US" sz="1800" i="1" dirty="0">
                                    <a:latin typeface="Cambria Math" panose="02040503050406030204" pitchFamily="18" charset="0"/>
                                  </a:rPr>
                                  <m:t>′</m:t>
                                </m:r>
                              </m:sup>
                            </m:sSup>
                            <m:r>
                              <a:rPr lang="en-US" sz="1800" i="1" dirty="0">
                                <a:latin typeface="Cambria Math" panose="02040503050406030204" pitchFamily="18" charset="0"/>
                              </a:rPr>
                              <m:t>∣</m:t>
                            </m:r>
                            <m:r>
                              <a:rPr lang="en-US" sz="1800" i="1" dirty="0">
                                <a:solidFill>
                                  <a:srgbClr val="00B050"/>
                                </a:solidFill>
                                <a:latin typeface="Cambria Math" panose="02040503050406030204" pitchFamily="18" charset="0"/>
                              </a:rPr>
                              <m:t>𝑠</m:t>
                            </m:r>
                            <m:r>
                              <a:rPr lang="en-US" sz="1800" i="1" dirty="0">
                                <a:latin typeface="Cambria Math" panose="02040503050406030204" pitchFamily="18" charset="0"/>
                              </a:rPr>
                              <m:t>,</m:t>
                            </m:r>
                            <m:r>
                              <a:rPr lang="en-US" sz="1800" i="1" dirty="0" smtClean="0">
                                <a:solidFill>
                                  <a:srgbClr val="7030A0"/>
                                </a:solidFill>
                                <a:latin typeface="Cambria Math" panose="02040503050406030204" pitchFamily="18" charset="0"/>
                              </a:rPr>
                              <m:t>𝑎</m:t>
                            </m:r>
                          </m:e>
                        </m:d>
                        <m:r>
                          <a:rPr lang="en-US" sz="1800" i="1" dirty="0">
                            <a:latin typeface="Cambria Math" panose="02040503050406030204" pitchFamily="18" charset="0"/>
                          </a:rPr>
                          <m:t>⋅</m:t>
                        </m:r>
                        <m:d>
                          <m:dPr>
                            <m:begChr m:val="["/>
                            <m:endChr m:val="]"/>
                            <m:ctrlPr>
                              <a:rPr lang="en-US" sz="1800" i="1" dirty="0">
                                <a:latin typeface="Cambria Math" panose="02040503050406030204" pitchFamily="18" charset="0"/>
                              </a:rPr>
                            </m:ctrlPr>
                          </m:dPr>
                          <m:e>
                            <m:r>
                              <a:rPr lang="en-US" sz="1800" i="1">
                                <a:solidFill>
                                  <a:srgbClr val="1306BA"/>
                                </a:solidFill>
                                <a:latin typeface="Cambria Math" panose="02040503050406030204" pitchFamily="18" charset="0"/>
                              </a:rPr>
                              <m:t>𝑅</m:t>
                            </m:r>
                            <m:d>
                              <m:dPr>
                                <m:ctrlPr>
                                  <a:rPr lang="en-US" sz="1800" i="1">
                                    <a:latin typeface="Cambria Math" panose="02040503050406030204" pitchFamily="18" charset="0"/>
                                  </a:rPr>
                                </m:ctrlPr>
                              </m:dPr>
                              <m:e>
                                <m:r>
                                  <a:rPr lang="en-US" sz="1800" i="1">
                                    <a:solidFill>
                                      <a:srgbClr val="00B050"/>
                                    </a:solidFill>
                                    <a:latin typeface="Cambria Math" panose="02040503050406030204" pitchFamily="18" charset="0"/>
                                  </a:rPr>
                                  <m:t>𝑠</m:t>
                                </m:r>
                                <m:r>
                                  <a:rPr lang="en-US" sz="1800" i="1">
                                    <a:latin typeface="Cambria Math" panose="02040503050406030204" pitchFamily="18" charset="0"/>
                                  </a:rPr>
                                  <m:t>,</m:t>
                                </m:r>
                                <m:r>
                                  <a:rPr lang="en-US" sz="1800" i="1">
                                    <a:solidFill>
                                      <a:srgbClr val="7030A0"/>
                                    </a:solidFill>
                                    <a:latin typeface="Cambria Math" panose="02040503050406030204" pitchFamily="18" charset="0"/>
                                  </a:rPr>
                                  <m:t>𝑎</m:t>
                                </m:r>
                                <m:r>
                                  <a:rPr lang="en-US" sz="1800" i="1">
                                    <a:latin typeface="Cambria Math" panose="02040503050406030204" pitchFamily="18" charset="0"/>
                                  </a:rPr>
                                  <m:t>,</m:t>
                                </m:r>
                                <m:r>
                                  <a:rPr lang="en-US" sz="1800" i="1">
                                    <a:solidFill>
                                      <a:srgbClr val="00B050"/>
                                    </a:solidFill>
                                    <a:latin typeface="Cambria Math" panose="02040503050406030204" pitchFamily="18" charset="0"/>
                                  </a:rPr>
                                  <m:t>𝑠</m:t>
                                </m:r>
                                <m:r>
                                  <a:rPr lang="en-US" sz="1800" i="1">
                                    <a:latin typeface="Cambria Math" panose="02040503050406030204" pitchFamily="18" charset="0"/>
                                  </a:rPr>
                                  <m:t>′</m:t>
                                </m:r>
                              </m:e>
                            </m:d>
                            <m:r>
                              <a:rPr lang="en-US" sz="1800" i="1">
                                <a:latin typeface="Cambria Math" panose="02040503050406030204" pitchFamily="18" charset="0"/>
                              </a:rPr>
                              <m:t>+</m:t>
                            </m:r>
                            <m:r>
                              <a:rPr lang="en-US" sz="1800" i="1">
                                <a:solidFill>
                                  <a:srgbClr val="00B0F0"/>
                                </a:solidFill>
                                <a:latin typeface="Cambria Math" panose="02040503050406030204" pitchFamily="18" charset="0"/>
                              </a:rPr>
                              <m:t>𝛾</m:t>
                            </m:r>
                            <m:r>
                              <a:rPr lang="en-US" sz="1800" b="0" i="1" smtClean="0">
                                <a:solidFill>
                                  <a:srgbClr val="00B0F0"/>
                                </a:solidFill>
                                <a:latin typeface="Cambria Math" panose="02040503050406030204" pitchFamily="18" charset="0"/>
                              </a:rPr>
                              <m:t>⋅</m:t>
                            </m:r>
                            <m:r>
                              <a:rPr lang="en-US" sz="1800" b="0" i="1" smtClean="0">
                                <a:solidFill>
                                  <a:schemeClr val="tx1"/>
                                </a:solidFill>
                                <a:latin typeface="Cambria Math" panose="02040503050406030204" pitchFamily="18" charset="0"/>
                              </a:rPr>
                              <m:t>𝑉</m:t>
                            </m:r>
                            <m:d>
                              <m:dPr>
                                <m:ctrlPr>
                                  <a:rPr lang="en-US" sz="1800" i="1" dirty="0">
                                    <a:latin typeface="Cambria Math" panose="02040503050406030204" pitchFamily="18" charset="0"/>
                                  </a:rPr>
                                </m:ctrlPr>
                              </m:dPr>
                              <m:e>
                                <m:sSup>
                                  <m:sSupPr>
                                    <m:ctrlPr>
                                      <a:rPr lang="en-US" sz="1800" i="1" dirty="0">
                                        <a:latin typeface="Cambria Math" panose="02040503050406030204" pitchFamily="18" charset="0"/>
                                      </a:rPr>
                                    </m:ctrlPr>
                                  </m:sSupPr>
                                  <m:e>
                                    <m:r>
                                      <a:rPr lang="en-US" sz="1800" i="1" dirty="0">
                                        <a:solidFill>
                                          <a:srgbClr val="00B050"/>
                                        </a:solidFill>
                                        <a:latin typeface="Cambria Math" panose="02040503050406030204" pitchFamily="18" charset="0"/>
                                      </a:rPr>
                                      <m:t>𝑠</m:t>
                                    </m:r>
                                  </m:e>
                                  <m:sup>
                                    <m:r>
                                      <a:rPr lang="en-US" sz="1800" i="1" dirty="0">
                                        <a:latin typeface="Cambria Math" panose="02040503050406030204" pitchFamily="18" charset="0"/>
                                      </a:rPr>
                                      <m:t>′</m:t>
                                    </m:r>
                                  </m:sup>
                                </m:sSup>
                              </m:e>
                            </m:d>
                          </m:e>
                        </m:d>
                      </m:e>
                    </m:nary>
                  </m:oMath>
                </a14:m>
                <a:r>
                  <a:rPr lang="en-US" sz="1800" dirty="0">
                    <a:latin typeface="Consolas" panose="020B0609020204030204" pitchFamily="49" charset="0"/>
                  </a:rPr>
                  <a:t> then break</a:t>
                </a:r>
              </a:p>
              <a:p>
                <a:pPr marL="0" indent="0">
                  <a:buClr>
                    <a:schemeClr val="tx1"/>
                  </a:buClr>
                  <a:buNone/>
                </a:pPr>
                <a:endParaRPr lang="en-US" sz="500" dirty="0">
                  <a:latin typeface="Consolas" panose="020B0609020204030204" pitchFamily="49" charset="0"/>
                </a:endParaRPr>
              </a:p>
              <a:p>
                <a:pPr marL="0" indent="0">
                  <a:buClr>
                    <a:schemeClr val="tx1"/>
                  </a:buClr>
                  <a:buNone/>
                </a:pPr>
                <a:r>
                  <a:rPr lang="en-US" sz="1800" dirty="0">
                    <a:latin typeface="Consolas" panose="020B0609020204030204" pitchFamily="49" charset="0"/>
                  </a:rPr>
                  <a:t>    return </a:t>
                </a:r>
                <a14:m>
                  <m:oMath xmlns:m="http://schemas.openxmlformats.org/officeDocument/2006/math">
                    <m:sSup>
                      <m:sSupPr>
                        <m:ctrlPr>
                          <a:rPr lang="en-US" sz="1800" i="1">
                            <a:latin typeface="Cambria Math" panose="02040503050406030204" pitchFamily="18" charset="0"/>
                          </a:rPr>
                        </m:ctrlPr>
                      </m:sSupPr>
                      <m:e>
                        <m:r>
                          <a:rPr lang="en-US" sz="1800" i="1">
                            <a:latin typeface="Cambria Math" panose="02040503050406030204" pitchFamily="18" charset="0"/>
                          </a:rPr>
                          <m:t>𝑉</m:t>
                        </m:r>
                      </m:e>
                      <m:sup>
                        <m:r>
                          <a:rPr lang="en-US" sz="1800" i="1">
                            <a:latin typeface="Cambria Math" panose="02040503050406030204" pitchFamily="18" charset="0"/>
                          </a:rPr>
                          <m:t>∗</m:t>
                        </m:r>
                      </m:sup>
                    </m:sSup>
                    <m:r>
                      <a:rPr lang="en-US" sz="1800" b="0" i="1" smtClean="0">
                        <a:latin typeface="Cambria Math" panose="02040503050406030204" pitchFamily="18" charset="0"/>
                      </a:rPr>
                      <m:t>=</m:t>
                    </m:r>
                    <m:r>
                      <a:rPr lang="en-US" sz="1800" b="0" i="1" smtClean="0">
                        <a:latin typeface="Cambria Math" panose="02040503050406030204" pitchFamily="18" charset="0"/>
                      </a:rPr>
                      <m:t>𝑉</m:t>
                    </m:r>
                  </m:oMath>
                </a14:m>
                <a:r>
                  <a:rPr lang="en-US" sz="1800" dirty="0">
                    <a:latin typeface="Consolas" panose="020B0609020204030204" pitchFamily="49" charset="0"/>
                  </a:rPr>
                  <a:t>,</a:t>
                </a:r>
                <a:r>
                  <a:rPr lang="en-US" sz="1800" b="1" dirty="0"/>
                  <a:t> </a:t>
                </a:r>
                <a14:m>
                  <m:oMath xmlns:m="http://schemas.openxmlformats.org/officeDocument/2006/math">
                    <m:sSup>
                      <m:sSupPr>
                        <m:ctrlPr>
                          <a:rPr lang="en-US" sz="1800" b="1" i="1" dirty="0" smtClean="0">
                            <a:latin typeface="Cambria Math" panose="02040503050406030204" pitchFamily="18" charset="0"/>
                          </a:rPr>
                        </m:ctrlPr>
                      </m:sSupPr>
                      <m:e>
                        <m:r>
                          <a:rPr lang="en-US" sz="1800" b="1" i="1" dirty="0">
                            <a:latin typeface="Cambria Math" panose="02040503050406030204" pitchFamily="18" charset="0"/>
                          </a:rPr>
                          <m:t>𝝅</m:t>
                        </m:r>
                      </m:e>
                      <m:sup>
                        <m:r>
                          <a:rPr lang="en-US" sz="1800" b="1" i="1" dirty="0">
                            <a:latin typeface="Cambria Math" panose="02040503050406030204" pitchFamily="18" charset="0"/>
                          </a:rPr>
                          <m:t>∗</m:t>
                        </m:r>
                      </m:sup>
                    </m:sSup>
                    <m:r>
                      <a:rPr lang="en-US" sz="1800" b="1" i="1" dirty="0" smtClean="0">
                        <a:latin typeface="Cambria Math" panose="02040503050406030204" pitchFamily="18" charset="0"/>
                      </a:rPr>
                      <m:t>=</m:t>
                    </m:r>
                    <m:r>
                      <a:rPr lang="en-US" sz="1800" b="1" i="1" dirty="0" smtClean="0">
                        <a:latin typeface="Cambria Math" panose="02040503050406030204" pitchFamily="18" charset="0"/>
                      </a:rPr>
                      <m:t>𝝅</m:t>
                    </m:r>
                  </m:oMath>
                </a14:m>
                <a:endParaRPr sz="1800" dirty="0">
                  <a:latin typeface="Consolas" panose="020B0609020204030204" pitchFamily="49" charset="0"/>
                </a:endParaRPr>
              </a:p>
            </p:txBody>
          </p:sp>
        </mc:Choice>
        <mc:Fallback xmlns="">
          <p:sp>
            <p:nvSpPr>
              <p:cNvPr id="3" name="Content Placeholder 2">
                <a:extLst>
                  <a:ext uri="{FF2B5EF4-FFF2-40B4-BE49-F238E27FC236}">
                    <a16:creationId xmlns:a16="http://schemas.microsoft.com/office/drawing/2014/main" id="{905C37D7-8D60-19F3-28EB-BE088D498EB1}"/>
                  </a:ext>
                </a:extLst>
              </p:cNvPr>
              <p:cNvSpPr>
                <a:spLocks noGrp="1" noRot="1" noChangeAspect="1" noMove="1" noResize="1" noEditPoints="1" noAdjustHandles="1" noChangeArrowheads="1" noChangeShapeType="1" noTextEdit="1"/>
              </p:cNvSpPr>
              <p:nvPr>
                <p:ph idx="1"/>
              </p:nvPr>
            </p:nvSpPr>
            <p:spPr>
              <a:xfrm>
                <a:off x="992757" y="926396"/>
                <a:ext cx="9634007" cy="5768601"/>
              </a:xfrm>
              <a:blipFill>
                <a:blip r:embed="rId2"/>
                <a:stretch>
                  <a:fillRect l="-570" t="-1163" b="-1691"/>
                </a:stretch>
              </a:blipFill>
            </p:spPr>
            <p:txBody>
              <a:bodyPr/>
              <a:lstStyle/>
              <a:p>
                <a:r>
                  <a:rPr lang="en-US">
                    <a:noFill/>
                  </a:rPr>
                  <a:t> </a:t>
                </a:r>
              </a:p>
            </p:txBody>
          </p:sp>
        </mc:Fallback>
      </mc:AlternateContent>
      <p:sp>
        <p:nvSpPr>
          <p:cNvPr id="4" name="Title 12">
            <a:extLst>
              <a:ext uri="{FF2B5EF4-FFF2-40B4-BE49-F238E27FC236}">
                <a16:creationId xmlns:a16="http://schemas.microsoft.com/office/drawing/2014/main" id="{13A3A55A-35A2-7700-6F03-438428D6C84E}"/>
              </a:ext>
            </a:extLst>
          </p:cNvPr>
          <p:cNvSpPr txBox="1">
            <a:spLocks/>
          </p:cNvSpPr>
          <p:nvPr/>
        </p:nvSpPr>
        <p:spPr>
          <a:xfrm>
            <a:off x="471489" y="69597"/>
            <a:ext cx="11153622" cy="565671"/>
          </a:xfrm>
          <a:prstGeom prst="rect">
            <a:avLst/>
          </a:prstGeom>
          <a:ln>
            <a:noFill/>
          </a:ln>
        </p:spPr>
        <p:txBody>
          <a:bodyPr vert="horz" lIns="91440" tIns="45720" rIns="91440" bIns="45720" rtlCol="0" anchor="ctr">
            <a:noAutofit/>
          </a:bodyPr>
          <a:lst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a:lstStyle>
          <a:p>
            <a:pPr algn="ctr"/>
            <a:r>
              <a:rPr lang="en-US" sz="3600" dirty="0"/>
              <a:t>Policy Iteration Algorithm</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20B4F07-33D9-9E1E-E38B-A0EAC3FEB364}"/>
                  </a:ext>
                </a:extLst>
              </p:cNvPr>
              <p:cNvSpPr txBox="1"/>
              <p:nvPr/>
            </p:nvSpPr>
            <p:spPr>
              <a:xfrm>
                <a:off x="11099731" y="3202037"/>
                <a:ext cx="904844" cy="369332"/>
              </a:xfrm>
              <a:prstGeom prst="rect">
                <a:avLst/>
              </a:prstGeom>
              <a:noFill/>
              <a:ln>
                <a:noFill/>
              </a:ln>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d>
                            <m:dPr>
                              <m:begChr m:val="|"/>
                              <m:endChr m:val="|"/>
                              <m:ctrlPr>
                                <a:rPr lang="en-US" i="1">
                                  <a:latin typeface="Cambria Math" panose="02040503050406030204" pitchFamily="18" charset="0"/>
                                </a:rPr>
                              </m:ctrlPr>
                            </m:dPr>
                            <m:e>
                              <m:r>
                                <a:rPr lang="en-US" i="1" smtClean="0">
                                  <a:solidFill>
                                    <a:srgbClr val="00B050"/>
                                  </a:solidFill>
                                  <a:latin typeface="Cambria Math" panose="02040503050406030204" pitchFamily="18" charset="0"/>
                                </a:rPr>
                                <m:t>𝑆</m:t>
                              </m:r>
                            </m:e>
                          </m:d>
                        </m:e>
                      </m:d>
                    </m:oMath>
                  </m:oMathPara>
                </a14:m>
                <a:endParaRPr lang="en-US" dirty="0"/>
              </a:p>
            </p:txBody>
          </p:sp>
        </mc:Choice>
        <mc:Fallback xmlns="">
          <p:sp>
            <p:nvSpPr>
              <p:cNvPr id="6" name="TextBox 5">
                <a:extLst>
                  <a:ext uri="{FF2B5EF4-FFF2-40B4-BE49-F238E27FC236}">
                    <a16:creationId xmlns:a16="http://schemas.microsoft.com/office/drawing/2014/main" id="{820B4F07-33D9-9E1E-E38B-A0EAC3FEB364}"/>
                  </a:ext>
                </a:extLst>
              </p:cNvPr>
              <p:cNvSpPr txBox="1">
                <a:spLocks noRot="1" noChangeAspect="1" noMove="1" noResize="1" noEditPoints="1" noAdjustHandles="1" noChangeArrowheads="1" noChangeShapeType="1" noTextEdit="1"/>
              </p:cNvSpPr>
              <p:nvPr/>
            </p:nvSpPr>
            <p:spPr>
              <a:xfrm>
                <a:off x="11099731" y="3202037"/>
                <a:ext cx="904844" cy="369332"/>
              </a:xfrm>
              <a:prstGeom prst="rect">
                <a:avLst/>
              </a:prstGeom>
              <a:blipFill>
                <a:blip r:embed="rId3"/>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AF69557-63C6-A3F7-8F23-B0A8AD25B1F6}"/>
                  </a:ext>
                </a:extLst>
              </p:cNvPr>
              <p:cNvSpPr txBox="1"/>
              <p:nvPr/>
            </p:nvSpPr>
            <p:spPr>
              <a:xfrm>
                <a:off x="11099731" y="3896341"/>
                <a:ext cx="904844" cy="369332"/>
              </a:xfrm>
              <a:prstGeom prst="rect">
                <a:avLst/>
              </a:prstGeom>
              <a:noFill/>
              <a:ln>
                <a:noFill/>
              </a:ln>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d>
                            <m:dPr>
                              <m:begChr m:val="|"/>
                              <m:endChr m:val="|"/>
                              <m:ctrlPr>
                                <a:rPr lang="en-US" i="1">
                                  <a:latin typeface="Cambria Math" panose="02040503050406030204" pitchFamily="18" charset="0"/>
                                </a:rPr>
                              </m:ctrlPr>
                            </m:dPr>
                            <m:e>
                              <m:r>
                                <a:rPr lang="en-US" i="1">
                                  <a:solidFill>
                                    <a:srgbClr val="00B050"/>
                                  </a:solidFill>
                                  <a:latin typeface="Cambria Math" panose="02040503050406030204" pitchFamily="18" charset="0"/>
                                </a:rPr>
                                <m:t>𝑆</m:t>
                              </m:r>
                            </m:e>
                          </m:d>
                        </m:e>
                      </m:d>
                    </m:oMath>
                  </m:oMathPara>
                </a14:m>
                <a:endParaRPr lang="en-US" dirty="0"/>
              </a:p>
            </p:txBody>
          </p:sp>
        </mc:Choice>
        <mc:Fallback xmlns="">
          <p:sp>
            <p:nvSpPr>
              <p:cNvPr id="7" name="TextBox 6">
                <a:extLst>
                  <a:ext uri="{FF2B5EF4-FFF2-40B4-BE49-F238E27FC236}">
                    <a16:creationId xmlns:a16="http://schemas.microsoft.com/office/drawing/2014/main" id="{AAF69557-63C6-A3F7-8F23-B0A8AD25B1F6}"/>
                  </a:ext>
                </a:extLst>
              </p:cNvPr>
              <p:cNvSpPr txBox="1">
                <a:spLocks noRot="1" noChangeAspect="1" noMove="1" noResize="1" noEditPoints="1" noAdjustHandles="1" noChangeArrowheads="1" noChangeShapeType="1" noTextEdit="1"/>
              </p:cNvSpPr>
              <p:nvPr/>
            </p:nvSpPr>
            <p:spPr>
              <a:xfrm>
                <a:off x="11099731" y="3896341"/>
                <a:ext cx="904844" cy="369332"/>
              </a:xfrm>
              <a:prstGeom prst="rect">
                <a:avLst/>
              </a:prstGeom>
              <a:blipFill>
                <a:blip r:embed="rId4"/>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5C9ACD0-BC9F-543B-E455-FC2FC425F21D}"/>
                  </a:ext>
                </a:extLst>
              </p:cNvPr>
              <p:cNvSpPr txBox="1"/>
              <p:nvPr/>
            </p:nvSpPr>
            <p:spPr>
              <a:xfrm>
                <a:off x="10960704" y="5446845"/>
                <a:ext cx="1157084" cy="369332"/>
              </a:xfrm>
              <a:prstGeom prst="rect">
                <a:avLst/>
              </a:prstGeom>
              <a:noFill/>
              <a:ln>
                <a:noFill/>
              </a:ln>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d>
                            <m:dPr>
                              <m:begChr m:val="|"/>
                              <m:endChr m:val="|"/>
                              <m:ctrlPr>
                                <a:rPr lang="en-US" i="1">
                                  <a:latin typeface="Cambria Math" panose="02040503050406030204" pitchFamily="18" charset="0"/>
                                </a:rPr>
                              </m:ctrlPr>
                            </m:dPr>
                            <m:e>
                              <m:r>
                                <a:rPr lang="en-US" b="0" i="1" smtClean="0">
                                  <a:solidFill>
                                    <a:srgbClr val="7030A0"/>
                                  </a:solidFill>
                                  <a:latin typeface="Cambria Math" panose="02040503050406030204" pitchFamily="18" charset="0"/>
                                </a:rPr>
                                <m:t>𝐴</m:t>
                              </m:r>
                            </m:e>
                          </m:d>
                          <m:sSup>
                            <m:sSupPr>
                              <m:ctrlPr>
                                <a:rPr lang="en-US" b="0" i="1" smtClean="0">
                                  <a:solidFill>
                                    <a:srgbClr val="00B050"/>
                                  </a:solidFill>
                                  <a:latin typeface="Cambria Math" panose="02040503050406030204" pitchFamily="18" charset="0"/>
                                </a:rPr>
                              </m:ctrlPr>
                            </m:sSupPr>
                            <m:e>
                              <m:d>
                                <m:dPr>
                                  <m:begChr m:val="|"/>
                                  <m:endChr m:val="|"/>
                                  <m:ctrlPr>
                                    <a:rPr lang="en-US" i="1">
                                      <a:latin typeface="Cambria Math" panose="02040503050406030204" pitchFamily="18" charset="0"/>
                                    </a:rPr>
                                  </m:ctrlPr>
                                </m:dPr>
                                <m:e>
                                  <m:r>
                                    <a:rPr lang="en-US" i="1">
                                      <a:solidFill>
                                        <a:srgbClr val="00B050"/>
                                      </a:solidFill>
                                      <a:latin typeface="Cambria Math" panose="02040503050406030204" pitchFamily="18" charset="0"/>
                                    </a:rPr>
                                    <m:t>𝑆</m:t>
                                  </m:r>
                                </m:e>
                              </m:d>
                            </m:e>
                            <m:sup>
                              <m:r>
                                <a:rPr lang="en-US" b="0" i="1" smtClean="0">
                                  <a:solidFill>
                                    <a:schemeClr val="tx1"/>
                                  </a:solidFill>
                                  <a:latin typeface="Cambria Math" panose="02040503050406030204" pitchFamily="18" charset="0"/>
                                </a:rPr>
                                <m:t>2</m:t>
                              </m:r>
                            </m:sup>
                          </m:sSup>
                        </m:e>
                      </m:d>
                    </m:oMath>
                  </m:oMathPara>
                </a14:m>
                <a:endParaRPr lang="en-US" dirty="0"/>
              </a:p>
            </p:txBody>
          </p:sp>
        </mc:Choice>
        <mc:Fallback xmlns="">
          <p:sp>
            <p:nvSpPr>
              <p:cNvPr id="8" name="TextBox 7">
                <a:extLst>
                  <a:ext uri="{FF2B5EF4-FFF2-40B4-BE49-F238E27FC236}">
                    <a16:creationId xmlns:a16="http://schemas.microsoft.com/office/drawing/2014/main" id="{25C9ACD0-BC9F-543B-E455-FC2FC425F21D}"/>
                  </a:ext>
                </a:extLst>
              </p:cNvPr>
              <p:cNvSpPr txBox="1">
                <a:spLocks noRot="1" noChangeAspect="1" noMove="1" noResize="1" noEditPoints="1" noAdjustHandles="1" noChangeArrowheads="1" noChangeShapeType="1" noTextEdit="1"/>
              </p:cNvSpPr>
              <p:nvPr/>
            </p:nvSpPr>
            <p:spPr>
              <a:xfrm>
                <a:off x="10960704" y="5446845"/>
                <a:ext cx="1157084" cy="369332"/>
              </a:xfrm>
              <a:prstGeom prst="rect">
                <a:avLst/>
              </a:prstGeom>
              <a:blipFill>
                <a:blip r:embed="rId5"/>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74302A8-0D7E-0796-CA00-E2AAF651F4FF}"/>
                  </a:ext>
                </a:extLst>
              </p:cNvPr>
              <p:cNvSpPr txBox="1"/>
              <p:nvPr/>
            </p:nvSpPr>
            <p:spPr>
              <a:xfrm>
                <a:off x="11099731" y="2487058"/>
                <a:ext cx="904844" cy="369332"/>
              </a:xfrm>
              <a:prstGeom prst="rect">
                <a:avLst/>
              </a:prstGeom>
              <a:noFill/>
              <a:ln>
                <a:noFill/>
              </a:ln>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oMath>
                  </m:oMathPara>
                </a14:m>
                <a:endParaRPr lang="en-US" dirty="0"/>
              </a:p>
            </p:txBody>
          </p:sp>
        </mc:Choice>
        <mc:Fallback xmlns="">
          <p:sp>
            <p:nvSpPr>
              <p:cNvPr id="9" name="TextBox 8">
                <a:extLst>
                  <a:ext uri="{FF2B5EF4-FFF2-40B4-BE49-F238E27FC236}">
                    <a16:creationId xmlns:a16="http://schemas.microsoft.com/office/drawing/2014/main" id="{074302A8-0D7E-0796-CA00-E2AAF651F4FF}"/>
                  </a:ext>
                </a:extLst>
              </p:cNvPr>
              <p:cNvSpPr txBox="1">
                <a:spLocks noRot="1" noChangeAspect="1" noMove="1" noResize="1" noEditPoints="1" noAdjustHandles="1" noChangeArrowheads="1" noChangeShapeType="1" noTextEdit="1"/>
              </p:cNvSpPr>
              <p:nvPr/>
            </p:nvSpPr>
            <p:spPr>
              <a:xfrm>
                <a:off x="11099731" y="2487058"/>
                <a:ext cx="904844" cy="369332"/>
              </a:xfrm>
              <a:prstGeom prst="rect">
                <a:avLst/>
              </a:prstGeom>
              <a:blipFill>
                <a:blip r:embed="rId6"/>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E589AEB-F693-C8F3-645C-C57DAA55CC06}"/>
                  </a:ext>
                </a:extLst>
              </p:cNvPr>
              <p:cNvSpPr txBox="1"/>
              <p:nvPr/>
            </p:nvSpPr>
            <p:spPr>
              <a:xfrm>
                <a:off x="11099731" y="4426654"/>
                <a:ext cx="904844" cy="369332"/>
              </a:xfrm>
              <a:prstGeom prst="rect">
                <a:avLst/>
              </a:prstGeom>
              <a:noFill/>
              <a:ln>
                <a:noFill/>
              </a:ln>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𝑘</m:t>
                          </m:r>
                          <m:sSup>
                            <m:sSupPr>
                              <m:ctrlPr>
                                <a:rPr lang="en-US" i="1">
                                  <a:solidFill>
                                    <a:srgbClr val="00B050"/>
                                  </a:solidFill>
                                  <a:latin typeface="Cambria Math" panose="02040503050406030204" pitchFamily="18" charset="0"/>
                                </a:rPr>
                              </m:ctrlPr>
                            </m:sSupPr>
                            <m:e>
                              <m:d>
                                <m:dPr>
                                  <m:begChr m:val="|"/>
                                  <m:endChr m:val="|"/>
                                  <m:ctrlPr>
                                    <a:rPr lang="en-US" i="1">
                                      <a:latin typeface="Cambria Math" panose="02040503050406030204" pitchFamily="18" charset="0"/>
                                    </a:rPr>
                                  </m:ctrlPr>
                                </m:dPr>
                                <m:e>
                                  <m:r>
                                    <a:rPr lang="en-US" i="1">
                                      <a:solidFill>
                                        <a:srgbClr val="00B050"/>
                                      </a:solidFill>
                                      <a:latin typeface="Cambria Math" panose="02040503050406030204" pitchFamily="18" charset="0"/>
                                    </a:rPr>
                                    <m:t>𝑆</m:t>
                                  </m:r>
                                </m:e>
                              </m:d>
                            </m:e>
                            <m:sup>
                              <m:r>
                                <a:rPr lang="en-US" i="1">
                                  <a:latin typeface="Cambria Math" panose="02040503050406030204" pitchFamily="18" charset="0"/>
                                </a:rPr>
                                <m:t>2</m:t>
                              </m:r>
                            </m:sup>
                          </m:sSup>
                        </m:e>
                      </m:d>
                    </m:oMath>
                  </m:oMathPara>
                </a14:m>
                <a:endParaRPr lang="en-US" dirty="0"/>
              </a:p>
            </p:txBody>
          </p:sp>
        </mc:Choice>
        <mc:Fallback xmlns="">
          <p:sp>
            <p:nvSpPr>
              <p:cNvPr id="10" name="TextBox 9">
                <a:extLst>
                  <a:ext uri="{FF2B5EF4-FFF2-40B4-BE49-F238E27FC236}">
                    <a16:creationId xmlns:a16="http://schemas.microsoft.com/office/drawing/2014/main" id="{AE589AEB-F693-C8F3-645C-C57DAA55CC06}"/>
                  </a:ext>
                </a:extLst>
              </p:cNvPr>
              <p:cNvSpPr txBox="1">
                <a:spLocks noRot="1" noChangeAspect="1" noMove="1" noResize="1" noEditPoints="1" noAdjustHandles="1" noChangeArrowheads="1" noChangeShapeType="1" noTextEdit="1"/>
              </p:cNvSpPr>
              <p:nvPr/>
            </p:nvSpPr>
            <p:spPr>
              <a:xfrm>
                <a:off x="11099731" y="4426654"/>
                <a:ext cx="904844" cy="369332"/>
              </a:xfrm>
              <a:prstGeom prst="rect">
                <a:avLst/>
              </a:prstGeom>
              <a:blipFill>
                <a:blip r:embed="rId7"/>
                <a:stretch>
                  <a:fillRect r="-4054"/>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CC5E85E-EA6E-8F73-0899-CE7C86610E1D}"/>
                  </a:ext>
                </a:extLst>
              </p:cNvPr>
              <p:cNvSpPr txBox="1"/>
              <p:nvPr/>
            </p:nvSpPr>
            <p:spPr>
              <a:xfrm>
                <a:off x="11099731" y="2812487"/>
                <a:ext cx="904844" cy="369332"/>
              </a:xfrm>
              <a:prstGeom prst="rect">
                <a:avLst/>
              </a:prstGeom>
              <a:noFill/>
              <a:ln>
                <a:noFill/>
              </a:ln>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11" name="TextBox 10">
                <a:extLst>
                  <a:ext uri="{FF2B5EF4-FFF2-40B4-BE49-F238E27FC236}">
                    <a16:creationId xmlns:a16="http://schemas.microsoft.com/office/drawing/2014/main" id="{7CC5E85E-EA6E-8F73-0899-CE7C86610E1D}"/>
                  </a:ext>
                </a:extLst>
              </p:cNvPr>
              <p:cNvSpPr txBox="1">
                <a:spLocks noRot="1" noChangeAspect="1" noMove="1" noResize="1" noEditPoints="1" noAdjustHandles="1" noChangeArrowheads="1" noChangeShapeType="1" noTextEdit="1"/>
              </p:cNvSpPr>
              <p:nvPr/>
            </p:nvSpPr>
            <p:spPr>
              <a:xfrm>
                <a:off x="11099731" y="2812487"/>
                <a:ext cx="904844" cy="369332"/>
              </a:xfrm>
              <a:prstGeom prst="rect">
                <a:avLst/>
              </a:prstGeom>
              <a:blipFill>
                <a:blip r:embed="rId8"/>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48C7911-D826-E2FB-E091-0A02CEF841DE}"/>
                  </a:ext>
                </a:extLst>
              </p:cNvPr>
              <p:cNvSpPr txBox="1"/>
              <p:nvPr/>
            </p:nvSpPr>
            <p:spPr>
              <a:xfrm>
                <a:off x="11099731" y="3527466"/>
                <a:ext cx="904844" cy="369332"/>
              </a:xfrm>
              <a:prstGeom prst="rect">
                <a:avLst/>
              </a:prstGeom>
              <a:noFill/>
              <a:ln>
                <a:noFill/>
              </a:ln>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13" name="TextBox 12">
                <a:extLst>
                  <a:ext uri="{FF2B5EF4-FFF2-40B4-BE49-F238E27FC236}">
                    <a16:creationId xmlns:a16="http://schemas.microsoft.com/office/drawing/2014/main" id="{C48C7911-D826-E2FB-E091-0A02CEF841DE}"/>
                  </a:ext>
                </a:extLst>
              </p:cNvPr>
              <p:cNvSpPr txBox="1">
                <a:spLocks noRot="1" noChangeAspect="1" noMove="1" noResize="1" noEditPoints="1" noAdjustHandles="1" noChangeArrowheads="1" noChangeShapeType="1" noTextEdit="1"/>
              </p:cNvSpPr>
              <p:nvPr/>
            </p:nvSpPr>
            <p:spPr>
              <a:xfrm>
                <a:off x="11099731" y="3527466"/>
                <a:ext cx="904844" cy="369332"/>
              </a:xfrm>
              <a:prstGeom prst="rect">
                <a:avLst/>
              </a:prstGeom>
              <a:blipFill>
                <a:blip r:embed="rId9"/>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AE6BC78-9B2A-D56C-88E7-D127448F91AB}"/>
                  </a:ext>
                </a:extLst>
              </p:cNvPr>
              <p:cNvSpPr txBox="1"/>
              <p:nvPr/>
            </p:nvSpPr>
            <p:spPr>
              <a:xfrm>
                <a:off x="11099731" y="4193505"/>
                <a:ext cx="904844" cy="307777"/>
              </a:xfrm>
              <a:prstGeom prst="rect">
                <a:avLst/>
              </a:prstGeom>
              <a:noFill/>
              <a:ln>
                <a:noFill/>
              </a:ln>
            </p:spPr>
            <p:txBody>
              <a:bodyPr wrap="square">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m:t>
                      </m:r>
                    </m:oMath>
                  </m:oMathPara>
                </a14:m>
                <a:endParaRPr lang="en-US" sz="1400" dirty="0"/>
              </a:p>
            </p:txBody>
          </p:sp>
        </mc:Choice>
        <mc:Fallback xmlns="">
          <p:sp>
            <p:nvSpPr>
              <p:cNvPr id="14" name="TextBox 13">
                <a:extLst>
                  <a:ext uri="{FF2B5EF4-FFF2-40B4-BE49-F238E27FC236}">
                    <a16:creationId xmlns:a16="http://schemas.microsoft.com/office/drawing/2014/main" id="{0AE6BC78-9B2A-D56C-88E7-D127448F91AB}"/>
                  </a:ext>
                </a:extLst>
              </p:cNvPr>
              <p:cNvSpPr txBox="1">
                <a:spLocks noRot="1" noChangeAspect="1" noMove="1" noResize="1" noEditPoints="1" noAdjustHandles="1" noChangeArrowheads="1" noChangeShapeType="1" noTextEdit="1"/>
              </p:cNvSpPr>
              <p:nvPr/>
            </p:nvSpPr>
            <p:spPr>
              <a:xfrm>
                <a:off x="11099731" y="4193505"/>
                <a:ext cx="904844" cy="307777"/>
              </a:xfrm>
              <a:prstGeom prst="rect">
                <a:avLst/>
              </a:prstGeom>
              <a:blipFill>
                <a:blip r:embed="rId10"/>
                <a:stretch>
                  <a:fillRect/>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769035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2404D-F5D4-05D7-2567-C40B64E9482C}"/>
            </a:ext>
          </a:extLst>
        </p:cNvPr>
        <p:cNvGrpSpPr/>
        <p:nvPr/>
      </p:nvGrpSpPr>
      <p:grpSpPr>
        <a:xfrm>
          <a:off x="0" y="0"/>
          <a:ext cx="0" cy="0"/>
          <a:chOff x="0" y="0"/>
          <a:chExt cx="0" cy="0"/>
        </a:xfrm>
      </p:grpSpPr>
      <p:sp>
        <p:nvSpPr>
          <p:cNvPr id="4" name="Title 12">
            <a:extLst>
              <a:ext uri="{FF2B5EF4-FFF2-40B4-BE49-F238E27FC236}">
                <a16:creationId xmlns:a16="http://schemas.microsoft.com/office/drawing/2014/main" id="{11C4395E-1BC7-37A6-04F4-C6025DD1FD57}"/>
              </a:ext>
            </a:extLst>
          </p:cNvPr>
          <p:cNvSpPr txBox="1">
            <a:spLocks/>
          </p:cNvSpPr>
          <p:nvPr/>
        </p:nvSpPr>
        <p:spPr>
          <a:xfrm>
            <a:off x="484969" y="69597"/>
            <a:ext cx="11153622" cy="565671"/>
          </a:xfrm>
          <a:prstGeom prst="rect">
            <a:avLst/>
          </a:prstGeom>
          <a:ln>
            <a:noFill/>
          </a:ln>
        </p:spPr>
        <p:txBody>
          <a:bodyPr vert="horz" lIns="91440" tIns="45720" rIns="91440" bIns="45720" rtlCol="0" anchor="ctr">
            <a:noAutofit/>
          </a:bodyPr>
          <a:lst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a:lstStyle>
          <a:p>
            <a:pPr algn="ctr"/>
            <a:r>
              <a:rPr lang="en-US" sz="3600" dirty="0"/>
              <a:t>Comparing Value Iteration with Policy Iteration</a:t>
            </a:r>
          </a:p>
        </p:txBody>
      </p:sp>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3604F52F-9C53-3BA9-B086-920FA7A5C586}"/>
                  </a:ext>
                </a:extLst>
              </p:cNvPr>
              <p:cNvGraphicFramePr>
                <a:graphicFrameLocks noGrp="1"/>
              </p:cNvGraphicFramePr>
              <p:nvPr>
                <p:extLst>
                  <p:ext uri="{D42A27DB-BD31-4B8C-83A1-F6EECF244321}">
                    <p14:modId xmlns:p14="http://schemas.microsoft.com/office/powerpoint/2010/main" val="4080769440"/>
                  </p:ext>
                </p:extLst>
              </p:nvPr>
            </p:nvGraphicFramePr>
            <p:xfrm>
              <a:off x="262393" y="1183861"/>
              <a:ext cx="11752028" cy="4815840"/>
            </p:xfrm>
            <a:graphic>
              <a:graphicData uri="http://schemas.openxmlformats.org/drawingml/2006/table">
                <a:tbl>
                  <a:tblPr firstRow="1" bandRow="1">
                    <a:tableStyleId>{073A0DAA-6AF3-43AB-8588-CEC1D06C72B9}</a:tableStyleId>
                  </a:tblPr>
                  <a:tblGrid>
                    <a:gridCol w="2582588">
                      <a:extLst>
                        <a:ext uri="{9D8B030D-6E8A-4147-A177-3AD203B41FA5}">
                          <a16:colId xmlns:a16="http://schemas.microsoft.com/office/drawing/2014/main" val="510100627"/>
                        </a:ext>
                      </a:extLst>
                    </a:gridCol>
                    <a:gridCol w="3985189">
                      <a:extLst>
                        <a:ext uri="{9D8B030D-6E8A-4147-A177-3AD203B41FA5}">
                          <a16:colId xmlns:a16="http://schemas.microsoft.com/office/drawing/2014/main" val="2499515544"/>
                        </a:ext>
                      </a:extLst>
                    </a:gridCol>
                    <a:gridCol w="5184251">
                      <a:extLst>
                        <a:ext uri="{9D8B030D-6E8A-4147-A177-3AD203B41FA5}">
                          <a16:colId xmlns:a16="http://schemas.microsoft.com/office/drawing/2014/main" val="3300817839"/>
                        </a:ext>
                      </a:extLst>
                    </a:gridCol>
                  </a:tblGrid>
                  <a:tr h="370840">
                    <a:tc>
                      <a:txBody>
                        <a:bodyPr/>
                        <a:lstStyle/>
                        <a:p>
                          <a:endParaRPr lang="en-US" sz="2000" dirty="0"/>
                        </a:p>
                      </a:txBody>
                      <a:tcPr/>
                    </a:tc>
                    <a:tc>
                      <a:txBody>
                        <a:bodyPr/>
                        <a:lstStyle/>
                        <a:p>
                          <a:pPr algn="ctr"/>
                          <a:r>
                            <a:rPr lang="en-US" sz="2000" dirty="0"/>
                            <a:t>Value Iteration</a:t>
                          </a:r>
                        </a:p>
                      </a:txBody>
                      <a:tcPr/>
                    </a:tc>
                    <a:tc>
                      <a:txBody>
                        <a:bodyPr/>
                        <a:lstStyle/>
                        <a:p>
                          <a:pPr algn="ctr"/>
                          <a:r>
                            <a:rPr lang="en-US" sz="2000" dirty="0"/>
                            <a:t>Policy Iteration</a:t>
                          </a:r>
                        </a:p>
                      </a:txBody>
                      <a:tcPr/>
                    </a:tc>
                    <a:extLst>
                      <a:ext uri="{0D108BD9-81ED-4DB2-BD59-A6C34878D82A}">
                        <a16:rowId xmlns:a16="http://schemas.microsoft.com/office/drawing/2014/main" val="2805041177"/>
                      </a:ext>
                    </a:extLst>
                  </a:tr>
                  <a:tr h="370840">
                    <a:tc>
                      <a:txBody>
                        <a:bodyPr/>
                        <a:lstStyle/>
                        <a:p>
                          <a:pPr algn="r"/>
                          <a:r>
                            <a:rPr lang="en-US" sz="1800" b="1" dirty="0"/>
                            <a:t>Per Iteration Complexity</a:t>
                          </a:r>
                          <a:endParaRPr lang="en-US" sz="1800" dirty="0"/>
                        </a:p>
                      </a:txBody>
                      <a:tcPr anchor="ct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d>
                                      <m:dPr>
                                        <m:begChr m:val="|"/>
                                        <m:endChr m:val="|"/>
                                        <m:ctrlPr>
                                          <a:rPr lang="en-US" i="1">
                                            <a:latin typeface="Cambria Math" panose="02040503050406030204" pitchFamily="18" charset="0"/>
                                          </a:rPr>
                                        </m:ctrlPr>
                                      </m:dPr>
                                      <m:e>
                                        <m:r>
                                          <a:rPr lang="en-US" b="0" i="1" smtClean="0">
                                            <a:solidFill>
                                              <a:srgbClr val="7030A0"/>
                                            </a:solidFill>
                                            <a:latin typeface="Cambria Math" panose="02040503050406030204" pitchFamily="18" charset="0"/>
                                          </a:rPr>
                                          <m:t>𝐴</m:t>
                                        </m:r>
                                      </m:e>
                                    </m:d>
                                    <m:sSup>
                                      <m:sSupPr>
                                        <m:ctrlPr>
                                          <a:rPr lang="en-US" b="0" i="1" smtClean="0">
                                            <a:solidFill>
                                              <a:srgbClr val="00B050"/>
                                            </a:solidFill>
                                            <a:latin typeface="Cambria Math" panose="02040503050406030204" pitchFamily="18" charset="0"/>
                                          </a:rPr>
                                        </m:ctrlPr>
                                      </m:sSupPr>
                                      <m:e>
                                        <m:d>
                                          <m:dPr>
                                            <m:begChr m:val="|"/>
                                            <m:endChr m:val="|"/>
                                            <m:ctrlPr>
                                              <a:rPr lang="en-US" i="1">
                                                <a:latin typeface="Cambria Math" panose="02040503050406030204" pitchFamily="18" charset="0"/>
                                              </a:rPr>
                                            </m:ctrlPr>
                                          </m:dPr>
                                          <m:e>
                                            <m:r>
                                              <a:rPr lang="en-US" i="1">
                                                <a:solidFill>
                                                  <a:srgbClr val="00B050"/>
                                                </a:solidFill>
                                                <a:latin typeface="Cambria Math" panose="02040503050406030204" pitchFamily="18" charset="0"/>
                                              </a:rPr>
                                              <m:t>𝑆</m:t>
                                            </m:r>
                                          </m:e>
                                        </m:d>
                                      </m:e>
                                      <m:sup>
                                        <m:r>
                                          <a:rPr lang="en-US" b="0" i="1" smtClean="0">
                                            <a:solidFill>
                                              <a:schemeClr val="tx1"/>
                                            </a:solidFill>
                                            <a:latin typeface="Cambria Math" panose="02040503050406030204" pitchFamily="18" charset="0"/>
                                          </a:rPr>
                                          <m:t>2</m:t>
                                        </m:r>
                                      </m:sup>
                                    </m:sSup>
                                  </m:e>
                                </m:d>
                              </m:oMath>
                            </m:oMathPara>
                          </a14:m>
                          <a:endParaRPr lang="en-US"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i="1" smtClean="0">
                                      <a:latin typeface="Cambria Math" panose="02040503050406030204" pitchFamily="18" charset="0"/>
                                    </a:rPr>
                                    <m:t>𝑘</m:t>
                                  </m:r>
                                  <m:sSup>
                                    <m:sSupPr>
                                      <m:ctrlPr>
                                        <a:rPr lang="en-US" b="0" i="1" smtClean="0">
                                          <a:solidFill>
                                            <a:srgbClr val="00B050"/>
                                          </a:solidFill>
                                          <a:latin typeface="Cambria Math" panose="02040503050406030204" pitchFamily="18" charset="0"/>
                                        </a:rPr>
                                      </m:ctrlPr>
                                    </m:sSupPr>
                                    <m:e>
                                      <m:d>
                                        <m:dPr>
                                          <m:begChr m:val="|"/>
                                          <m:endChr m:val="|"/>
                                          <m:ctrlPr>
                                            <a:rPr lang="en-US" i="1">
                                              <a:latin typeface="Cambria Math" panose="02040503050406030204" pitchFamily="18" charset="0"/>
                                            </a:rPr>
                                          </m:ctrlPr>
                                        </m:dPr>
                                        <m:e>
                                          <m:r>
                                            <a:rPr lang="en-US" i="1">
                                              <a:solidFill>
                                                <a:srgbClr val="00B050"/>
                                              </a:solidFill>
                                              <a:latin typeface="Cambria Math" panose="02040503050406030204" pitchFamily="18" charset="0"/>
                                            </a:rPr>
                                            <m:t>𝑆</m:t>
                                          </m:r>
                                        </m:e>
                                      </m:d>
                                    </m:e>
                                    <m:sup>
                                      <m:r>
                                        <a:rPr lang="en-US" b="0" i="1" smtClean="0">
                                          <a:solidFill>
                                            <a:schemeClr val="tx1"/>
                                          </a:solidFill>
                                          <a:latin typeface="Cambria Math" panose="02040503050406030204" pitchFamily="18" charset="0"/>
                                        </a:rPr>
                                        <m:t>2</m:t>
                                      </m:r>
                                    </m:sup>
                                  </m:sSup>
                                </m:e>
                              </m:d>
                            </m:oMath>
                          </a14:m>
                          <a:r>
                            <a:rPr lang="en-US" sz="1800" dirty="0"/>
                            <a:t> +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d>
                                    <m:dPr>
                                      <m:begChr m:val="|"/>
                                      <m:endChr m:val="|"/>
                                      <m:ctrlPr>
                                        <a:rPr lang="en-US" i="1">
                                          <a:latin typeface="Cambria Math" panose="02040503050406030204" pitchFamily="18" charset="0"/>
                                        </a:rPr>
                                      </m:ctrlPr>
                                    </m:dPr>
                                    <m:e>
                                      <m:r>
                                        <a:rPr lang="en-US" b="0" i="1" smtClean="0">
                                          <a:solidFill>
                                            <a:srgbClr val="7030A0"/>
                                          </a:solidFill>
                                          <a:latin typeface="Cambria Math" panose="02040503050406030204" pitchFamily="18" charset="0"/>
                                        </a:rPr>
                                        <m:t>𝐴</m:t>
                                      </m:r>
                                    </m:e>
                                  </m:d>
                                  <m:sSup>
                                    <m:sSupPr>
                                      <m:ctrlPr>
                                        <a:rPr lang="en-US" b="0" i="1" smtClean="0">
                                          <a:solidFill>
                                            <a:srgbClr val="00B050"/>
                                          </a:solidFill>
                                          <a:latin typeface="Cambria Math" panose="02040503050406030204" pitchFamily="18" charset="0"/>
                                        </a:rPr>
                                      </m:ctrlPr>
                                    </m:sSupPr>
                                    <m:e>
                                      <m:d>
                                        <m:dPr>
                                          <m:begChr m:val="|"/>
                                          <m:endChr m:val="|"/>
                                          <m:ctrlPr>
                                            <a:rPr lang="en-US" i="1">
                                              <a:latin typeface="Cambria Math" panose="02040503050406030204" pitchFamily="18" charset="0"/>
                                            </a:rPr>
                                          </m:ctrlPr>
                                        </m:dPr>
                                        <m:e>
                                          <m:r>
                                            <a:rPr lang="en-US" i="1">
                                              <a:solidFill>
                                                <a:srgbClr val="00B050"/>
                                              </a:solidFill>
                                              <a:latin typeface="Cambria Math" panose="02040503050406030204" pitchFamily="18" charset="0"/>
                                            </a:rPr>
                                            <m:t>𝑆</m:t>
                                          </m:r>
                                        </m:e>
                                      </m:d>
                                    </m:e>
                                    <m:sup>
                                      <m:r>
                                        <a:rPr lang="en-US" b="0" i="1" smtClean="0">
                                          <a:solidFill>
                                            <a:schemeClr val="tx1"/>
                                          </a:solidFill>
                                          <a:latin typeface="Cambria Math" panose="02040503050406030204" pitchFamily="18" charset="0"/>
                                        </a:rPr>
                                        <m:t>2</m:t>
                                      </m:r>
                                    </m:sup>
                                  </m:sSup>
                                </m:e>
                              </m:d>
                            </m:oMath>
                          </a14:m>
                          <a:endParaRPr lang="en-US" sz="18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(evaluation + improvement)</a:t>
                          </a:r>
                        </a:p>
                      </a:txBody>
                      <a:tcPr anchor="ctr"/>
                    </a:tc>
                    <a:extLst>
                      <a:ext uri="{0D108BD9-81ED-4DB2-BD59-A6C34878D82A}">
                        <a16:rowId xmlns:a16="http://schemas.microsoft.com/office/drawing/2014/main" val="1995987931"/>
                      </a:ext>
                    </a:extLst>
                  </a:tr>
                  <a:tr h="370840">
                    <a:tc>
                      <a:txBody>
                        <a:bodyPr/>
                        <a:lstStyle/>
                        <a:p>
                          <a:pPr algn="r"/>
                          <a:r>
                            <a:rPr lang="en-US" sz="1800" b="1" dirty="0"/>
                            <a:t>Convergence Speed</a:t>
                          </a:r>
                          <a:endParaRPr lang="en-US" sz="1800" dirty="0"/>
                        </a:p>
                      </a:txBody>
                      <a:tcPr anchor="ctr"/>
                    </a:tc>
                    <a:tc>
                      <a:txBody>
                        <a:bodyPr/>
                        <a:lstStyle/>
                        <a:p>
                          <a:r>
                            <a:rPr lang="en-US" sz="1800" dirty="0"/>
                            <a:t>More iterations, faster per iteration</a:t>
                          </a:r>
                        </a:p>
                      </a:txBody>
                      <a:tcPr anchor="ctr"/>
                    </a:tc>
                    <a:tc>
                      <a:txBody>
                        <a:bodyPr/>
                        <a:lstStyle/>
                        <a:p>
                          <a:r>
                            <a:rPr lang="en-US" sz="1800"/>
                            <a:t>Fewer iterations, slower per iteration</a:t>
                          </a:r>
                        </a:p>
                      </a:txBody>
                      <a:tcPr anchor="ctr"/>
                    </a:tc>
                    <a:extLst>
                      <a:ext uri="{0D108BD9-81ED-4DB2-BD59-A6C34878D82A}">
                        <a16:rowId xmlns:a16="http://schemas.microsoft.com/office/drawing/2014/main" val="980129110"/>
                      </a:ext>
                    </a:extLst>
                  </a:tr>
                  <a:tr h="370840">
                    <a:tc>
                      <a:txBody>
                        <a:bodyPr/>
                        <a:lstStyle/>
                        <a:p>
                          <a:pPr algn="r"/>
                          <a:r>
                            <a:rPr lang="en-US" sz="1800" b="1"/>
                            <a:t>Policy Representation</a:t>
                          </a:r>
                          <a:endParaRPr lang="en-US" sz="1800"/>
                        </a:p>
                      </a:txBody>
                      <a:tcPr anchor="ctr"/>
                    </a:tc>
                    <a:tc>
                      <a:txBody>
                        <a:bodyPr/>
                        <a:lstStyle/>
                        <a:p>
                          <a:r>
                            <a:rPr lang="en-US" sz="1800" dirty="0"/>
                            <a:t>Implicit (extracted at end)</a:t>
                          </a:r>
                        </a:p>
                      </a:txBody>
                      <a:tcPr anchor="ctr"/>
                    </a:tc>
                    <a:tc>
                      <a:txBody>
                        <a:bodyPr/>
                        <a:lstStyle/>
                        <a:p>
                          <a:r>
                            <a:rPr lang="en-US" sz="1800" dirty="0"/>
                            <a:t>Explicit throughout algorithm</a:t>
                          </a:r>
                        </a:p>
                      </a:txBody>
                      <a:tcPr anchor="ctr"/>
                    </a:tc>
                    <a:extLst>
                      <a:ext uri="{0D108BD9-81ED-4DB2-BD59-A6C34878D82A}">
                        <a16:rowId xmlns:a16="http://schemas.microsoft.com/office/drawing/2014/main" val="3295934646"/>
                      </a:ext>
                    </a:extLst>
                  </a:tr>
                  <a:tr h="370840">
                    <a:tc>
                      <a:txBody>
                        <a:bodyPr/>
                        <a:lstStyle/>
                        <a:p>
                          <a:pPr algn="r"/>
                          <a:r>
                            <a:rPr lang="en-US" sz="1800" b="1" dirty="0"/>
                            <a:t>Numerical Stability</a:t>
                          </a:r>
                          <a:endParaRPr lang="en-US" sz="1800" dirty="0"/>
                        </a:p>
                      </a:txBody>
                      <a:tcPr anchor="ctr"/>
                    </a:tc>
                    <a:tc>
                      <a:txBody>
                        <a:bodyPr/>
                        <a:lstStyle/>
                        <a:p>
                          <a:r>
                            <a:rPr lang="en-US" sz="1800" dirty="0"/>
                            <a:t>Generally stable</a:t>
                          </a:r>
                        </a:p>
                      </a:txBody>
                      <a:tcPr anchor="ctr"/>
                    </a:tc>
                    <a:tc>
                      <a:txBody>
                        <a:bodyPr/>
                        <a:lstStyle/>
                        <a:p>
                          <a:r>
                            <a:rPr lang="en-US" sz="1800" dirty="0"/>
                            <a:t>Can have issues with policy evaluation convergence</a:t>
                          </a:r>
                        </a:p>
                      </a:txBody>
                      <a:tcPr anchor="ctr"/>
                    </a:tc>
                    <a:extLst>
                      <a:ext uri="{0D108BD9-81ED-4DB2-BD59-A6C34878D82A}">
                        <a16:rowId xmlns:a16="http://schemas.microsoft.com/office/drawing/2014/main" val="1339338548"/>
                      </a:ext>
                    </a:extLst>
                  </a:tr>
                  <a:tr h="370840">
                    <a:tc>
                      <a:txBody>
                        <a:bodyPr/>
                        <a:lstStyle/>
                        <a:p>
                          <a:pPr algn="r"/>
                          <a:r>
                            <a:rPr lang="en-US" sz="1800" b="1"/>
                            <a:t>Implementation Complexity</a:t>
                          </a:r>
                          <a:endParaRPr lang="en-US" sz="1800"/>
                        </a:p>
                      </a:txBody>
                      <a:tcPr anchor="ctr"/>
                    </a:tc>
                    <a:tc>
                      <a:txBody>
                        <a:bodyPr/>
                        <a:lstStyle/>
                        <a:p>
                          <a:r>
                            <a:rPr lang="en-US" sz="1800" dirty="0"/>
                            <a:t>Simpler to implement</a:t>
                          </a:r>
                        </a:p>
                      </a:txBody>
                      <a:tcPr anchor="ctr"/>
                    </a:tc>
                    <a:tc>
                      <a:txBody>
                        <a:bodyPr/>
                        <a:lstStyle/>
                        <a:p>
                          <a:r>
                            <a:rPr lang="en-US" sz="1800" dirty="0"/>
                            <a:t>More complex due to two phases</a:t>
                          </a:r>
                        </a:p>
                      </a:txBody>
                      <a:tcPr anchor="ctr"/>
                    </a:tc>
                    <a:extLst>
                      <a:ext uri="{0D108BD9-81ED-4DB2-BD59-A6C34878D82A}">
                        <a16:rowId xmlns:a16="http://schemas.microsoft.com/office/drawing/2014/main" val="3998680536"/>
                      </a:ext>
                    </a:extLst>
                  </a:tr>
                  <a:tr h="370840">
                    <a:tc>
                      <a:txBody>
                        <a:bodyPr/>
                        <a:lstStyle/>
                        <a:p>
                          <a:pPr algn="r"/>
                          <a:r>
                            <a:rPr lang="en-US" sz="1800" b="1" dirty="0"/>
                            <a:t>When to Use</a:t>
                          </a:r>
                          <a:endParaRPr lang="en-US" sz="1800" dirty="0"/>
                        </a:p>
                      </a:txBody>
                      <a:tcPr anchor="ctr"/>
                    </a:tc>
                    <a:tc>
                      <a:txBody>
                        <a:bodyPr/>
                        <a:lstStyle/>
                        <a:p>
                          <a:r>
                            <a:rPr lang="en-US" sz="1800" dirty="0"/>
                            <a:t>Large action spaces, want simplicity, memory is limited, easy parallelization is needed</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Small action spaces, want faster convergence, You need good intermediate policies, You can afford the computational cost per iteration</a:t>
                          </a:r>
                        </a:p>
                      </a:txBody>
                      <a:tcPr anchor="ctr"/>
                    </a:tc>
                    <a:extLst>
                      <a:ext uri="{0D108BD9-81ED-4DB2-BD59-A6C34878D82A}">
                        <a16:rowId xmlns:a16="http://schemas.microsoft.com/office/drawing/2014/main" val="3152187805"/>
                      </a:ext>
                    </a:extLst>
                  </a:tr>
                  <a:tr h="370840">
                    <a:tc>
                      <a:txBody>
                        <a:bodyPr/>
                        <a:lstStyle/>
                        <a:p>
                          <a:pPr algn="r"/>
                          <a:r>
                            <a:rPr lang="en-US" sz="1800" b="1"/>
                            <a:t>Convergence Guarantee</a:t>
                          </a:r>
                          <a:endParaRPr lang="en-US" sz="1800"/>
                        </a:p>
                      </a:txBody>
                      <a:tcPr anchor="ctr"/>
                    </a:tc>
                    <a:tc>
                      <a:txBody>
                        <a:bodyPr/>
                        <a:lstStyle/>
                        <a:p>
                          <a:r>
                            <a:rPr lang="en-US" sz="1800" dirty="0"/>
                            <a:t>Always converges to </a:t>
                          </a:r>
                          <a14:m>
                            <m:oMath xmlns:m="http://schemas.openxmlformats.org/officeDocument/2006/math">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𝑉</m:t>
                                  </m:r>
                                </m:e>
                                <m:sup>
                                  <m:r>
                                    <a:rPr lang="en-US" sz="1800" b="0" i="1" smtClean="0">
                                      <a:latin typeface="Cambria Math" panose="02040503050406030204" pitchFamily="18" charset="0"/>
                                    </a:rPr>
                                    <m:t>∗</m:t>
                                  </m:r>
                                </m:sup>
                              </m:sSup>
                            </m:oMath>
                          </a14:m>
                          <a:endParaRPr lang="en-US" sz="1800" dirty="0"/>
                        </a:p>
                      </a:txBody>
                      <a:tcPr anchor="ctr"/>
                    </a:tc>
                    <a:tc>
                      <a:txBody>
                        <a:bodyPr/>
                        <a:lstStyle/>
                        <a:p>
                          <a:r>
                            <a:rPr lang="en-US" sz="1800" dirty="0"/>
                            <a:t>Always converges to </a:t>
                          </a:r>
                          <a14:m>
                            <m:oMath xmlns:m="http://schemas.openxmlformats.org/officeDocument/2006/math">
                              <m:sSup>
                                <m:sSupPr>
                                  <m:ctrlPr>
                                    <a:rPr lang="en-US" sz="1800" b="0" i="1" smtClean="0">
                                      <a:latin typeface="Cambria Math" panose="02040503050406030204" pitchFamily="18" charset="0"/>
                                    </a:rPr>
                                  </m:ctrlPr>
                                </m:sSupPr>
                                <m:e>
                                  <m:r>
                                    <a:rPr lang="en-US" sz="1800" b="1" i="1" smtClean="0">
                                      <a:latin typeface="Cambria Math" panose="02040503050406030204" pitchFamily="18" charset="0"/>
                                    </a:rPr>
                                    <m:t>𝝅</m:t>
                                  </m:r>
                                </m:e>
                                <m:sup>
                                  <m:r>
                                    <a:rPr lang="en-US" sz="1800" b="0" i="1" smtClean="0">
                                      <a:latin typeface="Cambria Math" panose="02040503050406030204" pitchFamily="18" charset="0"/>
                                    </a:rPr>
                                    <m:t>∗</m:t>
                                  </m:r>
                                </m:sup>
                              </m:sSup>
                            </m:oMath>
                          </a14:m>
                          <a:r>
                            <a:rPr lang="en-US" sz="1800" dirty="0"/>
                            <a:t> in finite steps</a:t>
                          </a:r>
                        </a:p>
                      </a:txBody>
                      <a:tcPr anchor="ctr"/>
                    </a:tc>
                    <a:extLst>
                      <a:ext uri="{0D108BD9-81ED-4DB2-BD59-A6C34878D82A}">
                        <a16:rowId xmlns:a16="http://schemas.microsoft.com/office/drawing/2014/main" val="3361702768"/>
                      </a:ext>
                    </a:extLst>
                  </a:tr>
                  <a:tr h="370840">
                    <a:tc>
                      <a:txBody>
                        <a:bodyPr/>
                        <a:lstStyle/>
                        <a:p>
                          <a:pPr algn="r"/>
                          <a:r>
                            <a:rPr lang="en-US" sz="1800" b="1"/>
                            <a:t>Intermediate Policies</a:t>
                          </a:r>
                          <a:endParaRPr lang="en-US" sz="1800"/>
                        </a:p>
                      </a:txBody>
                      <a:tcPr anchor="ctr"/>
                    </a:tc>
                    <a:tc>
                      <a:txBody>
                        <a:bodyPr/>
                        <a:lstStyle/>
                        <a:p>
                          <a:r>
                            <a:rPr lang="en-US" sz="1800"/>
                            <a:t>May be poor until convergence</a:t>
                          </a:r>
                        </a:p>
                      </a:txBody>
                      <a:tcPr anchor="ctr"/>
                    </a:tc>
                    <a:tc>
                      <a:txBody>
                        <a:bodyPr/>
                        <a:lstStyle/>
                        <a:p>
                          <a:r>
                            <a:rPr lang="en-US" sz="1800" dirty="0"/>
                            <a:t>Monotonically improving</a:t>
                          </a:r>
                        </a:p>
                      </a:txBody>
                      <a:tcPr anchor="ctr"/>
                    </a:tc>
                    <a:extLst>
                      <a:ext uri="{0D108BD9-81ED-4DB2-BD59-A6C34878D82A}">
                        <a16:rowId xmlns:a16="http://schemas.microsoft.com/office/drawing/2014/main" val="346332925"/>
                      </a:ext>
                    </a:extLst>
                  </a:tr>
                  <a:tr h="370840">
                    <a:tc>
                      <a:txBody>
                        <a:bodyPr/>
                        <a:lstStyle/>
                        <a:p>
                          <a:pPr algn="r"/>
                          <a:r>
                            <a:rPr lang="en-US" sz="1800" b="1" dirty="0"/>
                            <a:t>Early Stopping</a:t>
                          </a:r>
                          <a:endParaRPr lang="en-US" sz="1800" dirty="0"/>
                        </a:p>
                      </a:txBody>
                      <a:tcPr anchor="ctr"/>
                    </a:tc>
                    <a:tc>
                      <a:txBody>
                        <a:bodyPr/>
                        <a:lstStyle/>
                        <a:p>
                          <a:r>
                            <a:rPr lang="en-US" sz="1800"/>
                            <a:t>Can stop when value changes are small</a:t>
                          </a:r>
                        </a:p>
                      </a:txBody>
                      <a:tcPr anchor="ctr"/>
                    </a:tc>
                    <a:tc>
                      <a:txBody>
                        <a:bodyPr/>
                        <a:lstStyle/>
                        <a:p>
                          <a:r>
                            <a:rPr lang="en-US" sz="1800" dirty="0"/>
                            <a:t>Must wait for policy stability</a:t>
                          </a:r>
                        </a:p>
                      </a:txBody>
                      <a:tcPr anchor="ctr"/>
                    </a:tc>
                    <a:extLst>
                      <a:ext uri="{0D108BD9-81ED-4DB2-BD59-A6C34878D82A}">
                        <a16:rowId xmlns:a16="http://schemas.microsoft.com/office/drawing/2014/main" val="2123296326"/>
                      </a:ext>
                    </a:extLst>
                  </a:tr>
                </a:tbl>
              </a:graphicData>
            </a:graphic>
          </p:graphicFrame>
        </mc:Choice>
        <mc:Fallback xmlns="">
          <p:graphicFrame>
            <p:nvGraphicFramePr>
              <p:cNvPr id="10" name="Table 9">
                <a:extLst>
                  <a:ext uri="{FF2B5EF4-FFF2-40B4-BE49-F238E27FC236}">
                    <a16:creationId xmlns:a16="http://schemas.microsoft.com/office/drawing/2014/main" id="{3604F52F-9C53-3BA9-B086-920FA7A5C586}"/>
                  </a:ext>
                </a:extLst>
              </p:cNvPr>
              <p:cNvGraphicFramePr>
                <a:graphicFrameLocks noGrp="1"/>
              </p:cNvGraphicFramePr>
              <p:nvPr>
                <p:extLst>
                  <p:ext uri="{D42A27DB-BD31-4B8C-83A1-F6EECF244321}">
                    <p14:modId xmlns:p14="http://schemas.microsoft.com/office/powerpoint/2010/main" val="4080769440"/>
                  </p:ext>
                </p:extLst>
              </p:nvPr>
            </p:nvGraphicFramePr>
            <p:xfrm>
              <a:off x="262393" y="1183861"/>
              <a:ext cx="11752028" cy="4815840"/>
            </p:xfrm>
            <a:graphic>
              <a:graphicData uri="http://schemas.openxmlformats.org/drawingml/2006/table">
                <a:tbl>
                  <a:tblPr firstRow="1" bandRow="1">
                    <a:tableStyleId>{073A0DAA-6AF3-43AB-8588-CEC1D06C72B9}</a:tableStyleId>
                  </a:tblPr>
                  <a:tblGrid>
                    <a:gridCol w="2582588">
                      <a:extLst>
                        <a:ext uri="{9D8B030D-6E8A-4147-A177-3AD203B41FA5}">
                          <a16:colId xmlns:a16="http://schemas.microsoft.com/office/drawing/2014/main" val="510100627"/>
                        </a:ext>
                      </a:extLst>
                    </a:gridCol>
                    <a:gridCol w="3985189">
                      <a:extLst>
                        <a:ext uri="{9D8B030D-6E8A-4147-A177-3AD203B41FA5}">
                          <a16:colId xmlns:a16="http://schemas.microsoft.com/office/drawing/2014/main" val="2499515544"/>
                        </a:ext>
                      </a:extLst>
                    </a:gridCol>
                    <a:gridCol w="5184251">
                      <a:extLst>
                        <a:ext uri="{9D8B030D-6E8A-4147-A177-3AD203B41FA5}">
                          <a16:colId xmlns:a16="http://schemas.microsoft.com/office/drawing/2014/main" val="3300817839"/>
                        </a:ext>
                      </a:extLst>
                    </a:gridCol>
                  </a:tblGrid>
                  <a:tr h="396240">
                    <a:tc>
                      <a:txBody>
                        <a:bodyPr/>
                        <a:lstStyle/>
                        <a:p>
                          <a:endParaRPr lang="en-US" sz="2000" dirty="0"/>
                        </a:p>
                      </a:txBody>
                      <a:tcPr/>
                    </a:tc>
                    <a:tc>
                      <a:txBody>
                        <a:bodyPr/>
                        <a:lstStyle/>
                        <a:p>
                          <a:pPr algn="ctr"/>
                          <a:r>
                            <a:rPr lang="en-US" sz="2000" dirty="0"/>
                            <a:t>Value Iteration</a:t>
                          </a:r>
                        </a:p>
                      </a:txBody>
                      <a:tcPr/>
                    </a:tc>
                    <a:tc>
                      <a:txBody>
                        <a:bodyPr/>
                        <a:lstStyle/>
                        <a:p>
                          <a:pPr algn="ctr"/>
                          <a:r>
                            <a:rPr lang="en-US" sz="2000" dirty="0"/>
                            <a:t>Policy Iteration</a:t>
                          </a:r>
                        </a:p>
                      </a:txBody>
                      <a:tcPr/>
                    </a:tc>
                    <a:extLst>
                      <a:ext uri="{0D108BD9-81ED-4DB2-BD59-A6C34878D82A}">
                        <a16:rowId xmlns:a16="http://schemas.microsoft.com/office/drawing/2014/main" val="2805041177"/>
                      </a:ext>
                    </a:extLst>
                  </a:tr>
                  <a:tr h="640080">
                    <a:tc>
                      <a:txBody>
                        <a:bodyPr/>
                        <a:lstStyle/>
                        <a:p>
                          <a:pPr algn="r"/>
                          <a:r>
                            <a:rPr lang="en-US" sz="1800" b="1" dirty="0"/>
                            <a:t>Per Iteration Complexity</a:t>
                          </a:r>
                          <a:endParaRPr lang="en-US" sz="1800" dirty="0"/>
                        </a:p>
                      </a:txBody>
                      <a:tcPr anchor="ctr"/>
                    </a:tc>
                    <a:tc>
                      <a:txBody>
                        <a:bodyPr/>
                        <a:lstStyle/>
                        <a:p>
                          <a:endParaRPr lang="en-US"/>
                        </a:p>
                      </a:txBody>
                      <a:tcPr anchor="ctr">
                        <a:blipFill>
                          <a:blip r:embed="rId2"/>
                          <a:stretch>
                            <a:fillRect l="-65084" t="-66667" r="-131087" b="-605714"/>
                          </a:stretch>
                        </a:blipFill>
                      </a:tcPr>
                    </a:tc>
                    <a:tc>
                      <a:txBody>
                        <a:bodyPr/>
                        <a:lstStyle/>
                        <a:p>
                          <a:endParaRPr lang="en-US"/>
                        </a:p>
                      </a:txBody>
                      <a:tcPr anchor="ctr">
                        <a:blipFill>
                          <a:blip r:embed="rId2"/>
                          <a:stretch>
                            <a:fillRect l="-126675" t="-66667" r="-588" b="-605714"/>
                          </a:stretch>
                        </a:blipFill>
                      </a:tcPr>
                    </a:tc>
                    <a:extLst>
                      <a:ext uri="{0D108BD9-81ED-4DB2-BD59-A6C34878D82A}">
                        <a16:rowId xmlns:a16="http://schemas.microsoft.com/office/drawing/2014/main" val="1995987931"/>
                      </a:ext>
                    </a:extLst>
                  </a:tr>
                  <a:tr h="370840">
                    <a:tc>
                      <a:txBody>
                        <a:bodyPr/>
                        <a:lstStyle/>
                        <a:p>
                          <a:pPr algn="r"/>
                          <a:r>
                            <a:rPr lang="en-US" sz="1800" b="1" dirty="0"/>
                            <a:t>Convergence Speed</a:t>
                          </a:r>
                          <a:endParaRPr lang="en-US" sz="1800" dirty="0"/>
                        </a:p>
                      </a:txBody>
                      <a:tcPr anchor="ctr"/>
                    </a:tc>
                    <a:tc>
                      <a:txBody>
                        <a:bodyPr/>
                        <a:lstStyle/>
                        <a:p>
                          <a:r>
                            <a:rPr lang="en-US" sz="1800" dirty="0"/>
                            <a:t>More iterations, faster per iteration</a:t>
                          </a:r>
                        </a:p>
                      </a:txBody>
                      <a:tcPr anchor="ctr"/>
                    </a:tc>
                    <a:tc>
                      <a:txBody>
                        <a:bodyPr/>
                        <a:lstStyle/>
                        <a:p>
                          <a:r>
                            <a:rPr lang="en-US" sz="1800"/>
                            <a:t>Fewer iterations, slower per iteration</a:t>
                          </a:r>
                        </a:p>
                      </a:txBody>
                      <a:tcPr anchor="ctr"/>
                    </a:tc>
                    <a:extLst>
                      <a:ext uri="{0D108BD9-81ED-4DB2-BD59-A6C34878D82A}">
                        <a16:rowId xmlns:a16="http://schemas.microsoft.com/office/drawing/2014/main" val="980129110"/>
                      </a:ext>
                    </a:extLst>
                  </a:tr>
                  <a:tr h="370840">
                    <a:tc>
                      <a:txBody>
                        <a:bodyPr/>
                        <a:lstStyle/>
                        <a:p>
                          <a:pPr algn="r"/>
                          <a:r>
                            <a:rPr lang="en-US" sz="1800" b="1"/>
                            <a:t>Policy Representation</a:t>
                          </a:r>
                          <a:endParaRPr lang="en-US" sz="1800"/>
                        </a:p>
                      </a:txBody>
                      <a:tcPr anchor="ctr"/>
                    </a:tc>
                    <a:tc>
                      <a:txBody>
                        <a:bodyPr/>
                        <a:lstStyle/>
                        <a:p>
                          <a:r>
                            <a:rPr lang="en-US" sz="1800" dirty="0"/>
                            <a:t>Implicit (extracted at end)</a:t>
                          </a:r>
                        </a:p>
                      </a:txBody>
                      <a:tcPr anchor="ctr"/>
                    </a:tc>
                    <a:tc>
                      <a:txBody>
                        <a:bodyPr/>
                        <a:lstStyle/>
                        <a:p>
                          <a:r>
                            <a:rPr lang="en-US" sz="1800" dirty="0"/>
                            <a:t>Explicit throughout algorithm</a:t>
                          </a:r>
                        </a:p>
                      </a:txBody>
                      <a:tcPr anchor="ctr"/>
                    </a:tc>
                    <a:extLst>
                      <a:ext uri="{0D108BD9-81ED-4DB2-BD59-A6C34878D82A}">
                        <a16:rowId xmlns:a16="http://schemas.microsoft.com/office/drawing/2014/main" val="3295934646"/>
                      </a:ext>
                    </a:extLst>
                  </a:tr>
                  <a:tr h="370840">
                    <a:tc>
                      <a:txBody>
                        <a:bodyPr/>
                        <a:lstStyle/>
                        <a:p>
                          <a:pPr algn="r"/>
                          <a:r>
                            <a:rPr lang="en-US" sz="1800" b="1" dirty="0"/>
                            <a:t>Numerical Stability</a:t>
                          </a:r>
                          <a:endParaRPr lang="en-US" sz="1800" dirty="0"/>
                        </a:p>
                      </a:txBody>
                      <a:tcPr anchor="ctr"/>
                    </a:tc>
                    <a:tc>
                      <a:txBody>
                        <a:bodyPr/>
                        <a:lstStyle/>
                        <a:p>
                          <a:r>
                            <a:rPr lang="en-US" sz="1800" dirty="0"/>
                            <a:t>Generally stable</a:t>
                          </a:r>
                        </a:p>
                      </a:txBody>
                      <a:tcPr anchor="ctr"/>
                    </a:tc>
                    <a:tc>
                      <a:txBody>
                        <a:bodyPr/>
                        <a:lstStyle/>
                        <a:p>
                          <a:r>
                            <a:rPr lang="en-US" sz="1800" dirty="0"/>
                            <a:t>Can have issues with policy evaluation convergence</a:t>
                          </a:r>
                        </a:p>
                      </a:txBody>
                      <a:tcPr anchor="ctr"/>
                    </a:tc>
                    <a:extLst>
                      <a:ext uri="{0D108BD9-81ED-4DB2-BD59-A6C34878D82A}">
                        <a16:rowId xmlns:a16="http://schemas.microsoft.com/office/drawing/2014/main" val="1339338548"/>
                      </a:ext>
                    </a:extLst>
                  </a:tr>
                  <a:tr h="640080">
                    <a:tc>
                      <a:txBody>
                        <a:bodyPr/>
                        <a:lstStyle/>
                        <a:p>
                          <a:pPr algn="r"/>
                          <a:r>
                            <a:rPr lang="en-US" sz="1800" b="1"/>
                            <a:t>Implementation Complexity</a:t>
                          </a:r>
                          <a:endParaRPr lang="en-US" sz="1800"/>
                        </a:p>
                      </a:txBody>
                      <a:tcPr anchor="ctr"/>
                    </a:tc>
                    <a:tc>
                      <a:txBody>
                        <a:bodyPr/>
                        <a:lstStyle/>
                        <a:p>
                          <a:r>
                            <a:rPr lang="en-US" sz="1800" dirty="0"/>
                            <a:t>Simpler to implement</a:t>
                          </a:r>
                        </a:p>
                      </a:txBody>
                      <a:tcPr anchor="ctr"/>
                    </a:tc>
                    <a:tc>
                      <a:txBody>
                        <a:bodyPr/>
                        <a:lstStyle/>
                        <a:p>
                          <a:r>
                            <a:rPr lang="en-US" sz="1800" dirty="0"/>
                            <a:t>More complex due to two phases</a:t>
                          </a:r>
                        </a:p>
                      </a:txBody>
                      <a:tcPr anchor="ctr"/>
                    </a:tc>
                    <a:extLst>
                      <a:ext uri="{0D108BD9-81ED-4DB2-BD59-A6C34878D82A}">
                        <a16:rowId xmlns:a16="http://schemas.microsoft.com/office/drawing/2014/main" val="3998680536"/>
                      </a:ext>
                    </a:extLst>
                  </a:tr>
                  <a:tr h="914400">
                    <a:tc>
                      <a:txBody>
                        <a:bodyPr/>
                        <a:lstStyle/>
                        <a:p>
                          <a:pPr algn="r"/>
                          <a:r>
                            <a:rPr lang="en-US" sz="1800" b="1" dirty="0"/>
                            <a:t>When to Use</a:t>
                          </a:r>
                          <a:endParaRPr lang="en-US" sz="1800" dirty="0"/>
                        </a:p>
                      </a:txBody>
                      <a:tcPr anchor="ctr"/>
                    </a:tc>
                    <a:tc>
                      <a:txBody>
                        <a:bodyPr/>
                        <a:lstStyle/>
                        <a:p>
                          <a:r>
                            <a:rPr lang="en-US" sz="1800" dirty="0"/>
                            <a:t>Large action spaces, want simplicity, memory is limited, easy parallelization is needed</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Small action spaces, want faster convergence, You need good intermediate policies, You can afford the computational cost per iteration</a:t>
                          </a:r>
                        </a:p>
                      </a:txBody>
                      <a:tcPr anchor="ctr"/>
                    </a:tc>
                    <a:extLst>
                      <a:ext uri="{0D108BD9-81ED-4DB2-BD59-A6C34878D82A}">
                        <a16:rowId xmlns:a16="http://schemas.microsoft.com/office/drawing/2014/main" val="3152187805"/>
                      </a:ext>
                    </a:extLst>
                  </a:tr>
                  <a:tr h="370840">
                    <a:tc>
                      <a:txBody>
                        <a:bodyPr/>
                        <a:lstStyle/>
                        <a:p>
                          <a:pPr algn="r"/>
                          <a:r>
                            <a:rPr lang="en-US" sz="1800" b="1"/>
                            <a:t>Convergence Guarantee</a:t>
                          </a:r>
                          <a:endParaRPr lang="en-US" sz="1800"/>
                        </a:p>
                      </a:txBody>
                      <a:tcPr anchor="ctr"/>
                    </a:tc>
                    <a:tc>
                      <a:txBody>
                        <a:bodyPr/>
                        <a:lstStyle/>
                        <a:p>
                          <a:endParaRPr lang="en-US"/>
                        </a:p>
                      </a:txBody>
                      <a:tcPr anchor="ctr">
                        <a:blipFill>
                          <a:blip r:embed="rId2"/>
                          <a:stretch>
                            <a:fillRect l="-65084" t="-1004918" r="-131087" b="-224590"/>
                          </a:stretch>
                        </a:blipFill>
                      </a:tcPr>
                    </a:tc>
                    <a:tc>
                      <a:txBody>
                        <a:bodyPr/>
                        <a:lstStyle/>
                        <a:p>
                          <a:endParaRPr lang="en-US"/>
                        </a:p>
                      </a:txBody>
                      <a:tcPr anchor="ctr">
                        <a:blipFill>
                          <a:blip r:embed="rId2"/>
                          <a:stretch>
                            <a:fillRect l="-126675" t="-1004918" r="-588" b="-224590"/>
                          </a:stretch>
                        </a:blipFill>
                      </a:tcPr>
                    </a:tc>
                    <a:extLst>
                      <a:ext uri="{0D108BD9-81ED-4DB2-BD59-A6C34878D82A}">
                        <a16:rowId xmlns:a16="http://schemas.microsoft.com/office/drawing/2014/main" val="3361702768"/>
                      </a:ext>
                    </a:extLst>
                  </a:tr>
                  <a:tr h="370840">
                    <a:tc>
                      <a:txBody>
                        <a:bodyPr/>
                        <a:lstStyle/>
                        <a:p>
                          <a:pPr algn="r"/>
                          <a:r>
                            <a:rPr lang="en-US" sz="1800" b="1"/>
                            <a:t>Intermediate Policies</a:t>
                          </a:r>
                          <a:endParaRPr lang="en-US" sz="1800"/>
                        </a:p>
                      </a:txBody>
                      <a:tcPr anchor="ctr"/>
                    </a:tc>
                    <a:tc>
                      <a:txBody>
                        <a:bodyPr/>
                        <a:lstStyle/>
                        <a:p>
                          <a:r>
                            <a:rPr lang="en-US" sz="1800"/>
                            <a:t>May be poor until convergence</a:t>
                          </a:r>
                        </a:p>
                      </a:txBody>
                      <a:tcPr anchor="ctr"/>
                    </a:tc>
                    <a:tc>
                      <a:txBody>
                        <a:bodyPr/>
                        <a:lstStyle/>
                        <a:p>
                          <a:r>
                            <a:rPr lang="en-US" sz="1800" dirty="0"/>
                            <a:t>Monotonically improving</a:t>
                          </a:r>
                        </a:p>
                      </a:txBody>
                      <a:tcPr anchor="ctr"/>
                    </a:tc>
                    <a:extLst>
                      <a:ext uri="{0D108BD9-81ED-4DB2-BD59-A6C34878D82A}">
                        <a16:rowId xmlns:a16="http://schemas.microsoft.com/office/drawing/2014/main" val="346332925"/>
                      </a:ext>
                    </a:extLst>
                  </a:tr>
                  <a:tr h="370840">
                    <a:tc>
                      <a:txBody>
                        <a:bodyPr/>
                        <a:lstStyle/>
                        <a:p>
                          <a:pPr algn="r"/>
                          <a:r>
                            <a:rPr lang="en-US" sz="1800" b="1" dirty="0"/>
                            <a:t>Early Stopping</a:t>
                          </a:r>
                          <a:endParaRPr lang="en-US" sz="1800" dirty="0"/>
                        </a:p>
                      </a:txBody>
                      <a:tcPr anchor="ctr"/>
                    </a:tc>
                    <a:tc>
                      <a:txBody>
                        <a:bodyPr/>
                        <a:lstStyle/>
                        <a:p>
                          <a:r>
                            <a:rPr lang="en-US" sz="1800"/>
                            <a:t>Can stop when value changes are small</a:t>
                          </a:r>
                        </a:p>
                      </a:txBody>
                      <a:tcPr anchor="ctr"/>
                    </a:tc>
                    <a:tc>
                      <a:txBody>
                        <a:bodyPr/>
                        <a:lstStyle/>
                        <a:p>
                          <a:r>
                            <a:rPr lang="en-US" sz="1800" dirty="0"/>
                            <a:t>Must wait for policy stability</a:t>
                          </a:r>
                        </a:p>
                      </a:txBody>
                      <a:tcPr anchor="ctr"/>
                    </a:tc>
                    <a:extLst>
                      <a:ext uri="{0D108BD9-81ED-4DB2-BD59-A6C34878D82A}">
                        <a16:rowId xmlns:a16="http://schemas.microsoft.com/office/drawing/2014/main" val="2123296326"/>
                      </a:ext>
                    </a:extLst>
                  </a:tr>
                </a:tbl>
              </a:graphicData>
            </a:graphic>
          </p:graphicFrame>
        </mc:Fallback>
      </mc:AlternateContent>
    </p:spTree>
    <p:extLst>
      <p:ext uri="{BB962C8B-B14F-4D97-AF65-F5344CB8AC3E}">
        <p14:creationId xmlns:p14="http://schemas.microsoft.com/office/powerpoint/2010/main" val="3439720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2">
            <a:extLst>
              <a:ext uri="{FF2B5EF4-FFF2-40B4-BE49-F238E27FC236}">
                <a16:creationId xmlns:a16="http://schemas.microsoft.com/office/drawing/2014/main" id="{414017AB-FB6F-9B49-F248-05246C8358B5}"/>
              </a:ext>
            </a:extLst>
          </p:cNvPr>
          <p:cNvSpPr txBox="1">
            <a:spLocks/>
          </p:cNvSpPr>
          <p:nvPr/>
        </p:nvSpPr>
        <p:spPr>
          <a:xfrm>
            <a:off x="484969" y="69597"/>
            <a:ext cx="11153622" cy="565671"/>
          </a:xfrm>
          <a:prstGeom prst="rect">
            <a:avLst/>
          </a:prstGeom>
          <a:ln>
            <a:noFill/>
          </a:ln>
        </p:spPr>
        <p:txBody>
          <a:bodyPr vert="horz" lIns="91440" tIns="45720" rIns="91440" bIns="45720" rtlCol="0" anchor="ctr">
            <a:noAutofit/>
          </a:bodyPr>
          <a:lst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a:lstStyle>
          <a:p>
            <a:pPr algn="ctr"/>
            <a:r>
              <a:rPr lang="en-US" sz="3600" dirty="0"/>
              <a:t>When the Model is Unknown</a:t>
            </a:r>
          </a:p>
        </p:txBody>
      </p:sp>
      <p:sp>
        <p:nvSpPr>
          <p:cNvPr id="2" name="Content Placeholder 2">
            <a:extLst>
              <a:ext uri="{FF2B5EF4-FFF2-40B4-BE49-F238E27FC236}">
                <a16:creationId xmlns:a16="http://schemas.microsoft.com/office/drawing/2014/main" id="{FF843E5A-4E35-4A22-BA2F-9F96F62EF7A2}"/>
              </a:ext>
            </a:extLst>
          </p:cNvPr>
          <p:cNvSpPr txBox="1">
            <a:spLocks/>
          </p:cNvSpPr>
          <p:nvPr/>
        </p:nvSpPr>
        <p:spPr>
          <a:xfrm>
            <a:off x="878530" y="1636943"/>
            <a:ext cx="7033018" cy="739208"/>
          </a:xfrm>
          <a:prstGeom prst="rect">
            <a:avLst/>
          </a:prstGeom>
          <a:ln>
            <a:noFill/>
          </a:ln>
        </p:spPr>
        <p:txBody>
          <a:bodyPr vert="horz" lIns="91440" tIns="45720" rIns="91440" bIns="45720" rtlCol="0">
            <a:noAutofit/>
          </a:bodyPr>
          <a:lst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200" dirty="0"/>
              <a:t>Value and Policy iteration make one bold assumption…</a:t>
            </a:r>
          </a:p>
        </p:txBody>
      </p:sp>
      <p:sp>
        <p:nvSpPr>
          <p:cNvPr id="6" name="TextBox 5">
            <a:extLst>
              <a:ext uri="{FF2B5EF4-FFF2-40B4-BE49-F238E27FC236}">
                <a16:creationId xmlns:a16="http://schemas.microsoft.com/office/drawing/2014/main" id="{73846D5A-787C-B886-069F-DD62EA53053D}"/>
              </a:ext>
            </a:extLst>
          </p:cNvPr>
          <p:cNvSpPr txBox="1"/>
          <p:nvPr/>
        </p:nvSpPr>
        <p:spPr>
          <a:xfrm>
            <a:off x="5876015" y="2155591"/>
            <a:ext cx="6066844" cy="441119"/>
          </a:xfrm>
          <a:prstGeom prst="rect">
            <a:avLst/>
          </a:prstGeom>
          <a:noFill/>
          <a:ln>
            <a:noFill/>
          </a:ln>
        </p:spPr>
        <p:txBody>
          <a:bodyPr wrap="square">
            <a:noAutofit/>
          </a:bodyPr>
          <a:lstStyle/>
          <a:p>
            <a:r>
              <a:rPr lang="en-US" sz="2200" dirty="0"/>
              <a:t>that we know the Markov Decision Process model.</a:t>
            </a:r>
          </a:p>
        </p:txBody>
      </p:sp>
      <p:sp>
        <p:nvSpPr>
          <p:cNvPr id="8" name="TextBox 7">
            <a:extLst>
              <a:ext uri="{FF2B5EF4-FFF2-40B4-BE49-F238E27FC236}">
                <a16:creationId xmlns:a16="http://schemas.microsoft.com/office/drawing/2014/main" id="{AC86374A-03EF-F4F3-AF35-88D6418AA805}"/>
              </a:ext>
            </a:extLst>
          </p:cNvPr>
          <p:cNvSpPr txBox="1"/>
          <p:nvPr/>
        </p:nvSpPr>
        <p:spPr>
          <a:xfrm>
            <a:off x="2514834" y="4255759"/>
            <a:ext cx="7093890" cy="707886"/>
          </a:xfrm>
          <a:prstGeom prst="rect">
            <a:avLst/>
          </a:prstGeom>
          <a:noFill/>
          <a:ln>
            <a:noFill/>
          </a:ln>
        </p:spPr>
        <p:txBody>
          <a:bodyPr wrap="square">
            <a:spAutoFit/>
          </a:bodyPr>
          <a:lstStyle/>
          <a:p>
            <a:pPr algn="ctr"/>
            <a:r>
              <a:rPr lang="en-US" sz="2000" dirty="0"/>
              <a:t>In the real world, we often do not have access to this information.</a:t>
            </a:r>
          </a:p>
          <a:p>
            <a:pPr algn="ctr"/>
            <a:r>
              <a:rPr lang="en-US" sz="2000" dirty="0"/>
              <a:t>So how can we learn optimal behavior through experience alone?</a:t>
            </a:r>
          </a:p>
        </p:txBody>
      </p:sp>
      <p:sp>
        <p:nvSpPr>
          <p:cNvPr id="9" name="TextBox 8">
            <a:extLst>
              <a:ext uri="{FF2B5EF4-FFF2-40B4-BE49-F238E27FC236}">
                <a16:creationId xmlns:a16="http://schemas.microsoft.com/office/drawing/2014/main" id="{C282BA24-30DB-A9EA-AD12-E56F2F4F694D}"/>
              </a:ext>
            </a:extLst>
          </p:cNvPr>
          <p:cNvSpPr txBox="1"/>
          <p:nvPr/>
        </p:nvSpPr>
        <p:spPr>
          <a:xfrm>
            <a:off x="1469237" y="5511169"/>
            <a:ext cx="9185083" cy="400110"/>
          </a:xfrm>
          <a:prstGeom prst="rect">
            <a:avLst/>
          </a:prstGeom>
          <a:noFill/>
          <a:ln>
            <a:noFill/>
          </a:ln>
        </p:spPr>
        <p:txBody>
          <a:bodyPr wrap="square">
            <a:spAutoFit/>
          </a:bodyPr>
          <a:lstStyle/>
          <a:p>
            <a:r>
              <a:rPr lang="en-US" sz="2000" dirty="0"/>
              <a:t>Fundamentally, how do we move from a model-based learning to model-free learning?</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A615D81-7314-8B70-CC49-FC7A5A789A13}"/>
                  </a:ext>
                </a:extLst>
              </p:cNvPr>
              <p:cNvSpPr txBox="1"/>
              <p:nvPr/>
            </p:nvSpPr>
            <p:spPr>
              <a:xfrm>
                <a:off x="2006615" y="2857988"/>
                <a:ext cx="8110329" cy="850248"/>
              </a:xfrm>
              <a:prstGeom prst="rect">
                <a:avLst/>
              </a:prstGeom>
              <a:noFill/>
              <a:ln>
                <a:noFill/>
              </a:ln>
            </p:spPr>
            <p:txBody>
              <a:bodyPr wrap="square">
                <a:noAutofit/>
              </a:bodyPr>
              <a:lstStyle/>
              <a:p>
                <a:r>
                  <a:rPr lang="en-US" sz="2200" dirty="0"/>
                  <a:t>In particular, we do not know the transition probabilities and rewards:</a:t>
                </a:r>
              </a:p>
              <a:p>
                <a:pPr algn="ctr"/>
                <a14:m>
                  <m:oMath xmlns:m="http://schemas.openxmlformats.org/officeDocument/2006/math">
                    <m:r>
                      <a:rPr lang="en-US" sz="2000" i="1" dirty="0">
                        <a:latin typeface="Cambria Math" panose="02040503050406030204" pitchFamily="18" charset="0"/>
                      </a:rPr>
                      <m:t>𝑃</m:t>
                    </m:r>
                    <m:d>
                      <m:dPr>
                        <m:ctrlPr>
                          <a:rPr lang="en-US" sz="2000" i="1" dirty="0">
                            <a:latin typeface="Cambria Math" panose="02040503050406030204" pitchFamily="18" charset="0"/>
                          </a:rPr>
                        </m:ctrlPr>
                      </m:dPr>
                      <m:e>
                        <m:sSup>
                          <m:sSupPr>
                            <m:ctrlPr>
                              <a:rPr lang="en-US" sz="2000" i="1" dirty="0">
                                <a:latin typeface="Cambria Math" panose="02040503050406030204" pitchFamily="18" charset="0"/>
                              </a:rPr>
                            </m:ctrlPr>
                          </m:sSupPr>
                          <m:e>
                            <m:r>
                              <a:rPr lang="en-US" sz="2000" i="1" dirty="0">
                                <a:solidFill>
                                  <a:srgbClr val="00B050"/>
                                </a:solidFill>
                                <a:latin typeface="Cambria Math" panose="02040503050406030204" pitchFamily="18" charset="0"/>
                              </a:rPr>
                              <m:t>𝑠</m:t>
                            </m:r>
                          </m:e>
                          <m:sup>
                            <m:r>
                              <a:rPr lang="en-US" sz="2000" i="1" dirty="0">
                                <a:latin typeface="Cambria Math" panose="02040503050406030204" pitchFamily="18" charset="0"/>
                              </a:rPr>
                              <m:t>′</m:t>
                            </m:r>
                          </m:sup>
                        </m:sSup>
                        <m:r>
                          <a:rPr lang="en-US" sz="2000" i="1" dirty="0">
                            <a:latin typeface="Cambria Math" panose="02040503050406030204" pitchFamily="18" charset="0"/>
                          </a:rPr>
                          <m:t>∣</m:t>
                        </m:r>
                        <m:r>
                          <a:rPr lang="en-US" sz="2000" i="1" dirty="0">
                            <a:solidFill>
                              <a:srgbClr val="00B050"/>
                            </a:solidFill>
                            <a:latin typeface="Cambria Math" panose="02040503050406030204" pitchFamily="18" charset="0"/>
                          </a:rPr>
                          <m:t>𝑠</m:t>
                        </m:r>
                        <m:r>
                          <a:rPr lang="en-US" sz="2000" i="1" dirty="0">
                            <a:latin typeface="Cambria Math" panose="02040503050406030204" pitchFamily="18" charset="0"/>
                          </a:rPr>
                          <m:t>,</m:t>
                        </m:r>
                        <m:r>
                          <a:rPr lang="en-US" sz="2000" i="1" dirty="0">
                            <a:solidFill>
                              <a:srgbClr val="7030A0"/>
                            </a:solidFill>
                            <a:latin typeface="Cambria Math" panose="02040503050406030204" pitchFamily="18" charset="0"/>
                          </a:rPr>
                          <m:t>𝑎</m:t>
                        </m:r>
                      </m:e>
                    </m:d>
                  </m:oMath>
                </a14:m>
                <a:r>
                  <a:rPr lang="en-US" sz="2200" dirty="0"/>
                  <a:t>     and     </a:t>
                </a:r>
                <a14:m>
                  <m:oMath xmlns:m="http://schemas.openxmlformats.org/officeDocument/2006/math">
                    <m:r>
                      <a:rPr lang="en-US" sz="2000" i="1">
                        <a:solidFill>
                          <a:srgbClr val="1306BA"/>
                        </a:solidFill>
                        <a:latin typeface="Cambria Math" panose="02040503050406030204" pitchFamily="18" charset="0"/>
                      </a:rPr>
                      <m:t>𝑅</m:t>
                    </m:r>
                    <m:d>
                      <m:dPr>
                        <m:ctrlPr>
                          <a:rPr lang="en-US" sz="2000" i="1">
                            <a:latin typeface="Cambria Math" panose="02040503050406030204" pitchFamily="18" charset="0"/>
                          </a:rPr>
                        </m:ctrlPr>
                      </m:dPr>
                      <m:e>
                        <m:r>
                          <a:rPr lang="en-US" sz="2000" i="1">
                            <a:solidFill>
                              <a:srgbClr val="00B050"/>
                            </a:solidFill>
                            <a:latin typeface="Cambria Math" panose="02040503050406030204" pitchFamily="18" charset="0"/>
                          </a:rPr>
                          <m:t>𝑠</m:t>
                        </m:r>
                        <m:r>
                          <a:rPr lang="en-US" sz="2000" i="1">
                            <a:latin typeface="Cambria Math" panose="02040503050406030204" pitchFamily="18" charset="0"/>
                          </a:rPr>
                          <m:t>,</m:t>
                        </m:r>
                        <m:r>
                          <a:rPr lang="en-US" sz="2000" i="1" dirty="0">
                            <a:solidFill>
                              <a:srgbClr val="7030A0"/>
                            </a:solidFill>
                            <a:latin typeface="Cambria Math" panose="02040503050406030204" pitchFamily="18" charset="0"/>
                          </a:rPr>
                          <m:t>𝑎</m:t>
                        </m:r>
                        <m:r>
                          <a:rPr lang="en-US" sz="2000" i="1">
                            <a:latin typeface="Cambria Math" panose="02040503050406030204" pitchFamily="18" charset="0"/>
                          </a:rPr>
                          <m:t>,</m:t>
                        </m:r>
                        <m:r>
                          <a:rPr lang="en-US" sz="2000" i="1">
                            <a:solidFill>
                              <a:srgbClr val="00B050"/>
                            </a:solidFill>
                            <a:latin typeface="Cambria Math" panose="02040503050406030204" pitchFamily="18" charset="0"/>
                          </a:rPr>
                          <m:t>𝑠</m:t>
                        </m:r>
                        <m:r>
                          <a:rPr lang="en-US" sz="2000" i="1">
                            <a:latin typeface="Cambria Math" panose="02040503050406030204" pitchFamily="18" charset="0"/>
                          </a:rPr>
                          <m:t>′</m:t>
                        </m:r>
                      </m:e>
                    </m:d>
                  </m:oMath>
                </a14:m>
                <a:r>
                  <a:rPr lang="en-US" sz="2200" dirty="0"/>
                  <a:t>.</a:t>
                </a:r>
              </a:p>
            </p:txBody>
          </p:sp>
        </mc:Choice>
        <mc:Fallback xmlns="">
          <p:sp>
            <p:nvSpPr>
              <p:cNvPr id="12" name="TextBox 11">
                <a:extLst>
                  <a:ext uri="{FF2B5EF4-FFF2-40B4-BE49-F238E27FC236}">
                    <a16:creationId xmlns:a16="http://schemas.microsoft.com/office/drawing/2014/main" id="{AA615D81-7314-8B70-CC49-FC7A5A789A13}"/>
                  </a:ext>
                </a:extLst>
              </p:cNvPr>
              <p:cNvSpPr txBox="1">
                <a:spLocks noRot="1" noChangeAspect="1" noMove="1" noResize="1" noEditPoints="1" noAdjustHandles="1" noChangeArrowheads="1" noChangeShapeType="1" noTextEdit="1"/>
              </p:cNvSpPr>
              <p:nvPr/>
            </p:nvSpPr>
            <p:spPr>
              <a:xfrm>
                <a:off x="2006615" y="2857988"/>
                <a:ext cx="8110329" cy="850248"/>
              </a:xfrm>
              <a:prstGeom prst="rect">
                <a:avLst/>
              </a:prstGeom>
              <a:blipFill>
                <a:blip r:embed="rId2"/>
                <a:stretch>
                  <a:fillRect l="-977" t="-5036" r="-676" b="-4317"/>
                </a:stretch>
              </a:blipFill>
              <a:ln>
                <a:noFill/>
              </a:ln>
            </p:spPr>
            <p:txBody>
              <a:bodyPr/>
              <a:lstStyle/>
              <a:p>
                <a:r>
                  <a:rPr 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2">
            <a:extLst>
              <a:ext uri="{FF2B5EF4-FFF2-40B4-BE49-F238E27FC236}">
                <a16:creationId xmlns:a16="http://schemas.microsoft.com/office/drawing/2014/main" id="{5CEBD698-7E61-6186-46C2-92DF305307CA}"/>
              </a:ext>
            </a:extLst>
          </p:cNvPr>
          <p:cNvSpPr txBox="1">
            <a:spLocks/>
          </p:cNvSpPr>
          <p:nvPr/>
        </p:nvSpPr>
        <p:spPr>
          <a:xfrm>
            <a:off x="484969" y="69597"/>
            <a:ext cx="11153622" cy="565671"/>
          </a:xfrm>
          <a:prstGeom prst="rect">
            <a:avLst/>
          </a:prstGeom>
          <a:ln>
            <a:noFill/>
          </a:ln>
        </p:spPr>
        <p:txBody>
          <a:bodyPr vert="horz" lIns="91440" tIns="45720" rIns="91440" bIns="45720" rtlCol="0" anchor="ctr">
            <a:noAutofit/>
          </a:bodyPr>
          <a:lst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a:lstStyle>
          <a:p>
            <a:pPr algn="ctr"/>
            <a:r>
              <a:rPr lang="en-US" sz="3600" dirty="0"/>
              <a:t>Q-Learning</a:t>
            </a:r>
          </a:p>
        </p:txBody>
      </p:sp>
      <p:sp>
        <p:nvSpPr>
          <p:cNvPr id="9" name="TextBox 8">
            <a:extLst>
              <a:ext uri="{FF2B5EF4-FFF2-40B4-BE49-F238E27FC236}">
                <a16:creationId xmlns:a16="http://schemas.microsoft.com/office/drawing/2014/main" id="{033C14AB-F19E-AEA7-0148-921573A937FA}"/>
              </a:ext>
            </a:extLst>
          </p:cNvPr>
          <p:cNvSpPr txBox="1"/>
          <p:nvPr/>
        </p:nvSpPr>
        <p:spPr>
          <a:xfrm>
            <a:off x="805070" y="1749581"/>
            <a:ext cx="8474101" cy="430887"/>
          </a:xfrm>
          <a:prstGeom prst="rect">
            <a:avLst/>
          </a:prstGeom>
          <a:noFill/>
          <a:ln>
            <a:noFill/>
          </a:ln>
        </p:spPr>
        <p:txBody>
          <a:bodyPr wrap="square">
            <a:spAutoFit/>
          </a:bodyPr>
          <a:lstStyle/>
          <a:p>
            <a:r>
              <a:rPr lang="en-US" sz="2200" dirty="0"/>
              <a:t>What if we could perform value iteration without knowing the model?"</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62417D8-4150-173D-D955-E3CCA75CEC39}"/>
                  </a:ext>
                </a:extLst>
              </p:cNvPr>
              <p:cNvSpPr txBox="1"/>
              <p:nvPr/>
            </p:nvSpPr>
            <p:spPr>
              <a:xfrm>
                <a:off x="805071" y="2510684"/>
                <a:ext cx="10366512" cy="769441"/>
              </a:xfrm>
              <a:prstGeom prst="rect">
                <a:avLst/>
              </a:prstGeom>
              <a:noFill/>
              <a:ln>
                <a:noFill/>
              </a:ln>
            </p:spPr>
            <p:txBody>
              <a:bodyPr wrap="square">
                <a:spAutoFit/>
              </a:bodyPr>
              <a:lstStyle/>
              <a:p>
                <a:r>
                  <a:rPr lang="en-US" sz="2200" dirty="0"/>
                  <a:t>Recall that value iteration systematically considers all state/action pairs in each iteration—it sweeps through every </a:t>
                </a:r>
                <a14:m>
                  <m:oMath xmlns:m="http://schemas.openxmlformats.org/officeDocument/2006/math">
                    <m:d>
                      <m:dPr>
                        <m:ctrlPr>
                          <a:rPr lang="en-US" sz="2200" i="1" dirty="0">
                            <a:latin typeface="Cambria Math" panose="02040503050406030204" pitchFamily="18" charset="0"/>
                          </a:rPr>
                        </m:ctrlPr>
                      </m:dPr>
                      <m:e>
                        <m:r>
                          <a:rPr lang="en-US" sz="2200" i="1" dirty="0">
                            <a:solidFill>
                              <a:srgbClr val="00B050"/>
                            </a:solidFill>
                            <a:latin typeface="Cambria Math" panose="02040503050406030204" pitchFamily="18" charset="0"/>
                          </a:rPr>
                          <m:t>𝑠</m:t>
                        </m:r>
                        <m:r>
                          <a:rPr lang="en-US" sz="2200" i="1" dirty="0">
                            <a:latin typeface="Cambria Math" panose="02040503050406030204" pitchFamily="18" charset="0"/>
                          </a:rPr>
                          <m:t>,</m:t>
                        </m:r>
                        <m:r>
                          <a:rPr lang="en-US" sz="2200" i="1" dirty="0">
                            <a:solidFill>
                              <a:srgbClr val="7030A0"/>
                            </a:solidFill>
                            <a:latin typeface="Cambria Math" panose="02040503050406030204" pitchFamily="18" charset="0"/>
                          </a:rPr>
                          <m:t>𝑎</m:t>
                        </m:r>
                      </m:e>
                    </m:d>
                  </m:oMath>
                </a14:m>
                <a:r>
                  <a:rPr lang="en-US" sz="2200" dirty="0"/>
                  <a:t> pair and updates values based on the full model.</a:t>
                </a:r>
              </a:p>
            </p:txBody>
          </p:sp>
        </mc:Choice>
        <mc:Fallback xmlns="">
          <p:sp>
            <p:nvSpPr>
              <p:cNvPr id="11" name="TextBox 10">
                <a:extLst>
                  <a:ext uri="{FF2B5EF4-FFF2-40B4-BE49-F238E27FC236}">
                    <a16:creationId xmlns:a16="http://schemas.microsoft.com/office/drawing/2014/main" id="{D62417D8-4150-173D-D955-E3CCA75CEC39}"/>
                  </a:ext>
                </a:extLst>
              </p:cNvPr>
              <p:cNvSpPr txBox="1">
                <a:spLocks noRot="1" noChangeAspect="1" noMove="1" noResize="1" noEditPoints="1" noAdjustHandles="1" noChangeArrowheads="1" noChangeShapeType="1" noTextEdit="1"/>
              </p:cNvSpPr>
              <p:nvPr/>
            </p:nvSpPr>
            <p:spPr>
              <a:xfrm>
                <a:off x="805071" y="2510684"/>
                <a:ext cx="10366512" cy="769441"/>
              </a:xfrm>
              <a:prstGeom prst="rect">
                <a:avLst/>
              </a:prstGeom>
              <a:blipFill>
                <a:blip r:embed="rId2"/>
                <a:stretch>
                  <a:fillRect l="-764" t="-5556" r="-705" b="-15079"/>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194DAD8-7D28-B796-CFA9-B76B6071D6EF}"/>
                  </a:ext>
                </a:extLst>
              </p:cNvPr>
              <p:cNvSpPr txBox="1"/>
              <p:nvPr/>
            </p:nvSpPr>
            <p:spPr>
              <a:xfrm>
                <a:off x="805071" y="4393695"/>
                <a:ext cx="10636856" cy="1846659"/>
              </a:xfrm>
              <a:prstGeom prst="rect">
                <a:avLst/>
              </a:prstGeom>
              <a:noFill/>
              <a:ln>
                <a:noFill/>
              </a:ln>
            </p:spPr>
            <p:txBody>
              <a:bodyPr wrap="square">
                <a:spAutoFit/>
              </a:bodyPr>
              <a:lstStyle/>
              <a:p>
                <a:r>
                  <a:rPr lang="en-US" sz="2200" dirty="0"/>
                  <a:t>Enter </a:t>
                </a:r>
                <a:r>
                  <a:rPr lang="en-US" sz="2400" dirty="0">
                    <a:solidFill>
                      <a:srgbClr val="FF00FF"/>
                    </a:solidFill>
                    <a:latin typeface="Consolas" panose="020B0609020204030204" pitchFamily="49" charset="0"/>
                  </a:rPr>
                  <a:t>Q</a:t>
                </a:r>
                <a:r>
                  <a:rPr lang="en-US" sz="2200" dirty="0"/>
                  <a:t>-learning: </a:t>
                </a:r>
                <a:r>
                  <a:rPr lang="en-US" sz="2400" dirty="0"/>
                  <a:t>instead of learning state values </a:t>
                </a:r>
                <a14:m>
                  <m:oMath xmlns:m="http://schemas.openxmlformats.org/officeDocument/2006/math">
                    <m:r>
                      <a:rPr lang="en-US" sz="2400" i="1" dirty="0" smtClean="0">
                        <a:latin typeface="Cambria Math" panose="02040503050406030204" pitchFamily="18" charset="0"/>
                      </a:rPr>
                      <m:t>𝑉</m:t>
                    </m:r>
                    <m:d>
                      <m:dPr>
                        <m:ctrlPr>
                          <a:rPr lang="en-US" sz="2400" i="1" dirty="0" smtClean="0">
                            <a:latin typeface="Cambria Math" panose="02040503050406030204" pitchFamily="18" charset="0"/>
                          </a:rPr>
                        </m:ctrlPr>
                      </m:dPr>
                      <m:e>
                        <m:r>
                          <a:rPr lang="en-US" sz="2400" b="0" i="1" dirty="0" smtClean="0">
                            <a:solidFill>
                              <a:srgbClr val="00B050"/>
                            </a:solidFill>
                            <a:latin typeface="Cambria Math" panose="02040503050406030204" pitchFamily="18" charset="0"/>
                          </a:rPr>
                          <m:t>𝑠</m:t>
                        </m:r>
                      </m:e>
                    </m:d>
                  </m:oMath>
                </a14:m>
                <a:r>
                  <a:rPr lang="en-US" sz="2400" dirty="0"/>
                  <a:t>, we learn state-action values </a:t>
                </a:r>
                <a:r>
                  <a:rPr lang="en-US" sz="2400" dirty="0">
                    <a:solidFill>
                      <a:srgbClr val="FF00FF"/>
                    </a:solidFill>
                    <a:latin typeface="Consolas" panose="020B0609020204030204" pitchFamily="49" charset="0"/>
                  </a:rPr>
                  <a:t>Q</a:t>
                </a:r>
                <a14:m>
                  <m:oMath xmlns:m="http://schemas.openxmlformats.org/officeDocument/2006/math">
                    <m:d>
                      <m:dPr>
                        <m:ctrlPr>
                          <a:rPr lang="en-US" sz="2400" i="1" dirty="0">
                            <a:latin typeface="Cambria Math" panose="02040503050406030204" pitchFamily="18" charset="0"/>
                          </a:rPr>
                        </m:ctrlPr>
                      </m:dPr>
                      <m:e>
                        <m:r>
                          <a:rPr lang="en-US" sz="2400" i="1" dirty="0">
                            <a:solidFill>
                              <a:srgbClr val="00B050"/>
                            </a:solidFill>
                            <a:latin typeface="Cambria Math" panose="02040503050406030204" pitchFamily="18" charset="0"/>
                          </a:rPr>
                          <m:t>𝑠</m:t>
                        </m:r>
                        <m:r>
                          <a:rPr lang="en-US" sz="2400" i="1" dirty="0">
                            <a:latin typeface="Cambria Math" panose="02040503050406030204" pitchFamily="18" charset="0"/>
                          </a:rPr>
                          <m:t>,</m:t>
                        </m:r>
                        <m:r>
                          <a:rPr lang="en-US" sz="2400" i="1" dirty="0">
                            <a:solidFill>
                              <a:srgbClr val="7030A0"/>
                            </a:solidFill>
                            <a:latin typeface="Cambria Math" panose="02040503050406030204" pitchFamily="18" charset="0"/>
                          </a:rPr>
                          <m:t>𝑎</m:t>
                        </m:r>
                      </m:e>
                    </m:d>
                  </m:oMath>
                </a14:m>
                <a:endParaRPr lang="en-US" sz="2400" dirty="0">
                  <a:solidFill>
                    <a:srgbClr val="7030A0"/>
                  </a:solidFill>
                  <a:latin typeface="Consolas" panose="020B0609020204030204" pitchFamily="49" charset="0"/>
                </a:endParaRPr>
              </a:p>
              <a:p>
                <a:pPr algn="ctr"/>
                <a:r>
                  <a:rPr lang="en-US" sz="2200"/>
                  <a:t>and </a:t>
                </a:r>
                <a:endParaRPr lang="en-US" sz="2200" dirty="0"/>
              </a:p>
              <a:p>
                <a:r>
                  <a:rPr lang="en-US" sz="2200" dirty="0"/>
                  <a:t>it updates only the </a:t>
                </a:r>
                <a14:m>
                  <m:oMath xmlns:m="http://schemas.openxmlformats.org/officeDocument/2006/math">
                    <m:d>
                      <m:dPr>
                        <m:ctrlPr>
                          <a:rPr lang="en-US" sz="2200" i="1" dirty="0">
                            <a:latin typeface="Cambria Math" panose="02040503050406030204" pitchFamily="18" charset="0"/>
                          </a:rPr>
                        </m:ctrlPr>
                      </m:dPr>
                      <m:e>
                        <m:r>
                          <a:rPr lang="en-US" sz="2200" i="1" dirty="0">
                            <a:solidFill>
                              <a:srgbClr val="00B050"/>
                            </a:solidFill>
                            <a:latin typeface="Cambria Math" panose="02040503050406030204" pitchFamily="18" charset="0"/>
                          </a:rPr>
                          <m:t>𝑠</m:t>
                        </m:r>
                        <m:r>
                          <a:rPr lang="en-US" sz="2200" i="1" dirty="0">
                            <a:latin typeface="Cambria Math" panose="02040503050406030204" pitchFamily="18" charset="0"/>
                          </a:rPr>
                          <m:t>,</m:t>
                        </m:r>
                        <m:r>
                          <a:rPr lang="en-US" sz="2200" i="1" dirty="0">
                            <a:solidFill>
                              <a:srgbClr val="7030A0"/>
                            </a:solidFill>
                            <a:latin typeface="Cambria Math" panose="02040503050406030204" pitchFamily="18" charset="0"/>
                          </a:rPr>
                          <m:t>𝑎</m:t>
                        </m:r>
                      </m:e>
                    </m:d>
                  </m:oMath>
                </a14:m>
                <a:r>
                  <a:rPr lang="en-US" sz="2200" dirty="0"/>
                  <a:t> pairs you actually experience through interaction with the environment.</a:t>
                </a:r>
              </a:p>
            </p:txBody>
          </p:sp>
        </mc:Choice>
        <mc:Fallback xmlns="">
          <p:sp>
            <p:nvSpPr>
              <p:cNvPr id="12" name="TextBox 11">
                <a:extLst>
                  <a:ext uri="{FF2B5EF4-FFF2-40B4-BE49-F238E27FC236}">
                    <a16:creationId xmlns:a16="http://schemas.microsoft.com/office/drawing/2014/main" id="{D194DAD8-7D28-B796-CFA9-B76B6071D6EF}"/>
                  </a:ext>
                </a:extLst>
              </p:cNvPr>
              <p:cNvSpPr txBox="1">
                <a:spLocks noRot="1" noChangeAspect="1" noMove="1" noResize="1" noEditPoints="1" noAdjustHandles="1" noChangeArrowheads="1" noChangeShapeType="1" noTextEdit="1"/>
              </p:cNvSpPr>
              <p:nvPr/>
            </p:nvSpPr>
            <p:spPr>
              <a:xfrm>
                <a:off x="805071" y="4393695"/>
                <a:ext cx="10636856" cy="1846659"/>
              </a:xfrm>
              <a:prstGeom prst="rect">
                <a:avLst/>
              </a:prstGeom>
              <a:blipFill>
                <a:blip r:embed="rId3"/>
                <a:stretch>
                  <a:fillRect l="-860" t="-2640" b="-5611"/>
                </a:stretch>
              </a:blipFill>
              <a:ln>
                <a:noFill/>
              </a:ln>
            </p:spPr>
            <p:txBody>
              <a:bodyPr/>
              <a:lstStyle/>
              <a:p>
                <a:r>
                  <a:rPr lang="en-US">
                    <a:noFill/>
                  </a:rPr>
                  <a:t> </a:t>
                </a:r>
              </a:p>
            </p:txBody>
          </p:sp>
        </mc:Fallback>
      </mc:AlternateContent>
      <p:sp>
        <p:nvSpPr>
          <p:cNvPr id="13" name="TextBox 12">
            <a:extLst>
              <a:ext uri="{FF2B5EF4-FFF2-40B4-BE49-F238E27FC236}">
                <a16:creationId xmlns:a16="http://schemas.microsoft.com/office/drawing/2014/main" id="{3D219A88-7A65-84E4-A6C6-7B9DB6065840}"/>
              </a:ext>
            </a:extLst>
          </p:cNvPr>
          <p:cNvSpPr txBox="1"/>
          <p:nvPr/>
        </p:nvSpPr>
        <p:spPr>
          <a:xfrm>
            <a:off x="805071" y="3632592"/>
            <a:ext cx="10096167" cy="430887"/>
          </a:xfrm>
          <a:prstGeom prst="rect">
            <a:avLst/>
          </a:prstGeom>
          <a:noFill/>
          <a:ln>
            <a:noFill/>
          </a:ln>
        </p:spPr>
        <p:txBody>
          <a:bodyPr wrap="square">
            <a:spAutoFit/>
          </a:bodyPr>
          <a:lstStyle/>
          <a:p>
            <a:r>
              <a:rPr lang="en-US" sz="2200" dirty="0"/>
              <a:t>What if we selected which pairs of interest?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AE579-9DC8-41D4-64EA-6CC877B3223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itle 12">
                <a:extLst>
                  <a:ext uri="{FF2B5EF4-FFF2-40B4-BE49-F238E27FC236}">
                    <a16:creationId xmlns:a16="http://schemas.microsoft.com/office/drawing/2014/main" id="{C1F2665B-FEE8-3A30-7DB3-4A1F4F879679}"/>
                  </a:ext>
                </a:extLst>
              </p:cNvPr>
              <p:cNvSpPr txBox="1">
                <a:spLocks/>
              </p:cNvSpPr>
              <p:nvPr/>
            </p:nvSpPr>
            <p:spPr>
              <a:xfrm>
                <a:off x="484969" y="69597"/>
                <a:ext cx="11153622" cy="565671"/>
              </a:xfrm>
              <a:prstGeom prst="rect">
                <a:avLst/>
              </a:prstGeom>
              <a:ln>
                <a:noFill/>
              </a:ln>
            </p:spPr>
            <p:txBody>
              <a:bodyPr vert="horz" lIns="91440" tIns="45720" rIns="91440" bIns="45720" rtlCol="0" anchor="ctr">
                <a:noAutofit/>
              </a:bodyPr>
              <a:lst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a:lstStyle>
              <a:p>
                <a:pPr algn="ctr"/>
                <a:r>
                  <a:rPr lang="en-US" sz="3600" dirty="0"/>
                  <a:t>Q-Learning Algorithm (</a:t>
                </a:r>
                <a14:m>
                  <m:oMath xmlns:m="http://schemas.openxmlformats.org/officeDocument/2006/math">
                    <m:r>
                      <a:rPr lang="en-US" sz="3600" b="0" i="1" smtClean="0">
                        <a:latin typeface="Cambria Math" panose="02040503050406030204" pitchFamily="18" charset="0"/>
                      </a:rPr>
                      <m:t>𝜖</m:t>
                    </m:r>
                  </m:oMath>
                </a14:m>
                <a:r>
                  <a:rPr lang="en-US" sz="3600" dirty="0"/>
                  <a:t>-Greedy)</a:t>
                </a:r>
              </a:p>
            </p:txBody>
          </p:sp>
        </mc:Choice>
        <mc:Fallback xmlns="">
          <p:sp>
            <p:nvSpPr>
              <p:cNvPr id="4" name="Title 12">
                <a:extLst>
                  <a:ext uri="{FF2B5EF4-FFF2-40B4-BE49-F238E27FC236}">
                    <a16:creationId xmlns:a16="http://schemas.microsoft.com/office/drawing/2014/main" id="{C1F2665B-FEE8-3A30-7DB3-4A1F4F879679}"/>
                  </a:ext>
                </a:extLst>
              </p:cNvPr>
              <p:cNvSpPr txBox="1">
                <a:spLocks noRot="1" noChangeAspect="1" noMove="1" noResize="1" noEditPoints="1" noAdjustHandles="1" noChangeArrowheads="1" noChangeShapeType="1" noTextEdit="1"/>
              </p:cNvSpPr>
              <p:nvPr/>
            </p:nvSpPr>
            <p:spPr>
              <a:xfrm>
                <a:off x="484969" y="69597"/>
                <a:ext cx="11153622" cy="565671"/>
              </a:xfrm>
              <a:prstGeom prst="rect">
                <a:avLst/>
              </a:prstGeom>
              <a:blipFill>
                <a:blip r:embed="rId2"/>
                <a:stretch>
                  <a:fillRect t="-22581" b="-47312"/>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42D7EBB-36BD-7DBA-58E2-136F00A153A6}"/>
                  </a:ext>
                </a:extLst>
              </p:cNvPr>
              <p:cNvSpPr txBox="1"/>
              <p:nvPr/>
            </p:nvSpPr>
            <p:spPr>
              <a:xfrm>
                <a:off x="773265" y="784350"/>
                <a:ext cx="8243514" cy="6073650"/>
              </a:xfrm>
              <a:prstGeom prst="rect">
                <a:avLst/>
              </a:prstGeom>
              <a:noFill/>
              <a:ln>
                <a:noFill/>
              </a:ln>
            </p:spPr>
            <p:txBody>
              <a:bodyPr wrap="square">
                <a:spAutoFit/>
              </a:bodyPr>
              <a:lstStyle/>
              <a:p>
                <a:r>
                  <a:rPr lang="en-US" b="1" dirty="0">
                    <a:solidFill>
                      <a:srgbClr val="0000FF"/>
                    </a:solidFill>
                    <a:effectLst/>
                    <a:latin typeface="Consolas" panose="020B0609020204030204" pitchFamily="49" charset="0"/>
                  </a:rPr>
                  <a:t>def</a:t>
                </a:r>
                <a:r>
                  <a:rPr lang="en-US" dirty="0">
                    <a:solidFill>
                      <a:srgbClr val="000000"/>
                    </a:solidFill>
                    <a:effectLst/>
                    <a:latin typeface="Consolas" panose="020B0609020204030204" pitchFamily="49" charset="0"/>
                  </a:rPr>
                  <a:t> </a:t>
                </a:r>
                <a:r>
                  <a:rPr lang="en-US" dirty="0" err="1">
                    <a:solidFill>
                      <a:srgbClr val="FF00FF"/>
                    </a:solidFill>
                    <a:effectLst/>
                    <a:latin typeface="Consolas" panose="020B0609020204030204" pitchFamily="49" charset="0"/>
                  </a:rPr>
                  <a:t>Q_Learning</a:t>
                </a:r>
                <a:r>
                  <a:rPr lang="en-US" b="1" dirty="0">
                    <a:solidFill>
                      <a:srgbClr val="000080"/>
                    </a:solidFill>
                    <a:effectLst/>
                    <a:latin typeface="Consolas" panose="020B0609020204030204" pitchFamily="49" charset="0"/>
                  </a:rPr>
                  <a:t>(</a:t>
                </a:r>
                <a14:m>
                  <m:oMath xmlns:m="http://schemas.openxmlformats.org/officeDocument/2006/math">
                    <m:r>
                      <a:rPr lang="en-US" i="1" dirty="0">
                        <a:solidFill>
                          <a:srgbClr val="FF0000"/>
                        </a:solidFill>
                        <a:latin typeface="Cambria Math" panose="02040503050406030204" pitchFamily="18" charset="0"/>
                      </a:rPr>
                      <m:t>𝛼</m:t>
                    </m:r>
                  </m:oMath>
                </a14:m>
                <a:r>
                  <a:rPr lang="en-US" b="1" dirty="0">
                    <a:solidFill>
                      <a:srgbClr val="000080"/>
                    </a:solidFill>
                    <a:effectLst/>
                    <a:latin typeface="Consolas" panose="020B0609020204030204" pitchFamily="49" charset="0"/>
                  </a:rPr>
                  <a:t>,</a:t>
                </a:r>
                <a:r>
                  <a:rPr lang="en-US" dirty="0">
                    <a:solidFill>
                      <a:srgbClr val="000000"/>
                    </a:solidFill>
                    <a:effectLst/>
                    <a:latin typeface="Consolas" panose="020B0609020204030204" pitchFamily="49" charset="0"/>
                  </a:rPr>
                  <a:t> </a:t>
                </a:r>
                <a14:m>
                  <m:oMath xmlns:m="http://schemas.openxmlformats.org/officeDocument/2006/math">
                    <m:r>
                      <a:rPr lang="en-US" i="1" dirty="0" smtClean="0">
                        <a:solidFill>
                          <a:srgbClr val="00B0F0"/>
                        </a:solidFill>
                        <a:effectLst/>
                        <a:latin typeface="Cambria Math" panose="02040503050406030204" pitchFamily="18" charset="0"/>
                      </a:rPr>
                      <m:t>𝛾</m:t>
                    </m:r>
                  </m:oMath>
                </a14:m>
                <a:r>
                  <a:rPr lang="en-US" b="1" dirty="0">
                    <a:solidFill>
                      <a:srgbClr val="000080"/>
                    </a:solidFill>
                    <a:effectLst/>
                    <a:latin typeface="Consolas" panose="020B0609020204030204" pitchFamily="49" charset="0"/>
                  </a:rPr>
                  <a:t>,</a:t>
                </a:r>
                <a:r>
                  <a:rPr lang="en-US" dirty="0">
                    <a:solidFill>
                      <a:srgbClr val="000000"/>
                    </a:solidFill>
                    <a:effectLst/>
                    <a:latin typeface="Consolas" panose="020B0609020204030204" pitchFamily="49" charset="0"/>
                  </a:rPr>
                  <a:t> </a:t>
                </a:r>
                <a14:m>
                  <m:oMath xmlns:m="http://schemas.openxmlformats.org/officeDocument/2006/math">
                    <m:r>
                      <a:rPr lang="en-US" i="1" dirty="0">
                        <a:solidFill>
                          <a:srgbClr val="000000"/>
                        </a:solidFill>
                        <a:latin typeface="Cambria Math" panose="02040503050406030204" pitchFamily="18" charset="0"/>
                      </a:rPr>
                      <m:t>𝜖</m:t>
                    </m:r>
                  </m:oMath>
                </a14:m>
                <a:r>
                  <a:rPr lang="en-US" b="1" dirty="0">
                    <a:solidFill>
                      <a:srgbClr val="000080"/>
                    </a:solidFill>
                    <a:effectLst/>
                    <a:latin typeface="Consolas" panose="020B0609020204030204" pitchFamily="49" charset="0"/>
                  </a:rPr>
                  <a:t>,</a:t>
                </a:r>
                <a:r>
                  <a:rPr lang="en-US" dirty="0">
                    <a:solidFill>
                      <a:srgbClr val="000000"/>
                    </a:solidFill>
                    <a:effectLst/>
                    <a:latin typeface="Consolas" panose="020B0609020204030204" pitchFamily="49" charset="0"/>
                  </a:rPr>
                  <a:t> </a:t>
                </a:r>
                <a:r>
                  <a:rPr lang="en-US" dirty="0" err="1">
                    <a:solidFill>
                      <a:srgbClr val="000000"/>
                    </a:solidFill>
                    <a:effectLst/>
                    <a:latin typeface="Consolas" panose="020B0609020204030204" pitchFamily="49" charset="0"/>
                  </a:rPr>
                  <a:t>num_episodes</a:t>
                </a:r>
                <a:r>
                  <a:rPr lang="en-US" b="1" dirty="0">
                    <a:solidFill>
                      <a:srgbClr val="000080"/>
                    </a:solidFill>
                    <a:effectLst/>
                    <a:latin typeface="Consolas" panose="020B0609020204030204" pitchFamily="49" charset="0"/>
                  </a:rPr>
                  <a:t>):</a:t>
                </a:r>
                <a:endParaRPr lang="en-US" b="1" dirty="0">
                  <a:solidFill>
                    <a:srgbClr val="000000"/>
                  </a:solidFill>
                  <a:latin typeface="Consolas" panose="020B0609020204030204" pitchFamily="49" charset="0"/>
                </a:endParaRPr>
              </a:p>
              <a:p>
                <a:endParaRPr lang="en-US" sz="600" b="1" dirty="0">
                  <a:solidFill>
                    <a:srgbClr val="000000"/>
                  </a:solidFill>
                  <a:effectLst/>
                  <a:latin typeface="Consolas" panose="020B0609020204030204" pitchFamily="49" charset="0"/>
                </a:endParaRPr>
              </a:p>
              <a:p>
                <a:r>
                  <a:rPr lang="en-US" dirty="0">
                    <a:solidFill>
                      <a:srgbClr val="000000"/>
                    </a:solidFill>
                    <a:effectLst/>
                    <a:latin typeface="Consolas" panose="020B0609020204030204" pitchFamily="49" charset="0"/>
                  </a:rPr>
                  <a:t>    Initialize </a:t>
                </a:r>
                <a:r>
                  <a:rPr lang="en-US" dirty="0">
                    <a:solidFill>
                      <a:srgbClr val="FF00FF"/>
                    </a:solidFill>
                    <a:latin typeface="Consolas" panose="020B0609020204030204" pitchFamily="49" charset="0"/>
                  </a:rPr>
                  <a:t>Q</a:t>
                </a:r>
                <a:r>
                  <a:rPr lang="en-US" dirty="0">
                    <a:solidFill>
                      <a:srgbClr val="000000"/>
                    </a:solidFill>
                    <a:latin typeface="Consolas" panose="020B0609020204030204" pitchFamily="49" charset="0"/>
                  </a:rPr>
                  <a:t>(</a:t>
                </a:r>
                <a14:m>
                  <m:oMath xmlns:m="http://schemas.openxmlformats.org/officeDocument/2006/math">
                    <m:r>
                      <a:rPr lang="en-US" i="1" dirty="0">
                        <a:solidFill>
                          <a:srgbClr val="00B050"/>
                        </a:solidFill>
                        <a:latin typeface="Cambria Math" panose="02040503050406030204" pitchFamily="18" charset="0"/>
                      </a:rPr>
                      <m:t>𝑠</m:t>
                    </m:r>
                  </m:oMath>
                </a14:m>
                <a:r>
                  <a:rPr lang="en-US" dirty="0">
                    <a:solidFill>
                      <a:srgbClr val="000000"/>
                    </a:solidFill>
                    <a:latin typeface="Consolas" panose="020B0609020204030204" pitchFamily="49" charset="0"/>
                  </a:rPr>
                  <a:t>,</a:t>
                </a:r>
                <a14:m>
                  <m:oMath xmlns:m="http://schemas.openxmlformats.org/officeDocument/2006/math">
                    <m:r>
                      <a:rPr lang="en-US" i="1" dirty="0">
                        <a:solidFill>
                          <a:srgbClr val="7030A0"/>
                        </a:solidFill>
                        <a:latin typeface="Cambria Math" panose="02040503050406030204" pitchFamily="18" charset="0"/>
                      </a:rPr>
                      <m:t>𝑎</m:t>
                    </m:r>
                  </m:oMath>
                </a14:m>
                <a:r>
                  <a:rPr lang="en-US" dirty="0">
                    <a:solidFill>
                      <a:srgbClr val="000000"/>
                    </a:solidFill>
                    <a:latin typeface="Consolas" panose="020B0609020204030204" pitchFamily="49" charset="0"/>
                  </a:rPr>
                  <a:t>) </a:t>
                </a:r>
                <a:r>
                  <a:rPr lang="en-US" b="1" dirty="0">
                    <a:solidFill>
                      <a:srgbClr val="000080"/>
                    </a:solidFill>
                    <a:effectLst/>
                    <a:latin typeface="Consolas" panose="020B0609020204030204" pitchFamily="49" charset="0"/>
                  </a:rPr>
                  <a:t>=</a:t>
                </a:r>
                <a:r>
                  <a:rPr lang="en-US" dirty="0">
                    <a:solidFill>
                      <a:srgbClr val="000000"/>
                    </a:solidFill>
                    <a:effectLst/>
                    <a:latin typeface="Consolas" panose="020B0609020204030204" pitchFamily="49" charset="0"/>
                  </a:rPr>
                  <a:t> </a:t>
                </a:r>
                <a:r>
                  <a:rPr lang="en-US" dirty="0">
                    <a:solidFill>
                      <a:srgbClr val="FF0000"/>
                    </a:solidFill>
                    <a:effectLst/>
                    <a:latin typeface="Consolas" panose="020B0609020204030204" pitchFamily="49" charset="0"/>
                  </a:rPr>
                  <a:t>0</a:t>
                </a:r>
                <a:r>
                  <a:rPr lang="en-US" dirty="0">
                    <a:solidFill>
                      <a:srgbClr val="000000"/>
                    </a:solidFill>
                    <a:effectLst/>
                    <a:latin typeface="Consolas" panose="020B0609020204030204" pitchFamily="49" charset="0"/>
                  </a:rPr>
                  <a:t> </a:t>
                </a:r>
                <a:r>
                  <a:rPr lang="en-US" b="1" dirty="0">
                    <a:solidFill>
                      <a:srgbClr val="0000FF"/>
                    </a:solidFill>
                    <a:effectLst/>
                    <a:latin typeface="Consolas" panose="020B0609020204030204" pitchFamily="49" charset="0"/>
                  </a:rPr>
                  <a:t>for all </a:t>
                </a:r>
                <a14:m>
                  <m:oMath xmlns:m="http://schemas.openxmlformats.org/officeDocument/2006/math">
                    <m:r>
                      <a:rPr lang="en-US" i="1" dirty="0" smtClean="0">
                        <a:solidFill>
                          <a:srgbClr val="00B050"/>
                        </a:solidFill>
                        <a:effectLst/>
                        <a:latin typeface="Cambria Math" panose="02040503050406030204" pitchFamily="18" charset="0"/>
                      </a:rPr>
                      <m:t>𝑠</m:t>
                    </m:r>
                  </m:oMath>
                </a14:m>
                <a:r>
                  <a:rPr lang="en-US" dirty="0">
                    <a:solidFill>
                      <a:srgbClr val="000000"/>
                    </a:solidFill>
                    <a:latin typeface="Consolas" panose="020B0609020204030204" pitchFamily="49" charset="0"/>
                  </a:rPr>
                  <a:t>,</a:t>
                </a:r>
                <a14:m>
                  <m:oMath xmlns:m="http://schemas.openxmlformats.org/officeDocument/2006/math">
                    <m:r>
                      <a:rPr lang="en-US" i="1" dirty="0">
                        <a:solidFill>
                          <a:srgbClr val="7030A0"/>
                        </a:solidFill>
                        <a:latin typeface="Cambria Math" panose="02040503050406030204" pitchFamily="18" charset="0"/>
                      </a:rPr>
                      <m:t>𝑎</m:t>
                    </m:r>
                  </m:oMath>
                </a14:m>
                <a:endParaRPr lang="en-US" dirty="0">
                  <a:solidFill>
                    <a:srgbClr val="000000"/>
                  </a:solidFill>
                  <a:effectLst/>
                  <a:latin typeface="Consolas" panose="020B0609020204030204" pitchFamily="49" charset="0"/>
                </a:endParaRPr>
              </a:p>
              <a:p>
                <a:endParaRPr lang="en-US" sz="600" dirty="0">
                  <a:solidFill>
                    <a:srgbClr val="000000"/>
                  </a:solidFill>
                  <a:latin typeface="Consolas" panose="020B0609020204030204" pitchFamily="49" charset="0"/>
                </a:endParaRPr>
              </a:p>
              <a:p>
                <a:r>
                  <a:rPr lang="en-US" b="1" dirty="0">
                    <a:solidFill>
                      <a:srgbClr val="0000FF"/>
                    </a:solidFill>
                    <a:effectLst/>
                    <a:latin typeface="Consolas" panose="020B0609020204030204" pitchFamily="49" charset="0"/>
                  </a:rPr>
                  <a:t>    for</a:t>
                </a:r>
                <a:r>
                  <a:rPr lang="en-US" dirty="0">
                    <a:solidFill>
                      <a:srgbClr val="000000"/>
                    </a:solidFill>
                    <a:effectLst/>
                    <a:latin typeface="Consolas" panose="020B0609020204030204" pitchFamily="49" charset="0"/>
                  </a:rPr>
                  <a:t> episode </a:t>
                </a:r>
                <a:r>
                  <a:rPr lang="en-US" b="1" dirty="0">
                    <a:solidFill>
                      <a:srgbClr val="000080"/>
                    </a:solidFill>
                    <a:effectLst/>
                    <a:latin typeface="Consolas" panose="020B0609020204030204" pitchFamily="49" charset="0"/>
                  </a:rPr>
                  <a:t>=</a:t>
                </a:r>
                <a:r>
                  <a:rPr lang="en-US" dirty="0">
                    <a:solidFill>
                      <a:srgbClr val="000000"/>
                    </a:solidFill>
                    <a:effectLst/>
                    <a:latin typeface="Consolas" panose="020B0609020204030204" pitchFamily="49" charset="0"/>
                  </a:rPr>
                  <a:t> </a:t>
                </a:r>
                <a:r>
                  <a:rPr lang="en-US" dirty="0">
                    <a:solidFill>
                      <a:srgbClr val="FF0000"/>
                    </a:solidFill>
                    <a:effectLst/>
                    <a:latin typeface="Consolas" panose="020B0609020204030204" pitchFamily="49" charset="0"/>
                  </a:rPr>
                  <a:t>1</a:t>
                </a:r>
                <a:r>
                  <a:rPr lang="en-US" dirty="0">
                    <a:solidFill>
                      <a:srgbClr val="000000"/>
                    </a:solidFill>
                    <a:effectLst/>
                    <a:latin typeface="Consolas" panose="020B0609020204030204" pitchFamily="49" charset="0"/>
                  </a:rPr>
                  <a:t> to </a:t>
                </a:r>
                <a:r>
                  <a:rPr lang="en-US" dirty="0" err="1">
                    <a:solidFill>
                      <a:srgbClr val="000000"/>
                    </a:solidFill>
                    <a:effectLst/>
                    <a:latin typeface="Consolas" panose="020B0609020204030204" pitchFamily="49" charset="0"/>
                  </a:rPr>
                  <a:t>num_episodes</a:t>
                </a:r>
                <a:r>
                  <a:rPr lang="en-US" b="1" dirty="0">
                    <a:solidFill>
                      <a:srgbClr val="000080"/>
                    </a:solidFill>
                    <a:effectLst/>
                    <a:latin typeface="Consolas" panose="020B0609020204030204" pitchFamily="49" charset="0"/>
                  </a:rPr>
                  <a:t>:</a:t>
                </a:r>
              </a:p>
              <a:p>
                <a:r>
                  <a:rPr lang="en-US" b="1" dirty="0">
                    <a:solidFill>
                      <a:srgbClr val="000080"/>
                    </a:solidFill>
                    <a:latin typeface="Consolas" panose="020B0609020204030204" pitchFamily="49" charset="0"/>
                  </a:rPr>
                  <a:t>        </a:t>
                </a:r>
                <a14:m>
                  <m:oMath xmlns:m="http://schemas.openxmlformats.org/officeDocument/2006/math">
                    <m:r>
                      <a:rPr lang="en-US" i="1" dirty="0">
                        <a:solidFill>
                          <a:srgbClr val="00B050"/>
                        </a:solidFill>
                        <a:latin typeface="Cambria Math" panose="02040503050406030204" pitchFamily="18" charset="0"/>
                      </a:rPr>
                      <m:t>𝑠</m:t>
                    </m:r>
                  </m:oMath>
                </a14:m>
                <a:r>
                  <a:rPr lang="en-US" dirty="0">
                    <a:solidFill>
                      <a:srgbClr val="000000"/>
                    </a:solidFill>
                    <a:effectLst/>
                    <a:latin typeface="Consolas" panose="020B0609020204030204" pitchFamily="49" charset="0"/>
                  </a:rPr>
                  <a:t> </a:t>
                </a:r>
                <a:r>
                  <a:rPr lang="en-US" b="1" dirty="0">
                    <a:solidFill>
                      <a:srgbClr val="000080"/>
                    </a:solidFill>
                    <a:effectLst/>
                    <a:latin typeface="Consolas" panose="020B0609020204030204" pitchFamily="49" charset="0"/>
                  </a:rPr>
                  <a:t>=</a:t>
                </a:r>
                <a:r>
                  <a:rPr lang="en-US" dirty="0">
                    <a:solidFill>
                      <a:srgbClr val="000000"/>
                    </a:solidFill>
                    <a:effectLst/>
                    <a:latin typeface="Consolas" panose="020B0609020204030204" pitchFamily="49" charset="0"/>
                  </a:rPr>
                  <a:t> </a:t>
                </a:r>
                <a:r>
                  <a:rPr lang="en-US" dirty="0" err="1">
                    <a:solidFill>
                      <a:srgbClr val="000000"/>
                    </a:solidFill>
                    <a:effectLst/>
                    <a:latin typeface="Consolas" panose="020B0609020204030204" pitchFamily="49" charset="0"/>
                  </a:rPr>
                  <a:t>initial_state</a:t>
                </a:r>
                <a:r>
                  <a:rPr lang="en-US" b="1" dirty="0">
                    <a:solidFill>
                      <a:srgbClr val="000080"/>
                    </a:solidFill>
                    <a:effectLst/>
                    <a:latin typeface="Consolas" panose="020B0609020204030204" pitchFamily="49" charset="0"/>
                  </a:rPr>
                  <a:t>()</a:t>
                </a:r>
              </a:p>
              <a:p>
                <a:endParaRPr lang="en-US" sz="1200" b="1" dirty="0">
                  <a:solidFill>
                    <a:srgbClr val="000080"/>
                  </a:solidFill>
                  <a:latin typeface="Consolas" panose="020B0609020204030204" pitchFamily="49" charset="0"/>
                </a:endParaRPr>
              </a:p>
              <a:p>
                <a:r>
                  <a:rPr lang="en-US" b="1" dirty="0">
                    <a:solidFill>
                      <a:srgbClr val="000080"/>
                    </a:solidFill>
                    <a:effectLst/>
                    <a:latin typeface="Consolas" panose="020B0609020204030204" pitchFamily="49" charset="0"/>
                  </a:rPr>
                  <a:t>        </a:t>
                </a:r>
                <a:r>
                  <a:rPr lang="en-US" b="1" dirty="0">
                    <a:solidFill>
                      <a:srgbClr val="0000FF"/>
                    </a:solidFill>
                    <a:effectLst/>
                    <a:latin typeface="Consolas" panose="020B0609020204030204" pitchFamily="49" charset="0"/>
                  </a:rPr>
                  <a:t>while</a:t>
                </a:r>
                <a:r>
                  <a:rPr lang="en-US" dirty="0">
                    <a:solidFill>
                      <a:srgbClr val="000000"/>
                    </a:solidFill>
                    <a:effectLst/>
                    <a:latin typeface="Consolas" panose="020B0609020204030204" pitchFamily="49" charset="0"/>
                  </a:rPr>
                  <a:t> </a:t>
                </a:r>
                <a14:m>
                  <m:oMath xmlns:m="http://schemas.openxmlformats.org/officeDocument/2006/math">
                    <m:r>
                      <a:rPr lang="en-US" i="1" dirty="0">
                        <a:solidFill>
                          <a:srgbClr val="00B050"/>
                        </a:solidFill>
                        <a:latin typeface="Cambria Math" panose="02040503050406030204" pitchFamily="18" charset="0"/>
                      </a:rPr>
                      <m:t>𝑠</m:t>
                    </m:r>
                  </m:oMath>
                </a14:m>
                <a:r>
                  <a:rPr lang="en-US" dirty="0">
                    <a:solidFill>
                      <a:srgbClr val="000000"/>
                    </a:solidFill>
                    <a:effectLst/>
                    <a:latin typeface="Consolas" panose="020B0609020204030204" pitchFamily="49" charset="0"/>
                  </a:rPr>
                  <a:t> </a:t>
                </a:r>
                <a:r>
                  <a:rPr lang="en-US" b="1" dirty="0">
                    <a:solidFill>
                      <a:srgbClr val="0000FF"/>
                    </a:solidFill>
                    <a:effectLst/>
                    <a:latin typeface="Consolas" panose="020B0609020204030204" pitchFamily="49" charset="0"/>
                  </a:rPr>
                  <a:t>is</a:t>
                </a:r>
                <a:r>
                  <a:rPr lang="en-US" dirty="0">
                    <a:solidFill>
                      <a:srgbClr val="000000"/>
                    </a:solidFill>
                    <a:effectLst/>
                    <a:latin typeface="Consolas" panose="020B0609020204030204" pitchFamily="49" charset="0"/>
                  </a:rPr>
                  <a:t> </a:t>
                </a:r>
                <a:r>
                  <a:rPr lang="en-US" b="1" dirty="0">
                    <a:solidFill>
                      <a:srgbClr val="0000FF"/>
                    </a:solidFill>
                    <a:effectLst/>
                    <a:latin typeface="Consolas" panose="020B0609020204030204" pitchFamily="49" charset="0"/>
                  </a:rPr>
                  <a:t>not</a:t>
                </a:r>
                <a:r>
                  <a:rPr lang="en-US" dirty="0">
                    <a:solidFill>
                      <a:srgbClr val="000000"/>
                    </a:solidFill>
                    <a:effectLst/>
                    <a:latin typeface="Consolas" panose="020B0609020204030204" pitchFamily="49" charset="0"/>
                  </a:rPr>
                  <a:t> terminal</a:t>
                </a:r>
                <a:r>
                  <a:rPr lang="en-US" b="1" dirty="0">
                    <a:solidFill>
                      <a:srgbClr val="000080"/>
                    </a:solidFill>
                    <a:effectLst/>
                    <a:latin typeface="Consolas" panose="020B0609020204030204" pitchFamily="49" charset="0"/>
                  </a:rPr>
                  <a:t>:</a:t>
                </a:r>
              </a:p>
              <a:p>
                <a:r>
                  <a:rPr lang="en-US" b="1" dirty="0">
                    <a:solidFill>
                      <a:srgbClr val="000080"/>
                    </a:solidFill>
                    <a:latin typeface="Consolas" panose="020B0609020204030204" pitchFamily="49" charset="0"/>
                  </a:rPr>
                  <a:t>       </a:t>
                </a:r>
                <a:r>
                  <a:rPr lang="en-US" dirty="0">
                    <a:solidFill>
                      <a:srgbClr val="000000"/>
                    </a:solidFill>
                    <a:effectLst/>
                    <a:latin typeface="Consolas" panose="020B0609020204030204" pitchFamily="49" charset="0"/>
                  </a:rPr>
                  <a:t>     </a:t>
                </a:r>
                <a:r>
                  <a:rPr lang="en-US" dirty="0">
                    <a:solidFill>
                      <a:srgbClr val="008000"/>
                    </a:solidFill>
                    <a:latin typeface="Consolas" panose="020B0609020204030204" pitchFamily="49" charset="0"/>
                  </a:rPr>
                  <a:t># Choose action using </a:t>
                </a:r>
                <a14:m>
                  <m:oMath xmlns:m="http://schemas.openxmlformats.org/officeDocument/2006/math">
                    <m:r>
                      <a:rPr lang="en-US" b="0" i="1" smtClean="0">
                        <a:solidFill>
                          <a:srgbClr val="008000"/>
                        </a:solidFill>
                        <a:latin typeface="Cambria Math" panose="02040503050406030204" pitchFamily="18" charset="0"/>
                      </a:rPr>
                      <m:t>𝜖</m:t>
                    </m:r>
                  </m:oMath>
                </a14:m>
                <a:r>
                  <a:rPr lang="en-US" dirty="0">
                    <a:solidFill>
                      <a:srgbClr val="008000"/>
                    </a:solidFill>
                    <a:latin typeface="Consolas" panose="020B0609020204030204" pitchFamily="49" charset="0"/>
                  </a:rPr>
                  <a:t>–greedy policy</a:t>
                </a:r>
              </a:p>
              <a:p>
                <a:r>
                  <a:rPr lang="en-US" dirty="0">
                    <a:solidFill>
                      <a:srgbClr val="008000"/>
                    </a:solidFill>
                    <a:effectLst/>
                    <a:latin typeface="Consolas" panose="020B0609020204030204" pitchFamily="49" charset="0"/>
                  </a:rPr>
                  <a:t>           </a:t>
                </a:r>
                <a:r>
                  <a:rPr lang="en-US" dirty="0">
                    <a:solidFill>
                      <a:srgbClr val="000000"/>
                    </a:solidFill>
                    <a:effectLst/>
                    <a:latin typeface="Consolas" panose="020B0609020204030204" pitchFamily="49" charset="0"/>
                  </a:rPr>
                  <a:t> </a:t>
                </a:r>
                <a:r>
                  <a:rPr lang="en-US" b="1" dirty="0">
                    <a:solidFill>
                      <a:srgbClr val="0000FF"/>
                    </a:solidFill>
                    <a:effectLst/>
                    <a:latin typeface="Consolas" panose="020B0609020204030204" pitchFamily="49" charset="0"/>
                  </a:rPr>
                  <a:t>if</a:t>
                </a:r>
                <a:r>
                  <a:rPr lang="en-US" dirty="0">
                    <a:solidFill>
                      <a:srgbClr val="000000"/>
                    </a:solidFill>
                    <a:effectLst/>
                    <a:latin typeface="Consolas" panose="020B0609020204030204" pitchFamily="49" charset="0"/>
                  </a:rPr>
                  <a:t> random</a:t>
                </a:r>
                <a:r>
                  <a:rPr lang="en-US" b="1" dirty="0">
                    <a:solidFill>
                      <a:srgbClr val="000080"/>
                    </a:solidFill>
                    <a:effectLst/>
                    <a:latin typeface="Consolas" panose="020B0609020204030204" pitchFamily="49" charset="0"/>
                  </a:rPr>
                  <a:t>()</a:t>
                </a:r>
                <a:r>
                  <a:rPr lang="en-US" dirty="0">
                    <a:solidFill>
                      <a:srgbClr val="000000"/>
                    </a:solidFill>
                    <a:effectLst/>
                    <a:latin typeface="Consolas" panose="020B0609020204030204" pitchFamily="49" charset="0"/>
                  </a:rPr>
                  <a:t> </a:t>
                </a:r>
                <a:r>
                  <a:rPr lang="en-US" b="1" dirty="0">
                    <a:solidFill>
                      <a:srgbClr val="000080"/>
                    </a:solidFill>
                    <a:effectLst/>
                    <a:latin typeface="Consolas" panose="020B0609020204030204" pitchFamily="49" charset="0"/>
                  </a:rPr>
                  <a:t>&lt;</a:t>
                </a:r>
                <a:r>
                  <a:rPr lang="en-US" dirty="0">
                    <a:solidFill>
                      <a:srgbClr val="000000"/>
                    </a:solidFill>
                    <a:effectLst/>
                    <a:latin typeface="Consolas" panose="020B0609020204030204" pitchFamily="49" charset="0"/>
                  </a:rPr>
                  <a:t> </a:t>
                </a:r>
                <a14:m>
                  <m:oMath xmlns:m="http://schemas.openxmlformats.org/officeDocument/2006/math">
                    <m:r>
                      <a:rPr lang="en-US" b="0" i="1" dirty="0" smtClean="0">
                        <a:solidFill>
                          <a:srgbClr val="000000"/>
                        </a:solidFill>
                        <a:effectLst/>
                        <a:latin typeface="Cambria Math" panose="02040503050406030204" pitchFamily="18" charset="0"/>
                      </a:rPr>
                      <m:t>𝜖</m:t>
                    </m:r>
                  </m:oMath>
                </a14:m>
                <a:r>
                  <a:rPr lang="en-US" b="1" dirty="0">
                    <a:solidFill>
                      <a:srgbClr val="000080"/>
                    </a:solidFill>
                    <a:effectLst/>
                    <a:latin typeface="Consolas" panose="020B0609020204030204" pitchFamily="49" charset="0"/>
                  </a:rPr>
                  <a:t>:</a:t>
                </a:r>
                <a:endParaRPr lang="en-US" b="1" dirty="0">
                  <a:solidFill>
                    <a:srgbClr val="000000"/>
                  </a:solidFill>
                  <a:latin typeface="Consolas" panose="020B0609020204030204" pitchFamily="49" charset="0"/>
                </a:endParaRPr>
              </a:p>
              <a:p>
                <a:r>
                  <a:rPr lang="en-US" b="1" dirty="0">
                    <a:solidFill>
                      <a:srgbClr val="000000"/>
                    </a:solidFill>
                    <a:effectLst/>
                    <a:latin typeface="Consolas" panose="020B0609020204030204" pitchFamily="49" charset="0"/>
                  </a:rPr>
                  <a:t>                </a:t>
                </a:r>
                <a14:m>
                  <m:oMath xmlns:m="http://schemas.openxmlformats.org/officeDocument/2006/math">
                    <m:r>
                      <a:rPr lang="en-US" i="1" dirty="0" smtClean="0">
                        <a:solidFill>
                          <a:srgbClr val="000000"/>
                        </a:solidFill>
                        <a:effectLst/>
                        <a:latin typeface="Cambria Math" panose="02040503050406030204" pitchFamily="18" charset="0"/>
                      </a:rPr>
                      <m:t>𝑎</m:t>
                    </m:r>
                    <m:r>
                      <a:rPr lang="en-US" i="1" dirty="0" smtClean="0">
                        <a:solidFill>
                          <a:srgbClr val="000000"/>
                        </a:solidFill>
                        <a:effectLst/>
                        <a:latin typeface="Cambria Math" panose="02040503050406030204" pitchFamily="18" charset="0"/>
                      </a:rPr>
                      <m:t> </m:t>
                    </m:r>
                    <m:r>
                      <a:rPr lang="en-US" b="1" i="1" dirty="0">
                        <a:solidFill>
                          <a:srgbClr val="000080"/>
                        </a:solidFill>
                        <a:effectLst/>
                        <a:latin typeface="Cambria Math" panose="02040503050406030204" pitchFamily="18" charset="0"/>
                      </a:rPr>
                      <m:t>=</m:t>
                    </m:r>
                  </m:oMath>
                </a14:m>
                <a:r>
                  <a:rPr lang="en-US" dirty="0">
                    <a:solidFill>
                      <a:srgbClr val="000000"/>
                    </a:solidFill>
                    <a:effectLst/>
                    <a:latin typeface="Consolas" panose="020B0609020204030204" pitchFamily="49" charset="0"/>
                  </a:rPr>
                  <a:t> </a:t>
                </a:r>
                <a:r>
                  <a:rPr lang="en-US" dirty="0" err="1">
                    <a:solidFill>
                      <a:srgbClr val="000000"/>
                    </a:solidFill>
                    <a:effectLst/>
                    <a:latin typeface="Consolas" panose="020B0609020204030204" pitchFamily="49" charset="0"/>
                  </a:rPr>
                  <a:t>random_action</a:t>
                </a:r>
                <a:r>
                  <a:rPr lang="en-US" b="1" dirty="0">
                    <a:solidFill>
                      <a:srgbClr val="000080"/>
                    </a:solidFill>
                    <a:effectLst/>
                    <a:latin typeface="Consolas" panose="020B0609020204030204" pitchFamily="49" charset="0"/>
                  </a:rPr>
                  <a:t>()</a:t>
                </a:r>
                <a:r>
                  <a:rPr lang="en-US" dirty="0">
                    <a:solidFill>
                      <a:srgbClr val="008000"/>
                    </a:solidFill>
                    <a:latin typeface="Consolas" panose="020B0609020204030204" pitchFamily="49" charset="0"/>
                  </a:rPr>
                  <a:t>   # explore</a:t>
                </a:r>
              </a:p>
              <a:p>
                <a:endParaRPr lang="en-US" dirty="0">
                  <a:solidFill>
                    <a:srgbClr val="000000"/>
                  </a:solidFill>
                  <a:effectLst/>
                  <a:latin typeface="Consolas" panose="020B0609020204030204" pitchFamily="49" charset="0"/>
                </a:endParaRPr>
              </a:p>
              <a:p>
                <a:r>
                  <a:rPr lang="en-US" b="1" dirty="0">
                    <a:solidFill>
                      <a:srgbClr val="0000FF"/>
                    </a:solidFill>
                    <a:effectLst/>
                    <a:latin typeface="Consolas" panose="020B0609020204030204" pitchFamily="49" charset="0"/>
                  </a:rPr>
                  <a:t>            else</a:t>
                </a:r>
                <a:r>
                  <a:rPr lang="en-US" b="1" dirty="0">
                    <a:solidFill>
                      <a:srgbClr val="000080"/>
                    </a:solidFill>
                    <a:effectLst/>
                    <a:latin typeface="Consolas" panose="020B0609020204030204" pitchFamily="49" charset="0"/>
                  </a:rPr>
                  <a:t>:</a:t>
                </a:r>
                <a:endParaRPr lang="en-US" b="1" dirty="0">
                  <a:solidFill>
                    <a:srgbClr val="000000"/>
                  </a:solidFill>
                  <a:latin typeface="Consolas" panose="020B0609020204030204" pitchFamily="49" charset="0"/>
                </a:endParaRPr>
              </a:p>
              <a:p>
                <a:r>
                  <a:rPr lang="en-US" b="1" dirty="0">
                    <a:solidFill>
                      <a:srgbClr val="000000"/>
                    </a:solidFill>
                    <a:effectLst/>
                    <a:latin typeface="Consolas" panose="020B0609020204030204" pitchFamily="49" charset="0"/>
                  </a:rPr>
                  <a:t>                </a:t>
                </a:r>
                <a14:m>
                  <m:oMath xmlns:m="http://schemas.openxmlformats.org/officeDocument/2006/math">
                    <m:r>
                      <a:rPr lang="en-US" i="1" dirty="0" smtClean="0">
                        <a:solidFill>
                          <a:srgbClr val="000000"/>
                        </a:solidFill>
                        <a:effectLst/>
                        <a:latin typeface="Cambria Math" panose="02040503050406030204" pitchFamily="18" charset="0"/>
                      </a:rPr>
                      <m:t>𝑎</m:t>
                    </m:r>
                    <m:r>
                      <a:rPr lang="en-US" b="1" i="1" dirty="0">
                        <a:solidFill>
                          <a:srgbClr val="000080"/>
                        </a:solidFill>
                        <a:effectLst/>
                        <a:latin typeface="Cambria Math" panose="02040503050406030204" pitchFamily="18" charset="0"/>
                      </a:rPr>
                      <m:t>=</m:t>
                    </m:r>
                    <m:r>
                      <a:rPr lang="en-US" b="1" i="0" dirty="0" smtClean="0">
                        <a:solidFill>
                          <a:srgbClr val="000080"/>
                        </a:solidFill>
                        <a:effectLst/>
                        <a:latin typeface="Cambria Math" panose="02040503050406030204" pitchFamily="18" charset="0"/>
                      </a:rPr>
                      <m:t>𝐚𝐫𝐠𝐦𝐚</m:t>
                    </m:r>
                    <m:sSub>
                      <m:sSubPr>
                        <m:ctrlPr>
                          <a:rPr lang="en-US" b="1" i="1" dirty="0" smtClean="0">
                            <a:solidFill>
                              <a:srgbClr val="000080"/>
                            </a:solidFill>
                            <a:effectLst/>
                            <a:latin typeface="Cambria Math" panose="02040503050406030204" pitchFamily="18" charset="0"/>
                          </a:rPr>
                        </m:ctrlPr>
                      </m:sSubPr>
                      <m:e>
                        <m:r>
                          <a:rPr lang="en-US" b="1" i="0" dirty="0" smtClean="0">
                            <a:solidFill>
                              <a:srgbClr val="000080"/>
                            </a:solidFill>
                            <a:effectLst/>
                            <a:latin typeface="Cambria Math" panose="02040503050406030204" pitchFamily="18" charset="0"/>
                          </a:rPr>
                          <m:t>𝐱</m:t>
                        </m:r>
                      </m:e>
                      <m:sub>
                        <m:r>
                          <a:rPr lang="en-US" b="1" i="1" dirty="0" smtClean="0">
                            <a:solidFill>
                              <a:srgbClr val="7030A0"/>
                            </a:solidFill>
                            <a:effectLst/>
                            <a:latin typeface="Cambria Math" panose="02040503050406030204" pitchFamily="18" charset="0"/>
                          </a:rPr>
                          <m:t>𝒂</m:t>
                        </m:r>
                      </m:sub>
                    </m:sSub>
                    <m:r>
                      <a:rPr lang="en-US" b="1" i="0" dirty="0" smtClean="0">
                        <a:solidFill>
                          <a:srgbClr val="000080"/>
                        </a:solidFill>
                        <a:effectLst/>
                        <a:latin typeface="Cambria Math" panose="02040503050406030204" pitchFamily="18" charset="0"/>
                      </a:rPr>
                      <m:t> </m:t>
                    </m:r>
                    <m:r>
                      <a:rPr lang="en-US" i="1" dirty="0">
                        <a:solidFill>
                          <a:srgbClr val="FF00FF"/>
                        </a:solidFill>
                        <a:latin typeface="Cambria Math" panose="02040503050406030204" pitchFamily="18" charset="0"/>
                      </a:rPr>
                      <m:t>𝑄</m:t>
                    </m:r>
                    <m:r>
                      <a:rPr lang="en-US" b="1" i="1" dirty="0" smtClean="0">
                        <a:solidFill>
                          <a:srgbClr val="000080"/>
                        </a:solidFill>
                        <a:effectLst/>
                        <a:latin typeface="Cambria Math" panose="02040503050406030204" pitchFamily="18" charset="0"/>
                      </a:rPr>
                      <m:t>(</m:t>
                    </m:r>
                    <m:r>
                      <a:rPr lang="en-US" i="1" dirty="0" smtClean="0">
                        <a:solidFill>
                          <a:srgbClr val="00B050"/>
                        </a:solidFill>
                        <a:effectLst/>
                        <a:latin typeface="Cambria Math" panose="02040503050406030204" pitchFamily="18" charset="0"/>
                      </a:rPr>
                      <m:t>𝑠</m:t>
                    </m:r>
                    <m:r>
                      <a:rPr lang="en-US" b="1" i="1" dirty="0" err="1">
                        <a:solidFill>
                          <a:srgbClr val="000080"/>
                        </a:solidFill>
                        <a:effectLst/>
                        <a:latin typeface="Cambria Math" panose="02040503050406030204" pitchFamily="18" charset="0"/>
                      </a:rPr>
                      <m:t>,</m:t>
                    </m:r>
                    <m:r>
                      <a:rPr lang="en-US" i="1" dirty="0" smtClean="0">
                        <a:solidFill>
                          <a:srgbClr val="7030A0"/>
                        </a:solidFill>
                        <a:effectLst/>
                        <a:latin typeface="Cambria Math" panose="02040503050406030204" pitchFamily="18" charset="0"/>
                      </a:rPr>
                      <m:t>𝑎</m:t>
                    </m:r>
                    <m:r>
                      <a:rPr lang="en-US" b="1" i="1" dirty="0" smtClean="0">
                        <a:solidFill>
                          <a:srgbClr val="000080"/>
                        </a:solidFill>
                        <a:effectLst/>
                        <a:latin typeface="Cambria Math" panose="02040503050406030204" pitchFamily="18" charset="0"/>
                      </a:rPr>
                      <m:t>)</m:t>
                    </m:r>
                  </m:oMath>
                </a14:m>
                <a:r>
                  <a:rPr lang="en-US" dirty="0">
                    <a:solidFill>
                      <a:srgbClr val="008000"/>
                    </a:solidFill>
                    <a:latin typeface="Consolas" panose="020B0609020204030204" pitchFamily="49" charset="0"/>
                  </a:rPr>
                  <a:t>      # exploit</a:t>
                </a:r>
                <a:endParaRPr lang="en-US" b="1" dirty="0">
                  <a:solidFill>
                    <a:srgbClr val="000080"/>
                  </a:solidFill>
                  <a:effectLst/>
                  <a:latin typeface="Consolas" panose="020B0609020204030204" pitchFamily="49" charset="0"/>
                </a:endParaRPr>
              </a:p>
              <a:p>
                <a:endParaRPr lang="en-US" sz="1200" b="1" dirty="0">
                  <a:solidFill>
                    <a:srgbClr val="000080"/>
                  </a:solidFill>
                  <a:latin typeface="Consolas" panose="020B0609020204030204" pitchFamily="49" charset="0"/>
                </a:endParaRPr>
              </a:p>
              <a:p>
                <a:r>
                  <a:rPr lang="en-US" b="1" dirty="0">
                    <a:solidFill>
                      <a:srgbClr val="000080"/>
                    </a:solidFill>
                    <a:latin typeface="Consolas" panose="020B0609020204030204" pitchFamily="49" charset="0"/>
                  </a:rPr>
                  <a:t>            </a:t>
                </a:r>
                <a:r>
                  <a:rPr lang="en-US" dirty="0">
                    <a:solidFill>
                      <a:srgbClr val="008000"/>
                    </a:solidFill>
                    <a:latin typeface="Consolas" panose="020B0609020204030204" pitchFamily="49" charset="0"/>
                  </a:rPr>
                  <a:t># Take action and observe outcome</a:t>
                </a:r>
                <a:endParaRPr lang="en-US" dirty="0">
                  <a:solidFill>
                    <a:srgbClr val="000000"/>
                  </a:solidFill>
                  <a:effectLst/>
                  <a:latin typeface="Consolas" panose="020B0609020204030204" pitchFamily="49" charset="0"/>
                </a:endParaRPr>
              </a:p>
              <a:p>
                <a:r>
                  <a:rPr lang="en-US" dirty="0">
                    <a:solidFill>
                      <a:srgbClr val="000000"/>
                    </a:solidFill>
                    <a:effectLst/>
                    <a:latin typeface="Consolas" panose="020B0609020204030204" pitchFamily="49" charset="0"/>
                  </a:rPr>
                  <a:t>            </a:t>
                </a:r>
                <a14:m>
                  <m:oMath xmlns:m="http://schemas.openxmlformats.org/officeDocument/2006/math">
                    <m:r>
                      <a:rPr lang="en-US" i="1" dirty="0">
                        <a:solidFill>
                          <a:srgbClr val="00B050"/>
                        </a:solidFill>
                        <a:latin typeface="Cambria Math" panose="02040503050406030204" pitchFamily="18" charset="0"/>
                      </a:rPr>
                      <m:t>𝑠</m:t>
                    </m:r>
                    <m:r>
                      <a:rPr lang="en-US" b="0" i="1" dirty="0" smtClean="0">
                        <a:solidFill>
                          <a:schemeClr val="tx1"/>
                        </a:solidFill>
                        <a:latin typeface="Cambria Math" panose="02040503050406030204" pitchFamily="18" charset="0"/>
                      </a:rPr>
                      <m:t>′</m:t>
                    </m:r>
                  </m:oMath>
                </a14:m>
                <a:r>
                  <a:rPr lang="en-US" dirty="0">
                    <a:solidFill>
                      <a:srgbClr val="000000"/>
                    </a:solidFill>
                    <a:effectLst/>
                    <a:latin typeface="Consolas" panose="020B0609020204030204" pitchFamily="49" charset="0"/>
                  </a:rPr>
                  <a:t>, </a:t>
                </a:r>
                <a14:m>
                  <m:oMath xmlns:m="http://schemas.openxmlformats.org/officeDocument/2006/math">
                    <m:r>
                      <a:rPr lang="en-US" i="1" dirty="0" smtClean="0">
                        <a:solidFill>
                          <a:srgbClr val="1306BA"/>
                        </a:solidFill>
                        <a:effectLst/>
                        <a:latin typeface="Cambria Math" panose="02040503050406030204" pitchFamily="18" charset="0"/>
                      </a:rPr>
                      <m:t>𝑟</m:t>
                    </m:r>
                  </m:oMath>
                </a14:m>
                <a:r>
                  <a:rPr lang="en-US" dirty="0">
                    <a:solidFill>
                      <a:srgbClr val="000000"/>
                    </a:solidFill>
                    <a:effectLst/>
                    <a:latin typeface="Consolas" panose="020B0609020204030204" pitchFamily="49" charset="0"/>
                  </a:rPr>
                  <a:t> = </a:t>
                </a:r>
                <a:r>
                  <a:rPr lang="en-US" dirty="0" err="1">
                    <a:solidFill>
                      <a:srgbClr val="000000"/>
                    </a:solidFill>
                    <a:effectLst/>
                    <a:latin typeface="Consolas" panose="020B0609020204030204" pitchFamily="49" charset="0"/>
                  </a:rPr>
                  <a:t>take_action</a:t>
                </a:r>
                <a:r>
                  <a:rPr lang="en-US" dirty="0">
                    <a:solidFill>
                      <a:srgbClr val="000000"/>
                    </a:solidFill>
                    <a:effectLst/>
                    <a:latin typeface="Consolas" panose="020B0609020204030204" pitchFamily="49" charset="0"/>
                  </a:rPr>
                  <a:t>(</a:t>
                </a:r>
                <a14:m>
                  <m:oMath xmlns:m="http://schemas.openxmlformats.org/officeDocument/2006/math">
                    <m:r>
                      <a:rPr lang="en-US" i="1" dirty="0" smtClean="0">
                        <a:solidFill>
                          <a:srgbClr val="00B050"/>
                        </a:solidFill>
                        <a:effectLst/>
                        <a:latin typeface="Cambria Math" panose="02040503050406030204" pitchFamily="18" charset="0"/>
                      </a:rPr>
                      <m:t>𝑠</m:t>
                    </m:r>
                  </m:oMath>
                </a14:m>
                <a:r>
                  <a:rPr lang="en-US" dirty="0">
                    <a:solidFill>
                      <a:srgbClr val="000000"/>
                    </a:solidFill>
                    <a:effectLst/>
                    <a:latin typeface="Consolas" panose="020B0609020204030204" pitchFamily="49" charset="0"/>
                  </a:rPr>
                  <a:t>, </a:t>
                </a:r>
                <a14:m>
                  <m:oMath xmlns:m="http://schemas.openxmlformats.org/officeDocument/2006/math">
                    <m:r>
                      <a:rPr lang="en-US" i="1" dirty="0" smtClean="0">
                        <a:solidFill>
                          <a:srgbClr val="7030A0"/>
                        </a:solidFill>
                        <a:effectLst/>
                        <a:latin typeface="Cambria Math" panose="02040503050406030204" pitchFamily="18" charset="0"/>
                      </a:rPr>
                      <m:t>𝑎</m:t>
                    </m:r>
                  </m:oMath>
                </a14:m>
                <a:r>
                  <a:rPr lang="en-US" dirty="0">
                    <a:solidFill>
                      <a:srgbClr val="000000"/>
                    </a:solidFill>
                    <a:effectLst/>
                    <a:latin typeface="Consolas" panose="020B0609020204030204" pitchFamily="49" charset="0"/>
                  </a:rPr>
                  <a:t>)</a:t>
                </a:r>
              </a:p>
              <a:p>
                <a:endParaRPr lang="en-US" sz="1200" b="1" dirty="0">
                  <a:solidFill>
                    <a:srgbClr val="000000"/>
                  </a:solidFill>
                  <a:latin typeface="Consolas" panose="020B0609020204030204" pitchFamily="49" charset="0"/>
                </a:endParaRPr>
              </a:p>
              <a:p>
                <a:r>
                  <a:rPr lang="en-US" b="1" dirty="0">
                    <a:solidFill>
                      <a:srgbClr val="000080"/>
                    </a:solidFill>
                    <a:latin typeface="Consolas" panose="020B0609020204030204" pitchFamily="49" charset="0"/>
                  </a:rPr>
                  <a:t>            </a:t>
                </a:r>
                <a:r>
                  <a:rPr lang="en-US" dirty="0">
                    <a:solidFill>
                      <a:srgbClr val="008000"/>
                    </a:solidFill>
                    <a:latin typeface="Consolas" panose="020B0609020204030204" pitchFamily="49" charset="0"/>
                  </a:rPr>
                  <a:t># Q-learning update</a:t>
                </a:r>
              </a:p>
              <a:p>
                <a:r>
                  <a:rPr lang="en-US" dirty="0">
                    <a:solidFill>
                      <a:srgbClr val="000000"/>
                    </a:solidFill>
                    <a:effectLst/>
                    <a:latin typeface="Consolas" panose="020B0609020204030204" pitchFamily="49" charset="0"/>
                  </a:rPr>
                  <a:t>            </a:t>
                </a:r>
                <a:r>
                  <a:rPr lang="en-US" dirty="0">
                    <a:solidFill>
                      <a:srgbClr val="FF00FF"/>
                    </a:solidFill>
                    <a:effectLst/>
                    <a:latin typeface="Consolas" panose="020B0609020204030204" pitchFamily="49" charset="0"/>
                  </a:rPr>
                  <a:t>Q</a:t>
                </a:r>
                <a:r>
                  <a:rPr lang="en-US" dirty="0">
                    <a:solidFill>
                      <a:srgbClr val="000000"/>
                    </a:solidFill>
                    <a:latin typeface="Consolas" panose="020B0609020204030204" pitchFamily="49" charset="0"/>
                  </a:rPr>
                  <a:t>(</a:t>
                </a:r>
                <a14:m>
                  <m:oMath xmlns:m="http://schemas.openxmlformats.org/officeDocument/2006/math">
                    <m:r>
                      <a:rPr lang="en-US" i="1" dirty="0">
                        <a:solidFill>
                          <a:srgbClr val="00B050"/>
                        </a:solidFill>
                        <a:latin typeface="Cambria Math" panose="02040503050406030204" pitchFamily="18" charset="0"/>
                      </a:rPr>
                      <m:t>𝑠</m:t>
                    </m:r>
                  </m:oMath>
                </a14:m>
                <a:r>
                  <a:rPr lang="en-US" dirty="0">
                    <a:solidFill>
                      <a:srgbClr val="000000"/>
                    </a:solidFill>
                    <a:latin typeface="Consolas" panose="020B0609020204030204" pitchFamily="49" charset="0"/>
                  </a:rPr>
                  <a:t>,</a:t>
                </a:r>
                <a14:m>
                  <m:oMath xmlns:m="http://schemas.openxmlformats.org/officeDocument/2006/math">
                    <m:r>
                      <a:rPr lang="en-US" i="1" dirty="0">
                        <a:solidFill>
                          <a:srgbClr val="7030A0"/>
                        </a:solidFill>
                        <a:latin typeface="Cambria Math" panose="02040503050406030204" pitchFamily="18" charset="0"/>
                      </a:rPr>
                      <m:t>𝑎</m:t>
                    </m:r>
                  </m:oMath>
                </a14:m>
                <a:r>
                  <a:rPr lang="en-US" dirty="0">
                    <a:solidFill>
                      <a:srgbClr val="000000"/>
                    </a:solidFill>
                    <a:latin typeface="Consolas" panose="020B0609020204030204" pitchFamily="49" charset="0"/>
                  </a:rPr>
                  <a:t>) </a:t>
                </a:r>
                <a:r>
                  <a:rPr lang="en-US" b="1" dirty="0">
                    <a:solidFill>
                      <a:srgbClr val="000080"/>
                    </a:solidFill>
                    <a:effectLst/>
                    <a:latin typeface="Consolas" panose="020B0609020204030204" pitchFamily="49" charset="0"/>
                  </a:rPr>
                  <a:t>=</a:t>
                </a:r>
                <a:r>
                  <a:rPr lang="en-US" dirty="0">
                    <a:solidFill>
                      <a:srgbClr val="000000"/>
                    </a:solidFill>
                    <a:effectLst/>
                    <a:latin typeface="Consolas" panose="020B0609020204030204" pitchFamily="49" charset="0"/>
                  </a:rPr>
                  <a:t> </a:t>
                </a:r>
                <a:r>
                  <a:rPr lang="en-US" dirty="0">
                    <a:solidFill>
                      <a:srgbClr val="FF00FF"/>
                    </a:solidFill>
                    <a:latin typeface="Consolas" panose="020B0609020204030204" pitchFamily="49" charset="0"/>
                  </a:rPr>
                  <a:t>Q</a:t>
                </a:r>
                <a:r>
                  <a:rPr lang="en-US" dirty="0">
                    <a:solidFill>
                      <a:srgbClr val="000000"/>
                    </a:solidFill>
                    <a:latin typeface="Consolas" panose="020B0609020204030204" pitchFamily="49" charset="0"/>
                  </a:rPr>
                  <a:t>(</a:t>
                </a:r>
                <a14:m>
                  <m:oMath xmlns:m="http://schemas.openxmlformats.org/officeDocument/2006/math">
                    <m:r>
                      <a:rPr lang="en-US" i="1" dirty="0">
                        <a:solidFill>
                          <a:srgbClr val="00B050"/>
                        </a:solidFill>
                        <a:latin typeface="Cambria Math" panose="02040503050406030204" pitchFamily="18" charset="0"/>
                      </a:rPr>
                      <m:t>𝑠</m:t>
                    </m:r>
                  </m:oMath>
                </a14:m>
                <a:r>
                  <a:rPr lang="en-US" dirty="0">
                    <a:solidFill>
                      <a:srgbClr val="000000"/>
                    </a:solidFill>
                    <a:latin typeface="Consolas" panose="020B0609020204030204" pitchFamily="49" charset="0"/>
                  </a:rPr>
                  <a:t>,</a:t>
                </a:r>
                <a14:m>
                  <m:oMath xmlns:m="http://schemas.openxmlformats.org/officeDocument/2006/math">
                    <m:r>
                      <a:rPr lang="en-US" i="1" dirty="0">
                        <a:solidFill>
                          <a:srgbClr val="7030A0"/>
                        </a:solidFill>
                        <a:latin typeface="Cambria Math" panose="02040503050406030204" pitchFamily="18" charset="0"/>
                      </a:rPr>
                      <m:t>𝑎</m:t>
                    </m:r>
                  </m:oMath>
                </a14:m>
                <a:r>
                  <a:rPr lang="en-US" dirty="0">
                    <a:solidFill>
                      <a:srgbClr val="000000"/>
                    </a:solidFill>
                    <a:latin typeface="Consolas" panose="020B0609020204030204" pitchFamily="49" charset="0"/>
                  </a:rPr>
                  <a:t>)</a:t>
                </a:r>
                <a:r>
                  <a:rPr lang="en-US" dirty="0">
                    <a:solidFill>
                      <a:srgbClr val="000000"/>
                    </a:solidFill>
                    <a:effectLst/>
                    <a:latin typeface="Consolas" panose="020B0609020204030204" pitchFamily="49" charset="0"/>
                  </a:rPr>
                  <a:t> </a:t>
                </a:r>
                <a:r>
                  <a:rPr lang="en-US" b="1" dirty="0">
                    <a:solidFill>
                      <a:srgbClr val="000080"/>
                    </a:solidFill>
                    <a:effectLst/>
                    <a:latin typeface="Consolas" panose="020B0609020204030204" pitchFamily="49" charset="0"/>
                  </a:rPr>
                  <a:t>+</a:t>
                </a:r>
                <a:r>
                  <a:rPr lang="en-US" dirty="0">
                    <a:solidFill>
                      <a:srgbClr val="000000"/>
                    </a:solidFill>
                    <a:effectLst/>
                    <a:latin typeface="Consolas" panose="020B0609020204030204" pitchFamily="49" charset="0"/>
                  </a:rPr>
                  <a:t> </a:t>
                </a:r>
                <a14:m>
                  <m:oMath xmlns:m="http://schemas.openxmlformats.org/officeDocument/2006/math">
                    <m:r>
                      <a:rPr lang="en-US" i="1" dirty="0" smtClean="0">
                        <a:solidFill>
                          <a:srgbClr val="FF0000"/>
                        </a:solidFill>
                        <a:latin typeface="Cambria Math" panose="02040503050406030204" pitchFamily="18" charset="0"/>
                      </a:rPr>
                      <m:t>𝛼</m:t>
                    </m:r>
                    <m:d>
                      <m:dPr>
                        <m:begChr m:val="["/>
                        <m:endChr m:val="]"/>
                        <m:ctrlPr>
                          <a:rPr lang="en-US" i="1" dirty="0" smtClean="0">
                            <a:solidFill>
                              <a:srgbClr val="1306BA"/>
                            </a:solidFill>
                            <a:latin typeface="Cambria Math" panose="02040503050406030204" pitchFamily="18" charset="0"/>
                          </a:rPr>
                        </m:ctrlPr>
                      </m:dPr>
                      <m:e>
                        <m:r>
                          <a:rPr lang="en-US" i="1" dirty="0">
                            <a:solidFill>
                              <a:srgbClr val="1306BA"/>
                            </a:solidFill>
                            <a:latin typeface="Cambria Math" panose="02040503050406030204" pitchFamily="18" charset="0"/>
                          </a:rPr>
                          <m:t>𝑟</m:t>
                        </m:r>
                        <m:r>
                          <a:rPr lang="en-US" b="0" i="1" dirty="0" smtClean="0">
                            <a:solidFill>
                              <a:srgbClr val="1306BA"/>
                            </a:solidFill>
                            <a:latin typeface="Cambria Math" panose="02040503050406030204" pitchFamily="18" charset="0"/>
                          </a:rPr>
                          <m:t>+</m:t>
                        </m:r>
                        <m:r>
                          <a:rPr lang="en-US" i="1" dirty="0">
                            <a:solidFill>
                              <a:srgbClr val="00B0F0"/>
                            </a:solidFill>
                            <a:latin typeface="Cambria Math" panose="02040503050406030204" pitchFamily="18" charset="0"/>
                          </a:rPr>
                          <m:t>𝛾</m:t>
                        </m:r>
                        <m:func>
                          <m:funcPr>
                            <m:ctrlPr>
                              <a:rPr lang="en-US" i="1" dirty="0">
                                <a:latin typeface="Cambria Math" panose="02040503050406030204" pitchFamily="18" charset="0"/>
                              </a:rPr>
                            </m:ctrlPr>
                          </m:funcPr>
                          <m:fName>
                            <m:limLow>
                              <m:limLowPr>
                                <m:ctrlPr>
                                  <a:rPr lang="en-US" i="1" dirty="0">
                                    <a:latin typeface="Cambria Math" panose="02040503050406030204" pitchFamily="18" charset="0"/>
                                  </a:rPr>
                                </m:ctrlPr>
                              </m:limLowPr>
                              <m:e>
                                <m:r>
                                  <m:rPr>
                                    <m:sty m:val="p"/>
                                  </m:rPr>
                                  <a:rPr lang="en-US" dirty="0">
                                    <a:latin typeface="Cambria Math" panose="02040503050406030204" pitchFamily="18" charset="0"/>
                                  </a:rPr>
                                  <m:t>max</m:t>
                                </m:r>
                              </m:e>
                              <m:lim>
                                <m:sSup>
                                  <m:sSupPr>
                                    <m:ctrlPr>
                                      <a:rPr lang="en-US" i="1" dirty="0">
                                        <a:latin typeface="Cambria Math" panose="02040503050406030204" pitchFamily="18" charset="0"/>
                                      </a:rPr>
                                    </m:ctrlPr>
                                  </m:sSupPr>
                                  <m:e>
                                    <m:r>
                                      <a:rPr lang="en-US" i="1" dirty="0">
                                        <a:solidFill>
                                          <a:srgbClr val="7030A0"/>
                                        </a:solidFill>
                                        <a:latin typeface="Cambria Math" panose="02040503050406030204" pitchFamily="18" charset="0"/>
                                      </a:rPr>
                                      <m:t>𝑎</m:t>
                                    </m:r>
                                  </m:e>
                                  <m:sup>
                                    <m:r>
                                      <a:rPr lang="en-US" i="1" dirty="0">
                                        <a:latin typeface="Cambria Math" panose="02040503050406030204" pitchFamily="18" charset="0"/>
                                      </a:rPr>
                                      <m:t>′</m:t>
                                    </m:r>
                                  </m:sup>
                                </m:sSup>
                              </m:lim>
                            </m:limLow>
                          </m:fName>
                          <m:e>
                            <m:d>
                              <m:dPr>
                                <m:ctrlPr>
                                  <a:rPr lang="en-US" i="1" dirty="0">
                                    <a:latin typeface="Cambria Math" panose="02040503050406030204" pitchFamily="18" charset="0"/>
                                  </a:rPr>
                                </m:ctrlPr>
                              </m:dPr>
                              <m:e>
                                <m:r>
                                  <m:rPr>
                                    <m:nor/>
                                  </m:rPr>
                                  <a:rPr lang="en-US" dirty="0">
                                    <a:solidFill>
                                      <a:srgbClr val="FF00FF"/>
                                    </a:solidFill>
                                    <a:latin typeface="Consolas" panose="020B0609020204030204" pitchFamily="49" charset="0"/>
                                  </a:rPr>
                                  <m:t>Q</m:t>
                                </m:r>
                                <m:r>
                                  <m:rPr>
                                    <m:nor/>
                                  </m:rPr>
                                  <a:rPr lang="en-US" dirty="0">
                                    <a:solidFill>
                                      <a:srgbClr val="000000"/>
                                    </a:solidFill>
                                    <a:latin typeface="Consolas" panose="020B0609020204030204" pitchFamily="49" charset="0"/>
                                  </a:rPr>
                                  <m:t>(</m:t>
                                </m:r>
                                <m:sSup>
                                  <m:sSupPr>
                                    <m:ctrlPr>
                                      <a:rPr lang="en-US" i="1" dirty="0">
                                        <a:latin typeface="Cambria Math" panose="02040503050406030204" pitchFamily="18" charset="0"/>
                                      </a:rPr>
                                    </m:ctrlPr>
                                  </m:sSupPr>
                                  <m:e>
                                    <m:r>
                                      <a:rPr lang="en-US" i="1" dirty="0">
                                        <a:solidFill>
                                          <a:srgbClr val="00B050"/>
                                        </a:solidFill>
                                        <a:latin typeface="Cambria Math" panose="02040503050406030204" pitchFamily="18" charset="0"/>
                                      </a:rPr>
                                      <m:t>𝑠</m:t>
                                    </m:r>
                                  </m:e>
                                  <m:sup>
                                    <m:r>
                                      <a:rPr lang="en-US" i="1" dirty="0">
                                        <a:latin typeface="Cambria Math" panose="02040503050406030204" pitchFamily="18" charset="0"/>
                                      </a:rPr>
                                      <m:t>′</m:t>
                                    </m:r>
                                  </m:sup>
                                </m:sSup>
                                <m:r>
                                  <m:rPr>
                                    <m:nor/>
                                  </m:rPr>
                                  <a:rPr lang="en-US" dirty="0">
                                    <a:solidFill>
                                      <a:srgbClr val="000000"/>
                                    </a:solidFill>
                                    <a:latin typeface="Consolas" panose="020B0609020204030204" pitchFamily="49" charset="0"/>
                                  </a:rPr>
                                  <m:t>, </m:t>
                                </m:r>
                                <m:sSup>
                                  <m:sSupPr>
                                    <m:ctrlPr>
                                      <a:rPr lang="en-US" i="1" dirty="0">
                                        <a:solidFill>
                                          <a:srgbClr val="7030A0"/>
                                        </a:solidFill>
                                        <a:latin typeface="Cambria Math" panose="02040503050406030204" pitchFamily="18" charset="0"/>
                                      </a:rPr>
                                    </m:ctrlPr>
                                  </m:sSupPr>
                                  <m:e>
                                    <m:r>
                                      <a:rPr lang="en-US" i="1" dirty="0">
                                        <a:solidFill>
                                          <a:srgbClr val="7030A0"/>
                                        </a:solidFill>
                                        <a:latin typeface="Cambria Math" panose="02040503050406030204" pitchFamily="18" charset="0"/>
                                      </a:rPr>
                                      <m:t>𝑎</m:t>
                                    </m:r>
                                  </m:e>
                                  <m:sup>
                                    <m:r>
                                      <a:rPr lang="en-US" i="1" dirty="0">
                                        <a:latin typeface="Cambria Math" panose="02040503050406030204" pitchFamily="18" charset="0"/>
                                      </a:rPr>
                                      <m:t>′</m:t>
                                    </m:r>
                                  </m:sup>
                                </m:sSup>
                                <m:r>
                                  <m:rPr>
                                    <m:nor/>
                                  </m:rPr>
                                  <a:rPr lang="en-US" dirty="0">
                                    <a:solidFill>
                                      <a:srgbClr val="000000"/>
                                    </a:solidFill>
                                    <a:latin typeface="Consolas" panose="020B0609020204030204" pitchFamily="49" charset="0"/>
                                  </a:rPr>
                                  <m:t>)</m:t>
                                </m:r>
                                <m:r>
                                  <a:rPr lang="en-US" i="1" dirty="0">
                                    <a:solidFill>
                                      <a:srgbClr val="000000"/>
                                    </a:solidFill>
                                    <a:latin typeface="Cambria Math" panose="02040503050406030204" pitchFamily="18" charset="0"/>
                                  </a:rPr>
                                  <m:t>−</m:t>
                                </m:r>
                                <m:r>
                                  <m:rPr>
                                    <m:nor/>
                                  </m:rPr>
                                  <a:rPr lang="en-US" dirty="0">
                                    <a:solidFill>
                                      <a:srgbClr val="FF00FF"/>
                                    </a:solidFill>
                                    <a:latin typeface="Consolas" panose="020B0609020204030204" pitchFamily="49" charset="0"/>
                                  </a:rPr>
                                  <m:t>Q</m:t>
                                </m:r>
                                <m:r>
                                  <m:rPr>
                                    <m:nor/>
                                  </m:rPr>
                                  <a:rPr lang="en-US" dirty="0">
                                    <a:solidFill>
                                      <a:srgbClr val="000000"/>
                                    </a:solidFill>
                                    <a:latin typeface="Consolas" panose="020B0609020204030204" pitchFamily="49" charset="0"/>
                                  </a:rPr>
                                  <m:t>(</m:t>
                                </m:r>
                                <m:r>
                                  <a:rPr lang="en-US" i="1" dirty="0">
                                    <a:solidFill>
                                      <a:srgbClr val="00B050"/>
                                    </a:solidFill>
                                    <a:latin typeface="Cambria Math" panose="02040503050406030204" pitchFamily="18" charset="0"/>
                                  </a:rPr>
                                  <m:t>𝑠</m:t>
                                </m:r>
                                <m:r>
                                  <m:rPr>
                                    <m:nor/>
                                  </m:rPr>
                                  <a:rPr lang="en-US" dirty="0">
                                    <a:solidFill>
                                      <a:srgbClr val="000000"/>
                                    </a:solidFill>
                                    <a:latin typeface="Consolas" panose="020B0609020204030204" pitchFamily="49" charset="0"/>
                                  </a:rPr>
                                  <m:t>, </m:t>
                                </m:r>
                                <m:r>
                                  <a:rPr lang="en-US" i="1" dirty="0">
                                    <a:solidFill>
                                      <a:srgbClr val="7030A0"/>
                                    </a:solidFill>
                                    <a:latin typeface="Cambria Math" panose="02040503050406030204" pitchFamily="18" charset="0"/>
                                  </a:rPr>
                                  <m:t>𝑎</m:t>
                                </m:r>
                                <m:r>
                                  <m:rPr>
                                    <m:nor/>
                                  </m:rPr>
                                  <a:rPr lang="en-US" dirty="0">
                                    <a:solidFill>
                                      <a:srgbClr val="000000"/>
                                    </a:solidFill>
                                    <a:latin typeface="Consolas" panose="020B0609020204030204" pitchFamily="49" charset="0"/>
                                  </a:rPr>
                                  <m:t>)</m:t>
                                </m:r>
                              </m:e>
                            </m:d>
                          </m:e>
                        </m:func>
                      </m:e>
                    </m:d>
                  </m:oMath>
                </a14:m>
                <a:endParaRPr lang="en-US" sz="1200" dirty="0">
                  <a:solidFill>
                    <a:srgbClr val="000000"/>
                  </a:solidFill>
                  <a:latin typeface="Consolas" panose="020B0609020204030204" pitchFamily="49" charset="0"/>
                </a:endParaRPr>
              </a:p>
              <a:p>
                <a:r>
                  <a:rPr lang="en-US" dirty="0">
                    <a:solidFill>
                      <a:srgbClr val="000000"/>
                    </a:solidFill>
                    <a:latin typeface="Consolas" panose="020B0609020204030204" pitchFamily="49" charset="0"/>
                  </a:rPr>
                  <a:t>            </a:t>
                </a:r>
                <a14:m>
                  <m:oMath xmlns:m="http://schemas.openxmlformats.org/officeDocument/2006/math">
                    <m:r>
                      <a:rPr lang="en-US" i="1" dirty="0">
                        <a:solidFill>
                          <a:srgbClr val="00B050"/>
                        </a:solidFill>
                        <a:latin typeface="Cambria Math" panose="02040503050406030204" pitchFamily="18" charset="0"/>
                      </a:rPr>
                      <m:t>𝑠</m:t>
                    </m:r>
                  </m:oMath>
                </a14:m>
                <a:r>
                  <a:rPr lang="en-US" dirty="0">
                    <a:solidFill>
                      <a:srgbClr val="000000"/>
                    </a:solidFill>
                    <a:effectLst/>
                    <a:latin typeface="Consolas" panose="020B0609020204030204" pitchFamily="49" charset="0"/>
                  </a:rPr>
                  <a:t> </a:t>
                </a:r>
                <a:r>
                  <a:rPr lang="en-US" b="1" dirty="0">
                    <a:solidFill>
                      <a:srgbClr val="000080"/>
                    </a:solidFill>
                    <a:effectLst/>
                    <a:latin typeface="Consolas" panose="020B0609020204030204" pitchFamily="49" charset="0"/>
                  </a:rPr>
                  <a:t>=</a:t>
                </a:r>
                <a:r>
                  <a:rPr lang="en-US" dirty="0">
                    <a:solidFill>
                      <a:srgbClr val="000000"/>
                    </a:solidFill>
                    <a:effectLst/>
                    <a:latin typeface="Consolas" panose="020B0609020204030204" pitchFamily="49" charset="0"/>
                  </a:rPr>
                  <a:t> </a:t>
                </a:r>
                <a14:m>
                  <m:oMath xmlns:m="http://schemas.openxmlformats.org/officeDocument/2006/math">
                    <m:r>
                      <a:rPr lang="en-US" i="1" dirty="0">
                        <a:solidFill>
                          <a:srgbClr val="00B050"/>
                        </a:solidFill>
                        <a:latin typeface="Cambria Math" panose="02040503050406030204" pitchFamily="18" charset="0"/>
                      </a:rPr>
                      <m:t>𝑠</m:t>
                    </m:r>
                    <m:r>
                      <a:rPr lang="en-US" i="1" dirty="0">
                        <a:latin typeface="Cambria Math" panose="02040503050406030204" pitchFamily="18" charset="0"/>
                      </a:rPr>
                      <m:t>′</m:t>
                    </m:r>
                  </m:oMath>
                </a14:m>
                <a:endParaRPr lang="en-US" dirty="0">
                  <a:solidFill>
                    <a:srgbClr val="000000"/>
                  </a:solidFill>
                  <a:effectLst/>
                  <a:latin typeface="Consolas" panose="020B0609020204030204" pitchFamily="49" charset="0"/>
                </a:endParaRPr>
              </a:p>
              <a:p>
                <a:endParaRPr lang="en-US" sz="1200" b="1" dirty="0">
                  <a:solidFill>
                    <a:srgbClr val="000000"/>
                  </a:solidFill>
                  <a:latin typeface="Consolas" panose="020B0609020204030204" pitchFamily="49" charset="0"/>
                </a:endParaRPr>
              </a:p>
              <a:p>
                <a:r>
                  <a:rPr lang="en-US" b="1" dirty="0">
                    <a:solidFill>
                      <a:srgbClr val="000000"/>
                    </a:solidFill>
                    <a:latin typeface="Consolas" panose="020B0609020204030204" pitchFamily="49" charset="0"/>
                  </a:rPr>
                  <a:t>    </a:t>
                </a:r>
                <a:r>
                  <a:rPr lang="en-US" b="1" dirty="0">
                    <a:solidFill>
                      <a:srgbClr val="0000FF"/>
                    </a:solidFill>
                    <a:effectLst/>
                    <a:latin typeface="Consolas" panose="020B0609020204030204" pitchFamily="49" charset="0"/>
                  </a:rPr>
                  <a:t>return</a:t>
                </a:r>
                <a:r>
                  <a:rPr lang="en-US" dirty="0">
                    <a:solidFill>
                      <a:srgbClr val="000000"/>
                    </a:solidFill>
                    <a:effectLst/>
                    <a:latin typeface="Consolas" panose="020B0609020204030204" pitchFamily="49" charset="0"/>
                  </a:rPr>
                  <a:t> </a:t>
                </a:r>
                <a14:m>
                  <m:oMath xmlns:m="http://schemas.openxmlformats.org/officeDocument/2006/math">
                    <m:sSup>
                      <m:sSupPr>
                        <m:ctrlPr>
                          <a:rPr lang="en-US" b="0" i="1" dirty="0" smtClean="0">
                            <a:solidFill>
                              <a:srgbClr val="FF00FF"/>
                            </a:solidFill>
                            <a:latin typeface="Cambria Math" panose="02040503050406030204" pitchFamily="18" charset="0"/>
                          </a:rPr>
                        </m:ctrlPr>
                      </m:sSupPr>
                      <m:e>
                        <m:r>
                          <m:rPr>
                            <m:sty m:val="p"/>
                          </m:rPr>
                          <a:rPr lang="en-US" i="0" dirty="0" smtClean="0">
                            <a:solidFill>
                              <a:srgbClr val="FF00FF"/>
                            </a:solidFill>
                            <a:latin typeface="Cambria Math" panose="02040503050406030204" pitchFamily="18" charset="0"/>
                          </a:rPr>
                          <m:t>Q</m:t>
                        </m:r>
                      </m:e>
                      <m:sup>
                        <m:r>
                          <a:rPr lang="en-US" b="0" i="0" dirty="0" smtClean="0">
                            <a:solidFill>
                              <a:srgbClr val="FF00FF"/>
                            </a:solidFill>
                            <a:latin typeface="Cambria Math" panose="02040503050406030204" pitchFamily="18" charset="0"/>
                          </a:rPr>
                          <m:t>∗</m:t>
                        </m:r>
                      </m:sup>
                    </m:sSup>
                    <m:r>
                      <a:rPr lang="en-US" b="0" i="0" dirty="0" smtClean="0">
                        <a:solidFill>
                          <a:srgbClr val="FF00FF"/>
                        </a:solidFill>
                        <a:latin typeface="Cambria Math" panose="02040503050406030204" pitchFamily="18" charset="0"/>
                      </a:rPr>
                      <m:t>=</m:t>
                    </m:r>
                    <m:r>
                      <m:rPr>
                        <m:sty m:val="p"/>
                      </m:rPr>
                      <a:rPr lang="en-US" b="0" i="0" dirty="0" smtClean="0">
                        <a:solidFill>
                          <a:srgbClr val="FF00FF"/>
                        </a:solidFill>
                        <a:latin typeface="Cambria Math" panose="02040503050406030204" pitchFamily="18" charset="0"/>
                      </a:rPr>
                      <m:t>Q</m:t>
                    </m:r>
                  </m:oMath>
                </a14:m>
                <a:endParaRPr lang="en-US" dirty="0">
                  <a:solidFill>
                    <a:srgbClr val="000000"/>
                  </a:solidFill>
                  <a:effectLst/>
                  <a:latin typeface="Consolas" panose="020B0609020204030204" pitchFamily="49" charset="0"/>
                </a:endParaRPr>
              </a:p>
            </p:txBody>
          </p:sp>
        </mc:Choice>
        <mc:Fallback xmlns="">
          <p:sp>
            <p:nvSpPr>
              <p:cNvPr id="7" name="TextBox 6">
                <a:extLst>
                  <a:ext uri="{FF2B5EF4-FFF2-40B4-BE49-F238E27FC236}">
                    <a16:creationId xmlns:a16="http://schemas.microsoft.com/office/drawing/2014/main" id="{C42D7EBB-36BD-7DBA-58E2-136F00A153A6}"/>
                  </a:ext>
                </a:extLst>
              </p:cNvPr>
              <p:cNvSpPr txBox="1">
                <a:spLocks noRot="1" noChangeAspect="1" noMove="1" noResize="1" noEditPoints="1" noAdjustHandles="1" noChangeArrowheads="1" noChangeShapeType="1" noTextEdit="1"/>
              </p:cNvSpPr>
              <p:nvPr/>
            </p:nvSpPr>
            <p:spPr>
              <a:xfrm>
                <a:off x="773265" y="784350"/>
                <a:ext cx="8243514" cy="6073650"/>
              </a:xfrm>
              <a:prstGeom prst="rect">
                <a:avLst/>
              </a:prstGeom>
              <a:blipFill>
                <a:blip r:embed="rId3"/>
                <a:stretch>
                  <a:fillRect l="-666" t="-602"/>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A2EB99D-B8EA-8D73-3B8B-C91A67D1E5CE}"/>
                  </a:ext>
                </a:extLst>
              </p:cNvPr>
              <p:cNvSpPr txBox="1"/>
              <p:nvPr/>
            </p:nvSpPr>
            <p:spPr>
              <a:xfrm>
                <a:off x="10265135" y="723569"/>
                <a:ext cx="1643801" cy="369332"/>
              </a:xfrm>
              <a:prstGeom prst="rect">
                <a:avLst/>
              </a:prstGeom>
              <a:noFill/>
              <a:ln>
                <a:noFill/>
              </a:ln>
            </p:spPr>
            <p:txBody>
              <a:bodyPr wrap="square">
                <a:spAutoFit/>
              </a:bodyPr>
              <a:lstStyle/>
              <a:p>
                <a14:m>
                  <m:oMath xmlns:m="http://schemas.openxmlformats.org/officeDocument/2006/math">
                    <m:r>
                      <a:rPr lang="en-US" i="1" dirty="0" smtClean="0">
                        <a:solidFill>
                          <a:srgbClr val="FF0000"/>
                        </a:solidFill>
                        <a:latin typeface="Cambria Math" panose="02040503050406030204" pitchFamily="18" charset="0"/>
                      </a:rPr>
                      <m:t>𝛼</m:t>
                    </m:r>
                  </m:oMath>
                </a14:m>
                <a:r>
                  <a:rPr lang="en-US" dirty="0"/>
                  <a:t>: learning rate</a:t>
                </a:r>
              </a:p>
            </p:txBody>
          </p:sp>
        </mc:Choice>
        <mc:Fallback xmlns="">
          <p:sp>
            <p:nvSpPr>
              <p:cNvPr id="9" name="TextBox 8">
                <a:extLst>
                  <a:ext uri="{FF2B5EF4-FFF2-40B4-BE49-F238E27FC236}">
                    <a16:creationId xmlns:a16="http://schemas.microsoft.com/office/drawing/2014/main" id="{2A2EB99D-B8EA-8D73-3B8B-C91A67D1E5CE}"/>
                  </a:ext>
                </a:extLst>
              </p:cNvPr>
              <p:cNvSpPr txBox="1">
                <a:spLocks noRot="1" noChangeAspect="1" noMove="1" noResize="1" noEditPoints="1" noAdjustHandles="1" noChangeArrowheads="1" noChangeShapeType="1" noTextEdit="1"/>
              </p:cNvSpPr>
              <p:nvPr/>
            </p:nvSpPr>
            <p:spPr>
              <a:xfrm>
                <a:off x="10265135" y="723569"/>
                <a:ext cx="1643801" cy="369332"/>
              </a:xfrm>
              <a:prstGeom prst="rect">
                <a:avLst/>
              </a:prstGeom>
              <a:blipFill>
                <a:blip r:embed="rId4"/>
                <a:stretch>
                  <a:fillRect t="-10000" r="-2222" b="-26667"/>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B17173D-7EB5-AFDB-524D-66139EE5E3A6}"/>
                  </a:ext>
                </a:extLst>
              </p:cNvPr>
              <p:cNvSpPr txBox="1"/>
              <p:nvPr/>
            </p:nvSpPr>
            <p:spPr>
              <a:xfrm>
                <a:off x="10090205" y="1015982"/>
                <a:ext cx="1882341" cy="369332"/>
              </a:xfrm>
              <a:prstGeom prst="rect">
                <a:avLst/>
              </a:prstGeom>
              <a:noFill/>
              <a:ln>
                <a:noFill/>
              </a:ln>
            </p:spPr>
            <p:txBody>
              <a:bodyPr wrap="square">
                <a:spAutoFit/>
              </a:bodyPr>
              <a:lstStyle/>
              <a:p>
                <a14:m>
                  <m:oMath xmlns:m="http://schemas.openxmlformats.org/officeDocument/2006/math">
                    <m:r>
                      <a:rPr lang="en-US" b="0" i="1" dirty="0" smtClean="0">
                        <a:solidFill>
                          <a:srgbClr val="00B0F0"/>
                        </a:solidFill>
                        <a:latin typeface="Cambria Math" panose="02040503050406030204" pitchFamily="18" charset="0"/>
                      </a:rPr>
                      <m:t>𝛾</m:t>
                    </m:r>
                  </m:oMath>
                </a14:m>
                <a:r>
                  <a:rPr lang="en-US" dirty="0"/>
                  <a:t>: discount factor</a:t>
                </a:r>
              </a:p>
            </p:txBody>
          </p:sp>
        </mc:Choice>
        <mc:Fallback xmlns="">
          <p:sp>
            <p:nvSpPr>
              <p:cNvPr id="10" name="TextBox 9">
                <a:extLst>
                  <a:ext uri="{FF2B5EF4-FFF2-40B4-BE49-F238E27FC236}">
                    <a16:creationId xmlns:a16="http://schemas.microsoft.com/office/drawing/2014/main" id="{EB17173D-7EB5-AFDB-524D-66139EE5E3A6}"/>
                  </a:ext>
                </a:extLst>
              </p:cNvPr>
              <p:cNvSpPr txBox="1">
                <a:spLocks noRot="1" noChangeAspect="1" noMove="1" noResize="1" noEditPoints="1" noAdjustHandles="1" noChangeArrowheads="1" noChangeShapeType="1" noTextEdit="1"/>
              </p:cNvSpPr>
              <p:nvPr/>
            </p:nvSpPr>
            <p:spPr>
              <a:xfrm>
                <a:off x="10090205" y="1015982"/>
                <a:ext cx="1882341" cy="369332"/>
              </a:xfrm>
              <a:prstGeom prst="rect">
                <a:avLst/>
              </a:prstGeom>
              <a:blipFill>
                <a:blip r:embed="rId5"/>
                <a:stretch>
                  <a:fillRect t="-10000" b="-26667"/>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0FD98DD-BA80-0432-EAF3-95895FC81541}"/>
                  </a:ext>
                </a:extLst>
              </p:cNvPr>
              <p:cNvSpPr txBox="1"/>
              <p:nvPr/>
            </p:nvSpPr>
            <p:spPr>
              <a:xfrm>
                <a:off x="9865451" y="1308395"/>
                <a:ext cx="2107095" cy="369332"/>
              </a:xfrm>
              <a:prstGeom prst="rect">
                <a:avLst/>
              </a:prstGeom>
              <a:noFill/>
              <a:ln>
                <a:noFill/>
              </a:ln>
            </p:spPr>
            <p:txBody>
              <a:bodyPr wrap="square">
                <a:spAutoFit/>
              </a:bodyPr>
              <a:lstStyle/>
              <a:p>
                <a14:m>
                  <m:oMath xmlns:m="http://schemas.openxmlformats.org/officeDocument/2006/math">
                    <m:r>
                      <a:rPr lang="en-US" b="0" i="1" smtClean="0">
                        <a:latin typeface="Cambria Math" panose="02040503050406030204" pitchFamily="18" charset="0"/>
                      </a:rPr>
                      <m:t>𝜖</m:t>
                    </m:r>
                  </m:oMath>
                </a14:m>
                <a:r>
                  <a:rPr lang="en-US" dirty="0"/>
                  <a:t>: exploration factor</a:t>
                </a:r>
              </a:p>
            </p:txBody>
          </p:sp>
        </mc:Choice>
        <mc:Fallback xmlns="">
          <p:sp>
            <p:nvSpPr>
              <p:cNvPr id="12" name="TextBox 11">
                <a:extLst>
                  <a:ext uri="{FF2B5EF4-FFF2-40B4-BE49-F238E27FC236}">
                    <a16:creationId xmlns:a16="http://schemas.microsoft.com/office/drawing/2014/main" id="{20FD98DD-BA80-0432-EAF3-95895FC81541}"/>
                  </a:ext>
                </a:extLst>
              </p:cNvPr>
              <p:cNvSpPr txBox="1">
                <a:spLocks noRot="1" noChangeAspect="1" noMove="1" noResize="1" noEditPoints="1" noAdjustHandles="1" noChangeArrowheads="1" noChangeShapeType="1" noTextEdit="1"/>
              </p:cNvSpPr>
              <p:nvPr/>
            </p:nvSpPr>
            <p:spPr>
              <a:xfrm>
                <a:off x="9865451" y="1308395"/>
                <a:ext cx="2107095" cy="369332"/>
              </a:xfrm>
              <a:prstGeom prst="rect">
                <a:avLst/>
              </a:prstGeom>
              <a:blipFill>
                <a:blip r:embed="rId6"/>
                <a:stretch>
                  <a:fillRect t="-10000" r="-867" b="-26667"/>
                </a:stretch>
              </a:blipFill>
              <a:ln>
                <a:noFill/>
              </a:ln>
            </p:spPr>
            <p:txBody>
              <a:bodyPr/>
              <a:lstStyle/>
              <a:p>
                <a:r>
                  <a:rPr lang="en-US">
                    <a:noFill/>
                  </a:rPr>
                  <a:t> </a:t>
                </a:r>
              </a:p>
            </p:txBody>
          </p:sp>
        </mc:Fallback>
      </mc:AlternateContent>
      <p:sp>
        <p:nvSpPr>
          <p:cNvPr id="13" name="TextBox 12">
            <a:extLst>
              <a:ext uri="{FF2B5EF4-FFF2-40B4-BE49-F238E27FC236}">
                <a16:creationId xmlns:a16="http://schemas.microsoft.com/office/drawing/2014/main" id="{B2ECDEA4-0EC2-9E02-70AB-D182ACBD2F41}"/>
              </a:ext>
            </a:extLst>
          </p:cNvPr>
          <p:cNvSpPr txBox="1"/>
          <p:nvPr/>
        </p:nvSpPr>
        <p:spPr>
          <a:xfrm>
            <a:off x="6015164" y="6038066"/>
            <a:ext cx="2116042" cy="369332"/>
          </a:xfrm>
          <a:prstGeom prst="rect">
            <a:avLst/>
          </a:prstGeom>
          <a:noFill/>
          <a:ln>
            <a:noFill/>
          </a:ln>
        </p:spPr>
        <p:txBody>
          <a:bodyPr wrap="square">
            <a:spAutoFit/>
          </a:bodyPr>
          <a:lstStyle/>
          <a:p>
            <a:r>
              <a:rPr lang="en-US" dirty="0"/>
              <a:t>Temporal difference</a:t>
            </a:r>
          </a:p>
        </p:txBody>
      </p:sp>
      <p:sp>
        <p:nvSpPr>
          <p:cNvPr id="14" name="Right Brace 13">
            <a:extLst>
              <a:ext uri="{FF2B5EF4-FFF2-40B4-BE49-F238E27FC236}">
                <a16:creationId xmlns:a16="http://schemas.microsoft.com/office/drawing/2014/main" id="{C56F33AD-1FCB-A629-7B3B-3C1024082BB0}"/>
              </a:ext>
            </a:extLst>
          </p:cNvPr>
          <p:cNvSpPr/>
          <p:nvPr/>
        </p:nvSpPr>
        <p:spPr>
          <a:xfrm rot="5400000">
            <a:off x="6874474" y="4893455"/>
            <a:ext cx="244349" cy="2116041"/>
          </a:xfrm>
          <a:prstGeom prst="rightBrace">
            <a:avLst/>
          </a:prstGeom>
          <a:ln>
            <a:solidFill>
              <a:schemeClr val="tx1"/>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17" name="TextBox 16">
            <a:extLst>
              <a:ext uri="{FF2B5EF4-FFF2-40B4-BE49-F238E27FC236}">
                <a16:creationId xmlns:a16="http://schemas.microsoft.com/office/drawing/2014/main" id="{348D2F01-A799-E5B3-96C0-2DB281391569}"/>
              </a:ext>
            </a:extLst>
          </p:cNvPr>
          <p:cNvSpPr txBox="1"/>
          <p:nvPr/>
        </p:nvSpPr>
        <p:spPr>
          <a:xfrm>
            <a:off x="9477955" y="1826809"/>
            <a:ext cx="2494591" cy="646331"/>
          </a:xfrm>
          <a:prstGeom prst="rect">
            <a:avLst/>
          </a:prstGeom>
          <a:noFill/>
          <a:ln>
            <a:noFill/>
          </a:ln>
        </p:spPr>
        <p:txBody>
          <a:bodyPr wrap="square">
            <a:spAutoFit/>
          </a:bodyPr>
          <a:lstStyle/>
          <a:p>
            <a:r>
              <a:rPr lang="en-US" dirty="0"/>
              <a:t>A goal state or state with no outgoing actions</a:t>
            </a:r>
          </a:p>
        </p:txBody>
      </p:sp>
      <p:cxnSp>
        <p:nvCxnSpPr>
          <p:cNvPr id="19" name="Straight Arrow Connector 18">
            <a:extLst>
              <a:ext uri="{FF2B5EF4-FFF2-40B4-BE49-F238E27FC236}">
                <a16:creationId xmlns:a16="http://schemas.microsoft.com/office/drawing/2014/main" id="{CA790C9D-E965-555D-CACD-34CA31BD9C3F}"/>
              </a:ext>
            </a:extLst>
          </p:cNvPr>
          <p:cNvCxnSpPr>
            <a:cxnSpLocks/>
            <a:stCxn id="17" idx="1"/>
          </p:cNvCxnSpPr>
          <p:nvPr/>
        </p:nvCxnSpPr>
        <p:spPr>
          <a:xfrm rot="10800000" flipV="1">
            <a:off x="4245997" y="2149975"/>
            <a:ext cx="5231958" cy="124098"/>
          </a:xfrm>
          <a:prstGeom prst="bentConnector3">
            <a:avLst>
              <a:gd name="adj1" fmla="val 100000"/>
            </a:avLst>
          </a:prstGeom>
          <a:ln w="19050">
            <a:solidFill>
              <a:schemeClr val="tx1"/>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579466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Exploration vs Exploitation</a:t>
            </a:r>
          </a:p>
        </p:txBody>
      </p:sp>
      <p:sp>
        <p:nvSpPr>
          <p:cNvPr id="3" name="Content Placeholder 2"/>
          <p:cNvSpPr>
            <a:spLocks noGrp="1"/>
          </p:cNvSpPr>
          <p:nvPr>
            <p:ph idx="1"/>
          </p:nvPr>
        </p:nvSpPr>
        <p:spPr/>
        <p:txBody>
          <a:bodyPr>
            <a:normAutofit fontScale="47500" lnSpcReduction="20000"/>
          </a:bodyPr>
          <a:lstStyle/>
          <a:p>
            <a:pPr marL="0" indent="0">
              <a:buNone/>
            </a:pPr>
            <a:r>
              <a:rPr i="1"/>
              <a:t>Q-learning is elegant, but there’s a catch: how do we choose actions while learning? If we always exploit our current knowledge, we might miss better actions. If we always explore randomly, we might never use what we’ve learned. This is one of the central challenges in RL…</a:t>
            </a:r>
          </a:p>
          <a:p>
            <a:pPr marL="0" indent="0">
              <a:buNone/>
            </a:pPr>
            <a:r>
              <a:rPr b="1"/>
              <a:t>The eternal dilemma</a:t>
            </a:r>
            <a:r>
              <a:t>: Should I try something new (explore) or do what I know works (exploit)?</a:t>
            </a:r>
          </a:p>
          <a:p>
            <a:pPr marL="0" indent="0">
              <a:buNone/>
            </a:pPr>
            <a:r>
              <a:rPr b="1"/>
              <a:t>Exploitation</a:t>
            </a:r>
            <a:r>
              <a:t>: Choose action that seems best given current knowledge </a:t>
            </a:r>
            <a:r>
              <a:rPr b="1"/>
              <a:t>Exploration</a:t>
            </a:r>
            <a:r>
              <a:t>: Try actions to gain more information</a:t>
            </a:r>
          </a:p>
          <a:p>
            <a:pPr marL="0" indent="0">
              <a:spcBef>
                <a:spcPts val="3000"/>
              </a:spcBef>
              <a:buNone/>
            </a:pPr>
            <a:r>
              <a:rPr b="1"/>
              <a:t>ε-Greedy Strategy</a:t>
            </a:r>
          </a:p>
          <a:p>
            <a:pPr lvl="1"/>
            <a:r>
              <a:t>With probability ε: choose random action (explore)</a:t>
            </a:r>
          </a:p>
          <a:p>
            <a:pPr lvl="1"/>
            <a:r>
              <a:t>With probability 1-ε: choose best action (exploit)</a:t>
            </a:r>
          </a:p>
          <a:p>
            <a:pPr marL="0" indent="0">
              <a:spcBef>
                <a:spcPts val="3000"/>
              </a:spcBef>
              <a:buNone/>
            </a:pPr>
            <a:r>
              <a:rPr b="1"/>
              <a:t>Other strategies:</a:t>
            </a:r>
          </a:p>
          <a:p>
            <a:pPr lvl="1"/>
            <a:r>
              <a:rPr b="1"/>
              <a:t>Boltzmann/Softmax</a:t>
            </a:r>
            <a:r>
              <a:t>: P(a) ∝ exp(Q(s,a)/τ) with temperature τ</a:t>
            </a:r>
          </a:p>
          <a:p>
            <a:pPr lvl="1"/>
            <a:r>
              <a:rPr b="1"/>
              <a:t>Upper Confidence Bounds (UCB)</a:t>
            </a:r>
            <a:r>
              <a:t>: Choose argmax_a [Q(s,a) + c√(ln(t)/N(s,a))]</a:t>
            </a:r>
          </a:p>
          <a:p>
            <a:pPr lvl="1"/>
            <a:r>
              <a:rPr b="1"/>
              <a:t>Thompson Sampling</a:t>
            </a:r>
            <a:r>
              <a:t>: Bayesian approach using posterior distributions</a:t>
            </a:r>
          </a:p>
          <a:p>
            <a:pPr lvl="1"/>
            <a:r>
              <a:rPr b="1"/>
              <a:t>Optimistic initialization</a:t>
            </a:r>
            <a:r>
              <a:t>: Start with high Q-values to encourage exploration</a:t>
            </a:r>
          </a:p>
          <a:p>
            <a:pPr lvl="1"/>
            <a:r>
              <a:rPr b="1"/>
              <a:t>Count-based exploration</a:t>
            </a:r>
            <a:r>
              <a:t>: Bonus for rarely visited state-action pairs</a:t>
            </a:r>
          </a:p>
          <a:p>
            <a:pPr lvl="1"/>
            <a:r>
              <a:rPr b="1"/>
              <a:t>Curiosity-driven exploration</a:t>
            </a:r>
            <a:r>
              <a:t>: Intrinsic motivation based on prediction error</a:t>
            </a:r>
          </a:p>
          <a:p>
            <a:pPr marL="0" indent="0">
              <a:spcBef>
                <a:spcPts val="3000"/>
              </a:spcBef>
              <a:buNone/>
            </a:pPr>
            <a:r>
              <a:rPr b="1"/>
              <a:t>Exploration Bonuses Example:</a:t>
            </a:r>
          </a:p>
          <a:p>
            <a:pPr indent="0">
              <a:buNone/>
            </a:pPr>
            <a:r>
              <a:rPr i="1">
                <a:solidFill>
                  <a:srgbClr val="60A0B0"/>
                </a:solidFill>
                <a:latin typeface="Courier"/>
              </a:rPr>
              <a:t># UCB exploration bonus</a:t>
            </a:r>
            <a:br/>
            <a:r>
              <a:rPr>
                <a:latin typeface="Courier"/>
              </a:rPr>
              <a:t>bonus </a:t>
            </a:r>
            <a:r>
              <a:rPr>
                <a:solidFill>
                  <a:srgbClr val="666666"/>
                </a:solidFill>
                <a:latin typeface="Courier"/>
              </a:rPr>
              <a:t>=</a:t>
            </a:r>
            <a:r>
              <a:rPr>
                <a:latin typeface="Courier"/>
              </a:rPr>
              <a:t> c </a:t>
            </a:r>
            <a:r>
              <a:rPr>
                <a:solidFill>
                  <a:srgbClr val="666666"/>
                </a:solidFill>
                <a:latin typeface="Courier"/>
              </a:rPr>
              <a:t>*</a:t>
            </a:r>
            <a:r>
              <a:rPr>
                <a:latin typeface="Courier"/>
              </a:rPr>
              <a:t> sqrt(log(total_visits) </a:t>
            </a:r>
            <a:r>
              <a:rPr>
                <a:solidFill>
                  <a:srgbClr val="666666"/>
                </a:solidFill>
                <a:latin typeface="Courier"/>
              </a:rPr>
              <a:t>/</a:t>
            </a:r>
            <a:r>
              <a:rPr>
                <a:latin typeface="Courier"/>
              </a:rPr>
              <a:t> action_visits)</a:t>
            </a:r>
            <a:br/>
            <a:r>
              <a:rPr>
                <a:latin typeface="Courier"/>
              </a:rPr>
              <a:t>action_value </a:t>
            </a:r>
            <a:r>
              <a:rPr>
                <a:solidFill>
                  <a:srgbClr val="666666"/>
                </a:solidFill>
                <a:latin typeface="Courier"/>
              </a:rPr>
              <a:t>=</a:t>
            </a:r>
            <a:r>
              <a:rPr>
                <a:latin typeface="Courier"/>
              </a:rPr>
              <a:t> Q(s,a) </a:t>
            </a:r>
            <a:r>
              <a:rPr>
                <a:solidFill>
                  <a:srgbClr val="666666"/>
                </a:solidFill>
                <a:latin typeface="Courier"/>
              </a:rPr>
              <a:t>+</a:t>
            </a:r>
            <a:r>
              <a:rPr>
                <a:latin typeface="Courier"/>
              </a:rPr>
              <a:t> bonus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SARSA vs Q-Learning</a:t>
            </a:r>
          </a:p>
        </p:txBody>
      </p:sp>
      <p:sp>
        <p:nvSpPr>
          <p:cNvPr id="3" name="Content Placeholder 2"/>
          <p:cNvSpPr>
            <a:spLocks noGrp="1"/>
          </p:cNvSpPr>
          <p:nvPr>
            <p:ph idx="1"/>
          </p:nvPr>
        </p:nvSpPr>
        <p:spPr/>
        <p:txBody>
          <a:bodyPr>
            <a:normAutofit fontScale="92500" lnSpcReduction="20000"/>
          </a:bodyPr>
          <a:lstStyle/>
          <a:p>
            <a:pPr marL="0" indent="0">
              <a:buNone/>
            </a:pPr>
            <a:r>
              <a:rPr i="1"/>
              <a:t>Q-learning makes a bold assumption: it learns what the optimal policy would do, regardless of what policy it’s actually following. But what if we want to learn about the policy we’re actually executing? This leads us to SARSA…</a:t>
            </a:r>
          </a:p>
          <a:p>
            <a:pPr marL="0" indent="0">
              <a:buNone/>
            </a:pPr>
            <a:r>
              <a:rPr b="1"/>
              <a:t>Key difference</a:t>
            </a:r>
            <a:r>
              <a:t>: On-policy vs off-policy learning</a:t>
            </a:r>
          </a:p>
          <a:p>
            <a:pPr marL="0" indent="0">
              <a:spcBef>
                <a:spcPts val="3000"/>
              </a:spcBef>
              <a:buNone/>
            </a:pPr>
            <a:r>
              <a:rPr b="1"/>
              <a:t>SARSA (On-policy)</a:t>
            </a:r>
          </a:p>
          <a:p>
            <a:pPr marL="0" indent="0">
              <a:buNone/>
            </a:pPr>
            <a:r>
              <a:t>Q(s,a) ← Q(s,a) + α[r + γQ(s’,a’) - Q(s,a)] - Updates using actual action taken (a’) - Learns value of policy being followed</a:t>
            </a:r>
          </a:p>
          <a:p>
            <a:pPr marL="0" indent="0">
              <a:spcBef>
                <a:spcPts val="3000"/>
              </a:spcBef>
              <a:buNone/>
            </a:pPr>
            <a:r>
              <a:rPr b="1"/>
              <a:t>Q-Learning (Off-policy)</a:t>
            </a:r>
          </a:p>
          <a:p>
            <a:pPr marL="0" indent="0">
              <a:buNone/>
            </a:pPr>
            <a:r>
              <a:t>Q(s,a) ← Q(s,a) + α[r + γ max_{a’} Q(s’,a’) - Q(s,a)] - Updates using best possible action - Learns optimal policy regardless of behavior policy</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Deep Q-Networks (DQN)</a:t>
            </a:r>
          </a:p>
        </p:txBody>
      </p:sp>
      <p:sp>
        <p:nvSpPr>
          <p:cNvPr id="3" name="Content Placeholder 2"/>
          <p:cNvSpPr>
            <a:spLocks noGrp="1"/>
          </p:cNvSpPr>
          <p:nvPr>
            <p:ph idx="1"/>
          </p:nvPr>
        </p:nvSpPr>
        <p:spPr/>
        <p:txBody>
          <a:bodyPr>
            <a:normAutofit fontScale="77500" lnSpcReduction="20000"/>
          </a:bodyPr>
          <a:lstStyle/>
          <a:p>
            <a:pPr marL="0" indent="0">
              <a:buNone/>
            </a:pPr>
            <a:r>
              <a:rPr i="1"/>
              <a:t>Traditional Q-learning works great for small problems, but what about Atari games with millions of possible states? We can’t store a table with millions of entries. This is where deep learning comes to the rescue…</a:t>
            </a:r>
          </a:p>
          <a:p>
            <a:pPr marL="0" indent="0">
              <a:buNone/>
            </a:pPr>
            <a:r>
              <a:rPr b="1"/>
              <a:t>Scaling challenge</a:t>
            </a:r>
            <a:r>
              <a:t>: How to handle massive state spaces?</a:t>
            </a:r>
          </a:p>
          <a:p>
            <a:pPr marL="0" indent="0">
              <a:buNone/>
            </a:pPr>
            <a:r>
              <a:rPr b="1"/>
              <a:t>Challenge</a:t>
            </a:r>
            <a:r>
              <a:t>: Q-tables infeasible for large state spaces</a:t>
            </a:r>
          </a:p>
          <a:p>
            <a:pPr marL="0" indent="0">
              <a:buNone/>
            </a:pPr>
            <a:r>
              <a:rPr b="1"/>
              <a:t>Solution</a:t>
            </a:r>
            <a:r>
              <a:t>: Use neural networks to approximate Q(s,a)</a:t>
            </a:r>
          </a:p>
          <a:p>
            <a:pPr marL="0" indent="0">
              <a:spcBef>
                <a:spcPts val="3000"/>
              </a:spcBef>
              <a:buNone/>
            </a:pPr>
            <a:r>
              <a:rPr b="1"/>
              <a:t>Key innovations:</a:t>
            </a:r>
          </a:p>
          <a:p>
            <a:pPr lvl="1">
              <a:buAutoNum type="arabicPeriod"/>
            </a:pPr>
            <a:r>
              <a:rPr b="1"/>
              <a:t>Experience Replay</a:t>
            </a:r>
            <a:r>
              <a:t>: Store and sample from experience buffer</a:t>
            </a:r>
          </a:p>
          <a:p>
            <a:pPr lvl="1">
              <a:buAutoNum type="arabicPeriod"/>
            </a:pPr>
            <a:r>
              <a:rPr b="1"/>
              <a:t>Target Network</a:t>
            </a:r>
            <a:r>
              <a:t>: Separate network for computing targets</a:t>
            </a:r>
          </a:p>
          <a:p>
            <a:pPr lvl="1">
              <a:buAutoNum type="arabicPeriod"/>
            </a:pPr>
            <a:r>
              <a:rPr b="1"/>
              <a:t>Convolutional layers</a:t>
            </a:r>
            <a:r>
              <a:t>: Process high-dimensional inputs (images)</a:t>
            </a:r>
          </a:p>
          <a:p>
            <a:pPr marL="0" indent="0">
              <a:spcBef>
                <a:spcPts val="3000"/>
              </a:spcBef>
              <a:buNone/>
            </a:pPr>
            <a:r>
              <a:rPr b="1"/>
              <a:t>Loss function:</a:t>
            </a:r>
          </a:p>
          <a:p>
            <a:pPr marL="0" indent="0">
              <a:buNone/>
            </a:pPr>
            <a:r>
              <a:t>L(θ) = E[(r + γ max_{a’} Q(s’,a’;θ⁻) - Q(s,a;θ))²]</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normAutofit fontScale="70000" lnSpcReduction="20000"/>
          </a:bodyPr>
          <a:lstStyle/>
          <a:p>
            <a:pPr marL="0" indent="0">
              <a:buNone/>
            </a:pPr>
            <a:r>
              <a:rPr i="1"/>
              <a:t>We’ve covered a lot of ground! Let’s consolidate what we’ve learned about this powerful learning paradigm…</a:t>
            </a:r>
          </a:p>
          <a:p>
            <a:pPr marL="0" indent="0">
              <a:spcBef>
                <a:spcPts val="3000"/>
              </a:spcBef>
              <a:buNone/>
            </a:pPr>
            <a:r>
              <a:rPr b="1"/>
              <a:t>Key Concepts:</a:t>
            </a:r>
          </a:p>
          <a:p>
            <a:pPr lvl="1">
              <a:buAutoNum type="arabicPeriod"/>
            </a:pPr>
            <a:r>
              <a:rPr b="1"/>
              <a:t>RL framework</a:t>
            </a:r>
            <a:r>
              <a:t>: Agent-environment interaction</a:t>
            </a:r>
          </a:p>
          <a:p>
            <a:pPr lvl="1">
              <a:buAutoNum type="arabicPeriod"/>
            </a:pPr>
            <a:r>
              <a:rPr b="1"/>
              <a:t>MDPs</a:t>
            </a:r>
            <a:r>
              <a:t>: Mathematical formulation of RL problems</a:t>
            </a:r>
          </a:p>
          <a:p>
            <a:pPr lvl="1">
              <a:buAutoNum type="arabicPeriod"/>
            </a:pPr>
            <a:r>
              <a:rPr b="1"/>
              <a:t>Value functions</a:t>
            </a:r>
            <a:r>
              <a:t>: Expected future rewards</a:t>
            </a:r>
          </a:p>
          <a:p>
            <a:pPr lvl="1">
              <a:buAutoNum type="arabicPeriod"/>
            </a:pPr>
            <a:r>
              <a:rPr b="1"/>
              <a:t>Bellman equations</a:t>
            </a:r>
            <a:r>
              <a:t>: Recursive relationships</a:t>
            </a:r>
          </a:p>
          <a:p>
            <a:pPr lvl="1">
              <a:buAutoNum type="arabicPeriod"/>
            </a:pPr>
            <a:r>
              <a:rPr b="1"/>
              <a:t>Dynamic programming</a:t>
            </a:r>
            <a:r>
              <a:t>: Value/policy iteration</a:t>
            </a:r>
          </a:p>
          <a:p>
            <a:pPr lvl="1">
              <a:buAutoNum type="arabicPeriod"/>
            </a:pPr>
            <a:r>
              <a:rPr b="1"/>
              <a:t>Temporal difference learning</a:t>
            </a:r>
            <a:r>
              <a:t>: Model-free methods</a:t>
            </a:r>
          </a:p>
          <a:p>
            <a:pPr lvl="1">
              <a:buAutoNum type="arabicPeriod"/>
            </a:pPr>
            <a:r>
              <a:rPr b="1"/>
              <a:t>Deep RL</a:t>
            </a:r>
            <a:r>
              <a:t>: Neural network function approximation</a:t>
            </a:r>
          </a:p>
          <a:p>
            <a:pPr marL="0" indent="0">
              <a:spcBef>
                <a:spcPts val="3000"/>
              </a:spcBef>
              <a:buNone/>
            </a:pPr>
            <a:r>
              <a:rPr b="1"/>
              <a:t>Next Steps:</a:t>
            </a:r>
          </a:p>
          <a:p>
            <a:pPr lvl="1"/>
            <a:r>
              <a:t>Advanced algorithms (policy gradients, actor-critic)</a:t>
            </a:r>
          </a:p>
          <a:p>
            <a:pPr lvl="1"/>
            <a:r>
              <a:t>Multi-agent reinforcement learning</a:t>
            </a:r>
          </a:p>
          <a:p>
            <a:pPr lvl="1"/>
            <a:r>
              <a:t>Applications in robotics and game AI</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loud skipper design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panose="02040503050406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1">
          <a:schemeClr val="accent2"/>
        </a:lnRef>
        <a:fillRef idx="2">
          <a:schemeClr val="accent2"/>
        </a:fillRef>
        <a:effectRef idx="1">
          <a:schemeClr val="accent2"/>
        </a:effectRef>
        <a:fontRef idx="minor">
          <a:schemeClr val="dk1"/>
        </a:fontRef>
      </a:style>
    </a:spDef>
    <a:lnDef>
      <a:spPr/>
      <a:bodyPr/>
      <a:lstStyle/>
      <a:style>
        <a:lnRef idx="1">
          <a:schemeClr val="accent2"/>
        </a:lnRef>
        <a:fillRef idx="0">
          <a:schemeClr val="accent2"/>
        </a:fillRef>
        <a:effectRef idx="0">
          <a:schemeClr val="accent2"/>
        </a:effectRef>
        <a:fontRef idx="minor">
          <a:schemeClr val="tx1"/>
        </a:fontRef>
      </a:style>
    </a:lnDef>
    <a:txDef>
      <a:spPr>
        <a:noFill/>
        <a:ln>
          <a:solidFill>
            <a:schemeClr val="bg2"/>
          </a:solidFill>
        </a:ln>
      </a:spPr>
      <a:bodyPr wrap="square" rtlCol="0" anchor="ctr" anchorCtr="1">
        <a:spAutoFit/>
      </a:bodyPr>
      <a:lstStyle>
        <a:defPPr>
          <a:defRPr dirty="0"/>
        </a:defPPr>
      </a:lstStyle>
    </a:txDef>
  </a:objectDefaults>
  <a:extraClrSchemeLst/>
  <a:extLst>
    <a:ext uri="{05A4C25C-085E-4340-85A3-A5531E510DB2}">
      <thm15:themeFamily xmlns:thm15="http://schemas.microsoft.com/office/thememl/2012/main" name="Cloud skipper design slides.potx" id="{E8493412-85DD-4641-9E8A-937B29FD6AA2}" vid="{77E91E09-5010-404D-ADF4-B79FA46D727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panose="02040503050406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panose="02040503050406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VSO_x0020_item_x0020_id xmlns="40262f94-9f35-4ac3-9a90-690165a166b7" xsi:nil="true"/>
    <Assetid_x0020_ xmlns="40262f94-9f35-4ac3-9a90-690165a166b7" xsi:nil="true"/>
    <Item_x0020_Details xmlns="40262f94-9f35-4ac3-9a90-690165a166b7" xsi:nil="true"/>
    <Template_x0020_details xmlns="40262f94-9f35-4ac3-9a90-690165a166b7"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A3F7D94069FF64A86F7DFF56D60E3BE" ma:contentTypeVersion="6" ma:contentTypeDescription="Create a new document." ma:contentTypeScope="" ma:versionID="c32302c77d4085ecf495bdddb7f5e889">
  <xsd:schema xmlns:xsd="http://www.w3.org/2001/XMLSchema" xmlns:xs="http://www.w3.org/2001/XMLSchema" xmlns:p="http://schemas.microsoft.com/office/2006/metadata/properties" xmlns:ns2="a4f35948-e619-41b3-aa29-22878b09cfd2" xmlns:ns3="40262f94-9f35-4ac3-9a90-690165a166b7" targetNamespace="http://schemas.microsoft.com/office/2006/metadata/properties" ma:root="true" ma:fieldsID="4ab5ae46be95f9d0be6107e8200be7a2" ns2:_="" ns3:_="">
    <xsd:import namespace="a4f35948-e619-41b3-aa29-22878b09cfd2"/>
    <xsd:import namespace="40262f94-9f35-4ac3-9a90-690165a166b7"/>
    <xsd:element name="properties">
      <xsd:complexType>
        <xsd:sequence>
          <xsd:element name="documentManagement">
            <xsd:complexType>
              <xsd:all>
                <xsd:element ref="ns2:SharedWithUsers" minOccurs="0"/>
                <xsd:element ref="ns2:SharedWithDetails" minOccurs="0"/>
                <xsd:element ref="ns3:VSO_x0020_item_x0020_id" minOccurs="0"/>
                <xsd:element ref="ns3:Item_x0020_Details" minOccurs="0"/>
                <xsd:element ref="ns3:Template_x0020_details" minOccurs="0"/>
                <xsd:element ref="ns3:Assetid_x0020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f35948-e619-41b3-aa29-22878b09cfd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0262f94-9f35-4ac3-9a90-690165a166b7" elementFormDefault="qualified">
    <xsd:import namespace="http://schemas.microsoft.com/office/2006/documentManagement/types"/>
    <xsd:import namespace="http://schemas.microsoft.com/office/infopath/2007/PartnerControls"/>
    <xsd:element name="VSO_x0020_item_x0020_id" ma:index="10" nillable="true" ma:displayName="VSO item id" ma:description="Please add the bug number to refer to VSO items." ma:internalName="VSO_x0020_item_x0020_id">
      <xsd:simpleType>
        <xsd:restriction base="dms:Text">
          <xsd:maxLength value="255"/>
        </xsd:restriction>
      </xsd:simpleType>
    </xsd:element>
    <xsd:element name="Item_x0020_Details" ma:index="11" nillable="true" ma:displayName="Item Details" ma:internalName="Item_x0020_Details">
      <xsd:simpleType>
        <xsd:restriction base="dms:Note">
          <xsd:maxLength value="255"/>
        </xsd:restriction>
      </xsd:simpleType>
    </xsd:element>
    <xsd:element name="Template_x0020_details" ma:index="12" nillable="true" ma:displayName="Template details" ma:internalName="Template_x0020_details">
      <xsd:simpleType>
        <xsd:restriction base="dms:Text"/>
      </xsd:simpleType>
    </xsd:element>
    <xsd:element name="Assetid_x0020_" ma:index="13" nillable="true" ma:displayName="Assetid " ma:internalName="Assetid_x0020_">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EDD01B8-816B-49B7-8C81-03AB51D87C54}">
  <ds:schemaRefs>
    <ds:schemaRef ds:uri="http://schemas.microsoft.com/office/infopath/2007/PartnerControls"/>
    <ds:schemaRef ds:uri="http://purl.org/dc/elements/1.1/"/>
    <ds:schemaRef ds:uri="a4f35948-e619-41b3-aa29-22878b09cfd2"/>
    <ds:schemaRef ds:uri="http://purl.org/dc/dcmitype/"/>
    <ds:schemaRef ds:uri="http://schemas.microsoft.com/office/2006/documentManagement/types"/>
    <ds:schemaRef ds:uri="http://schemas.openxmlformats.org/package/2006/metadata/core-properties"/>
    <ds:schemaRef ds:uri="http://www.w3.org/XML/1998/namespace"/>
    <ds:schemaRef ds:uri="40262f94-9f35-4ac3-9a90-690165a166b7"/>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6253D857-4181-4777-8893-6E45A690F9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f35948-e619-41b3-aa29-22878b09cfd2"/>
    <ds:schemaRef ds:uri="40262f94-9f35-4ac3-9a90-690165a166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024FD56-CE1B-42FC-9E83-BFBF160724C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Cloud skipper design slides</Template>
  <TotalTime>13208</TotalTime>
  <Words>5220</Words>
  <Application>Microsoft Office PowerPoint</Application>
  <PresentationFormat>Widescreen</PresentationFormat>
  <Paragraphs>872</Paragraphs>
  <Slides>42</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Arial</vt:lpstr>
      <vt:lpstr>Calibri</vt:lpstr>
      <vt:lpstr>Cambria</vt:lpstr>
      <vt:lpstr>Cambria Math</vt:lpstr>
      <vt:lpstr>Consolas</vt:lpstr>
      <vt:lpstr>Courier</vt:lpstr>
      <vt:lpstr>Wingdings</vt:lpstr>
      <vt:lpstr>Cloud skipper design template</vt:lpstr>
      <vt:lpstr>Reinforcement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Exploration vs Exploitation</vt:lpstr>
      <vt:lpstr>SARSA vs Q-Learning</vt:lpstr>
      <vt:lpstr>Deep Q-Networks (DQN)</vt:lpstr>
      <vt:lpstr>Summary</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Chris Alvin</dc:creator>
  <cp:lastModifiedBy>Chris Alvin</cp:lastModifiedBy>
  <cp:revision>768</cp:revision>
  <dcterms:created xsi:type="dcterms:W3CDTF">2018-04-18T20:21:45Z</dcterms:created>
  <dcterms:modified xsi:type="dcterms:W3CDTF">2025-12-21T15:09:14Z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74062900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